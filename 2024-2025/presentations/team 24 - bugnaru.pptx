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5" r:id="rId1"/>
    <p:sldMasterId id="2147483648" r:id="rId2"/>
  </p:sldMasterIdLst>
  <p:sldIdLst>
    <p:sldId id="256" r:id="rId3"/>
    <p:sldId id="257" r:id="rId4"/>
    <p:sldId id="258" r:id="rId5"/>
    <p:sldId id="264" r:id="rId6"/>
    <p:sldId id="260" r:id="rId7"/>
    <p:sldId id="262" r:id="rId8"/>
    <p:sldId id="265" r:id="rId9"/>
    <p:sldId id="263" r:id="rId10"/>
    <p:sldId id="289" r:id="rId11"/>
    <p:sldId id="285" r:id="rId12"/>
    <p:sldId id="279" r:id="rId13"/>
    <p:sldId id="287" r:id="rId14"/>
    <p:sldId id="28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58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0559C9-C74D-721B-A839-8330A63FE0EE}" v="202" dt="2025-01-16T18:43:43.388"/>
    <p1510:client id="{FE571CD0-A12F-C9E6-2D8C-95F7E1C63279}" v="969" dt="2025-01-16T19:40:57.5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customXml" Target="../customXml/item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ustomXml" Target="../customXml/item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1/17/2025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A87A34-81AB-432B-8DAE-1953F412C126}" type="datetimeFigureOut">
              <a:rPr lang="en-US" dirty="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A87A34-81AB-432B-8DAE-1953F412C126}" type="datetimeFigureOut">
              <a:rPr lang="en-US" dirty="0"/>
              <a:t>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dirty="0"/>
              <a:t>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ection break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1B9A11-4222-BB4A-66D3-D37C79AC57C1}"/>
              </a:ext>
            </a:extLst>
          </p:cNvPr>
          <p:cNvPicPr>
            <a:picLocks noChangeAspect="1"/>
          </p:cNvPicPr>
          <p:nvPr userDrawn="1"/>
        </p:nvPicPr>
        <p:blipFill rotWithShape="1">
          <a:blip r:embed="rId2"/>
          <a:srcRect l="-1" r="21" b="21"/>
          <a:stretch/>
        </p:blipFill>
        <p:spPr>
          <a:xfrm>
            <a:off x="-2595" y="1459"/>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40658837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ection break 0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51A8B-A15C-2A94-1E48-F9615101DF48}"/>
              </a:ext>
            </a:extLst>
          </p:cNvPr>
          <p:cNvPicPr>
            <a:picLocks noChangeAspect="1"/>
          </p:cNvPicPr>
          <p:nvPr userDrawn="1"/>
        </p:nvPicPr>
        <p:blipFill rotWithShape="1">
          <a:blip r:embed="rId2"/>
          <a:srcRect l="8991" t="11245" r="3785" b="1531"/>
          <a:stretch/>
        </p:blipFill>
        <p:spPr>
          <a:xfrm>
            <a:off x="0" y="2917"/>
            <a:ext cx="12197192" cy="6855083"/>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5850836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FCA6-7ECE-9BFB-9389-6DB74C862850}"/>
              </a:ext>
            </a:extLst>
          </p:cNvPr>
          <p:cNvPicPr>
            <a:picLocks noChangeAspect="1"/>
          </p:cNvPicPr>
          <p:nvPr userDrawn="1"/>
        </p:nvPicPr>
        <p:blipFill>
          <a:blip r:embed="rId2"/>
          <a:srcRect l="21" r="21"/>
          <a:stretch/>
        </p:blipFill>
        <p:spPr>
          <a:xfrm>
            <a:off x="-5192" y="-1"/>
            <a:ext cx="12197192" cy="6858001"/>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40816372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D721A955-CA2D-A65D-6E60-DAAAA4ACFA3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1050"/>
          <a:stretch/>
        </p:blipFill>
        <p:spPr>
          <a:xfrm>
            <a:off x="0" y="2887579"/>
            <a:ext cx="2432421" cy="3604662"/>
          </a:xfrm>
          <a:prstGeom prst="rect">
            <a:avLst/>
          </a:prstGeom>
        </p:spPr>
      </p:pic>
      <p:pic>
        <p:nvPicPr>
          <p:cNvPr id="9" name="Graphic 8">
            <a:extLst>
              <a:ext uri="{FF2B5EF4-FFF2-40B4-BE49-F238E27FC236}">
                <a16:creationId xmlns:a16="http://schemas.microsoft.com/office/drawing/2014/main" id="{AB70155A-604C-AD00-BE69-4505C75CE01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5874" b="-1"/>
          <a:stretch/>
        </p:blipFill>
        <p:spPr>
          <a:xfrm rot="5400000">
            <a:off x="11281284" y="2493882"/>
            <a:ext cx="1032928" cy="887899"/>
          </a:xfrm>
          <a:prstGeom prst="rect">
            <a:avLst/>
          </a:prstGeom>
        </p:spPr>
      </p:pic>
      <p:pic>
        <p:nvPicPr>
          <p:cNvPr id="10" name="Graphic 9">
            <a:extLst>
              <a:ext uri="{FF2B5EF4-FFF2-40B4-BE49-F238E27FC236}">
                <a16:creationId xmlns:a16="http://schemas.microsoft.com/office/drawing/2014/main" id="{F74D1084-EF5E-D016-13E0-1840BDFFD0AE}"/>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b="-880"/>
          <a:stretch/>
        </p:blipFill>
        <p:spPr>
          <a:xfrm>
            <a:off x="9897978" y="5987153"/>
            <a:ext cx="490012" cy="505088"/>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89032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1/17/2025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 id="2147483670" r:id="rId18"/>
    <p:sldLayoutId id="2147483671" r:id="rId19"/>
    <p:sldLayoutId id="2147483672" r:id="rId20"/>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dirty="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84" r:id="rId1"/>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56194" y="2160841"/>
            <a:ext cx="8791575" cy="2387600"/>
          </a:xfrm>
        </p:spPr>
        <p:txBody>
          <a:bodyPr>
            <a:normAutofit fontScale="90000"/>
          </a:bodyPr>
          <a:lstStyle/>
          <a:p>
            <a:r>
              <a:rPr lang="en-US">
                <a:solidFill>
                  <a:schemeClr val="bg1"/>
                </a:solidFill>
                <a:latin typeface="Tw Cen MT"/>
                <a:ea typeface="Calibri"/>
                <a:cs typeface="Calibri"/>
              </a:rPr>
              <a:t>early discovery of anxiety/depression in teenagers using digital tools</a:t>
            </a:r>
            <a:endParaRPr lang="en-US">
              <a:solidFill>
                <a:schemeClr val="bg1"/>
              </a:solidFill>
              <a:ea typeface="Calibri"/>
              <a:cs typeface="Calibri"/>
            </a:endParaRPr>
          </a:p>
        </p:txBody>
      </p:sp>
    </p:spTree>
    <p:extLst>
      <p:ext uri="{BB962C8B-B14F-4D97-AF65-F5344CB8AC3E}">
        <p14:creationId xmlns:p14="http://schemas.microsoft.com/office/powerpoint/2010/main" val="3856144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06308-4D69-C8C4-9283-9E8E54371A85}"/>
              </a:ext>
            </a:extLst>
          </p:cNvPr>
          <p:cNvSpPr>
            <a:spLocks noGrp="1"/>
          </p:cNvSpPr>
          <p:nvPr>
            <p:ph type="title"/>
          </p:nvPr>
        </p:nvSpPr>
        <p:spPr>
          <a:xfrm>
            <a:off x="1141413" y="840768"/>
            <a:ext cx="9905998" cy="1721986"/>
          </a:xfrm>
        </p:spPr>
        <p:txBody>
          <a:bodyPr/>
          <a:lstStyle/>
          <a:p>
            <a:r>
              <a:rPr lang="en-US" dirty="0">
                <a:solidFill>
                  <a:schemeClr val="bg1"/>
                </a:solidFill>
              </a:rPr>
              <a:t>Introduction</a:t>
            </a:r>
          </a:p>
        </p:txBody>
      </p:sp>
      <p:sp>
        <p:nvSpPr>
          <p:cNvPr id="3" name="Content Placeholder 2">
            <a:extLst>
              <a:ext uri="{FF2B5EF4-FFF2-40B4-BE49-F238E27FC236}">
                <a16:creationId xmlns:a16="http://schemas.microsoft.com/office/drawing/2014/main" id="{A337861F-AA39-E30F-2A0F-DEFB84E68DF2}"/>
              </a:ext>
            </a:extLst>
          </p:cNvPr>
          <p:cNvSpPr>
            <a:spLocks noGrp="1"/>
          </p:cNvSpPr>
          <p:nvPr>
            <p:ph idx="1"/>
          </p:nvPr>
        </p:nvSpPr>
        <p:spPr/>
        <p:txBody>
          <a:bodyPr vert="horz" lIns="91440" tIns="45720" rIns="91440" bIns="45720" rtlCol="0" anchor="t">
            <a:normAutofit/>
          </a:bodyPr>
          <a:lstStyle/>
          <a:p>
            <a:r>
              <a:rPr lang="en-US" dirty="0">
                <a:solidFill>
                  <a:schemeClr val="bg1"/>
                </a:solidFill>
                <a:ea typeface="+mn-lt"/>
                <a:cs typeface="+mn-lt"/>
              </a:rPr>
              <a:t>The Early Discovery of Anxiety and Depression in Teenagers app uses digital tools to identify and monitor mental health challenges among adolescents. By tracking Reddit activity, app usage patterns, and user reflections, combined with AI-powered sentiment analysis and heuristic scoring, the app provides insights into emotional well-being. Its goal is to promote early intervention and support by highlighting potential signs of anxiety or depression in a user-friendly way.</a:t>
            </a:r>
            <a:endParaRPr lang="en-US" dirty="0">
              <a:solidFill>
                <a:schemeClr val="bg1"/>
              </a:solidFill>
            </a:endParaRPr>
          </a:p>
        </p:txBody>
      </p:sp>
    </p:spTree>
    <p:extLst>
      <p:ext uri="{BB962C8B-B14F-4D97-AF65-F5344CB8AC3E}">
        <p14:creationId xmlns:p14="http://schemas.microsoft.com/office/powerpoint/2010/main" val="1602140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C9289-320F-A9A9-5C8C-C918936CC905}"/>
              </a:ext>
            </a:extLst>
          </p:cNvPr>
          <p:cNvSpPr>
            <a:spLocks noGrp="1"/>
          </p:cNvSpPr>
          <p:nvPr>
            <p:ph type="title"/>
          </p:nvPr>
        </p:nvSpPr>
        <p:spPr>
          <a:xfrm>
            <a:off x="1141413" y="-103022"/>
            <a:ext cx="9905998" cy="1451597"/>
          </a:xfrm>
        </p:spPr>
        <p:txBody>
          <a:bodyPr/>
          <a:lstStyle/>
          <a:p>
            <a:r>
              <a:rPr lang="en-US" b="1" i="1" err="1">
                <a:solidFill>
                  <a:schemeClr val="bg1"/>
                </a:solidFill>
              </a:rPr>
              <a:t>Mvp</a:t>
            </a:r>
            <a:r>
              <a:rPr lang="en-US" b="1" i="1">
                <a:solidFill>
                  <a:schemeClr val="bg1"/>
                </a:solidFill>
              </a:rPr>
              <a:t> functionalities</a:t>
            </a:r>
          </a:p>
        </p:txBody>
      </p:sp>
      <p:sp>
        <p:nvSpPr>
          <p:cNvPr id="3" name="Content Placeholder 2">
            <a:extLst>
              <a:ext uri="{FF2B5EF4-FFF2-40B4-BE49-F238E27FC236}">
                <a16:creationId xmlns:a16="http://schemas.microsoft.com/office/drawing/2014/main" id="{9EE30392-EF67-937B-DF5B-AFDE2BB0D9C3}"/>
              </a:ext>
            </a:extLst>
          </p:cNvPr>
          <p:cNvSpPr>
            <a:spLocks noGrp="1"/>
          </p:cNvSpPr>
          <p:nvPr>
            <p:ph idx="1"/>
          </p:nvPr>
        </p:nvSpPr>
        <p:spPr>
          <a:xfrm>
            <a:off x="1141412" y="1103457"/>
            <a:ext cx="9905999" cy="5234228"/>
          </a:xfrm>
        </p:spPr>
        <p:txBody>
          <a:bodyPr vert="horz" lIns="91440" tIns="45720" rIns="91440" bIns="45720" rtlCol="0" anchor="t">
            <a:normAutofit/>
          </a:bodyPr>
          <a:lstStyle/>
          <a:p>
            <a:r>
              <a:rPr lang="en-US" sz="2000" b="1" dirty="0">
                <a:solidFill>
                  <a:schemeClr val="bg1"/>
                </a:solidFill>
              </a:rPr>
              <a:t>User authentication</a:t>
            </a:r>
            <a:r>
              <a:rPr lang="en-US" sz="2000" dirty="0">
                <a:solidFill>
                  <a:schemeClr val="bg1"/>
                </a:solidFill>
              </a:rPr>
              <a:t>: users can easily create and use an account via credentials; all in a secure environment for protecting the user's privacy</a:t>
            </a:r>
          </a:p>
          <a:p>
            <a:r>
              <a:rPr lang="en-US" sz="2000" b="1" dirty="0">
                <a:solidFill>
                  <a:schemeClr val="bg1"/>
                </a:solidFill>
              </a:rPr>
              <a:t>Reddit Integration</a:t>
            </a:r>
            <a:r>
              <a:rPr lang="en-US" sz="2000" dirty="0">
                <a:solidFill>
                  <a:schemeClr val="bg1"/>
                </a:solidFill>
              </a:rPr>
              <a:t>: by exposing an OAuth Login, the app will unveil(fetch) user activity on the app(posts, comments) later being exposed to the Sentiment Analysis component</a:t>
            </a:r>
          </a:p>
          <a:p>
            <a:r>
              <a:rPr lang="en-US" sz="2000" b="1" dirty="0">
                <a:solidFill>
                  <a:schemeClr val="bg1"/>
                </a:solidFill>
              </a:rPr>
              <a:t>Sentiment analysis</a:t>
            </a:r>
            <a:r>
              <a:rPr lang="en-US" sz="2000" dirty="0">
                <a:solidFill>
                  <a:schemeClr val="bg1"/>
                </a:solidFill>
              </a:rPr>
              <a:t>: the posts will be analyzed using an AI model by the app; predicting a sentiment for each prompt</a:t>
            </a:r>
          </a:p>
          <a:p>
            <a:r>
              <a:rPr lang="en-US" sz="2000" b="1" dirty="0">
                <a:solidFill>
                  <a:schemeClr val="bg1"/>
                </a:solidFill>
              </a:rPr>
              <a:t>Heuristic scoring:  </a:t>
            </a:r>
            <a:r>
              <a:rPr lang="en-US" sz="2000" dirty="0">
                <a:solidFill>
                  <a:schemeClr val="bg1"/>
                </a:solidFill>
              </a:rPr>
              <a:t>heuristic based system that aggregates sentiment predictions for an accurate individual's mental state assessment</a:t>
            </a:r>
          </a:p>
          <a:p>
            <a:r>
              <a:rPr lang="en-US" sz="2000" b="1" dirty="0">
                <a:solidFill>
                  <a:schemeClr val="bg1"/>
                </a:solidFill>
                <a:latin typeface="TW Cen MT"/>
              </a:rPr>
              <a:t>Post analysis</a:t>
            </a:r>
            <a:r>
              <a:rPr lang="en-US" sz="2000" dirty="0">
                <a:solidFill>
                  <a:schemeClr val="bg1"/>
                </a:solidFill>
                <a:latin typeface="TW Cen MT"/>
              </a:rPr>
              <a:t>: based on the previous results, the user's portrait will be outlined and filtered to determine his/her state of mind</a:t>
            </a:r>
          </a:p>
          <a:p>
            <a:r>
              <a:rPr lang="en-US" sz="2000" b="1" dirty="0">
                <a:solidFill>
                  <a:schemeClr val="bg1"/>
                </a:solidFill>
                <a:ea typeface="+mn-lt"/>
                <a:cs typeface="+mn-lt"/>
              </a:rPr>
              <a:t>Journal Entry: </a:t>
            </a:r>
            <a:r>
              <a:rPr lang="en-US" sz="2000" dirty="0">
                <a:solidFill>
                  <a:schemeClr val="bg1"/>
                </a:solidFill>
                <a:ea typeface="+mn-lt"/>
                <a:cs typeface="+mn-lt"/>
              </a:rPr>
              <a:t>daily journal entries to reflect emotions, sentiments</a:t>
            </a:r>
          </a:p>
          <a:p>
            <a:r>
              <a:rPr lang="en-US" sz="2000" dirty="0">
                <a:solidFill>
                  <a:schemeClr val="bg1"/>
                </a:solidFill>
                <a:latin typeface="Tw Cen MT"/>
              </a:rPr>
              <a:t>App Usage: ...</a:t>
            </a:r>
          </a:p>
        </p:txBody>
      </p:sp>
    </p:spTree>
    <p:extLst>
      <p:ext uri="{BB962C8B-B14F-4D97-AF65-F5344CB8AC3E}">
        <p14:creationId xmlns:p14="http://schemas.microsoft.com/office/powerpoint/2010/main" val="3243293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FF05A9B-6E74-21B5-CF82-1284DC6CF1E2}"/>
              </a:ext>
            </a:extLst>
          </p:cNvPr>
          <p:cNvPicPr>
            <a:picLocks noGrp="1" noChangeAspect="1"/>
          </p:cNvPicPr>
          <p:nvPr>
            <p:ph idx="1"/>
          </p:nvPr>
        </p:nvPicPr>
        <p:blipFill>
          <a:blip r:embed="rId2"/>
          <a:stretch>
            <a:fillRect/>
          </a:stretch>
        </p:blipFill>
        <p:spPr>
          <a:xfrm>
            <a:off x="2195754" y="217488"/>
            <a:ext cx="8210065" cy="6420380"/>
          </a:xfrm>
        </p:spPr>
      </p:pic>
    </p:spTree>
    <p:extLst>
      <p:ext uri="{BB962C8B-B14F-4D97-AF65-F5344CB8AC3E}">
        <p14:creationId xmlns:p14="http://schemas.microsoft.com/office/powerpoint/2010/main" val="3300302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A4EB1-81C3-2CC2-D752-44410F480F6D}"/>
              </a:ext>
            </a:extLst>
          </p:cNvPr>
          <p:cNvSpPr>
            <a:spLocks noGrp="1"/>
          </p:cNvSpPr>
          <p:nvPr>
            <p:ph type="title"/>
          </p:nvPr>
        </p:nvSpPr>
        <p:spPr/>
        <p:txBody>
          <a:bodyPr/>
          <a:lstStyle/>
          <a:p>
            <a:r>
              <a:rPr lang="en-US"/>
              <a:t>Innovative product</a:t>
            </a:r>
          </a:p>
        </p:txBody>
      </p:sp>
      <p:sp>
        <p:nvSpPr>
          <p:cNvPr id="6" name="Content Placeholder 5">
            <a:extLst>
              <a:ext uri="{FF2B5EF4-FFF2-40B4-BE49-F238E27FC236}">
                <a16:creationId xmlns:a16="http://schemas.microsoft.com/office/drawing/2014/main" id="{919E5F69-F629-9222-228F-BBBEFBDB202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38763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E083C-4E10-184D-29B8-8DAA3FFBBA0E}"/>
              </a:ext>
            </a:extLst>
          </p:cNvPr>
          <p:cNvSpPr>
            <a:spLocks noGrp="1"/>
          </p:cNvSpPr>
          <p:nvPr>
            <p:ph type="title"/>
          </p:nvPr>
        </p:nvSpPr>
        <p:spPr/>
        <p:txBody>
          <a:bodyPr/>
          <a:lstStyle/>
          <a:p>
            <a:r>
              <a:rPr lang="en-US" b="1" dirty="0">
                <a:solidFill>
                  <a:schemeClr val="bg1"/>
                </a:solidFill>
              </a:rPr>
              <a:t>Numerical results</a:t>
            </a:r>
          </a:p>
        </p:txBody>
      </p:sp>
      <p:sp>
        <p:nvSpPr>
          <p:cNvPr id="3" name="Content Placeholder 2">
            <a:extLst>
              <a:ext uri="{FF2B5EF4-FFF2-40B4-BE49-F238E27FC236}">
                <a16:creationId xmlns:a16="http://schemas.microsoft.com/office/drawing/2014/main" id="{A018D35D-BBC1-C742-3190-EE2E8DB1B947}"/>
              </a:ext>
            </a:extLst>
          </p:cNvPr>
          <p:cNvSpPr>
            <a:spLocks noGrp="1"/>
          </p:cNvSpPr>
          <p:nvPr>
            <p:ph idx="1"/>
          </p:nvPr>
        </p:nvSpPr>
        <p:spPr/>
        <p:txBody>
          <a:bodyPr vert="horz" lIns="91440" tIns="45720" rIns="91440" bIns="45720" rtlCol="0" anchor="t">
            <a:normAutofit/>
          </a:bodyPr>
          <a:lstStyle/>
          <a:p>
            <a:r>
              <a:rPr lang="en-US" dirty="0">
                <a:solidFill>
                  <a:schemeClr val="bg1"/>
                </a:solidFill>
                <a:ea typeface="+mn-lt"/>
                <a:cs typeface="+mn-lt"/>
              </a:rPr>
              <a:t>The app analyzed 80 user activities, including posts, comments, and reactions, </a:t>
            </a:r>
            <a:r>
              <a:rPr lang="en-US">
                <a:solidFill>
                  <a:schemeClr val="bg1"/>
                </a:solidFill>
                <a:ea typeface="+mn-lt"/>
                <a:cs typeface="+mn-lt"/>
              </a:rPr>
              <a:t>with 60% categorized as normal, 30% as anxiety, and 10% as depression, </a:t>
            </a:r>
            <a:r>
              <a:rPr lang="en-US" dirty="0">
                <a:solidFill>
                  <a:schemeClr val="bg1"/>
                </a:solidFill>
                <a:ea typeface="+mn-lt"/>
                <a:cs typeface="+mn-lt"/>
              </a:rPr>
              <a:t>resulting in a heuristic score of -12 (indicating anxiety) for a sample user. Users spent an average of 12 minutes per session, with the majority of interactions focused on technology and personal development subreddits.</a:t>
            </a:r>
            <a:endParaRPr lang="en-US">
              <a:solidFill>
                <a:schemeClr val="bg1"/>
              </a:solidFill>
            </a:endParaRPr>
          </a:p>
        </p:txBody>
      </p:sp>
    </p:spTree>
    <p:extLst>
      <p:ext uri="{BB962C8B-B14F-4D97-AF65-F5344CB8AC3E}">
        <p14:creationId xmlns:p14="http://schemas.microsoft.com/office/powerpoint/2010/main" val="952445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26973-15AF-2960-B34F-17A2CC459A9D}"/>
              </a:ext>
            </a:extLst>
          </p:cNvPr>
          <p:cNvSpPr>
            <a:spLocks noGrp="1"/>
          </p:cNvSpPr>
          <p:nvPr>
            <p:ph type="title"/>
          </p:nvPr>
        </p:nvSpPr>
        <p:spPr>
          <a:xfrm>
            <a:off x="1141413" y="-459433"/>
            <a:ext cx="9905998" cy="2101180"/>
          </a:xfrm>
        </p:spPr>
        <p:txBody>
          <a:bodyPr/>
          <a:lstStyle/>
          <a:p>
            <a:r>
              <a:rPr lang="en-US" dirty="0">
                <a:solidFill>
                  <a:schemeClr val="bg1"/>
                </a:solidFill>
              </a:rPr>
              <a:t>Tech + local deployment + a bit ai + code </a:t>
            </a:r>
            <a:r>
              <a:rPr lang="en-US" err="1">
                <a:solidFill>
                  <a:schemeClr val="bg1"/>
                </a:solidFill>
              </a:rPr>
              <a:t>quality,rest,separation</a:t>
            </a:r>
            <a:r>
              <a:rPr lang="en-US" dirty="0">
                <a:solidFill>
                  <a:schemeClr val="bg1"/>
                </a:solidFill>
              </a:rPr>
              <a:t> etc.</a:t>
            </a:r>
          </a:p>
        </p:txBody>
      </p:sp>
      <p:sp>
        <p:nvSpPr>
          <p:cNvPr id="3" name="Content Placeholder 2">
            <a:extLst>
              <a:ext uri="{FF2B5EF4-FFF2-40B4-BE49-F238E27FC236}">
                <a16:creationId xmlns:a16="http://schemas.microsoft.com/office/drawing/2014/main" id="{60F4946A-0E69-DA19-0925-31C82DCEE833}"/>
              </a:ext>
            </a:extLst>
          </p:cNvPr>
          <p:cNvSpPr>
            <a:spLocks noGrp="1"/>
          </p:cNvSpPr>
          <p:nvPr>
            <p:ph idx="1"/>
          </p:nvPr>
        </p:nvSpPr>
        <p:spPr>
          <a:xfrm>
            <a:off x="1141412" y="1357390"/>
            <a:ext cx="9905999" cy="4433811"/>
          </a:xfrm>
        </p:spPr>
        <p:txBody>
          <a:bodyPr vert="horz" lIns="91440" tIns="45720" rIns="91440" bIns="45720" rtlCol="0" anchor="t">
            <a:normAutofit/>
          </a:bodyPr>
          <a:lstStyle/>
          <a:p>
            <a:r>
              <a:rPr lang="en-US" sz="2000" b="1" dirty="0">
                <a:solidFill>
                  <a:schemeClr val="bg1"/>
                </a:solidFill>
              </a:rPr>
              <a:t>Tech stack</a:t>
            </a:r>
            <a:r>
              <a:rPr lang="en-US" sz="2000" dirty="0">
                <a:solidFill>
                  <a:schemeClr val="bg1"/>
                </a:solidFill>
              </a:rPr>
              <a:t>:</a:t>
            </a:r>
          </a:p>
          <a:p>
            <a:pPr marL="0" indent="0">
              <a:buNone/>
            </a:pPr>
            <a:r>
              <a:rPr lang="en-US" sz="2000" dirty="0">
                <a:solidFill>
                  <a:schemeClr val="bg1"/>
                </a:solidFill>
              </a:rPr>
              <a:t> -</a:t>
            </a:r>
            <a:r>
              <a:rPr lang="en-US" sz="2000" b="1" dirty="0">
                <a:solidFill>
                  <a:schemeClr val="bg1"/>
                </a:solidFill>
              </a:rPr>
              <a:t>Backend</a:t>
            </a:r>
            <a:r>
              <a:rPr lang="en-US" sz="2000" dirty="0">
                <a:solidFill>
                  <a:schemeClr val="bg1"/>
                </a:solidFill>
              </a:rPr>
              <a:t>: Flask (perfect for managing complex data flow), SQLite3, OAuth, </a:t>
            </a:r>
            <a:r>
              <a:rPr lang="en-US" sz="2000" dirty="0" err="1">
                <a:solidFill>
                  <a:schemeClr val="bg1"/>
                </a:solidFill>
              </a:rPr>
              <a:t>TextBlob</a:t>
            </a:r>
            <a:endParaRPr lang="en-US" sz="2000" dirty="0">
              <a:solidFill>
                <a:schemeClr val="bg1"/>
              </a:solidFill>
            </a:endParaRPr>
          </a:p>
          <a:p>
            <a:pPr marL="0" indent="0">
              <a:buNone/>
            </a:pPr>
            <a:r>
              <a:rPr lang="en-US" sz="2000" dirty="0">
                <a:solidFill>
                  <a:schemeClr val="bg1"/>
                </a:solidFill>
              </a:rPr>
              <a:t> -</a:t>
            </a:r>
            <a:r>
              <a:rPr lang="en-US" sz="2000" b="1" dirty="0">
                <a:solidFill>
                  <a:schemeClr val="bg1"/>
                </a:solidFill>
              </a:rPr>
              <a:t>Frontend</a:t>
            </a:r>
            <a:r>
              <a:rPr lang="en-US" sz="2000" dirty="0">
                <a:solidFill>
                  <a:schemeClr val="bg1"/>
                </a:solidFill>
              </a:rPr>
              <a:t>: Flutter + Dart for a seamless mobile integration</a:t>
            </a:r>
          </a:p>
          <a:p>
            <a:pPr marL="0" indent="0">
              <a:buNone/>
            </a:pPr>
            <a:r>
              <a:rPr lang="en-US" sz="2000" dirty="0">
                <a:solidFill>
                  <a:schemeClr val="bg1"/>
                </a:solidFill>
              </a:rPr>
              <a:t> -</a:t>
            </a:r>
            <a:r>
              <a:rPr lang="en-US" sz="2000" b="1" dirty="0">
                <a:solidFill>
                  <a:schemeClr val="bg1"/>
                </a:solidFill>
              </a:rPr>
              <a:t>Additional</a:t>
            </a:r>
            <a:r>
              <a:rPr lang="en-US" sz="2000" dirty="0">
                <a:solidFill>
                  <a:schemeClr val="bg1"/>
                </a:solidFill>
              </a:rPr>
              <a:t>: Git for version control and Postman for API testing</a:t>
            </a:r>
          </a:p>
          <a:p>
            <a:pPr marL="285750" indent="-285750"/>
            <a:r>
              <a:rPr lang="en-US" sz="2000" b="1" dirty="0">
                <a:solidFill>
                  <a:schemeClr val="bg1"/>
                </a:solidFill>
              </a:rPr>
              <a:t>Abstract tech features</a:t>
            </a:r>
            <a:r>
              <a:rPr lang="en-US" sz="2000" dirty="0">
                <a:solidFill>
                  <a:schemeClr val="bg1"/>
                </a:solidFill>
              </a:rPr>
              <a:t>: </a:t>
            </a:r>
            <a:r>
              <a:rPr lang="en-US" sz="2000" dirty="0">
                <a:solidFill>
                  <a:schemeClr val="bg1"/>
                </a:solidFill>
                <a:ea typeface="+mn-lt"/>
                <a:cs typeface="+mn-lt"/>
              </a:rPr>
              <a:t>The app utilizes a modular frontend, RESTful backend, secure OAuth 2.0 for Reddit integration, AI-driven sentiment analysis, heuristic scoring, and adaptive design to provide users with seamless interaction, emotional insights, and cross-platform compatibility while prioritizing data security and privacy.</a:t>
            </a:r>
          </a:p>
        </p:txBody>
      </p:sp>
    </p:spTree>
    <p:extLst>
      <p:ext uri="{BB962C8B-B14F-4D97-AF65-F5344CB8AC3E}">
        <p14:creationId xmlns:p14="http://schemas.microsoft.com/office/powerpoint/2010/main" val="1445048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program&#10;&#10;Description automatically generated">
            <a:extLst>
              <a:ext uri="{FF2B5EF4-FFF2-40B4-BE49-F238E27FC236}">
                <a16:creationId xmlns:a16="http://schemas.microsoft.com/office/drawing/2014/main" id="{C998D3B2-74AC-01E8-CDEE-53983FCEC949}"/>
              </a:ext>
            </a:extLst>
          </p:cNvPr>
          <p:cNvPicPr>
            <a:picLocks noChangeAspect="1"/>
          </p:cNvPicPr>
          <p:nvPr/>
        </p:nvPicPr>
        <p:blipFill>
          <a:blip r:embed="rId2"/>
          <a:stretch>
            <a:fillRect/>
          </a:stretch>
        </p:blipFill>
        <p:spPr>
          <a:xfrm>
            <a:off x="643983" y="230808"/>
            <a:ext cx="4501375" cy="6405678"/>
          </a:xfrm>
          <a:prstGeom prst="rect">
            <a:avLst/>
          </a:prstGeom>
        </p:spPr>
      </p:pic>
    </p:spTree>
    <p:extLst>
      <p:ext uri="{BB962C8B-B14F-4D97-AF65-F5344CB8AC3E}">
        <p14:creationId xmlns:p14="http://schemas.microsoft.com/office/powerpoint/2010/main" val="4208958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24515" y="340466"/>
            <a:ext cx="10277856" cy="1086969"/>
          </a:xfrm>
          <a:noFill/>
        </p:spPr>
        <p:txBody>
          <a:bodyPr anchor="b">
            <a:noAutofit/>
          </a:bodyPr>
          <a:lstStyle/>
          <a:p>
            <a:r>
              <a:rPr lang="en-US" dirty="0">
                <a:solidFill>
                  <a:srgbClr val="6E583A"/>
                </a:solidFill>
              </a:rPr>
              <a:t>Market Analysis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2490282" y="1575881"/>
            <a:ext cx="8852170" cy="4659549"/>
          </a:xfrm>
          <a:noFill/>
        </p:spPr>
        <p:txBody>
          <a:bodyPr>
            <a:noAutofit/>
          </a:bodyPr>
          <a:lstStyle/>
          <a:p>
            <a:r>
              <a:rPr lang="en-US" sz="2000" b="1" dirty="0">
                <a:solidFill>
                  <a:srgbClr val="6E583A"/>
                </a:solidFill>
              </a:rPr>
              <a:t>	The global mental health apps market has been experiencing significant growth.</a:t>
            </a:r>
          </a:p>
          <a:p>
            <a:br>
              <a:rPr lang="en-US" sz="2000" b="1" dirty="0">
                <a:solidFill>
                  <a:srgbClr val="6E583A"/>
                </a:solidFill>
              </a:rPr>
            </a:br>
            <a:r>
              <a:rPr lang="en-US" sz="2000" b="1" dirty="0">
                <a:solidFill>
                  <a:srgbClr val="6E583A"/>
                </a:solidFill>
              </a:rPr>
              <a:t>	Specifically focusing on youth mental health, the market is projected to reach USD 26 billion by 2027, highlighting a substantial opportunity for growth in this segment.</a:t>
            </a:r>
          </a:p>
          <a:p>
            <a:endParaRPr lang="en-US" sz="2000" b="1" dirty="0">
              <a:solidFill>
                <a:srgbClr val="6E583A"/>
              </a:solidFill>
            </a:endParaRPr>
          </a:p>
          <a:p>
            <a:r>
              <a:rPr lang="en-US" sz="2000" b="1" dirty="0">
                <a:solidFill>
                  <a:srgbClr val="6E583A"/>
                </a:solidFill>
              </a:rPr>
              <a:t>	Growing awareness of teenage mental health drives demand for tailored solutions.</a:t>
            </a:r>
          </a:p>
          <a:p>
            <a:endParaRPr lang="en-US" sz="2000" b="1" dirty="0">
              <a:solidFill>
                <a:srgbClr val="6E583A"/>
              </a:solidFill>
            </a:endParaRPr>
          </a:p>
          <a:p>
            <a:r>
              <a:rPr lang="en-US" sz="2000" b="1" dirty="0">
                <a:solidFill>
                  <a:srgbClr val="6E583A"/>
                </a:solidFill>
              </a:rPr>
              <a:t>	We estimate that the market will evolve with increased adoption of digital tools, driven by a growing reliance on technology for mental health support.</a:t>
            </a:r>
          </a:p>
        </p:txBody>
      </p:sp>
      <p:sp>
        <p:nvSpPr>
          <p:cNvPr id="10" name="Slide Number Placeholder 9">
            <a:extLst>
              <a:ext uri="{FF2B5EF4-FFF2-40B4-BE49-F238E27FC236}">
                <a16:creationId xmlns:a16="http://schemas.microsoft.com/office/drawing/2014/main" id="{FD7B9109-9E17-1A7A-3A9A-0F1C07BF36A3}"/>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9</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4654295" y="826851"/>
            <a:ext cx="7004304" cy="869847"/>
          </a:xfrm>
          <a:noFill/>
        </p:spPr>
        <p:txBody>
          <a:bodyPr>
            <a:noAutofit/>
          </a:bodyPr>
          <a:lstStyle/>
          <a:p>
            <a:r>
              <a:rPr lang="en-US" dirty="0"/>
              <a:t>Needs addressed</a:t>
            </a:r>
          </a:p>
        </p:txBody>
      </p:sp>
      <p:sp>
        <p:nvSpPr>
          <p:cNvPr id="6" name="TextBox 5">
            <a:extLst>
              <a:ext uri="{FF2B5EF4-FFF2-40B4-BE49-F238E27FC236}">
                <a16:creationId xmlns:a16="http://schemas.microsoft.com/office/drawing/2014/main" id="{68785C52-D4F3-841E-43BA-E29CFBD47108}"/>
              </a:ext>
            </a:extLst>
          </p:cNvPr>
          <p:cNvSpPr txBox="1"/>
          <p:nvPr/>
        </p:nvSpPr>
        <p:spPr>
          <a:xfrm>
            <a:off x="3573295" y="2245096"/>
            <a:ext cx="8706254" cy="1015663"/>
          </a:xfrm>
          <a:prstGeom prst="rect">
            <a:avLst/>
          </a:prstGeom>
          <a:noFill/>
        </p:spPr>
        <p:txBody>
          <a:bodyPr wrap="square" rtlCol="0">
            <a:spAutoFit/>
          </a:bodyPr>
          <a:lstStyle/>
          <a:p>
            <a:r>
              <a:rPr lang="en-US" sz="2000" b="1" dirty="0">
                <a:solidFill>
                  <a:srgbClr val="6E583A"/>
                </a:solidFill>
              </a:rPr>
              <a:t>	The product addresses the growing need for greater self-awareness, helping users understand their mental well-being, recognize early signs of anxiety or depression, and know when seeking professional help could be beneficial.</a:t>
            </a:r>
          </a:p>
        </p:txBody>
      </p:sp>
      <p:sp>
        <p:nvSpPr>
          <p:cNvPr id="7" name="TextBox 6">
            <a:extLst>
              <a:ext uri="{FF2B5EF4-FFF2-40B4-BE49-F238E27FC236}">
                <a16:creationId xmlns:a16="http://schemas.microsoft.com/office/drawing/2014/main" id="{38410313-6997-4DB8-9440-D1163458BDBA}"/>
              </a:ext>
            </a:extLst>
          </p:cNvPr>
          <p:cNvSpPr txBox="1"/>
          <p:nvPr/>
        </p:nvSpPr>
        <p:spPr>
          <a:xfrm>
            <a:off x="1812587" y="3805131"/>
            <a:ext cx="10466962" cy="1323439"/>
          </a:xfrm>
          <a:prstGeom prst="rect">
            <a:avLst/>
          </a:prstGeom>
          <a:noFill/>
        </p:spPr>
        <p:txBody>
          <a:bodyPr wrap="square" rtlCol="0">
            <a:spAutoFit/>
          </a:bodyPr>
          <a:lstStyle/>
          <a:p>
            <a:r>
              <a:rPr lang="en-US" sz="2000" b="1" dirty="0">
                <a:solidFill>
                  <a:srgbClr val="6E583A"/>
                </a:solidFill>
              </a:rPr>
              <a:t> 	Most competitors focus on mental health improvement through mindfulness, mood tracking, and therapy techniques, often offering active tools like meditation, CBT, or journaling. However, they generally don't include passive tracking of social media usage or analyze the correlation between online behavior and mental health (Headspace, </a:t>
            </a:r>
            <a:r>
              <a:rPr lang="en-US" sz="2000" b="1" dirty="0" err="1">
                <a:solidFill>
                  <a:srgbClr val="6E583A"/>
                </a:solidFill>
              </a:rPr>
              <a:t>Woebot</a:t>
            </a:r>
            <a:r>
              <a:rPr lang="en-US" sz="2000" b="1" dirty="0">
                <a:solidFill>
                  <a:srgbClr val="6E583A"/>
                </a:solidFill>
              </a:rPr>
              <a:t>, </a:t>
            </a:r>
            <a:r>
              <a:rPr lang="en-US" sz="2000" b="1" dirty="0" err="1">
                <a:solidFill>
                  <a:srgbClr val="6E583A"/>
                </a:solidFill>
              </a:rPr>
              <a:t>Moodpath</a:t>
            </a:r>
            <a:r>
              <a:rPr lang="en-US" sz="2000" b="1" dirty="0">
                <a:solidFill>
                  <a:srgbClr val="6E583A"/>
                </a:solidFill>
              </a:rPr>
              <a:t>, </a:t>
            </a:r>
            <a:r>
              <a:rPr lang="en-US" sz="2000" b="1" dirty="0" err="1">
                <a:solidFill>
                  <a:srgbClr val="6E583A"/>
                </a:solidFill>
              </a:rPr>
              <a:t>Sanvello</a:t>
            </a:r>
            <a:r>
              <a:rPr lang="en-US" sz="2000" b="1" dirty="0">
                <a:solidFill>
                  <a:srgbClr val="6E583A"/>
                </a:solidFill>
              </a:rPr>
              <a:t>, </a:t>
            </a:r>
            <a:r>
              <a:rPr lang="en-US" sz="2000" b="1" dirty="0" err="1">
                <a:solidFill>
                  <a:srgbClr val="6E583A"/>
                </a:solidFill>
              </a:rPr>
              <a:t>etc</a:t>
            </a:r>
            <a:r>
              <a:rPr lang="en-US" sz="2000" b="1" dirty="0">
                <a:solidFill>
                  <a:srgbClr val="6E583A"/>
                </a:solidFill>
              </a:rPr>
              <a:t>).</a:t>
            </a:r>
          </a:p>
        </p:txBody>
      </p:sp>
      <p:sp>
        <p:nvSpPr>
          <p:cNvPr id="8" name="TextBox 7">
            <a:extLst>
              <a:ext uri="{FF2B5EF4-FFF2-40B4-BE49-F238E27FC236}">
                <a16:creationId xmlns:a16="http://schemas.microsoft.com/office/drawing/2014/main" id="{8418D5F0-9095-9A4D-7ECD-9C3DAFD934C7}"/>
              </a:ext>
            </a:extLst>
          </p:cNvPr>
          <p:cNvSpPr txBox="1"/>
          <p:nvPr/>
        </p:nvSpPr>
        <p:spPr>
          <a:xfrm>
            <a:off x="457199" y="5184843"/>
            <a:ext cx="11099259" cy="1569660"/>
          </a:xfrm>
          <a:prstGeom prst="rect">
            <a:avLst/>
          </a:prstGeom>
          <a:noFill/>
        </p:spPr>
        <p:txBody>
          <a:bodyPr wrap="square" rtlCol="0">
            <a:spAutoFit/>
          </a:bodyPr>
          <a:lstStyle/>
          <a:p>
            <a:endParaRPr lang="en-US" sz="1800" b="1" dirty="0">
              <a:solidFill>
                <a:srgbClr val="6E583A"/>
              </a:solidFill>
            </a:endParaRPr>
          </a:p>
          <a:p>
            <a:r>
              <a:rPr lang="en-US" sz="2000" b="1" dirty="0">
                <a:solidFill>
                  <a:srgbClr val="6E583A"/>
                </a:solidFill>
              </a:rPr>
              <a:t>   Our app apart from the competition is its ability to passively monitor social media usage and analyze the correlation between online behavior and anxiety or depression, providing a deeper, data-driven understanding of mental health patterns.</a:t>
            </a:r>
            <a:endParaRPr lang="en-US" sz="2000" dirty="0"/>
          </a:p>
          <a:p>
            <a:endParaRPr lang="en-US" dirty="0"/>
          </a:p>
        </p:txBody>
      </p:sp>
    </p:spTree>
    <p:extLst>
      <p:ext uri="{BB962C8B-B14F-4D97-AF65-F5344CB8AC3E}">
        <p14:creationId xmlns:p14="http://schemas.microsoft.com/office/powerpoint/2010/main" val="1371737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5408385" y="355060"/>
            <a:ext cx="6381539" cy="1327826"/>
          </a:xfrm>
          <a:noFill/>
        </p:spPr>
        <p:txBody>
          <a:bodyPr anchor="ctr">
            <a:noAutofit/>
          </a:bodyPr>
          <a:lstStyle/>
          <a:p>
            <a:r>
              <a:rPr lang="en-US" dirty="0"/>
              <a:t>User Persona</a:t>
            </a:r>
          </a:p>
        </p:txBody>
      </p:sp>
      <p:sp>
        <p:nvSpPr>
          <p:cNvPr id="2" name="TextBox 1">
            <a:extLst>
              <a:ext uri="{FF2B5EF4-FFF2-40B4-BE49-F238E27FC236}">
                <a16:creationId xmlns:a16="http://schemas.microsoft.com/office/drawing/2014/main" id="{2102622E-31F6-3135-3DF3-9F1A045B7E3C}"/>
              </a:ext>
            </a:extLst>
          </p:cNvPr>
          <p:cNvSpPr txBox="1"/>
          <p:nvPr/>
        </p:nvSpPr>
        <p:spPr>
          <a:xfrm>
            <a:off x="3287949" y="1828800"/>
            <a:ext cx="8832716" cy="3416320"/>
          </a:xfrm>
          <a:prstGeom prst="rect">
            <a:avLst/>
          </a:prstGeom>
          <a:noFill/>
        </p:spPr>
        <p:txBody>
          <a:bodyPr wrap="square" rtlCol="0">
            <a:spAutoFit/>
          </a:bodyPr>
          <a:lstStyle/>
          <a:p>
            <a:r>
              <a:rPr lang="en-US" sz="2400" b="1" dirty="0">
                <a:solidFill>
                  <a:srgbClr val="6E583A"/>
                </a:solidFill>
              </a:rPr>
              <a:t>	</a:t>
            </a:r>
          </a:p>
          <a:p>
            <a:r>
              <a:rPr lang="en-US" sz="2400" b="1" dirty="0">
                <a:solidFill>
                  <a:srgbClr val="6E583A"/>
                </a:solidFill>
              </a:rPr>
              <a:t>	Teenagers and young adults using social media excessively, seeking to understand how it affects their mental well-being and find support during moments of anxiety or depression.</a:t>
            </a:r>
            <a:br>
              <a:rPr lang="en-US" sz="2400" b="1" dirty="0">
                <a:solidFill>
                  <a:srgbClr val="6E583A"/>
                </a:solidFill>
              </a:rPr>
            </a:br>
            <a:endParaRPr lang="en-US" sz="2400" b="1" dirty="0">
              <a:solidFill>
                <a:srgbClr val="6E583A"/>
              </a:solidFill>
            </a:endParaRPr>
          </a:p>
          <a:p>
            <a:br>
              <a:rPr lang="en-US" sz="2400" b="1" dirty="0">
                <a:solidFill>
                  <a:srgbClr val="6E583A"/>
                </a:solidFill>
              </a:rPr>
            </a:br>
            <a:r>
              <a:rPr lang="en-US" sz="2400" b="1" dirty="0">
                <a:solidFill>
                  <a:srgbClr val="6E583A"/>
                </a:solidFill>
              </a:rPr>
              <a:t>	Psychologists seeking deeper insights into their patients' social media usage and its impact on their mental health progress, helping them tailor treatment plans more effectively.</a:t>
            </a:r>
          </a:p>
        </p:txBody>
      </p:sp>
    </p:spTree>
    <p:extLst>
      <p:ext uri="{BB962C8B-B14F-4D97-AF65-F5344CB8AC3E}">
        <p14:creationId xmlns:p14="http://schemas.microsoft.com/office/powerpoint/2010/main" val="3058085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ctrTitle"/>
          </p:nvPr>
        </p:nvSpPr>
        <p:spPr>
          <a:xfrm>
            <a:off x="832299" y="455599"/>
            <a:ext cx="9912096" cy="1097310"/>
          </a:xfrm>
          <a:noFill/>
        </p:spPr>
        <p:txBody>
          <a:bodyPr anchor="b">
            <a:noAutofit/>
          </a:bodyPr>
          <a:lstStyle/>
          <a:p>
            <a:r>
              <a:rPr lang="en-US" dirty="0"/>
              <a:t>Value Proposition</a:t>
            </a:r>
          </a:p>
        </p:txBody>
      </p:sp>
      <p:sp>
        <p:nvSpPr>
          <p:cNvPr id="4" name="TextBox 3">
            <a:extLst>
              <a:ext uri="{FF2B5EF4-FFF2-40B4-BE49-F238E27FC236}">
                <a16:creationId xmlns:a16="http://schemas.microsoft.com/office/drawing/2014/main" id="{7C50FE59-9D7B-2D7B-3A64-BCF064DD99B7}"/>
              </a:ext>
            </a:extLst>
          </p:cNvPr>
          <p:cNvSpPr txBox="1"/>
          <p:nvPr/>
        </p:nvSpPr>
        <p:spPr>
          <a:xfrm>
            <a:off x="0" y="1838528"/>
            <a:ext cx="7830766" cy="3816429"/>
          </a:xfrm>
          <a:prstGeom prst="rect">
            <a:avLst/>
          </a:prstGeom>
          <a:noFill/>
        </p:spPr>
        <p:txBody>
          <a:bodyPr wrap="square" rtlCol="0">
            <a:spAutoFit/>
          </a:bodyPr>
          <a:lstStyle/>
          <a:p>
            <a:r>
              <a:rPr lang="en-US" sz="2200" b="1" dirty="0">
                <a:solidFill>
                  <a:srgbClr val="6E583A"/>
                </a:solidFill>
              </a:rPr>
              <a:t>	The app uniquely combines social media monitoring with mental health tracking, offering a new perspective not available in other apps.</a:t>
            </a:r>
            <a:br>
              <a:rPr lang="en-US" sz="2200" b="1" dirty="0">
                <a:solidFill>
                  <a:srgbClr val="6E583A"/>
                </a:solidFill>
              </a:rPr>
            </a:br>
            <a:br>
              <a:rPr lang="en-US" sz="2200" b="1" dirty="0">
                <a:solidFill>
                  <a:srgbClr val="6E583A"/>
                </a:solidFill>
              </a:rPr>
            </a:br>
            <a:r>
              <a:rPr lang="en-US" sz="2200" b="1" dirty="0">
                <a:solidFill>
                  <a:srgbClr val="6E583A"/>
                </a:solidFill>
              </a:rPr>
              <a:t>	For psychologists, the app provides data-driven insights into patients' social media behavior and its impact on their mental health, optimizing treatment plans.</a:t>
            </a:r>
            <a:br>
              <a:rPr lang="en-US" sz="2200" b="1" dirty="0">
                <a:solidFill>
                  <a:srgbClr val="6E583A"/>
                </a:solidFill>
              </a:rPr>
            </a:br>
            <a:br>
              <a:rPr lang="en-US" sz="2200" b="1" dirty="0">
                <a:solidFill>
                  <a:srgbClr val="6E583A"/>
                </a:solidFill>
              </a:rPr>
            </a:br>
            <a:r>
              <a:rPr lang="en-US" sz="2200" b="1" dirty="0">
                <a:solidFill>
                  <a:srgbClr val="6E583A"/>
                </a:solidFill>
              </a:rPr>
              <a:t>	For the usual customer it offers personalized awareness by analyzing social media usage, helping users understand its influence on their well-being.</a:t>
            </a:r>
          </a:p>
        </p:txBody>
      </p:sp>
    </p:spTree>
    <p:extLst>
      <p:ext uri="{BB962C8B-B14F-4D97-AF65-F5344CB8AC3E}">
        <p14:creationId xmlns:p14="http://schemas.microsoft.com/office/powerpoint/2010/main" val="3751616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4654296" y="27432"/>
            <a:ext cx="7004304" cy="1161288"/>
          </a:xfrm>
          <a:noFill/>
        </p:spPr>
        <p:txBody>
          <a:bodyPr>
            <a:noAutofit/>
          </a:bodyPr>
          <a:lstStyle/>
          <a:p>
            <a:r>
              <a:rPr lang="en-US" dirty="0"/>
              <a:t>Business Model</a:t>
            </a:r>
          </a:p>
        </p:txBody>
      </p:sp>
      <p:sp>
        <p:nvSpPr>
          <p:cNvPr id="11" name="TextBox 10">
            <a:extLst>
              <a:ext uri="{FF2B5EF4-FFF2-40B4-BE49-F238E27FC236}">
                <a16:creationId xmlns:a16="http://schemas.microsoft.com/office/drawing/2014/main" id="{9F0FFE1F-BBBE-D9AE-CCBA-B1BB31C9A4B2}"/>
              </a:ext>
            </a:extLst>
          </p:cNvPr>
          <p:cNvSpPr txBox="1"/>
          <p:nvPr/>
        </p:nvSpPr>
        <p:spPr>
          <a:xfrm>
            <a:off x="4868692" y="1970220"/>
            <a:ext cx="7446525" cy="2308324"/>
          </a:xfrm>
          <a:prstGeom prst="rect">
            <a:avLst/>
          </a:prstGeom>
          <a:noFill/>
        </p:spPr>
        <p:txBody>
          <a:bodyPr wrap="square" rtlCol="0">
            <a:spAutoFit/>
          </a:bodyPr>
          <a:lstStyle/>
          <a:p>
            <a:r>
              <a:rPr lang="en-US" sz="2400" b="1" dirty="0">
                <a:solidFill>
                  <a:srgbClr val="6E583A"/>
                </a:solidFill>
              </a:rPr>
              <a:t>	B2C: Offer a free version with limited access, supported by ads, and a subscription plan for full features, including social media analysis and personalized mental health insights, with a free trial.</a:t>
            </a:r>
            <a:br>
              <a:rPr lang="en-US" sz="2400" b="1" dirty="0">
                <a:solidFill>
                  <a:srgbClr val="6E583A"/>
                </a:solidFill>
              </a:rPr>
            </a:br>
            <a:br>
              <a:rPr lang="en-US" sz="2400" b="1" dirty="0">
                <a:solidFill>
                  <a:srgbClr val="6E583A"/>
                </a:solidFill>
              </a:rPr>
            </a:br>
            <a:r>
              <a:rPr lang="en-US" sz="2400" b="1" dirty="0">
                <a:solidFill>
                  <a:srgbClr val="6E583A"/>
                </a:solidFill>
              </a:rPr>
              <a:t>	</a:t>
            </a:r>
          </a:p>
        </p:txBody>
      </p:sp>
      <p:sp>
        <p:nvSpPr>
          <p:cNvPr id="13" name="TextBox 12">
            <a:extLst>
              <a:ext uri="{FF2B5EF4-FFF2-40B4-BE49-F238E27FC236}">
                <a16:creationId xmlns:a16="http://schemas.microsoft.com/office/drawing/2014/main" id="{C3F4EA10-7ABA-E25B-E6E6-30CB579733BD}"/>
              </a:ext>
            </a:extLst>
          </p:cNvPr>
          <p:cNvSpPr txBox="1"/>
          <p:nvPr/>
        </p:nvSpPr>
        <p:spPr>
          <a:xfrm>
            <a:off x="2114145" y="3898755"/>
            <a:ext cx="10077855" cy="1200329"/>
          </a:xfrm>
          <a:prstGeom prst="rect">
            <a:avLst/>
          </a:prstGeom>
          <a:noFill/>
        </p:spPr>
        <p:txBody>
          <a:bodyPr wrap="square" rtlCol="0">
            <a:spAutoFit/>
          </a:bodyPr>
          <a:lstStyle/>
          <a:p>
            <a:r>
              <a:rPr lang="en-US" sz="2400" b="1" dirty="0">
                <a:solidFill>
                  <a:srgbClr val="6E583A"/>
                </a:solidFill>
              </a:rPr>
              <a:t>B2B: Provide a subscription-based plan for psychologists with advanced features, including detailed patient reports and data insights, along with a free trial for professionals.</a:t>
            </a:r>
            <a:endParaRPr lang="en-US" sz="2400" dirty="0"/>
          </a:p>
        </p:txBody>
      </p:sp>
    </p:spTree>
    <p:extLst>
      <p:ext uri="{BB962C8B-B14F-4D97-AF65-F5344CB8AC3E}">
        <p14:creationId xmlns:p14="http://schemas.microsoft.com/office/powerpoint/2010/main" val="16361583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076243_win32_CP_V3" id="{81AB0711-29F9-49D0-8A73-16AF25FD4C08}" vid="{D5AD44AB-53B9-4654-A4F8-1821A28F277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08CD11230B6D248891328E9EA86E3FD" ma:contentTypeVersion="13" ma:contentTypeDescription="Create a new document." ma:contentTypeScope="" ma:versionID="967a42ea26a1170e388e78604e4be4a0">
  <xsd:schema xmlns:xsd="http://www.w3.org/2001/XMLSchema" xmlns:xs="http://www.w3.org/2001/XMLSchema" xmlns:p="http://schemas.microsoft.com/office/2006/metadata/properties" xmlns:ns2="6bfd097c-de7f-452a-9f51-d492e24fd8cf" xmlns:ns3="efb1789d-98cc-491e-820a-b5f4c63bbcf8" targetNamespace="http://schemas.microsoft.com/office/2006/metadata/properties" ma:root="true" ma:fieldsID="8dd754ca8372045a85587c933c344e61" ns2:_="" ns3:_="">
    <xsd:import namespace="6bfd097c-de7f-452a-9f51-d492e24fd8cf"/>
    <xsd:import namespace="efb1789d-98cc-491e-820a-b5f4c63bbcf8"/>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fd097c-de7f-452a-9f51-d492e24fd8cf"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f85decb-1301-438d-8b3f-81c7864c2a9b"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fb1789d-98cc-491e-820a-b5f4c63bbcf8"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4120566-7fc5-44e3-b5b6-364880437d5c}" ma:internalName="TaxCatchAll" ma:showField="CatchAllData" ma:web="efb1789d-98cc-491e-820a-b5f4c63bbcf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6bfd097c-de7f-452a-9f51-d492e24fd8cf" xsi:nil="true"/>
    <TaxCatchAll xmlns="efb1789d-98cc-491e-820a-b5f4c63bbcf8" xsi:nil="true"/>
    <lcf76f155ced4ddcb4097134ff3c332f xmlns="6bfd097c-de7f-452a-9f51-d492e24fd8c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B086877-F0DF-402D-933A-57C1C49E4D40}"/>
</file>

<file path=customXml/itemProps2.xml><?xml version="1.0" encoding="utf-8"?>
<ds:datastoreItem xmlns:ds="http://schemas.openxmlformats.org/officeDocument/2006/customXml" ds:itemID="{32993AB3-4E7C-4587-8349-9457AC149E92}"/>
</file>

<file path=customXml/itemProps3.xml><?xml version="1.0" encoding="utf-8"?>
<ds:datastoreItem xmlns:ds="http://schemas.openxmlformats.org/officeDocument/2006/customXml" ds:itemID="{9559AF13-FC3F-4264-A022-93DA68F6EF71}"/>
</file>

<file path=docProps/app.xml><?xml version="1.0" encoding="utf-8"?>
<Properties xmlns="http://schemas.openxmlformats.org/officeDocument/2006/extended-properties" xmlns:vt="http://schemas.openxmlformats.org/officeDocument/2006/docPropsVTypes">
  <Template>Circuit</Template>
  <TotalTime>20</TotalTime>
  <Words>859</Words>
  <Application>Microsoft Office PowerPoint</Application>
  <PresentationFormat>Widescreen</PresentationFormat>
  <Paragraphs>42</Paragraphs>
  <Slides>13</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Aptos</vt:lpstr>
      <vt:lpstr>Arial</vt:lpstr>
      <vt:lpstr>Calibri</vt:lpstr>
      <vt:lpstr>TW Cen MT</vt:lpstr>
      <vt:lpstr>TW Cen MT</vt:lpstr>
      <vt:lpstr>Circuit</vt:lpstr>
      <vt:lpstr>Custom</vt:lpstr>
      <vt:lpstr>early discovery of anxiety/depression in teenagers using digital tools</vt:lpstr>
      <vt:lpstr>Introduction</vt:lpstr>
      <vt:lpstr>Mvp functionalities</vt:lpstr>
      <vt:lpstr>PowerPoint Presentation</vt:lpstr>
      <vt:lpstr>Innovative product</vt:lpstr>
      <vt:lpstr>Numerical results</vt:lpstr>
      <vt:lpstr>Tech + local deployment + a bit ai + code quality,rest,separation etc.</vt:lpstr>
      <vt:lpstr>PowerPoint Presentation</vt:lpstr>
      <vt:lpstr>Market Analysis</vt:lpstr>
      <vt:lpstr>Needs addressed</vt:lpstr>
      <vt:lpstr>User Persona</vt:lpstr>
      <vt:lpstr>Value Proposition</vt:lpstr>
      <vt:lpstr>Business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RAUL-OVIDIU BORDIANU</cp:lastModifiedBy>
  <cp:revision>8</cp:revision>
  <dcterms:created xsi:type="dcterms:W3CDTF">2025-01-16T10:33:15Z</dcterms:created>
  <dcterms:modified xsi:type="dcterms:W3CDTF">2025-01-17T12:42:38Z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0x010100508CD11230B6D248891328E9EA86E3FD</vt:lpwstr>
  </property>
</Properties>
</file>