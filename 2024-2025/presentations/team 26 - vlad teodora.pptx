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</p:sldMasterIdLst>
  <p:notesMasterIdLst>
    <p:notesMasterId r:id="rId13"/>
  </p:notesMasterIdLst>
  <p:sldIdLst>
    <p:sldId id="256" r:id="rId2"/>
    <p:sldId id="349" r:id="rId3"/>
    <p:sldId id="348" r:id="rId4"/>
    <p:sldId id="350" r:id="rId5"/>
    <p:sldId id="351" r:id="rId6"/>
    <p:sldId id="352" r:id="rId7"/>
    <p:sldId id="265" r:id="rId8"/>
    <p:sldId id="354" r:id="rId9"/>
    <p:sldId id="355" r:id="rId10"/>
    <p:sldId id="356" r:id="rId11"/>
    <p:sldId id="357" r:id="rId12"/>
  </p:sldIdLst>
  <p:sldSz cx="9144000" cy="5143500" type="screen16x9"/>
  <p:notesSz cx="6858000" cy="9144000"/>
  <p:embeddedFontLst>
    <p:embeddedFont>
      <p:font typeface="Open Sans" panose="020B0604020202020204" charset="0"/>
      <p:regular r:id="rId14"/>
      <p:bold r:id="rId15"/>
      <p:italic r:id="rId16"/>
      <p:boldItalic r:id="rId17"/>
    </p:embeddedFont>
    <p:embeddedFont>
      <p:font typeface="Josefin Sans" panose="020B0604020202020204" charset="0"/>
      <p:regular r:id="rId18"/>
      <p:bold r:id="rId19"/>
      <p:italic r:id="rId20"/>
      <p:boldItalic r:id="rId21"/>
    </p:embeddedFont>
    <p:embeddedFont>
      <p:font typeface="Fira Sans Condensed" panose="020B0604020202020204" charset="0"/>
      <p:regular r:id="rId22"/>
      <p:bold r:id="rId23"/>
      <p:italic r:id="rId24"/>
      <p:boldItalic r:id="rId25"/>
    </p:embeddedFont>
    <p:embeddedFont>
      <p:font typeface="Open Sans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E24215-E464-4D03-988D-DD82A191AB7F}">
  <a:tblStyle styleId="{E9E24215-E464-4D03-988D-DD82A191AB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d1e87cec6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d1e87cec6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861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d1e87cec6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d1e87cec6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297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d1e87cec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d1e87cec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240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d1e87cec6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d1e87cec6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196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4695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d1e87cec6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d1e87cec6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780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ab8d1ca927_3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ab8d1ca927_3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778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d1e87cec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d1e87cec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4658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ab8d1ca927_3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ab8d1ca927_3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266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1867025" y="1013175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-229260" y="3396805"/>
            <a:ext cx="3675485" cy="189381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236345" y="4475012"/>
            <a:ext cx="2114446" cy="9970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-5400000">
            <a:off x="6110254" y="2527892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744675" y="-169359"/>
            <a:ext cx="3627772" cy="1869298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7292455" y="-348495"/>
            <a:ext cx="2087045" cy="98416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4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 rot="10800000" flipH="1">
            <a:off x="-34948" y="4374909"/>
            <a:ext cx="2505013" cy="76874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"/>
          <p:cNvSpPr/>
          <p:nvPr/>
        </p:nvSpPr>
        <p:spPr>
          <a:xfrm flipH="1">
            <a:off x="6142736" y="0"/>
            <a:ext cx="2594745" cy="68451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6632383" y="0"/>
            <a:ext cx="3779755" cy="936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6"/>
          <p:cNvSpPr/>
          <p:nvPr/>
        </p:nvSpPr>
        <p:spPr>
          <a:xfrm flipH="1">
            <a:off x="-5" y="4269850"/>
            <a:ext cx="2018280" cy="87380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-1" y="4269786"/>
            <a:ext cx="1717924" cy="87359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6"/>
          <p:cNvSpPr/>
          <p:nvPr/>
        </p:nvSpPr>
        <p:spPr>
          <a:xfrm flipH="1">
            <a:off x="6962402" y="0"/>
            <a:ext cx="2594826" cy="822238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6"/>
          <p:cNvSpPr/>
          <p:nvPr/>
        </p:nvSpPr>
        <p:spPr>
          <a:xfrm rot="9281215" flipH="1">
            <a:off x="6963797" y="4203731"/>
            <a:ext cx="2228124" cy="91892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"/>
          <p:cNvSpPr/>
          <p:nvPr/>
        </p:nvSpPr>
        <p:spPr>
          <a:xfrm rot="9280772" flipH="1">
            <a:off x="6019538" y="4396562"/>
            <a:ext cx="3782980" cy="1428824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"/>
          <p:cNvSpPr/>
          <p:nvPr/>
        </p:nvSpPr>
        <p:spPr>
          <a:xfrm rot="9281383">
            <a:off x="6014037" y="3898835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"/>
          <p:cNvSpPr/>
          <p:nvPr/>
        </p:nvSpPr>
        <p:spPr>
          <a:xfrm rot="10800000" flipH="1">
            <a:off x="-874529" y="63632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"/>
          <p:cNvSpPr/>
          <p:nvPr/>
        </p:nvSpPr>
        <p:spPr>
          <a:xfrm rot="9367883">
            <a:off x="-1140979" y="-338044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6"/>
          <p:cNvSpPr/>
          <p:nvPr/>
        </p:nvSpPr>
        <p:spPr>
          <a:xfrm rot="9944222" flipH="1">
            <a:off x="-1677309" y="-294645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title"/>
          </p:nvPr>
        </p:nvSpPr>
        <p:spPr>
          <a:xfrm>
            <a:off x="2550000" y="3290249"/>
            <a:ext cx="40440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2250150" y="1355551"/>
            <a:ext cx="4643700" cy="16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8" name="Google Shape;258;p16"/>
          <p:cNvSpPr/>
          <p:nvPr/>
        </p:nvSpPr>
        <p:spPr>
          <a:xfrm rot="5400000">
            <a:off x="2341731" y="4809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6"/>
          <p:cNvSpPr/>
          <p:nvPr/>
        </p:nvSpPr>
        <p:spPr>
          <a:xfrm rot="5400000">
            <a:off x="989544" y="47098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6"/>
          <p:cNvSpPr/>
          <p:nvPr/>
        </p:nvSpPr>
        <p:spPr>
          <a:xfrm rot="-5400000">
            <a:off x="1684906" y="46572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"/>
          <p:cNvSpPr/>
          <p:nvPr/>
        </p:nvSpPr>
        <p:spPr>
          <a:xfrm rot="5400000">
            <a:off x="333331" y="4075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"/>
          <p:cNvSpPr/>
          <p:nvPr/>
        </p:nvSpPr>
        <p:spPr>
          <a:xfrm rot="5400000">
            <a:off x="957006" y="6007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6"/>
          <p:cNvSpPr/>
          <p:nvPr/>
        </p:nvSpPr>
        <p:spPr>
          <a:xfrm rot="5400000">
            <a:off x="8564894" y="4842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"/>
          <p:cNvSpPr/>
          <p:nvPr/>
        </p:nvSpPr>
        <p:spPr>
          <a:xfrm rot="-5400000">
            <a:off x="234781" y="10034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6"/>
          <p:cNvSpPr/>
          <p:nvPr/>
        </p:nvSpPr>
        <p:spPr>
          <a:xfrm rot="5400000">
            <a:off x="1477081" y="140794"/>
            <a:ext cx="163500" cy="163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"/>
          <p:cNvSpPr/>
          <p:nvPr/>
        </p:nvSpPr>
        <p:spPr>
          <a:xfrm rot="5400000">
            <a:off x="8233156" y="433776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"/>
          <p:cNvSpPr/>
          <p:nvPr/>
        </p:nvSpPr>
        <p:spPr>
          <a:xfrm rot="5400000">
            <a:off x="7390894" y="45588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6"/>
          <p:cNvSpPr/>
          <p:nvPr/>
        </p:nvSpPr>
        <p:spPr>
          <a:xfrm rot="-5400000">
            <a:off x="8911081" y="35576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"/>
          <p:cNvSpPr/>
          <p:nvPr/>
        </p:nvSpPr>
        <p:spPr>
          <a:xfrm rot="5400000">
            <a:off x="7296606" y="5209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0"/>
          <p:cNvSpPr txBox="1">
            <a:spLocks noGrp="1"/>
          </p:cNvSpPr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subTitle" idx="1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subTitle" idx="2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ubTitle" idx="3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29" name="Google Shape;529;p40"/>
          <p:cNvSpPr txBox="1">
            <a:spLocks noGrp="1"/>
          </p:cNvSpPr>
          <p:nvPr>
            <p:ph type="subTitle" idx="4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0" name="Google Shape;530;p40"/>
          <p:cNvSpPr/>
          <p:nvPr/>
        </p:nvSpPr>
        <p:spPr>
          <a:xfrm rot="-10350985" flipH="1">
            <a:off x="6450155" y="-124771"/>
            <a:ext cx="3444934" cy="11674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/>
          <p:cNvSpPr/>
          <p:nvPr/>
        </p:nvSpPr>
        <p:spPr>
          <a:xfrm>
            <a:off x="7168769" y="-99365"/>
            <a:ext cx="2517610" cy="104157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/>
          <p:cNvSpPr/>
          <p:nvPr/>
        </p:nvSpPr>
        <p:spPr>
          <a:xfrm rot="10800000" flipH="1">
            <a:off x="7678176" y="-210266"/>
            <a:ext cx="2057229" cy="77897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/>
          <p:cNvSpPr/>
          <p:nvPr/>
        </p:nvSpPr>
        <p:spPr>
          <a:xfrm rot="10350985">
            <a:off x="-562292" y="-173408"/>
            <a:ext cx="3444934" cy="11674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/>
          <p:cNvSpPr/>
          <p:nvPr/>
        </p:nvSpPr>
        <p:spPr>
          <a:xfrm flipH="1">
            <a:off x="-353582" y="-148002"/>
            <a:ext cx="2517610" cy="104157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/>
          <p:cNvSpPr/>
          <p:nvPr/>
        </p:nvSpPr>
        <p:spPr>
          <a:xfrm rot="10800000">
            <a:off x="-402608" y="-258904"/>
            <a:ext cx="2057229" cy="77897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CUSTOM_18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>
            <a:spLocks noGrp="1"/>
          </p:cNvSpPr>
          <p:nvPr>
            <p:ph type="subTitle" idx="1"/>
          </p:nvPr>
        </p:nvSpPr>
        <p:spPr>
          <a:xfrm>
            <a:off x="4658775" y="344180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41"/>
          <p:cNvSpPr txBox="1">
            <a:spLocks noGrp="1"/>
          </p:cNvSpPr>
          <p:nvPr>
            <p:ph type="subTitle" idx="2"/>
          </p:nvPr>
        </p:nvSpPr>
        <p:spPr>
          <a:xfrm>
            <a:off x="2397771" y="1400250"/>
            <a:ext cx="20877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41"/>
          <p:cNvSpPr txBox="1">
            <a:spLocks noGrp="1"/>
          </p:cNvSpPr>
          <p:nvPr>
            <p:ph type="title"/>
          </p:nvPr>
        </p:nvSpPr>
        <p:spPr>
          <a:xfrm>
            <a:off x="4658771" y="280610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548" name="Google Shape;548;p41"/>
          <p:cNvSpPr txBox="1">
            <a:spLocks noGrp="1"/>
          </p:cNvSpPr>
          <p:nvPr>
            <p:ph type="title" idx="3"/>
          </p:nvPr>
        </p:nvSpPr>
        <p:spPr>
          <a:xfrm>
            <a:off x="2397771" y="764550"/>
            <a:ext cx="20877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27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549" name="Google Shape;549;p41"/>
          <p:cNvSpPr/>
          <p:nvPr/>
        </p:nvSpPr>
        <p:spPr>
          <a:xfrm>
            <a:off x="485275" y="3859450"/>
            <a:ext cx="3336529" cy="1283560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1"/>
          <p:cNvSpPr/>
          <p:nvPr/>
        </p:nvSpPr>
        <p:spPr>
          <a:xfrm rot="1432232" flipH="1">
            <a:off x="-470789" y="4165605"/>
            <a:ext cx="4306753" cy="153108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1"/>
          <p:cNvSpPr/>
          <p:nvPr/>
        </p:nvSpPr>
        <p:spPr>
          <a:xfrm rot="5772258">
            <a:off x="7200936" y="-653045"/>
            <a:ext cx="2023504" cy="1935148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1"/>
          <p:cNvSpPr/>
          <p:nvPr/>
        </p:nvSpPr>
        <p:spPr>
          <a:xfrm rot="707044">
            <a:off x="5289054" y="-380400"/>
            <a:ext cx="4307387" cy="1170580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1"/>
          <p:cNvSpPr/>
          <p:nvPr/>
        </p:nvSpPr>
        <p:spPr>
          <a:xfrm>
            <a:off x="5289100" y="-380553"/>
            <a:ext cx="4306711" cy="128365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1"/>
          <p:cNvSpPr/>
          <p:nvPr/>
        </p:nvSpPr>
        <p:spPr>
          <a:xfrm rot="855605">
            <a:off x="-610970" y="4000688"/>
            <a:ext cx="4923475" cy="1631508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1"/>
          <p:cNvSpPr/>
          <p:nvPr/>
        </p:nvSpPr>
        <p:spPr>
          <a:xfrm rot="5400000">
            <a:off x="2493669" y="40945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1"/>
          <p:cNvSpPr/>
          <p:nvPr/>
        </p:nvSpPr>
        <p:spPr>
          <a:xfrm rot="5400000">
            <a:off x="1141481" y="39944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1"/>
          <p:cNvSpPr/>
          <p:nvPr/>
        </p:nvSpPr>
        <p:spPr>
          <a:xfrm rot="-5400000">
            <a:off x="1836844" y="39418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1"/>
          <p:cNvSpPr/>
          <p:nvPr/>
        </p:nvSpPr>
        <p:spPr>
          <a:xfrm rot="5400000">
            <a:off x="485269" y="33596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1"/>
          <p:cNvSpPr/>
          <p:nvPr/>
        </p:nvSpPr>
        <p:spPr>
          <a:xfrm rot="5400000">
            <a:off x="7169406" y="9648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1"/>
          <p:cNvSpPr/>
          <p:nvPr/>
        </p:nvSpPr>
        <p:spPr>
          <a:xfrm rot="5400000">
            <a:off x="5817219" y="8647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1"/>
          <p:cNvSpPr/>
          <p:nvPr/>
        </p:nvSpPr>
        <p:spPr>
          <a:xfrm rot="-5400000">
            <a:off x="6512581" y="8121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1"/>
          <p:cNvSpPr/>
          <p:nvPr/>
        </p:nvSpPr>
        <p:spPr>
          <a:xfrm rot="5400000">
            <a:off x="5161006" y="2299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23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60" name="Google Shape;660;p46"/>
          <p:cNvSpPr txBox="1">
            <a:spLocks noGrp="1"/>
          </p:cNvSpPr>
          <p:nvPr>
            <p:ph type="title" idx="2"/>
          </p:nvPr>
        </p:nvSpPr>
        <p:spPr>
          <a:xfrm>
            <a:off x="990875" y="15304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61" name="Google Shape;661;p46"/>
          <p:cNvSpPr txBox="1">
            <a:spLocks noGrp="1"/>
          </p:cNvSpPr>
          <p:nvPr>
            <p:ph type="subTitle" idx="1"/>
          </p:nvPr>
        </p:nvSpPr>
        <p:spPr>
          <a:xfrm>
            <a:off x="990875" y="1984050"/>
            <a:ext cx="2034600" cy="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2" name="Google Shape;662;p46"/>
          <p:cNvSpPr txBox="1">
            <a:spLocks noGrp="1"/>
          </p:cNvSpPr>
          <p:nvPr>
            <p:ph type="title" idx="3"/>
          </p:nvPr>
        </p:nvSpPr>
        <p:spPr>
          <a:xfrm>
            <a:off x="2272775" y="29638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63" name="Google Shape;663;p46"/>
          <p:cNvSpPr txBox="1">
            <a:spLocks noGrp="1"/>
          </p:cNvSpPr>
          <p:nvPr>
            <p:ph type="subTitle" idx="4"/>
          </p:nvPr>
        </p:nvSpPr>
        <p:spPr>
          <a:xfrm>
            <a:off x="2272775" y="3417450"/>
            <a:ext cx="2034600" cy="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46"/>
          <p:cNvSpPr txBox="1">
            <a:spLocks noGrp="1"/>
          </p:cNvSpPr>
          <p:nvPr>
            <p:ph type="title" idx="5"/>
          </p:nvPr>
        </p:nvSpPr>
        <p:spPr>
          <a:xfrm>
            <a:off x="6118525" y="15304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65" name="Google Shape;665;p46"/>
          <p:cNvSpPr txBox="1">
            <a:spLocks noGrp="1"/>
          </p:cNvSpPr>
          <p:nvPr>
            <p:ph type="subTitle" idx="6"/>
          </p:nvPr>
        </p:nvSpPr>
        <p:spPr>
          <a:xfrm>
            <a:off x="6118525" y="1984050"/>
            <a:ext cx="2034600" cy="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46"/>
          <p:cNvSpPr txBox="1">
            <a:spLocks noGrp="1"/>
          </p:cNvSpPr>
          <p:nvPr>
            <p:ph type="title" idx="7"/>
          </p:nvPr>
        </p:nvSpPr>
        <p:spPr>
          <a:xfrm>
            <a:off x="4836600" y="29638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67" name="Google Shape;667;p46"/>
          <p:cNvSpPr txBox="1">
            <a:spLocks noGrp="1"/>
          </p:cNvSpPr>
          <p:nvPr>
            <p:ph type="subTitle" idx="8"/>
          </p:nvPr>
        </p:nvSpPr>
        <p:spPr>
          <a:xfrm>
            <a:off x="4836600" y="3417450"/>
            <a:ext cx="2034600" cy="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8" name="Google Shape;668;p46"/>
          <p:cNvSpPr txBox="1">
            <a:spLocks noGrp="1"/>
          </p:cNvSpPr>
          <p:nvPr>
            <p:ph type="title" idx="9"/>
          </p:nvPr>
        </p:nvSpPr>
        <p:spPr>
          <a:xfrm>
            <a:off x="3554675" y="15304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69" name="Google Shape;669;p46"/>
          <p:cNvSpPr txBox="1">
            <a:spLocks noGrp="1"/>
          </p:cNvSpPr>
          <p:nvPr>
            <p:ph type="subTitle" idx="13"/>
          </p:nvPr>
        </p:nvSpPr>
        <p:spPr>
          <a:xfrm>
            <a:off x="3554675" y="1984050"/>
            <a:ext cx="2034600" cy="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46"/>
          <p:cNvSpPr/>
          <p:nvPr/>
        </p:nvSpPr>
        <p:spPr>
          <a:xfrm>
            <a:off x="-614789" y="4059903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6"/>
          <p:cNvSpPr/>
          <p:nvPr/>
        </p:nvSpPr>
        <p:spPr>
          <a:xfrm rot="1432117" flipH="1">
            <a:off x="-881240" y="4280420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6"/>
          <p:cNvSpPr/>
          <p:nvPr/>
        </p:nvSpPr>
        <p:spPr>
          <a:xfrm rot="855778">
            <a:off x="-1417570" y="4163418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6"/>
          <p:cNvSpPr/>
          <p:nvPr/>
        </p:nvSpPr>
        <p:spPr>
          <a:xfrm rot="5027361" flipH="1">
            <a:off x="8598824" y="4042096"/>
            <a:ext cx="1671004" cy="1597787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6"/>
          <p:cNvSpPr/>
          <p:nvPr/>
        </p:nvSpPr>
        <p:spPr>
          <a:xfrm rot="10093095" flipH="1">
            <a:off x="7020027" y="4448297"/>
            <a:ext cx="3557278" cy="966682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6"/>
          <p:cNvSpPr/>
          <p:nvPr/>
        </p:nvSpPr>
        <p:spPr>
          <a:xfrm rot="10800000" flipH="1">
            <a:off x="7020070" y="4354984"/>
            <a:ext cx="3556654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6"/>
          <p:cNvSpPr/>
          <p:nvPr/>
        </p:nvSpPr>
        <p:spPr>
          <a:xfrm rot="5400000">
            <a:off x="8594081" y="42478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6"/>
          <p:cNvSpPr/>
          <p:nvPr/>
        </p:nvSpPr>
        <p:spPr>
          <a:xfrm rot="5400000">
            <a:off x="810844" y="4323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6"/>
          <p:cNvSpPr/>
          <p:nvPr/>
        </p:nvSpPr>
        <p:spPr>
          <a:xfrm rot="-5400000">
            <a:off x="7937256" y="4095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6"/>
          <p:cNvSpPr/>
          <p:nvPr/>
        </p:nvSpPr>
        <p:spPr>
          <a:xfrm rot="5400000">
            <a:off x="154631" y="36889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2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2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63" name="Google Shape;763;p52"/>
          <p:cNvSpPr txBox="1">
            <a:spLocks noGrp="1"/>
          </p:cNvSpPr>
          <p:nvPr>
            <p:ph type="subTitle" idx="1"/>
          </p:nvPr>
        </p:nvSpPr>
        <p:spPr>
          <a:xfrm>
            <a:off x="5134925" y="1772525"/>
            <a:ext cx="3225000" cy="23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9pPr>
          </a:lstStyle>
          <a:p>
            <a:endParaRPr/>
          </a:p>
        </p:txBody>
      </p:sp>
      <p:sp>
        <p:nvSpPr>
          <p:cNvPr id="764" name="Google Shape;764;p52"/>
          <p:cNvSpPr/>
          <p:nvPr/>
        </p:nvSpPr>
        <p:spPr>
          <a:xfrm rot="10800000" flipH="1">
            <a:off x="-394184" y="-47562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52"/>
          <p:cNvSpPr/>
          <p:nvPr/>
        </p:nvSpPr>
        <p:spPr>
          <a:xfrm rot="9367883">
            <a:off x="-660634" y="-449239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52"/>
          <p:cNvSpPr/>
          <p:nvPr/>
        </p:nvSpPr>
        <p:spPr>
          <a:xfrm rot="9944222" flipH="1">
            <a:off x="-1196964" y="-405839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52"/>
          <p:cNvSpPr/>
          <p:nvPr/>
        </p:nvSpPr>
        <p:spPr>
          <a:xfrm rot="3327864">
            <a:off x="2723221" y="251912"/>
            <a:ext cx="163516" cy="16351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52"/>
          <p:cNvSpPr/>
          <p:nvPr/>
        </p:nvSpPr>
        <p:spPr>
          <a:xfrm rot="3326249">
            <a:off x="1540673" y="961357"/>
            <a:ext cx="98360" cy="98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52"/>
          <p:cNvSpPr/>
          <p:nvPr/>
        </p:nvSpPr>
        <p:spPr>
          <a:xfrm rot="-7473751">
            <a:off x="2083361" y="523229"/>
            <a:ext cx="98360" cy="98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52"/>
          <p:cNvSpPr/>
          <p:nvPr/>
        </p:nvSpPr>
        <p:spPr>
          <a:xfrm rot="3327864">
            <a:off x="652661" y="787093"/>
            <a:ext cx="163516" cy="16351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35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3"/>
          <p:cNvSpPr txBox="1">
            <a:spLocks noGrp="1"/>
          </p:cNvSpPr>
          <p:nvPr>
            <p:ph type="title"/>
          </p:nvPr>
        </p:nvSpPr>
        <p:spPr>
          <a:xfrm flipH="1">
            <a:off x="1993200" y="1404463"/>
            <a:ext cx="5157600" cy="10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  <p:sp>
        <p:nvSpPr>
          <p:cNvPr id="773" name="Google Shape;773;p53"/>
          <p:cNvSpPr txBox="1">
            <a:spLocks noGrp="1"/>
          </p:cNvSpPr>
          <p:nvPr>
            <p:ph type="body" idx="1"/>
          </p:nvPr>
        </p:nvSpPr>
        <p:spPr>
          <a:xfrm flipH="1">
            <a:off x="2997600" y="2388037"/>
            <a:ext cx="3148800" cy="12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74" name="Google Shape;774;p53"/>
          <p:cNvSpPr/>
          <p:nvPr/>
        </p:nvSpPr>
        <p:spPr>
          <a:xfrm>
            <a:off x="1030225" y="3960176"/>
            <a:ext cx="7083925" cy="1183297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3"/>
          <p:cNvSpPr/>
          <p:nvPr/>
        </p:nvSpPr>
        <p:spPr>
          <a:xfrm flipH="1">
            <a:off x="-1" y="4362499"/>
            <a:ext cx="9144351" cy="782105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53"/>
          <p:cNvSpPr/>
          <p:nvPr/>
        </p:nvSpPr>
        <p:spPr>
          <a:xfrm rot="6479671">
            <a:off x="5455589" y="-1428985"/>
            <a:ext cx="1502599" cy="3510848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53"/>
          <p:cNvSpPr/>
          <p:nvPr/>
        </p:nvSpPr>
        <p:spPr>
          <a:xfrm>
            <a:off x="0" y="-167425"/>
            <a:ext cx="9144351" cy="831498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53"/>
          <p:cNvSpPr/>
          <p:nvPr/>
        </p:nvSpPr>
        <p:spPr>
          <a:xfrm>
            <a:off x="0" y="-167425"/>
            <a:ext cx="9144078" cy="911830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53"/>
          <p:cNvSpPr/>
          <p:nvPr/>
        </p:nvSpPr>
        <p:spPr>
          <a:xfrm>
            <a:off x="1" y="4416936"/>
            <a:ext cx="9143690" cy="726902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53"/>
          <p:cNvSpPr/>
          <p:nvPr/>
        </p:nvSpPr>
        <p:spPr>
          <a:xfrm rot="5400000">
            <a:off x="8226781" y="42534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53"/>
          <p:cNvSpPr/>
          <p:nvPr/>
        </p:nvSpPr>
        <p:spPr>
          <a:xfrm rot="5400000">
            <a:off x="2775969" y="43758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53"/>
          <p:cNvSpPr/>
          <p:nvPr/>
        </p:nvSpPr>
        <p:spPr>
          <a:xfrm rot="-5400000">
            <a:off x="6531806" y="41548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53"/>
          <p:cNvSpPr/>
          <p:nvPr/>
        </p:nvSpPr>
        <p:spPr>
          <a:xfrm rot="5400000">
            <a:off x="420981" y="391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53"/>
          <p:cNvSpPr/>
          <p:nvPr/>
        </p:nvSpPr>
        <p:spPr>
          <a:xfrm rot="5400000">
            <a:off x="7233206" y="816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53"/>
          <p:cNvSpPr/>
          <p:nvPr/>
        </p:nvSpPr>
        <p:spPr>
          <a:xfrm rot="5400000">
            <a:off x="5881019" y="7165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53"/>
          <p:cNvSpPr/>
          <p:nvPr/>
        </p:nvSpPr>
        <p:spPr>
          <a:xfrm rot="5400000">
            <a:off x="2521581" y="664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9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4"/>
          <p:cNvSpPr/>
          <p:nvPr/>
        </p:nvSpPr>
        <p:spPr>
          <a:xfrm rot="10800000">
            <a:off x="2251306" y="-128"/>
            <a:ext cx="4462873" cy="1059925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64"/>
          <p:cNvSpPr/>
          <p:nvPr/>
        </p:nvSpPr>
        <p:spPr>
          <a:xfrm rot="10799504" flipH="1">
            <a:off x="-6750" y="531"/>
            <a:ext cx="9154265" cy="81230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64"/>
          <p:cNvSpPr/>
          <p:nvPr/>
        </p:nvSpPr>
        <p:spPr>
          <a:xfrm rot="-10799504">
            <a:off x="236" y="485"/>
            <a:ext cx="9154265" cy="865690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64"/>
          <p:cNvSpPr/>
          <p:nvPr/>
        </p:nvSpPr>
        <p:spPr>
          <a:xfrm rot="-4555973" flipH="1">
            <a:off x="4908829" y="2657012"/>
            <a:ext cx="1457076" cy="455744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64"/>
          <p:cNvSpPr/>
          <p:nvPr/>
        </p:nvSpPr>
        <p:spPr>
          <a:xfrm rot="10800000" flipH="1">
            <a:off x="1" y="4443074"/>
            <a:ext cx="9154264" cy="836745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/>
          <p:nvPr/>
        </p:nvSpPr>
        <p:spPr>
          <a:xfrm rot="10800000" flipH="1">
            <a:off x="-6750" y="4366693"/>
            <a:ext cx="9161260" cy="9175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64"/>
          <p:cNvSpPr/>
          <p:nvPr/>
        </p:nvSpPr>
        <p:spPr>
          <a:xfrm rot="5400000">
            <a:off x="8226781" y="42534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4"/>
          <p:cNvSpPr/>
          <p:nvPr/>
        </p:nvSpPr>
        <p:spPr>
          <a:xfrm rot="5400000">
            <a:off x="2775969" y="43758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64"/>
          <p:cNvSpPr/>
          <p:nvPr/>
        </p:nvSpPr>
        <p:spPr>
          <a:xfrm rot="-5400000">
            <a:off x="6531806" y="41548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4"/>
          <p:cNvSpPr/>
          <p:nvPr/>
        </p:nvSpPr>
        <p:spPr>
          <a:xfrm rot="5400000">
            <a:off x="420981" y="391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4"/>
          <p:cNvSpPr/>
          <p:nvPr/>
        </p:nvSpPr>
        <p:spPr>
          <a:xfrm rot="5400000">
            <a:off x="7233206" y="816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4"/>
          <p:cNvSpPr/>
          <p:nvPr/>
        </p:nvSpPr>
        <p:spPr>
          <a:xfrm rot="5400000">
            <a:off x="5881019" y="7165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64"/>
          <p:cNvSpPr/>
          <p:nvPr/>
        </p:nvSpPr>
        <p:spPr>
          <a:xfrm rot="5400000">
            <a:off x="2521581" y="664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0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 rot="10800000" flipH="1">
            <a:off x="1206036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65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-1374513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65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65"/>
          <p:cNvSpPr/>
          <p:nvPr/>
        </p:nvSpPr>
        <p:spPr>
          <a:xfrm rot="10800000" flipH="1">
            <a:off x="-77156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65"/>
          <p:cNvSpPr/>
          <p:nvPr/>
        </p:nvSpPr>
        <p:spPr>
          <a:xfrm>
            <a:off x="1958250" y="40720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65"/>
          <p:cNvSpPr/>
          <p:nvPr/>
        </p:nvSpPr>
        <p:spPr>
          <a:xfrm>
            <a:off x="285300" y="38556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65"/>
          <p:cNvSpPr/>
          <p:nvPr/>
        </p:nvSpPr>
        <p:spPr>
          <a:xfrm>
            <a:off x="4522800" y="48927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6363775" y="11325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65"/>
          <p:cNvSpPr/>
          <p:nvPr/>
        </p:nvSpPr>
        <p:spPr>
          <a:xfrm rot="10800000" flipH="1">
            <a:off x="8271400" y="13415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65"/>
          <p:cNvSpPr/>
          <p:nvPr/>
        </p:nvSpPr>
        <p:spPr>
          <a:xfrm rot="10800000" flipH="1">
            <a:off x="4360525" y="3233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1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/>
          <p:nvPr/>
        </p:nvSpPr>
        <p:spPr>
          <a:xfrm rot="-5400000" flipH="1">
            <a:off x="7050252" y="2575411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66"/>
          <p:cNvSpPr/>
          <p:nvPr/>
        </p:nvSpPr>
        <p:spPr>
          <a:xfrm rot="-5399497">
            <a:off x="6325430" y="1701197"/>
            <a:ext cx="4515337" cy="1121168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66"/>
          <p:cNvSpPr/>
          <p:nvPr/>
        </p:nvSpPr>
        <p:spPr>
          <a:xfrm rot="-5400440" flipH="1">
            <a:off x="5965428" y="1974301"/>
            <a:ext cx="5161707" cy="119480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66"/>
          <p:cNvSpPr/>
          <p:nvPr/>
        </p:nvSpPr>
        <p:spPr>
          <a:xfrm rot="-5400000">
            <a:off x="-1791843" y="1811847"/>
            <a:ext cx="5127422" cy="1543736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66"/>
          <p:cNvSpPr/>
          <p:nvPr/>
        </p:nvSpPr>
        <p:spPr>
          <a:xfrm rot="-5400000">
            <a:off x="-1926425" y="1930649"/>
            <a:ext cx="5143202" cy="129035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66"/>
          <p:cNvSpPr/>
          <p:nvPr/>
        </p:nvSpPr>
        <p:spPr>
          <a:xfrm rot="-5400000" flipH="1">
            <a:off x="-1877527" y="1881640"/>
            <a:ext cx="5143337" cy="13882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66"/>
          <p:cNvSpPr/>
          <p:nvPr/>
        </p:nvSpPr>
        <p:spPr>
          <a:xfrm>
            <a:off x="1104550" y="27103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66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66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66"/>
          <p:cNvSpPr/>
          <p:nvPr/>
        </p:nvSpPr>
        <p:spPr>
          <a:xfrm>
            <a:off x="1169650" y="4168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66"/>
          <p:cNvSpPr/>
          <p:nvPr/>
        </p:nvSpPr>
        <p:spPr>
          <a:xfrm>
            <a:off x="152073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66"/>
          <p:cNvSpPr/>
          <p:nvPr/>
        </p:nvSpPr>
        <p:spPr>
          <a:xfrm rot="10800000" flipH="1">
            <a:off x="7695850" y="10064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66"/>
          <p:cNvSpPr/>
          <p:nvPr/>
        </p:nvSpPr>
        <p:spPr>
          <a:xfrm rot="10800000" flipH="1">
            <a:off x="779423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2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7"/>
          <p:cNvSpPr/>
          <p:nvPr/>
        </p:nvSpPr>
        <p:spPr>
          <a:xfrm rot="-5911893" flipH="1">
            <a:off x="-358275" y="-757650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67"/>
          <p:cNvSpPr/>
          <p:nvPr/>
        </p:nvSpPr>
        <p:spPr>
          <a:xfrm rot="-515846" flipH="1">
            <a:off x="-1764995" y="-321140"/>
            <a:ext cx="4858752" cy="98474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67"/>
          <p:cNvSpPr/>
          <p:nvPr/>
        </p:nvSpPr>
        <p:spPr>
          <a:xfrm flipH="1">
            <a:off x="-1788061" y="-312190"/>
            <a:ext cx="4906095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67"/>
          <p:cNvSpPr/>
          <p:nvPr/>
        </p:nvSpPr>
        <p:spPr>
          <a:xfrm rot="4888107" flipH="1">
            <a:off x="1137128" y="4138487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67"/>
          <p:cNvSpPr/>
          <p:nvPr/>
        </p:nvSpPr>
        <p:spPr>
          <a:xfrm rot="-9922098" flipH="1">
            <a:off x="-1214868" y="4347472"/>
            <a:ext cx="4858620" cy="98475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67"/>
          <p:cNvSpPr/>
          <p:nvPr/>
        </p:nvSpPr>
        <p:spPr>
          <a:xfrm rot="-10346708" flipH="1">
            <a:off x="-752392" y="4478612"/>
            <a:ext cx="4905724" cy="106005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67"/>
          <p:cNvSpPr/>
          <p:nvPr/>
        </p:nvSpPr>
        <p:spPr>
          <a:xfrm rot="5400000">
            <a:off x="1196981" y="8440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1196219" y="4467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67"/>
          <p:cNvSpPr/>
          <p:nvPr/>
        </p:nvSpPr>
        <p:spPr>
          <a:xfrm rot="-5400000">
            <a:off x="540156" y="6913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67"/>
          <p:cNvSpPr/>
          <p:nvPr/>
        </p:nvSpPr>
        <p:spPr>
          <a:xfrm rot="5400000">
            <a:off x="540006" y="38324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53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8"/>
          <p:cNvSpPr/>
          <p:nvPr/>
        </p:nvSpPr>
        <p:spPr>
          <a:xfrm rot="10800000">
            <a:off x="3937512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68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68"/>
          <p:cNvSpPr/>
          <p:nvPr/>
        </p:nvSpPr>
        <p:spPr>
          <a:xfrm rot="10800000" flipH="1">
            <a:off x="4720014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68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68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68"/>
          <p:cNvSpPr/>
          <p:nvPr/>
        </p:nvSpPr>
        <p:spPr>
          <a:xfrm rot="10800000">
            <a:off x="5220582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68"/>
          <p:cNvSpPr/>
          <p:nvPr/>
        </p:nvSpPr>
        <p:spPr>
          <a:xfrm rot="5400000">
            <a:off x="6527856" y="448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5530219" y="945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68"/>
          <p:cNvSpPr/>
          <p:nvPr/>
        </p:nvSpPr>
        <p:spPr>
          <a:xfrm rot="-5400000">
            <a:off x="5871031" y="43306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68"/>
          <p:cNvSpPr/>
          <p:nvPr/>
        </p:nvSpPr>
        <p:spPr>
          <a:xfrm rot="5400000">
            <a:off x="4874006" y="310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8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706" name="Google Shape;706;p48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48"/>
          <p:cNvSpPr/>
          <p:nvPr/>
        </p:nvSpPr>
        <p:spPr>
          <a:xfrm rot="-132439" flipH="1">
            <a:off x="305871" y="-3991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8"/>
          <p:cNvSpPr/>
          <p:nvPr/>
        </p:nvSpPr>
        <p:spPr>
          <a:xfrm flipH="1">
            <a:off x="402459" y="-132676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8"/>
          <p:cNvSpPr/>
          <p:nvPr/>
        </p:nvSpPr>
        <p:spPr>
          <a:xfrm rot="10800000" flipH="1">
            <a:off x="-272112" y="-1087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8"/>
          <p:cNvSpPr/>
          <p:nvPr/>
        </p:nvSpPr>
        <p:spPr>
          <a:xfrm rot="10800000" flipH="1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8"/>
          <p:cNvSpPr/>
          <p:nvPr/>
        </p:nvSpPr>
        <p:spPr>
          <a:xfrm rot="10800000" flipH="1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8"/>
          <p:cNvSpPr/>
          <p:nvPr/>
        </p:nvSpPr>
        <p:spPr>
          <a:xfrm rot="10800000" flipH="1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8"/>
          <p:cNvSpPr/>
          <p:nvPr/>
        </p:nvSpPr>
        <p:spPr>
          <a:xfrm rot="-10667561">
            <a:off x="305871" y="4393835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8"/>
          <p:cNvSpPr/>
          <p:nvPr/>
        </p:nvSpPr>
        <p:spPr>
          <a:xfrm rot="10800000">
            <a:off x="402459" y="4301097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8"/>
          <p:cNvSpPr/>
          <p:nvPr/>
        </p:nvSpPr>
        <p:spPr>
          <a:xfrm>
            <a:off x="-272112" y="4156612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8"/>
          <p:cNvSpPr/>
          <p:nvPr/>
        </p:nvSpPr>
        <p:spPr>
          <a:xfrm>
            <a:off x="402451" y="39496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8"/>
          <p:cNvSpPr/>
          <p:nvPr/>
        </p:nvSpPr>
        <p:spPr>
          <a:xfrm>
            <a:off x="1153051" y="43881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8"/>
          <p:cNvSpPr/>
          <p:nvPr/>
        </p:nvSpPr>
        <p:spPr>
          <a:xfrm>
            <a:off x="2859751" y="47349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8"/>
          <p:cNvSpPr/>
          <p:nvPr/>
        </p:nvSpPr>
        <p:spPr>
          <a:xfrm>
            <a:off x="5246676" y="48182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8"/>
          <p:cNvSpPr/>
          <p:nvPr/>
        </p:nvSpPr>
        <p:spPr>
          <a:xfrm rot="10800000" flipH="1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488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1388100" y="1076025"/>
            <a:ext cx="6367800" cy="28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7" name="Google Shape;107;p8"/>
          <p:cNvSpPr/>
          <p:nvPr/>
        </p:nvSpPr>
        <p:spPr>
          <a:xfrm flipH="1">
            <a:off x="-426404" y="-84700"/>
            <a:ext cx="6890071" cy="880003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"/>
          <p:cNvSpPr/>
          <p:nvPr/>
        </p:nvSpPr>
        <p:spPr>
          <a:xfrm rot="10800000">
            <a:off x="-294784" y="-365201"/>
            <a:ext cx="3086654" cy="97210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/>
          <p:nvPr/>
        </p:nvSpPr>
        <p:spPr>
          <a:xfrm rot="-5400147">
            <a:off x="232464" y="-691625"/>
            <a:ext cx="1404839" cy="2093848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/>
          <p:nvPr/>
        </p:nvSpPr>
        <p:spPr>
          <a:xfrm flipH="1">
            <a:off x="68351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"/>
          <p:cNvSpPr/>
          <p:nvPr/>
        </p:nvSpPr>
        <p:spPr>
          <a:xfrm flipH="1">
            <a:off x="3173616" y="24472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/>
          <p:nvPr/>
        </p:nvSpPr>
        <p:spPr>
          <a:xfrm flipH="1">
            <a:off x="6566441" y="273550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"/>
          <p:cNvSpPr/>
          <p:nvPr/>
        </p:nvSpPr>
        <p:spPr>
          <a:xfrm rot="10800000" flipH="1">
            <a:off x="2631095" y="4430364"/>
            <a:ext cx="6890071" cy="880003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6302893" y="4618767"/>
            <a:ext cx="3086654" cy="97210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"/>
          <p:cNvSpPr/>
          <p:nvPr/>
        </p:nvSpPr>
        <p:spPr>
          <a:xfrm rot="5399853">
            <a:off x="7457460" y="3823444"/>
            <a:ext cx="1404839" cy="2093848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/>
          <p:nvPr/>
        </p:nvSpPr>
        <p:spPr>
          <a:xfrm rot="10800000" flipH="1">
            <a:off x="8312846" y="452006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"/>
          <p:cNvSpPr/>
          <p:nvPr/>
        </p:nvSpPr>
        <p:spPr>
          <a:xfrm rot="10800000" flipH="1">
            <a:off x="6455196" y="43956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"/>
          <p:cNvSpPr/>
          <p:nvPr/>
        </p:nvSpPr>
        <p:spPr>
          <a:xfrm rot="10800000" flipH="1">
            <a:off x="5822746" y="4882242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"/>
          <p:cNvSpPr/>
          <p:nvPr/>
        </p:nvSpPr>
        <p:spPr>
          <a:xfrm rot="10800000" flipH="1">
            <a:off x="8749921" y="42321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/>
          <p:cNvSpPr/>
          <p:nvPr/>
        </p:nvSpPr>
        <p:spPr>
          <a:xfrm rot="10800000" flipH="1">
            <a:off x="2364821" y="4788617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/>
          <p:cNvSpPr/>
          <p:nvPr/>
        </p:nvSpPr>
        <p:spPr>
          <a:xfrm flipH="1">
            <a:off x="181341" y="8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43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2" r:id="rId3"/>
    <p:sldLayoutId id="2147483686" r:id="rId4"/>
    <p:sldLayoutId id="2147483687" r:id="rId5"/>
    <p:sldLayoutId id="2147483692" r:id="rId6"/>
    <p:sldLayoutId id="2147483698" r:id="rId7"/>
    <p:sldLayoutId id="214748369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9" r:id="rId14"/>
    <p:sldLayoutId id="214748372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4"/>
          <p:cNvSpPr txBox="1">
            <a:spLocks noGrp="1"/>
          </p:cNvSpPr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 smtClean="0"/>
              <a:t>IntelliCare</a:t>
            </a:r>
            <a:endParaRPr sz="6600" dirty="0"/>
          </a:p>
        </p:txBody>
      </p:sp>
      <p:sp>
        <p:nvSpPr>
          <p:cNvPr id="1035" name="Google Shape;1035;p74"/>
          <p:cNvSpPr txBox="1">
            <a:spLocks noGrp="1"/>
          </p:cNvSpPr>
          <p:nvPr>
            <p:ph type="subTitle" idx="1"/>
          </p:nvPr>
        </p:nvSpPr>
        <p:spPr>
          <a:xfrm>
            <a:off x="2547750" y="3319241"/>
            <a:ext cx="404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Final Presentation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9"/>
          <p:cNvSpPr txBox="1">
            <a:spLocks noGrp="1"/>
          </p:cNvSpPr>
          <p:nvPr>
            <p:ph type="title"/>
          </p:nvPr>
        </p:nvSpPr>
        <p:spPr>
          <a:xfrm flipH="1">
            <a:off x="1835089" y="1231490"/>
            <a:ext cx="5646465" cy="12337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091" name="Google Shape;1091;p79"/>
          <p:cNvSpPr txBox="1">
            <a:spLocks noGrp="1"/>
          </p:cNvSpPr>
          <p:nvPr>
            <p:ph type="body" idx="1"/>
          </p:nvPr>
        </p:nvSpPr>
        <p:spPr>
          <a:xfrm flipH="1">
            <a:off x="2165845" y="2465263"/>
            <a:ext cx="4984955" cy="12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600" dirty="0"/>
              <a:t>Our medical </a:t>
            </a:r>
            <a:r>
              <a:rPr lang="en-US" sz="1600" dirty="0" err="1"/>
              <a:t>chatbot</a:t>
            </a:r>
            <a:r>
              <a:rPr lang="en-US" sz="1600" dirty="0"/>
              <a:t> helps users understand their health concerns by analyzing their symptoms and medical test results, then recommends which type of doctor they should visit. Think of it as a smart health assistant that guides you to the right specialist.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54646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13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Table of contents</a:t>
            </a:r>
            <a:endParaRPr sz="3200" dirty="0"/>
          </a:p>
        </p:txBody>
      </p:sp>
      <p:sp>
        <p:nvSpPr>
          <p:cNvPr id="1707" name="Google Shape;1707;p113"/>
          <p:cNvSpPr txBox="1">
            <a:spLocks noGrp="1"/>
          </p:cNvSpPr>
          <p:nvPr>
            <p:ph type="title" idx="2"/>
          </p:nvPr>
        </p:nvSpPr>
        <p:spPr>
          <a:xfrm>
            <a:off x="990875" y="15304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/>
              <a:t>1. </a:t>
            </a:r>
            <a:r>
              <a:rPr lang="en" sz="2000" dirty="0" smtClean="0"/>
              <a:t>Market Opportunities</a:t>
            </a:r>
            <a:endParaRPr sz="2400" dirty="0"/>
          </a:p>
        </p:txBody>
      </p:sp>
      <p:sp>
        <p:nvSpPr>
          <p:cNvPr id="1709" name="Google Shape;1709;p113"/>
          <p:cNvSpPr txBox="1">
            <a:spLocks noGrp="1"/>
          </p:cNvSpPr>
          <p:nvPr>
            <p:ph type="title" idx="3"/>
          </p:nvPr>
        </p:nvSpPr>
        <p:spPr>
          <a:xfrm>
            <a:off x="1607757" y="2897332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4. Value Proposition</a:t>
            </a:r>
            <a:endParaRPr sz="2000" dirty="0"/>
          </a:p>
        </p:txBody>
      </p:sp>
      <p:sp>
        <p:nvSpPr>
          <p:cNvPr id="1711" name="Google Shape;1711;p113"/>
          <p:cNvSpPr txBox="1">
            <a:spLocks noGrp="1"/>
          </p:cNvSpPr>
          <p:nvPr>
            <p:ph type="title" idx="5"/>
          </p:nvPr>
        </p:nvSpPr>
        <p:spPr>
          <a:xfrm>
            <a:off x="6118525" y="15304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3. Customer Profile</a:t>
            </a:r>
            <a:endParaRPr sz="2000" dirty="0"/>
          </a:p>
        </p:txBody>
      </p:sp>
      <p:sp>
        <p:nvSpPr>
          <p:cNvPr id="1713" name="Google Shape;1713;p113"/>
          <p:cNvSpPr txBox="1">
            <a:spLocks noGrp="1"/>
          </p:cNvSpPr>
          <p:nvPr>
            <p:ph type="title" idx="7"/>
          </p:nvPr>
        </p:nvSpPr>
        <p:spPr>
          <a:xfrm>
            <a:off x="3554675" y="2898828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5. Business Model</a:t>
            </a:r>
            <a:endParaRPr sz="2000" dirty="0"/>
          </a:p>
        </p:txBody>
      </p:sp>
      <p:sp>
        <p:nvSpPr>
          <p:cNvPr id="1715" name="Google Shape;1715;p113"/>
          <p:cNvSpPr txBox="1">
            <a:spLocks noGrp="1"/>
          </p:cNvSpPr>
          <p:nvPr>
            <p:ph type="title" idx="9"/>
          </p:nvPr>
        </p:nvSpPr>
        <p:spPr>
          <a:xfrm>
            <a:off x="3554675" y="1530450"/>
            <a:ext cx="20346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/>
              <a:t>2. Addressed Needs</a:t>
            </a:r>
            <a:endParaRPr sz="2000" dirty="0"/>
          </a:p>
        </p:txBody>
      </p:sp>
      <p:sp>
        <p:nvSpPr>
          <p:cNvPr id="8" name="Google Shape;1713;p113"/>
          <p:cNvSpPr txBox="1">
            <a:spLocks/>
          </p:cNvSpPr>
          <p:nvPr/>
        </p:nvSpPr>
        <p:spPr>
          <a:xfrm>
            <a:off x="5676690" y="2897332"/>
            <a:ext cx="2034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sz="2000" dirty="0"/>
              <a:t>6</a:t>
            </a:r>
            <a:r>
              <a:rPr lang="en-US" sz="2000" dirty="0" smtClean="0"/>
              <a:t>. Technical Architecture</a:t>
            </a:r>
            <a:endParaRPr lang="en-US" sz="2000" dirty="0"/>
          </a:p>
        </p:txBody>
      </p:sp>
      <p:sp>
        <p:nvSpPr>
          <p:cNvPr id="9" name="Google Shape;1713;p113"/>
          <p:cNvSpPr txBox="1">
            <a:spLocks/>
          </p:cNvSpPr>
          <p:nvPr/>
        </p:nvSpPr>
        <p:spPr>
          <a:xfrm>
            <a:off x="3322620" y="4135655"/>
            <a:ext cx="249871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sz="2000" dirty="0"/>
              <a:t>7</a:t>
            </a:r>
            <a:r>
              <a:rPr lang="en-US" sz="2000" dirty="0" smtClean="0"/>
              <a:t>. </a:t>
            </a:r>
            <a:r>
              <a:rPr lang="en-US" sz="2000" dirty="0"/>
              <a:t>MVP Features and Innovation</a:t>
            </a:r>
          </a:p>
        </p:txBody>
      </p:sp>
    </p:spTree>
    <p:extLst>
      <p:ext uri="{BB962C8B-B14F-4D97-AF65-F5344CB8AC3E}">
        <p14:creationId xmlns:p14="http://schemas.microsoft.com/office/powerpoint/2010/main" val="381164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5"/>
          <p:cNvSpPr txBox="1">
            <a:spLocks noGrp="1"/>
          </p:cNvSpPr>
          <p:nvPr>
            <p:ph type="title"/>
          </p:nvPr>
        </p:nvSpPr>
        <p:spPr>
          <a:xfrm>
            <a:off x="2172149" y="501707"/>
            <a:ext cx="40440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smtClean="0"/>
              <a:t>Market Opportunities</a:t>
            </a:r>
            <a:endParaRPr dirty="0"/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3584" y="1133702"/>
            <a:ext cx="9257355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global AI healthcare market shows tremendous growth potential,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projected to expand from $11 billion in 2023 to $188 billion by 2030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market readiness: 56% of clinicians in China and 53% in Asia Pacific and South America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believe in increased worldwide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adoption for treatment management by 2031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organizations are actively adopting AI: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20% in early-stage initiatives and 25% in pilot stages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growing segments include healthcare data integration and natural language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demand for remote healthcare solutions and personalized medical guidance,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being said that medical apps will become the standard diagnostic tool for patients and doctors </a:t>
            </a:r>
          </a:p>
        </p:txBody>
      </p:sp>
    </p:spTree>
    <p:extLst>
      <p:ext uri="{BB962C8B-B14F-4D97-AF65-F5344CB8AC3E}">
        <p14:creationId xmlns:p14="http://schemas.microsoft.com/office/powerpoint/2010/main" val="205377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99"/>
          <p:cNvSpPr txBox="1">
            <a:spLocks noGrp="1"/>
          </p:cNvSpPr>
          <p:nvPr>
            <p:ph type="title"/>
          </p:nvPr>
        </p:nvSpPr>
        <p:spPr>
          <a:xfrm>
            <a:off x="141794" y="363275"/>
            <a:ext cx="900220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Addressed Needs and Competitive Landscape</a:t>
            </a:r>
            <a:endParaRPr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" name="Subtit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07030" y="1091695"/>
            <a:ext cx="568504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need: 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 preliminary medical guidance and specialist referrals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pain points solved: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 to immediate medical information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Uncertainty about which specialist to consult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and cost barriers for initial medical consultations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privacy when discussing health concerns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 advantage of our unique solution: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text and image analysis for medical results, combined with conversation history tracking and specialist referral system </a:t>
            </a:r>
          </a:p>
        </p:txBody>
      </p:sp>
      <p:grpSp>
        <p:nvGrpSpPr>
          <p:cNvPr id="5" name="Google Shape;2503;p137"/>
          <p:cNvGrpSpPr/>
          <p:nvPr/>
        </p:nvGrpSpPr>
        <p:grpSpPr>
          <a:xfrm>
            <a:off x="485091" y="1659903"/>
            <a:ext cx="2538327" cy="2187570"/>
            <a:chOff x="787425" y="181275"/>
            <a:chExt cx="6039725" cy="5233375"/>
          </a:xfrm>
        </p:grpSpPr>
        <p:sp>
          <p:nvSpPr>
            <p:cNvPr id="6" name="Google Shape;2504;p137"/>
            <p:cNvSpPr/>
            <p:nvPr/>
          </p:nvSpPr>
          <p:spPr>
            <a:xfrm>
              <a:off x="2854775" y="181275"/>
              <a:ext cx="1907725" cy="1374675"/>
            </a:xfrm>
            <a:custGeom>
              <a:avLst/>
              <a:gdLst/>
              <a:ahLst/>
              <a:cxnLst/>
              <a:rect l="l" t="t" r="r" b="b"/>
              <a:pathLst>
                <a:path w="76309" h="54987" extrusionOk="0">
                  <a:moveTo>
                    <a:pt x="76309" y="54986"/>
                  </a:moveTo>
                  <a:lnTo>
                    <a:pt x="1" y="54986"/>
                  </a:lnTo>
                  <a:lnTo>
                    <a:pt x="26519" y="8985"/>
                  </a:lnTo>
                  <a:cubicBezTo>
                    <a:pt x="31715" y="1"/>
                    <a:pt x="44595" y="1"/>
                    <a:pt x="49682" y="8985"/>
                  </a:cubicBezTo>
                  <a:close/>
                </a:path>
              </a:pathLst>
            </a:custGeom>
            <a:solidFill>
              <a:srgbClr val="13B8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05;p137"/>
            <p:cNvSpPr/>
            <p:nvPr/>
          </p:nvSpPr>
          <p:spPr>
            <a:xfrm>
              <a:off x="2854775" y="181275"/>
              <a:ext cx="1907725" cy="1374675"/>
            </a:xfrm>
            <a:custGeom>
              <a:avLst/>
              <a:gdLst/>
              <a:ahLst/>
              <a:cxnLst/>
              <a:rect l="l" t="t" r="r" b="b"/>
              <a:pathLst>
                <a:path w="76309" h="54987" extrusionOk="0">
                  <a:moveTo>
                    <a:pt x="76309" y="54986"/>
                  </a:moveTo>
                  <a:lnTo>
                    <a:pt x="1" y="54986"/>
                  </a:lnTo>
                  <a:lnTo>
                    <a:pt x="26519" y="8985"/>
                  </a:lnTo>
                  <a:cubicBezTo>
                    <a:pt x="31715" y="1"/>
                    <a:pt x="44595" y="1"/>
                    <a:pt x="49682" y="8985"/>
                  </a:cubicBezTo>
                  <a:lnTo>
                    <a:pt x="56610" y="208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506;p137"/>
            <p:cNvSpPr/>
            <p:nvPr/>
          </p:nvSpPr>
          <p:spPr>
            <a:xfrm>
              <a:off x="3777525" y="703550"/>
              <a:ext cx="984975" cy="852400"/>
            </a:xfrm>
            <a:custGeom>
              <a:avLst/>
              <a:gdLst/>
              <a:ahLst/>
              <a:cxnLst/>
              <a:rect l="l" t="t" r="r" b="b"/>
              <a:pathLst>
                <a:path w="39399" h="34096" extrusionOk="0">
                  <a:moveTo>
                    <a:pt x="39399" y="34095"/>
                  </a:moveTo>
                  <a:lnTo>
                    <a:pt x="0" y="34095"/>
                  </a:lnTo>
                  <a:lnTo>
                    <a:pt x="19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507;p137"/>
            <p:cNvSpPr/>
            <p:nvPr/>
          </p:nvSpPr>
          <p:spPr>
            <a:xfrm>
              <a:off x="2218875" y="1896875"/>
              <a:ext cx="3176825" cy="757700"/>
            </a:xfrm>
            <a:custGeom>
              <a:avLst/>
              <a:gdLst/>
              <a:ahLst/>
              <a:cxnLst/>
              <a:rect l="l" t="t" r="r" b="b"/>
              <a:pathLst>
                <a:path w="127073" h="30308" extrusionOk="0">
                  <a:moveTo>
                    <a:pt x="127073" y="30307"/>
                  </a:moveTo>
                  <a:lnTo>
                    <a:pt x="1" y="30307"/>
                  </a:lnTo>
                  <a:lnTo>
                    <a:pt x="17535" y="0"/>
                  </a:lnTo>
                  <a:lnTo>
                    <a:pt x="109538" y="0"/>
                  </a:lnTo>
                  <a:close/>
                </a:path>
              </a:pathLst>
            </a:custGeom>
            <a:solidFill>
              <a:srgbClr val="679E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08;p137"/>
            <p:cNvSpPr/>
            <p:nvPr/>
          </p:nvSpPr>
          <p:spPr>
            <a:xfrm>
              <a:off x="2218875" y="1896875"/>
              <a:ext cx="3176825" cy="757700"/>
            </a:xfrm>
            <a:custGeom>
              <a:avLst/>
              <a:gdLst/>
              <a:ahLst/>
              <a:cxnLst/>
              <a:rect l="l" t="t" r="r" b="b"/>
              <a:pathLst>
                <a:path w="127073" h="30308" extrusionOk="0">
                  <a:moveTo>
                    <a:pt x="127073" y="30307"/>
                  </a:moveTo>
                  <a:lnTo>
                    <a:pt x="1" y="30307"/>
                  </a:lnTo>
                  <a:lnTo>
                    <a:pt x="17535" y="0"/>
                  </a:lnTo>
                  <a:lnTo>
                    <a:pt x="109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09;p137"/>
            <p:cNvSpPr/>
            <p:nvPr/>
          </p:nvSpPr>
          <p:spPr>
            <a:xfrm>
              <a:off x="3141625" y="1896875"/>
              <a:ext cx="2254075" cy="757700"/>
            </a:xfrm>
            <a:custGeom>
              <a:avLst/>
              <a:gdLst/>
              <a:ahLst/>
              <a:cxnLst/>
              <a:rect l="l" t="t" r="r" b="b"/>
              <a:pathLst>
                <a:path w="90163" h="30308" extrusionOk="0">
                  <a:moveTo>
                    <a:pt x="90163" y="30307"/>
                  </a:moveTo>
                  <a:lnTo>
                    <a:pt x="0" y="30307"/>
                  </a:lnTo>
                  <a:lnTo>
                    <a:pt x="17535" y="0"/>
                  </a:lnTo>
                  <a:lnTo>
                    <a:pt x="72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10;p137"/>
            <p:cNvSpPr/>
            <p:nvPr/>
          </p:nvSpPr>
          <p:spPr>
            <a:xfrm>
              <a:off x="1582975" y="2995500"/>
              <a:ext cx="4448625" cy="760400"/>
            </a:xfrm>
            <a:custGeom>
              <a:avLst/>
              <a:gdLst/>
              <a:ahLst/>
              <a:cxnLst/>
              <a:rect l="l" t="t" r="r" b="b"/>
              <a:pathLst>
                <a:path w="177945" h="30416" extrusionOk="0">
                  <a:moveTo>
                    <a:pt x="177945" y="30415"/>
                  </a:moveTo>
                  <a:lnTo>
                    <a:pt x="1" y="30415"/>
                  </a:lnTo>
                  <a:lnTo>
                    <a:pt x="17535" y="0"/>
                  </a:lnTo>
                  <a:lnTo>
                    <a:pt x="160410" y="0"/>
                  </a:lnTo>
                  <a:close/>
                </a:path>
              </a:pathLst>
            </a:custGeom>
            <a:solidFill>
              <a:srgbClr val="F78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11;p137"/>
            <p:cNvSpPr/>
            <p:nvPr/>
          </p:nvSpPr>
          <p:spPr>
            <a:xfrm>
              <a:off x="1582975" y="2995500"/>
              <a:ext cx="4448625" cy="760400"/>
            </a:xfrm>
            <a:custGeom>
              <a:avLst/>
              <a:gdLst/>
              <a:ahLst/>
              <a:cxnLst/>
              <a:rect l="l" t="t" r="r" b="b"/>
              <a:pathLst>
                <a:path w="177945" h="30416" extrusionOk="0">
                  <a:moveTo>
                    <a:pt x="177945" y="30415"/>
                  </a:moveTo>
                  <a:lnTo>
                    <a:pt x="1" y="30415"/>
                  </a:lnTo>
                  <a:lnTo>
                    <a:pt x="17535" y="0"/>
                  </a:lnTo>
                  <a:lnTo>
                    <a:pt x="1604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12;p137"/>
            <p:cNvSpPr/>
            <p:nvPr/>
          </p:nvSpPr>
          <p:spPr>
            <a:xfrm>
              <a:off x="2508425" y="2995500"/>
              <a:ext cx="3523175" cy="760400"/>
            </a:xfrm>
            <a:custGeom>
              <a:avLst/>
              <a:gdLst/>
              <a:ahLst/>
              <a:cxnLst/>
              <a:rect l="l" t="t" r="r" b="b"/>
              <a:pathLst>
                <a:path w="140927" h="30416" extrusionOk="0">
                  <a:moveTo>
                    <a:pt x="140927" y="30415"/>
                  </a:moveTo>
                  <a:lnTo>
                    <a:pt x="0" y="30415"/>
                  </a:lnTo>
                  <a:lnTo>
                    <a:pt x="17535" y="0"/>
                  </a:lnTo>
                  <a:lnTo>
                    <a:pt x="1233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13;p137"/>
            <p:cNvSpPr/>
            <p:nvPr/>
          </p:nvSpPr>
          <p:spPr>
            <a:xfrm>
              <a:off x="787425" y="4096825"/>
              <a:ext cx="6039725" cy="1317825"/>
            </a:xfrm>
            <a:custGeom>
              <a:avLst/>
              <a:gdLst/>
              <a:ahLst/>
              <a:cxnLst/>
              <a:rect l="l" t="t" r="r" b="b"/>
              <a:pathLst>
                <a:path w="241589" h="52713" extrusionOk="0">
                  <a:moveTo>
                    <a:pt x="224812" y="52604"/>
                  </a:moveTo>
                  <a:lnTo>
                    <a:pt x="16778" y="52604"/>
                  </a:lnTo>
                  <a:cubicBezTo>
                    <a:pt x="6495" y="52713"/>
                    <a:pt x="1" y="41456"/>
                    <a:pt x="5196" y="32580"/>
                  </a:cubicBezTo>
                  <a:lnTo>
                    <a:pt x="24030" y="0"/>
                  </a:lnTo>
                  <a:lnTo>
                    <a:pt x="217668" y="0"/>
                  </a:lnTo>
                  <a:lnTo>
                    <a:pt x="236502" y="32580"/>
                  </a:lnTo>
                  <a:cubicBezTo>
                    <a:pt x="241589" y="41564"/>
                    <a:pt x="235203" y="52604"/>
                    <a:pt x="224812" y="52604"/>
                  </a:cubicBezTo>
                  <a:close/>
                </a:path>
              </a:pathLst>
            </a:custGeom>
            <a:solidFill>
              <a:srgbClr val="82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14;p137"/>
            <p:cNvSpPr/>
            <p:nvPr/>
          </p:nvSpPr>
          <p:spPr>
            <a:xfrm>
              <a:off x="787425" y="4096825"/>
              <a:ext cx="6039725" cy="1317825"/>
            </a:xfrm>
            <a:custGeom>
              <a:avLst/>
              <a:gdLst/>
              <a:ahLst/>
              <a:cxnLst/>
              <a:rect l="l" t="t" r="r" b="b"/>
              <a:pathLst>
                <a:path w="241589" h="52713" extrusionOk="0">
                  <a:moveTo>
                    <a:pt x="224812" y="52604"/>
                  </a:moveTo>
                  <a:lnTo>
                    <a:pt x="16778" y="52604"/>
                  </a:lnTo>
                  <a:cubicBezTo>
                    <a:pt x="6495" y="52713"/>
                    <a:pt x="1" y="41456"/>
                    <a:pt x="5196" y="32580"/>
                  </a:cubicBezTo>
                  <a:lnTo>
                    <a:pt x="24030" y="0"/>
                  </a:lnTo>
                  <a:lnTo>
                    <a:pt x="217668" y="0"/>
                  </a:lnTo>
                  <a:lnTo>
                    <a:pt x="236502" y="32580"/>
                  </a:lnTo>
                  <a:cubicBezTo>
                    <a:pt x="241589" y="41564"/>
                    <a:pt x="235203" y="52604"/>
                    <a:pt x="224812" y="526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15;p137"/>
            <p:cNvSpPr/>
            <p:nvPr/>
          </p:nvSpPr>
          <p:spPr>
            <a:xfrm>
              <a:off x="1710150" y="4096825"/>
              <a:ext cx="5117000" cy="1317825"/>
            </a:xfrm>
            <a:custGeom>
              <a:avLst/>
              <a:gdLst/>
              <a:ahLst/>
              <a:cxnLst/>
              <a:rect l="l" t="t" r="r" b="b"/>
              <a:pathLst>
                <a:path w="204680" h="52713" extrusionOk="0">
                  <a:moveTo>
                    <a:pt x="187903" y="52604"/>
                  </a:moveTo>
                  <a:lnTo>
                    <a:pt x="16778" y="52604"/>
                  </a:lnTo>
                  <a:cubicBezTo>
                    <a:pt x="6495" y="52713"/>
                    <a:pt x="1" y="41456"/>
                    <a:pt x="5196" y="32580"/>
                  </a:cubicBezTo>
                  <a:lnTo>
                    <a:pt x="24030" y="0"/>
                  </a:lnTo>
                  <a:lnTo>
                    <a:pt x="180759" y="0"/>
                  </a:lnTo>
                  <a:lnTo>
                    <a:pt x="199593" y="32580"/>
                  </a:lnTo>
                  <a:cubicBezTo>
                    <a:pt x="204680" y="41564"/>
                    <a:pt x="198294" y="52604"/>
                    <a:pt x="187903" y="526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709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8"/>
          <p:cNvSpPr txBox="1">
            <a:spLocks noGrp="1"/>
          </p:cNvSpPr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Customer Profile</a:t>
            </a:r>
            <a:endParaRPr dirty="0"/>
          </a:p>
        </p:txBody>
      </p:sp>
      <p:sp>
        <p:nvSpPr>
          <p:cNvPr id="1381" name="Google Shape;1381;p98"/>
          <p:cNvSpPr txBox="1">
            <a:spLocks noGrp="1"/>
          </p:cNvSpPr>
          <p:nvPr>
            <p:ph type="subTitle" idx="1"/>
          </p:nvPr>
        </p:nvSpPr>
        <p:spPr>
          <a:xfrm>
            <a:off x="1024324" y="18239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Primary: B2C</a:t>
            </a:r>
            <a:endParaRPr dirty="0"/>
          </a:p>
        </p:txBody>
      </p:sp>
      <p:sp>
        <p:nvSpPr>
          <p:cNvPr id="1383" name="Google Shape;1383;p98"/>
          <p:cNvSpPr txBox="1">
            <a:spLocks noGrp="1"/>
          </p:cNvSpPr>
          <p:nvPr>
            <p:ph type="subTitle" idx="3"/>
          </p:nvPr>
        </p:nvSpPr>
        <p:spPr>
          <a:xfrm>
            <a:off x="5279887" y="18239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Secondary: B2B</a:t>
            </a:r>
            <a:endParaRPr dirty="0"/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38163" y="2091482"/>
            <a:ext cx="409283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Tech-savvy individuals aged 25-55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with limited access to immediate medical consultation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seeking preliminary assessment before visiting a specialist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Privacy-conscious individuals preferring initial digital consultation </a:t>
            </a:r>
          </a:p>
        </p:txBody>
      </p:sp>
      <p:sp>
        <p:nvSpPr>
          <p:cNvPr id="3" name="Subtitle 2"/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4923167" y="2053262"/>
            <a:ext cx="391099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care clinics looking to optimize patient triage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Specialist practices seeking referral channels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networks aiming to improve patient engagement </a:t>
            </a:r>
          </a:p>
        </p:txBody>
      </p:sp>
      <p:sp>
        <p:nvSpPr>
          <p:cNvPr id="9" name="Google Shape;1397;p100"/>
          <p:cNvSpPr txBox="1">
            <a:spLocks/>
          </p:cNvSpPr>
          <p:nvPr/>
        </p:nvSpPr>
        <p:spPr>
          <a:xfrm>
            <a:off x="1410163" y="952634"/>
            <a:ext cx="6323524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/>
            <a:r>
              <a:rPr lang="en-US" sz="1800" b="0" dirty="0" smtClean="0"/>
              <a:t>Target users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11820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3"/>
          <p:cNvSpPr/>
          <p:nvPr/>
        </p:nvSpPr>
        <p:spPr>
          <a:xfrm>
            <a:off x="7877395" y="3578626"/>
            <a:ext cx="750000" cy="75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83"/>
          <p:cNvSpPr/>
          <p:nvPr/>
        </p:nvSpPr>
        <p:spPr>
          <a:xfrm>
            <a:off x="392433" y="1726862"/>
            <a:ext cx="750000" cy="75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83"/>
          <p:cNvSpPr txBox="1">
            <a:spLocks noGrp="1"/>
          </p:cNvSpPr>
          <p:nvPr>
            <p:ph type="title"/>
          </p:nvPr>
        </p:nvSpPr>
        <p:spPr>
          <a:xfrm>
            <a:off x="3219413" y="3262509"/>
            <a:ext cx="4379355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For Healthcare Providers</a:t>
            </a:r>
            <a:endParaRPr dirty="0"/>
          </a:p>
        </p:txBody>
      </p:sp>
      <p:sp>
        <p:nvSpPr>
          <p:cNvPr id="1132" name="Google Shape;1132;p83"/>
          <p:cNvSpPr txBox="1">
            <a:spLocks noGrp="1"/>
          </p:cNvSpPr>
          <p:nvPr>
            <p:ph type="title" idx="3"/>
          </p:nvPr>
        </p:nvSpPr>
        <p:spPr>
          <a:xfrm>
            <a:off x="1266120" y="1286942"/>
            <a:ext cx="3560577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For Individual Users</a:t>
            </a:r>
            <a:endParaRPr dirty="0"/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266120" y="1543370"/>
            <a:ext cx="489457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24/7 access to AI-powered medical guidance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analysis of medical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specialist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 history for better health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Privacy-first approach to health concerns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02599" y="3473676"/>
            <a:ext cx="291618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Pre-qualified patient referrals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administrative burden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patient engagement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health history accessibility </a:t>
            </a:r>
          </a:p>
        </p:txBody>
      </p:sp>
      <p:grpSp>
        <p:nvGrpSpPr>
          <p:cNvPr id="29" name="Google Shape;7481;p151"/>
          <p:cNvGrpSpPr/>
          <p:nvPr/>
        </p:nvGrpSpPr>
        <p:grpSpPr>
          <a:xfrm>
            <a:off x="687913" y="1932235"/>
            <a:ext cx="159039" cy="339253"/>
            <a:chOff x="4584850" y="4399275"/>
            <a:chExt cx="225875" cy="481825"/>
          </a:xfrm>
        </p:grpSpPr>
        <p:sp>
          <p:nvSpPr>
            <p:cNvPr id="30" name="Google Shape;7482;p151"/>
            <p:cNvSpPr/>
            <p:nvPr/>
          </p:nvSpPr>
          <p:spPr>
            <a:xfrm>
              <a:off x="4655400" y="4399275"/>
              <a:ext cx="84700" cy="84725"/>
            </a:xfrm>
            <a:custGeom>
              <a:avLst/>
              <a:gdLst/>
              <a:ahLst/>
              <a:cxnLst/>
              <a:rect l="l" t="t" r="r" b="b"/>
              <a:pathLst>
                <a:path w="3388" h="3389" extrusionOk="0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7483;p151"/>
            <p:cNvSpPr/>
            <p:nvPr/>
          </p:nvSpPr>
          <p:spPr>
            <a:xfrm>
              <a:off x="4584850" y="4512200"/>
              <a:ext cx="225875" cy="368900"/>
            </a:xfrm>
            <a:custGeom>
              <a:avLst/>
              <a:gdLst/>
              <a:ahLst/>
              <a:cxnLst/>
              <a:rect l="l" t="t" r="r" b="b"/>
              <a:pathLst>
                <a:path w="9035" h="14756" extrusionOk="0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2" name="Google Shape;7467;p151"/>
          <p:cNvGrpSpPr/>
          <p:nvPr/>
        </p:nvGrpSpPr>
        <p:grpSpPr>
          <a:xfrm>
            <a:off x="8114866" y="3749976"/>
            <a:ext cx="275057" cy="339271"/>
            <a:chOff x="3330525" y="4399275"/>
            <a:chExt cx="390650" cy="481850"/>
          </a:xfrm>
        </p:grpSpPr>
        <p:sp>
          <p:nvSpPr>
            <p:cNvPr id="33" name="Google Shape;7468;p151"/>
            <p:cNvSpPr/>
            <p:nvPr/>
          </p:nvSpPr>
          <p:spPr>
            <a:xfrm>
              <a:off x="3543950" y="4648550"/>
              <a:ext cx="78450" cy="95775"/>
            </a:xfrm>
            <a:custGeom>
              <a:avLst/>
              <a:gdLst/>
              <a:ahLst/>
              <a:cxnLst/>
              <a:rect l="l" t="t" r="r" b="b"/>
              <a:pathLst>
                <a:path w="3138" h="3831" extrusionOk="0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7469;p151"/>
            <p:cNvSpPr/>
            <p:nvPr/>
          </p:nvSpPr>
          <p:spPr>
            <a:xfrm>
              <a:off x="3427250" y="4456050"/>
              <a:ext cx="197650" cy="197175"/>
            </a:xfrm>
            <a:custGeom>
              <a:avLst/>
              <a:gdLst/>
              <a:ahLst/>
              <a:cxnLst/>
              <a:rect l="l" t="t" r="r" b="b"/>
              <a:pathLst>
                <a:path w="7906" h="7887" extrusionOk="0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" name="Google Shape;7470;p151"/>
            <p:cNvSpPr/>
            <p:nvPr/>
          </p:nvSpPr>
          <p:spPr>
            <a:xfrm>
              <a:off x="3428150" y="4399275"/>
              <a:ext cx="166925" cy="84725"/>
            </a:xfrm>
            <a:custGeom>
              <a:avLst/>
              <a:gdLst/>
              <a:ahLst/>
              <a:cxnLst/>
              <a:rect l="l" t="t" r="r" b="b"/>
              <a:pathLst>
                <a:path w="6677" h="3389" extrusionOk="0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" name="Google Shape;7471;p151"/>
            <p:cNvSpPr/>
            <p:nvPr/>
          </p:nvSpPr>
          <p:spPr>
            <a:xfrm>
              <a:off x="3330525" y="4674000"/>
              <a:ext cx="181225" cy="207125"/>
            </a:xfrm>
            <a:custGeom>
              <a:avLst/>
              <a:gdLst/>
              <a:ahLst/>
              <a:cxnLst/>
              <a:rect l="l" t="t" r="r" b="b"/>
              <a:pathLst>
                <a:path w="7249" h="8285" extrusionOk="0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7472;p151"/>
            <p:cNvSpPr/>
            <p:nvPr/>
          </p:nvSpPr>
          <p:spPr>
            <a:xfrm>
              <a:off x="3540175" y="4674000"/>
              <a:ext cx="181000" cy="207100"/>
            </a:xfrm>
            <a:custGeom>
              <a:avLst/>
              <a:gdLst/>
              <a:ahLst/>
              <a:cxnLst/>
              <a:rect l="l" t="t" r="r" b="b"/>
              <a:pathLst>
                <a:path w="7240" h="8284" extrusionOk="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7473;p151"/>
            <p:cNvSpPr/>
            <p:nvPr/>
          </p:nvSpPr>
          <p:spPr>
            <a:xfrm>
              <a:off x="3429975" y="4648850"/>
              <a:ext cx="78225" cy="95400"/>
            </a:xfrm>
            <a:custGeom>
              <a:avLst/>
              <a:gdLst/>
              <a:ahLst/>
              <a:cxnLst/>
              <a:rect l="l" t="t" r="r" b="b"/>
              <a:pathLst>
                <a:path w="3129" h="3816" extrusionOk="0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7474;p151"/>
            <p:cNvSpPr/>
            <p:nvPr/>
          </p:nvSpPr>
          <p:spPr>
            <a:xfrm>
              <a:off x="3514200" y="4681000"/>
              <a:ext cx="23150" cy="17550"/>
            </a:xfrm>
            <a:custGeom>
              <a:avLst/>
              <a:gdLst/>
              <a:ahLst/>
              <a:cxnLst/>
              <a:rect l="l" t="t" r="r" b="b"/>
              <a:pathLst>
                <a:path w="926" h="702" extrusionOk="0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0" name="Google Shape;1380;p98"/>
          <p:cNvSpPr txBox="1">
            <a:spLocks/>
          </p:cNvSpPr>
          <p:nvPr/>
        </p:nvSpPr>
        <p:spPr>
          <a:xfrm>
            <a:off x="2234381" y="370239"/>
            <a:ext cx="39263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Fira Sans Condensed"/>
              <a:buNone/>
              <a:defRPr sz="2700" b="1" i="0" u="none" strike="noStrike" cap="none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pPr algn="ctr"/>
            <a:r>
              <a:rPr lang="en-US" sz="3200" dirty="0" smtClean="0"/>
              <a:t>Value Proposition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8"/>
          <p:cNvSpPr txBox="1">
            <a:spLocks noGrp="1"/>
          </p:cNvSpPr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Business Model</a:t>
            </a:r>
            <a:endParaRPr dirty="0"/>
          </a:p>
        </p:txBody>
      </p:sp>
      <p:sp>
        <p:nvSpPr>
          <p:cNvPr id="1381" name="Google Shape;1381;p98"/>
          <p:cNvSpPr txBox="1">
            <a:spLocks noGrp="1"/>
          </p:cNvSpPr>
          <p:nvPr>
            <p:ph type="subTitle" idx="1"/>
          </p:nvPr>
        </p:nvSpPr>
        <p:spPr>
          <a:xfrm>
            <a:off x="899651" y="1645450"/>
            <a:ext cx="309464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Revenue Streams:</a:t>
            </a:r>
            <a:endParaRPr dirty="0"/>
          </a:p>
        </p:txBody>
      </p:sp>
      <p:sp>
        <p:nvSpPr>
          <p:cNvPr id="1383" name="Google Shape;1383;p98"/>
          <p:cNvSpPr txBox="1">
            <a:spLocks noGrp="1"/>
          </p:cNvSpPr>
          <p:nvPr>
            <p:ph type="subTitle" idx="3"/>
          </p:nvPr>
        </p:nvSpPr>
        <p:spPr>
          <a:xfrm>
            <a:off x="4872620" y="1645450"/>
            <a:ext cx="3829791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Sustainability Factors:</a:t>
            </a:r>
            <a:endParaRPr dirty="0"/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11310" y="1690700"/>
            <a:ext cx="426071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Freemium Model for B2C: 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version: Free symptom checking and general guidance 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version ($9.99/month): Image analysis, better trained model on a larger set of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B2B Partnership Model: 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Provider Subscriptions ($299/month) 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Commission on successful specialist referrals (5-10%) </a:t>
            </a:r>
          </a:p>
          <a:p>
            <a:pPr marL="457200" lvl="1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White-label solutions for healthcare networks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4985877" y="1690700"/>
            <a:ext cx="4158123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Recurring revenue through subscriptions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effect from growing user base and healthcare provider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improvements in accuracy and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infrastructure with minimal marginal costs </a:t>
            </a:r>
          </a:p>
        </p:txBody>
      </p:sp>
    </p:spTree>
    <p:extLst>
      <p:ext uri="{BB962C8B-B14F-4D97-AF65-F5344CB8AC3E}">
        <p14:creationId xmlns:p14="http://schemas.microsoft.com/office/powerpoint/2010/main" val="269995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14"/>
          <p:cNvSpPr txBox="1">
            <a:spLocks noGrp="1"/>
          </p:cNvSpPr>
          <p:nvPr>
            <p:ph type="title"/>
          </p:nvPr>
        </p:nvSpPr>
        <p:spPr>
          <a:xfrm flipH="1">
            <a:off x="737864" y="826425"/>
            <a:ext cx="5054813" cy="6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Technical Architecture</a:t>
            </a:r>
            <a:endParaRPr dirty="0"/>
          </a:p>
        </p:txBody>
      </p:sp>
      <p:grpSp>
        <p:nvGrpSpPr>
          <p:cNvPr id="1723" name="Google Shape;1723;p114"/>
          <p:cNvGrpSpPr/>
          <p:nvPr/>
        </p:nvGrpSpPr>
        <p:grpSpPr>
          <a:xfrm flipH="1">
            <a:off x="7344697" y="3601309"/>
            <a:ext cx="1504336" cy="1332026"/>
            <a:chOff x="649150" y="238125"/>
            <a:chExt cx="6249546" cy="5201775"/>
          </a:xfrm>
        </p:grpSpPr>
        <p:sp>
          <p:nvSpPr>
            <p:cNvPr id="1724" name="Google Shape;1724;p114"/>
            <p:cNvSpPr/>
            <p:nvPr/>
          </p:nvSpPr>
          <p:spPr>
            <a:xfrm>
              <a:off x="2850275" y="4488975"/>
              <a:ext cx="1849000" cy="810050"/>
            </a:xfrm>
            <a:custGeom>
              <a:avLst/>
              <a:gdLst/>
              <a:ahLst/>
              <a:cxnLst/>
              <a:rect l="l" t="t" r="r" b="b"/>
              <a:pathLst>
                <a:path w="73960" h="32402" extrusionOk="0">
                  <a:moveTo>
                    <a:pt x="7960" y="1"/>
                  </a:moveTo>
                  <a:cubicBezTo>
                    <a:pt x="5284" y="10848"/>
                    <a:pt x="2607" y="21625"/>
                    <a:pt x="1" y="32402"/>
                  </a:cubicBezTo>
                  <a:lnTo>
                    <a:pt x="73960" y="32402"/>
                  </a:lnTo>
                  <a:lnTo>
                    <a:pt x="660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14"/>
            <p:cNvSpPr/>
            <p:nvPr/>
          </p:nvSpPr>
          <p:spPr>
            <a:xfrm>
              <a:off x="2638975" y="5284925"/>
              <a:ext cx="2269850" cy="154975"/>
            </a:xfrm>
            <a:custGeom>
              <a:avLst/>
              <a:gdLst/>
              <a:ahLst/>
              <a:cxnLst/>
              <a:rect l="l" t="t" r="r" b="b"/>
              <a:pathLst>
                <a:path w="90794" h="6199" extrusionOk="0">
                  <a:moveTo>
                    <a:pt x="3875" y="0"/>
                  </a:moveTo>
                  <a:cubicBezTo>
                    <a:pt x="1761" y="0"/>
                    <a:pt x="1" y="2043"/>
                    <a:pt x="1" y="4508"/>
                  </a:cubicBezTo>
                  <a:lnTo>
                    <a:pt x="1" y="6199"/>
                  </a:lnTo>
                  <a:lnTo>
                    <a:pt x="90794" y="6199"/>
                  </a:lnTo>
                  <a:lnTo>
                    <a:pt x="90794" y="4508"/>
                  </a:lnTo>
                  <a:cubicBezTo>
                    <a:pt x="90794" y="2043"/>
                    <a:pt x="89103" y="0"/>
                    <a:pt x="86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14"/>
            <p:cNvSpPr/>
            <p:nvPr/>
          </p:nvSpPr>
          <p:spPr>
            <a:xfrm>
              <a:off x="649171" y="3870411"/>
              <a:ext cx="6249525" cy="905641"/>
            </a:xfrm>
            <a:custGeom>
              <a:avLst/>
              <a:gdLst/>
              <a:ahLst/>
              <a:cxnLst/>
              <a:rect l="l" t="t" r="r" b="b"/>
              <a:pathLst>
                <a:path w="249981" h="24091" extrusionOk="0">
                  <a:moveTo>
                    <a:pt x="0" y="1"/>
                  </a:moveTo>
                  <a:lnTo>
                    <a:pt x="0" y="17892"/>
                  </a:lnTo>
                  <a:cubicBezTo>
                    <a:pt x="0" y="21343"/>
                    <a:pt x="2817" y="24090"/>
                    <a:pt x="6198" y="24090"/>
                  </a:cubicBezTo>
                  <a:lnTo>
                    <a:pt x="243782" y="24090"/>
                  </a:lnTo>
                  <a:cubicBezTo>
                    <a:pt x="247233" y="24090"/>
                    <a:pt x="249980" y="21343"/>
                    <a:pt x="249980" y="17892"/>
                  </a:cubicBezTo>
                  <a:lnTo>
                    <a:pt x="2499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14"/>
            <p:cNvSpPr/>
            <p:nvPr/>
          </p:nvSpPr>
          <p:spPr>
            <a:xfrm>
              <a:off x="649150" y="238125"/>
              <a:ext cx="6249525" cy="3935675"/>
            </a:xfrm>
            <a:custGeom>
              <a:avLst/>
              <a:gdLst/>
              <a:ahLst/>
              <a:cxnLst/>
              <a:rect l="l" t="t" r="r" b="b"/>
              <a:pathLst>
                <a:path w="249981" h="157427" extrusionOk="0">
                  <a:moveTo>
                    <a:pt x="6198" y="0"/>
                  </a:moveTo>
                  <a:cubicBezTo>
                    <a:pt x="2817" y="0"/>
                    <a:pt x="0" y="2817"/>
                    <a:pt x="0" y="6198"/>
                  </a:cubicBezTo>
                  <a:lnTo>
                    <a:pt x="0" y="157427"/>
                  </a:lnTo>
                  <a:lnTo>
                    <a:pt x="249980" y="157427"/>
                  </a:lnTo>
                  <a:lnTo>
                    <a:pt x="249980" y="6198"/>
                  </a:lnTo>
                  <a:cubicBezTo>
                    <a:pt x="249980" y="2817"/>
                    <a:pt x="247233" y="0"/>
                    <a:pt x="2437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14"/>
            <p:cNvSpPr/>
            <p:nvPr/>
          </p:nvSpPr>
          <p:spPr>
            <a:xfrm>
              <a:off x="904475" y="481125"/>
              <a:ext cx="5738850" cy="3435575"/>
            </a:xfrm>
            <a:custGeom>
              <a:avLst/>
              <a:gdLst/>
              <a:ahLst/>
              <a:cxnLst/>
              <a:rect l="l" t="t" r="r" b="b"/>
              <a:pathLst>
                <a:path w="229554" h="137423" extrusionOk="0">
                  <a:moveTo>
                    <a:pt x="0" y="0"/>
                  </a:moveTo>
                  <a:lnTo>
                    <a:pt x="0" y="137423"/>
                  </a:lnTo>
                  <a:lnTo>
                    <a:pt x="229554" y="137423"/>
                  </a:lnTo>
                  <a:lnTo>
                    <a:pt x="229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Subtitle 1"/>
          <p:cNvSpPr>
            <a:spLocks noGrp="1"/>
          </p:cNvSpPr>
          <p:nvPr>
            <p:ph type="subTitle" idx="1"/>
          </p:nvPr>
        </p:nvSpPr>
        <p:spPr>
          <a:xfrm flipH="1">
            <a:off x="718454" y="1685216"/>
            <a:ext cx="7561010" cy="2468319"/>
          </a:xfrm>
        </p:spPr>
        <p:txBody>
          <a:bodyPr numCol="2"/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Frontend </a:t>
            </a:r>
            <a:r>
              <a:rPr lang="en-US" sz="1100" b="1" dirty="0">
                <a:solidFill>
                  <a:schemeClr val="tx1"/>
                </a:solidFill>
              </a:rPr>
              <a:t>(React.js): 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User authentication system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Real-time chat interface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Image upload capabilities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Conversation history management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Session </a:t>
            </a:r>
            <a:r>
              <a:rPr lang="en-US" sz="1050" b="1" dirty="0" smtClean="0">
                <a:solidFill>
                  <a:schemeClr val="tx1"/>
                </a:solidFill>
              </a:rPr>
              <a:t>management</a:t>
            </a:r>
          </a:p>
          <a:p>
            <a:pPr lvl="1"/>
            <a:r>
              <a:rPr lang="en-US" sz="1050" b="1" dirty="0" smtClean="0">
                <a:solidFill>
                  <a:schemeClr val="tx1"/>
                </a:solidFill>
              </a:rPr>
              <a:t>Local deployment</a:t>
            </a:r>
          </a:p>
          <a:p>
            <a:endParaRPr lang="en-US" sz="1100" b="1" dirty="0" smtClean="0">
              <a:solidFill>
                <a:schemeClr val="tx1"/>
              </a:solidFill>
            </a:endParaRPr>
          </a:p>
          <a:p>
            <a:r>
              <a:rPr lang="en-US" sz="1100" b="1" dirty="0" smtClean="0">
                <a:solidFill>
                  <a:schemeClr val="tx1"/>
                </a:solidFill>
              </a:rPr>
              <a:t>Backend </a:t>
            </a:r>
            <a:r>
              <a:rPr lang="en-US" sz="1100" b="1" dirty="0">
                <a:solidFill>
                  <a:schemeClr val="tx1"/>
                </a:solidFill>
              </a:rPr>
              <a:t>Infrastructure: 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Node.js server for main application logic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MongoDB for data persistence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Flask </a:t>
            </a:r>
            <a:r>
              <a:rPr lang="en-US" sz="1050" b="1" dirty="0" err="1">
                <a:solidFill>
                  <a:schemeClr val="tx1"/>
                </a:solidFill>
              </a:rPr>
              <a:t>microservice</a:t>
            </a:r>
            <a:r>
              <a:rPr lang="en-US" sz="1050" b="1" dirty="0">
                <a:solidFill>
                  <a:schemeClr val="tx1"/>
                </a:solidFill>
              </a:rPr>
              <a:t> for AI model integration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RESTful API architecture</a:t>
            </a:r>
          </a:p>
          <a:p>
            <a:pPr lvl="1"/>
            <a:r>
              <a:rPr lang="en-US" sz="1050" b="1" dirty="0">
                <a:solidFill>
                  <a:schemeClr val="tx1"/>
                </a:solidFill>
              </a:rPr>
              <a:t>Secure session </a:t>
            </a:r>
            <a:r>
              <a:rPr lang="en-US" sz="1050" b="1" dirty="0" smtClean="0">
                <a:solidFill>
                  <a:schemeClr val="tx1"/>
                </a:solidFill>
              </a:rPr>
              <a:t>management</a:t>
            </a:r>
          </a:p>
          <a:p>
            <a:pPr lvl="1"/>
            <a:r>
              <a:rPr lang="en-US" sz="1050" b="1" dirty="0" smtClean="0">
                <a:solidFill>
                  <a:schemeClr val="tx1"/>
                </a:solidFill>
              </a:rPr>
              <a:t>Local deploymen</a:t>
            </a:r>
            <a:r>
              <a:rPr lang="en-US" sz="1050" dirty="0" smtClean="0">
                <a:solidFill>
                  <a:schemeClr val="tx1"/>
                </a:solidFill>
              </a:rPr>
              <a:t>t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3" name="Subtitle 1"/>
          <p:cNvSpPr txBox="1">
            <a:spLocks noChangeArrowheads="1"/>
          </p:cNvSpPr>
          <p:nvPr/>
        </p:nvSpPr>
        <p:spPr bwMode="auto">
          <a:xfrm>
            <a:off x="817985" y="1100441"/>
            <a:ext cx="48945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Current System Self-made Components </a:t>
            </a:r>
          </a:p>
        </p:txBody>
      </p:sp>
    </p:spTree>
    <p:extLst>
      <p:ext uri="{BB962C8B-B14F-4D97-AF65-F5344CB8AC3E}">
        <p14:creationId xmlns:p14="http://schemas.microsoft.com/office/powerpoint/2010/main" val="298019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5"/>
          <p:cNvSpPr txBox="1">
            <a:spLocks noGrp="1"/>
          </p:cNvSpPr>
          <p:nvPr>
            <p:ph type="title"/>
          </p:nvPr>
        </p:nvSpPr>
        <p:spPr>
          <a:xfrm>
            <a:off x="2040817" y="440303"/>
            <a:ext cx="4583831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smtClean="0"/>
              <a:t>MVP Features and Innovation</a:t>
            </a:r>
            <a:endParaRPr dirty="0"/>
          </a:p>
        </p:txBody>
      </p:sp>
      <p:sp>
        <p:nvSpPr>
          <p:cNvPr id="7" name="Subtitle 1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911900" y="1232727"/>
            <a:ext cx="6841664" cy="4551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sz="1600" b="1" dirty="0" smtClean="0">
                <a:solidFill>
                  <a:schemeClr val="tx1"/>
                </a:solidFill>
              </a:rPr>
              <a:t>      Core </a:t>
            </a:r>
            <a:r>
              <a:rPr lang="en-US" sz="1600" b="1" dirty="0">
                <a:solidFill>
                  <a:schemeClr val="tx1"/>
                </a:solidFill>
              </a:rPr>
              <a:t>Functionalities</a:t>
            </a:r>
            <a:r>
              <a:rPr lang="en-US" sz="1600" b="1" dirty="0" smtClean="0">
                <a:solidFill>
                  <a:schemeClr val="tx1"/>
                </a:solidFill>
              </a:rPr>
              <a:t>:</a:t>
            </a:r>
            <a:endParaRPr lang="en-US" sz="16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 Advanced </a:t>
            </a:r>
            <a:r>
              <a:rPr lang="en-US" sz="1600" dirty="0">
                <a:solidFill>
                  <a:schemeClr val="tx1"/>
                </a:solidFill>
              </a:rPr>
              <a:t>User Features: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Multi-modal interaction (text + images)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Conversation persistence and retrieval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Real-time </a:t>
            </a:r>
            <a:r>
              <a:rPr lang="en-US" sz="1200" dirty="0">
                <a:solidFill>
                  <a:schemeClr val="tx1"/>
                </a:solidFill>
              </a:rPr>
              <a:t>AI response </a:t>
            </a:r>
            <a:r>
              <a:rPr lang="en-US" sz="1200" dirty="0" smtClean="0">
                <a:solidFill>
                  <a:schemeClr val="tx1"/>
                </a:solidFill>
              </a:rPr>
              <a:t>integration</a:t>
            </a:r>
          </a:p>
          <a:p>
            <a:pPr marL="457200" lvl="1"/>
            <a:endParaRPr lang="en-US" sz="1200" dirty="0">
              <a:solidFill>
                <a:schemeClr val="tx1"/>
              </a:solidFill>
            </a:endParaRPr>
          </a:p>
          <a:p>
            <a:endParaRPr lang="en-US" sz="1600" b="1" dirty="0" smtClean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 smtClean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600" b="1" dirty="0" smtClean="0">
                <a:solidFill>
                  <a:schemeClr val="tx1"/>
                </a:solidFill>
              </a:rPr>
              <a:t>    </a:t>
            </a:r>
          </a:p>
          <a:p>
            <a:pPr marL="114300" indent="0">
              <a:buNone/>
            </a:pPr>
            <a:r>
              <a:rPr lang="en-US" sz="1600" b="1" dirty="0" smtClean="0">
                <a:solidFill>
                  <a:schemeClr val="tx1"/>
                </a:solidFill>
              </a:rPr>
              <a:t>Innovation </a:t>
            </a:r>
            <a:r>
              <a:rPr lang="en-US" sz="1600" b="1" dirty="0">
                <a:solidFill>
                  <a:schemeClr val="tx1"/>
                </a:solidFill>
              </a:rPr>
              <a:t>Highlights</a:t>
            </a:r>
            <a:r>
              <a:rPr lang="en-US" sz="1600" b="1" dirty="0" smtClean="0">
                <a:solidFill>
                  <a:schemeClr val="tx1"/>
                </a:solidFill>
              </a:rPr>
              <a:t>:</a:t>
            </a:r>
            <a:endParaRPr lang="en-US" sz="16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 Custom-built </a:t>
            </a:r>
            <a:r>
              <a:rPr lang="en-US" sz="1600" dirty="0">
                <a:solidFill>
                  <a:schemeClr val="tx1"/>
                </a:solidFill>
              </a:rPr>
              <a:t>components: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Multi-modal conversation </a:t>
            </a:r>
            <a:r>
              <a:rPr lang="en-US" sz="1000" dirty="0">
                <a:solidFill>
                  <a:schemeClr val="tx1"/>
                </a:solidFill>
              </a:rPr>
              <a:t>handling (text + images)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/>
                </a:solidFill>
              </a:rPr>
              <a:t>Chat </a:t>
            </a:r>
            <a:r>
              <a:rPr lang="en-US" sz="1000" dirty="0">
                <a:solidFill>
                  <a:schemeClr val="tx1"/>
                </a:solidFill>
              </a:rPr>
              <a:t>history tracking and retrieval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Medical guidance through interactive </a:t>
            </a:r>
            <a:r>
              <a:rPr lang="en-US" sz="1000" dirty="0" smtClean="0">
                <a:solidFill>
                  <a:schemeClr val="tx1"/>
                </a:solidFill>
              </a:rPr>
              <a:t>chat</a:t>
            </a:r>
            <a:br>
              <a:rPr lang="en-US" sz="1000" dirty="0" smtClean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Novel </a:t>
            </a:r>
            <a:r>
              <a:rPr lang="en-US" sz="1600" dirty="0">
                <a:solidFill>
                  <a:schemeClr val="tx1"/>
                </a:solidFill>
              </a:rPr>
              <a:t>integration of medical knowledge with AI capabilities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64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123"/>
          <p:cNvSpPr txBox="1">
            <a:spLocks noGrp="1"/>
          </p:cNvSpPr>
          <p:nvPr>
            <p:ph type="title"/>
          </p:nvPr>
        </p:nvSpPr>
        <p:spPr>
          <a:xfrm>
            <a:off x="1305232" y="1076025"/>
            <a:ext cx="6450668" cy="28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/>
              <a:t>Thank you!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41568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8CD11230B6D248891328E9EA86E3FD" ma:contentTypeVersion="13" ma:contentTypeDescription="Create a new document." ma:contentTypeScope="" ma:versionID="967a42ea26a1170e388e78604e4be4a0">
  <xsd:schema xmlns:xsd="http://www.w3.org/2001/XMLSchema" xmlns:xs="http://www.w3.org/2001/XMLSchema" xmlns:p="http://schemas.microsoft.com/office/2006/metadata/properties" xmlns:ns2="6bfd097c-de7f-452a-9f51-d492e24fd8cf" xmlns:ns3="efb1789d-98cc-491e-820a-b5f4c63bbcf8" targetNamespace="http://schemas.microsoft.com/office/2006/metadata/properties" ma:root="true" ma:fieldsID="8dd754ca8372045a85587c933c344e61" ns2:_="" ns3:_="">
    <xsd:import namespace="6bfd097c-de7f-452a-9f51-d492e24fd8cf"/>
    <xsd:import namespace="efb1789d-98cc-491e-820a-b5f4c63bbcf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097c-de7f-452a-9f51-d492e24fd8c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1789d-98cc-491e-820a-b5f4c63bbcf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4120566-7fc5-44e3-b5b6-364880437d5c}" ma:internalName="TaxCatchAll" ma:showField="CatchAllData" ma:web="efb1789d-98cc-491e-820a-b5f4c63bbc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bfd097c-de7f-452a-9f51-d492e24fd8cf" xsi:nil="true"/>
    <TaxCatchAll xmlns="efb1789d-98cc-491e-820a-b5f4c63bbcf8" xsi:nil="true"/>
    <lcf76f155ced4ddcb4097134ff3c332f xmlns="6bfd097c-de7f-452a-9f51-d492e24fd8c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6970492-9519-417B-8995-13898C4FCD60}"/>
</file>

<file path=customXml/itemProps2.xml><?xml version="1.0" encoding="utf-8"?>
<ds:datastoreItem xmlns:ds="http://schemas.openxmlformats.org/officeDocument/2006/customXml" ds:itemID="{8606A0EA-BC45-4BF4-BE49-58AB65D67258}"/>
</file>

<file path=customXml/itemProps3.xml><?xml version="1.0" encoding="utf-8"?>
<ds:datastoreItem xmlns:ds="http://schemas.openxmlformats.org/officeDocument/2006/customXml" ds:itemID="{68394D88-3B37-44A2-8948-C7474810AC20}"/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571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Open Sans</vt:lpstr>
      <vt:lpstr>Josefin Sans</vt:lpstr>
      <vt:lpstr>Fira Sans Condensed</vt:lpstr>
      <vt:lpstr>Open Sans SemiBold</vt:lpstr>
      <vt:lpstr>Aquatic and Physical Therapy Center XL by Slidesgo</vt:lpstr>
      <vt:lpstr>IntelliCare</vt:lpstr>
      <vt:lpstr>Introduction</vt:lpstr>
      <vt:lpstr>Table of contents</vt:lpstr>
      <vt:lpstr>Market Opportunities</vt:lpstr>
      <vt:lpstr>Addressed Needs and Competitive Landscape</vt:lpstr>
      <vt:lpstr>Customer Profile</vt:lpstr>
      <vt:lpstr>For Healthcare Providers</vt:lpstr>
      <vt:lpstr>Business Model</vt:lpstr>
      <vt:lpstr>Technical Architecture</vt:lpstr>
      <vt:lpstr>MVP Features and Innovation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IntelliCare</dc:title>
  <dc:creator>Teo</dc:creator>
  <cp:lastModifiedBy>Teo</cp:lastModifiedBy>
  <cp:revision>13</cp:revision>
  <dcterms:modified xsi:type="dcterms:W3CDTF">2025-01-13T22:36:20Z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0x010100508CD11230B6D248891328E9EA86E3FD</vt:lpwstr>
  </property>
</Properties>
</file>