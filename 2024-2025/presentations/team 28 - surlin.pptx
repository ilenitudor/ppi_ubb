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6" r:id="rId5"/>
    <p:sldId id="268" r:id="rId6"/>
    <p:sldId id="269" r:id="rId7"/>
    <p:sldId id="270" r:id="rId8"/>
    <p:sldId id="271" r:id="rId9"/>
    <p:sldId id="272" r:id="rId10"/>
    <p:sldId id="258" r:id="rId11"/>
    <p:sldId id="259" r:id="rId12"/>
    <p:sldId id="263" r:id="rId13"/>
    <p:sldId id="261" r:id="rId14"/>
    <p:sldId id="262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BA2D-3966-B695-AB73-45AF85038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00658-8BA1-8741-17BA-B39EBACD6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EE01-A4F0-09D4-C41B-F509AF9F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803E6-CD90-FC15-9F1E-9FFE0931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62632-E7B7-D74D-63E1-B098FA66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0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CDD4-30C1-2FD6-D9FE-A900AFE4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5CB5-0C53-C6DD-6419-E258DB4B6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45582-774B-626D-B757-FB290651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BAB15-0B28-F101-D238-276AC121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2E7DC-197D-9E0D-DF85-BBE9AAD5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9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5D35-601D-A684-E214-F3A7B0D6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0EE8B-C05A-B2E2-5EB3-C6256B12B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DDA4E-EFEE-55F8-0FA8-726EA3A6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2083E-954C-B30C-1A9C-A9A0FE08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38A84-0BEA-91C8-2D55-FCA0A333D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86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2D54-D532-F054-1C36-B8843973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3A57F-C33A-8224-365D-A4DAA1A62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68F3D-4A9F-0DE1-48DF-790D64D55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6E7E3-2418-363F-920C-8C9BA6BC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3B874-12CD-628D-4F0B-1A8C9AFC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96971-F2A5-CB9D-23CB-555D8B05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18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95AB-0758-D92E-FBB9-D32200C0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07EED-B8CE-2320-4661-D2CADE16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67135-BFC1-94EE-AD08-1E40689AB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806EA3-8BB6-EC60-9F36-996A3C915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E9A36-AAB2-F0CB-61E3-FFF419AA8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F786C-B977-9E10-8A03-B5C507F5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4F505-31CE-5D2E-00CB-A5A1C8DBC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4CFDFD-8A56-03AF-7062-235A0F8B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3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FFDC-FC2F-284D-3406-6BF7EF49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043D8-FE30-2F2E-492A-BF71D3F6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B86D4-812B-5ED3-E180-C561912A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B4B03-3377-47E9-EEB5-4E97B946E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73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583A7-5257-F7CC-9A2C-EB5D3943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B7BF8-ABAC-EF11-6579-E9EE009BE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4FDCE-CCB1-73DD-E636-03CC6315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3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ECDF4-BA07-E82F-6B7D-77B8925B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EE63F-B10C-06A3-CC37-1EA14882B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4A650-F467-6982-3AD5-B047DCA95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F0220-AF88-4304-493E-23AFC745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573A4-1BD2-9009-4AC9-8A35DBF8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E3A7F-DC92-B3F3-6C50-B6646E74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018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4D05-1B63-1AF6-9B3B-CDE56606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B9923-0CE0-0825-1794-CD2C67090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C23CF-034E-B58D-A2C9-975005678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CB500-07E4-B83A-03C1-C604BD17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91625-A2DD-65D2-9E02-8DAE99EA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CA6E0-3A31-6753-1EC8-E7ED89880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9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D9E6-8EAB-7E25-078E-28642D99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82001-6931-B131-1FE5-633957F13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6A4B6-E4E4-6290-6A3C-6E9BC34D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EB75D-25F8-D038-CA30-0E2D789A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2D346-3F9F-84DB-A5FF-5A2E2D5E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8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1F28A9-4AC6-B0D8-1EB6-F8158699C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506B4-3F77-F64D-818A-C95A7E34B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3E8CD-7763-320D-AEEF-68259FFF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8DE02-0E4F-5A8F-385F-D72AFFA0F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04731-FBAC-F045-FF7B-9328A23C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80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96514-B120-7E7B-65EF-6ABF89AF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291D1-5695-305E-8558-8EE976E3F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C2B54-2562-44BA-4E7D-CB1447D2F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1E220-0FE6-4AAF-A5BE-314878E9D89C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66B95-0D49-459F-F74C-911D8F9D1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BE4D0-521E-FE41-3F4F-E31C71522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6D72E-5ED5-40A1-8DBC-8937C0648E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38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zenodo.org/records/322245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8C298-A6DB-1C91-6B4C-22EBC5AB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Evolu</a:t>
            </a:r>
            <a:r>
              <a:rPr lang="ro-RO" dirty="0" err="1">
                <a:solidFill>
                  <a:srgbClr val="FFFFFF"/>
                </a:solidFill>
              </a:rPr>
              <a:t>ția</a:t>
            </a:r>
            <a:r>
              <a:rPr lang="ro-RO" dirty="0">
                <a:solidFill>
                  <a:srgbClr val="FFFFFF"/>
                </a:solidFill>
              </a:rPr>
              <a:t> Gripei</a:t>
            </a:r>
          </a:p>
        </p:txBody>
      </p:sp>
    </p:spTree>
    <p:extLst>
      <p:ext uri="{BB962C8B-B14F-4D97-AF65-F5344CB8AC3E}">
        <p14:creationId xmlns:p14="http://schemas.microsoft.com/office/powerpoint/2010/main" val="401975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9571D5-DCAB-A1ED-8343-8852A8DD4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Introducere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7E637-00F5-328E-7D24-3261F517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1" y="1675115"/>
            <a:ext cx="6860378" cy="5173102"/>
          </a:xfrm>
        </p:spPr>
        <p:txBody>
          <a:bodyPr anchor="ctr">
            <a:normAutofit/>
          </a:bodyPr>
          <a:lstStyle/>
          <a:p>
            <a:pPr algn="just"/>
            <a:r>
              <a:rPr lang="en-GB" sz="2400" dirty="0" err="1"/>
              <a:t>Ideea</a:t>
            </a:r>
            <a:r>
              <a:rPr lang="en-GB" sz="2400" dirty="0"/>
              <a:t> </a:t>
            </a:r>
            <a:r>
              <a:rPr lang="en-GB" sz="2400" dirty="0" err="1"/>
              <a:t>principală</a:t>
            </a:r>
            <a:r>
              <a:rPr lang="en-GB" sz="2400" dirty="0"/>
              <a:t> a </a:t>
            </a:r>
            <a:r>
              <a:rPr lang="en-GB" sz="2400" dirty="0" err="1"/>
              <a:t>acestui</a:t>
            </a:r>
            <a:r>
              <a:rPr lang="en-GB" sz="2400" dirty="0"/>
              <a:t> </a:t>
            </a:r>
            <a:r>
              <a:rPr lang="en-GB" sz="2400" dirty="0" err="1"/>
              <a:t>proiect</a:t>
            </a:r>
            <a:r>
              <a:rPr lang="en-GB" sz="2400" dirty="0"/>
              <a:t> </a:t>
            </a:r>
            <a:r>
              <a:rPr lang="en-GB" sz="2400" dirty="0" err="1"/>
              <a:t>este</a:t>
            </a:r>
            <a:r>
              <a:rPr lang="en-GB" sz="2400" dirty="0"/>
              <a:t> de a </a:t>
            </a:r>
            <a:r>
              <a:rPr lang="en-GB" sz="2400" dirty="0" err="1"/>
              <a:t>dezvolta</a:t>
            </a:r>
            <a:r>
              <a:rPr lang="en-GB" sz="2400" dirty="0"/>
              <a:t> un </a:t>
            </a:r>
            <a:r>
              <a:rPr lang="en-GB" sz="2400" dirty="0" err="1"/>
              <a:t>sistem</a:t>
            </a:r>
            <a:r>
              <a:rPr lang="en-GB" sz="2400" dirty="0"/>
              <a:t> de </a:t>
            </a:r>
            <a:r>
              <a:rPr lang="en-GB" sz="2400" dirty="0" err="1"/>
              <a:t>sprijinire</a:t>
            </a:r>
            <a:r>
              <a:rPr lang="en-GB" sz="2400" dirty="0"/>
              <a:t> a </a:t>
            </a:r>
            <a:r>
              <a:rPr lang="en-GB" sz="2400" dirty="0" err="1"/>
              <a:t>deciziilor</a:t>
            </a:r>
            <a:r>
              <a:rPr lang="en-GB" sz="2400" dirty="0"/>
              <a:t> </a:t>
            </a:r>
            <a:r>
              <a:rPr lang="ro-RO" sz="2400" dirty="0"/>
              <a:t>medicale</a:t>
            </a:r>
            <a:r>
              <a:rPr lang="en-GB" sz="2400" dirty="0"/>
              <a:t> </a:t>
            </a:r>
            <a:r>
              <a:rPr lang="en-GB" sz="2400" dirty="0" err="1"/>
              <a:t>bazat</a:t>
            </a:r>
            <a:r>
              <a:rPr lang="en-GB" sz="2400" dirty="0"/>
              <a:t> pe </a:t>
            </a:r>
            <a:r>
              <a:rPr lang="en-GB" sz="2400" dirty="0" err="1"/>
              <a:t>inteligență</a:t>
            </a:r>
            <a:r>
              <a:rPr lang="en-GB" sz="2400" dirty="0"/>
              <a:t> </a:t>
            </a:r>
            <a:r>
              <a:rPr lang="en-GB" sz="2400" dirty="0" err="1"/>
              <a:t>artificială</a:t>
            </a:r>
            <a:r>
              <a:rPr lang="en-GB" sz="2400" dirty="0"/>
              <a:t> care </a:t>
            </a:r>
            <a:r>
              <a:rPr lang="en-GB" sz="2400" dirty="0" err="1"/>
              <a:t>prezice</a:t>
            </a:r>
            <a:r>
              <a:rPr lang="en-GB" sz="2400" dirty="0"/>
              <a:t> </a:t>
            </a:r>
            <a:r>
              <a:rPr lang="en-GB" sz="2400" dirty="0" err="1"/>
              <a:t>răspunsul</a:t>
            </a:r>
            <a:r>
              <a:rPr lang="en-GB" sz="2400" dirty="0"/>
              <a:t> </a:t>
            </a:r>
            <a:r>
              <a:rPr lang="en-GB" sz="2400" dirty="0" err="1"/>
              <a:t>imun</a:t>
            </a:r>
            <a:r>
              <a:rPr lang="en-GB" sz="2400" dirty="0"/>
              <a:t> al </a:t>
            </a:r>
            <a:r>
              <a:rPr lang="en-GB" sz="2400" dirty="0" err="1"/>
              <a:t>pacientului</a:t>
            </a:r>
            <a:r>
              <a:rPr lang="en-GB" sz="2400" dirty="0"/>
              <a:t> la </a:t>
            </a:r>
            <a:r>
              <a:rPr lang="en-GB" sz="2400" dirty="0" err="1"/>
              <a:t>vaccinul</a:t>
            </a:r>
            <a:r>
              <a:rPr lang="en-GB" sz="2400" dirty="0"/>
              <a:t> </a:t>
            </a:r>
            <a:r>
              <a:rPr lang="en-GB" sz="2400" dirty="0" err="1"/>
              <a:t>antigripal</a:t>
            </a:r>
            <a:r>
              <a:rPr lang="en-GB" sz="2400" dirty="0"/>
              <a:t>.</a:t>
            </a:r>
            <a:endParaRPr lang="ro-RO" sz="2400" dirty="0"/>
          </a:p>
          <a:p>
            <a:pPr algn="just"/>
            <a:r>
              <a:rPr lang="en-GB" sz="2400" dirty="0"/>
              <a:t>Prin </a:t>
            </a:r>
            <a:r>
              <a:rPr lang="en-GB" sz="2400" dirty="0" err="1"/>
              <a:t>analizarea</a:t>
            </a:r>
            <a:r>
              <a:rPr lang="en-GB" sz="2400" dirty="0"/>
              <a:t> </a:t>
            </a:r>
            <a:r>
              <a:rPr lang="en-GB" sz="2400" dirty="0" err="1"/>
              <a:t>diferitelor</a:t>
            </a:r>
            <a:r>
              <a:rPr lang="en-GB" sz="2400" dirty="0"/>
              <a:t> date </a:t>
            </a:r>
            <a:r>
              <a:rPr lang="ro-RO" sz="2400" dirty="0"/>
              <a:t>medicale</a:t>
            </a:r>
            <a:r>
              <a:rPr lang="en-GB" sz="2400" dirty="0"/>
              <a:t> </a:t>
            </a:r>
            <a:r>
              <a:rPr lang="en-GB" sz="2400" dirty="0" err="1"/>
              <a:t>și</a:t>
            </a:r>
            <a:r>
              <a:rPr lang="en-GB" sz="2400" dirty="0"/>
              <a:t> </a:t>
            </a:r>
            <a:r>
              <a:rPr lang="en-GB" sz="2400" dirty="0" err="1"/>
              <a:t>demografice</a:t>
            </a:r>
            <a:r>
              <a:rPr lang="en-GB" sz="2400" dirty="0"/>
              <a:t>, </a:t>
            </a:r>
            <a:r>
              <a:rPr lang="en-GB" sz="2400" dirty="0" err="1"/>
              <a:t>sistemul</a:t>
            </a:r>
            <a:r>
              <a:rPr lang="en-GB" sz="2400" dirty="0"/>
              <a:t> </a:t>
            </a:r>
            <a:r>
              <a:rPr lang="en-GB" sz="2400" dirty="0" err="1"/>
              <a:t>va</a:t>
            </a:r>
            <a:r>
              <a:rPr lang="en-GB" sz="2400" dirty="0"/>
              <a:t> </a:t>
            </a:r>
            <a:r>
              <a:rPr lang="en-GB" sz="2400" dirty="0" err="1"/>
              <a:t>identifica</a:t>
            </a:r>
            <a:r>
              <a:rPr lang="en-GB" sz="2400" dirty="0"/>
              <a:t> </a:t>
            </a:r>
            <a:r>
              <a:rPr lang="en-GB" sz="2400" dirty="0" err="1"/>
              <a:t>predictori</a:t>
            </a:r>
            <a:r>
              <a:rPr lang="en-GB" sz="2400" dirty="0"/>
              <a:t> </a:t>
            </a:r>
            <a:r>
              <a:rPr lang="en-GB" sz="2400" dirty="0" err="1"/>
              <a:t>imunitari</a:t>
            </a:r>
            <a:r>
              <a:rPr lang="en-GB" sz="2400" dirty="0"/>
              <a:t> care </a:t>
            </a:r>
            <a:r>
              <a:rPr lang="ro-RO" sz="2400" dirty="0"/>
              <a:t>identifică</a:t>
            </a:r>
            <a:r>
              <a:rPr lang="en-GB" sz="2400" dirty="0"/>
              <a:t> </a:t>
            </a:r>
            <a:r>
              <a:rPr lang="en-GB" sz="2400" dirty="0" err="1"/>
              <a:t>persoanele</a:t>
            </a:r>
            <a:r>
              <a:rPr lang="en-GB" sz="2400" dirty="0"/>
              <a:t> care au un </a:t>
            </a:r>
            <a:r>
              <a:rPr lang="en-GB" sz="2400" dirty="0" err="1"/>
              <a:t>răspuns</a:t>
            </a:r>
            <a:r>
              <a:rPr lang="en-GB" sz="2400" dirty="0"/>
              <a:t> </a:t>
            </a:r>
            <a:r>
              <a:rPr lang="en-GB" sz="2400" dirty="0" err="1"/>
              <a:t>puternic</a:t>
            </a:r>
            <a:r>
              <a:rPr lang="en-GB" sz="2400" dirty="0"/>
              <a:t> </a:t>
            </a:r>
            <a:r>
              <a:rPr lang="en-GB" sz="2400" dirty="0" err="1"/>
              <a:t>sau</a:t>
            </a:r>
            <a:r>
              <a:rPr lang="en-GB" sz="2400" dirty="0"/>
              <a:t> slab la </a:t>
            </a:r>
            <a:r>
              <a:rPr lang="en-GB" sz="2400" dirty="0" err="1"/>
              <a:t>vaccinul</a:t>
            </a:r>
            <a:r>
              <a:rPr lang="en-GB" sz="2400" dirty="0"/>
              <a:t> </a:t>
            </a:r>
            <a:r>
              <a:rPr lang="en-GB" sz="2400" dirty="0" err="1"/>
              <a:t>antigripal</a:t>
            </a:r>
            <a:r>
              <a:rPr lang="en-GB" sz="2400" dirty="0"/>
              <a:t>.</a:t>
            </a:r>
            <a:endParaRPr lang="ro-RO" sz="2400" dirty="0"/>
          </a:p>
          <a:p>
            <a:pPr algn="just"/>
            <a:r>
              <a:rPr lang="en-GB" sz="2400" dirty="0" err="1"/>
              <a:t>Acest</a:t>
            </a:r>
            <a:r>
              <a:rPr lang="en-GB" sz="2400" dirty="0"/>
              <a:t> </a:t>
            </a:r>
            <a:r>
              <a:rPr lang="en-GB" sz="2400" dirty="0" err="1"/>
              <a:t>sistem</a:t>
            </a:r>
            <a:r>
              <a:rPr lang="en-GB" sz="2400" dirty="0"/>
              <a:t> </a:t>
            </a:r>
            <a:r>
              <a:rPr lang="en-GB" sz="2400" dirty="0" err="1"/>
              <a:t>va</a:t>
            </a:r>
            <a:r>
              <a:rPr lang="en-GB" sz="2400" dirty="0"/>
              <a:t> </a:t>
            </a:r>
            <a:r>
              <a:rPr lang="en-GB" sz="2400" dirty="0" err="1"/>
              <a:t>ajuta</a:t>
            </a:r>
            <a:r>
              <a:rPr lang="en-GB" sz="2400" dirty="0"/>
              <a:t> </a:t>
            </a:r>
            <a:r>
              <a:rPr lang="en-GB" sz="2400" dirty="0" err="1"/>
              <a:t>profesioniștii</a:t>
            </a:r>
            <a:r>
              <a:rPr lang="en-GB" sz="2400" dirty="0"/>
              <a:t> din </a:t>
            </a:r>
            <a:r>
              <a:rPr lang="en-GB" sz="2400" dirty="0" err="1"/>
              <a:t>domeniul</a:t>
            </a:r>
            <a:r>
              <a:rPr lang="en-GB" sz="2400" dirty="0"/>
              <a:t> </a:t>
            </a:r>
            <a:r>
              <a:rPr lang="en-GB" sz="2400" dirty="0" err="1"/>
              <a:t>sănătății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evalueze</a:t>
            </a:r>
            <a:r>
              <a:rPr lang="en-GB" sz="2400" dirty="0"/>
              <a:t> </a:t>
            </a:r>
            <a:r>
              <a:rPr lang="en-GB" sz="2400" dirty="0" err="1"/>
              <a:t>probabilitatea</a:t>
            </a:r>
            <a:r>
              <a:rPr lang="en-GB" sz="2400" dirty="0"/>
              <a:t> </a:t>
            </a:r>
            <a:r>
              <a:rPr lang="en-GB" sz="2400" dirty="0" err="1"/>
              <a:t>complicațiilor</a:t>
            </a:r>
            <a:r>
              <a:rPr lang="en-GB" sz="2400" dirty="0"/>
              <a:t> post-</a:t>
            </a:r>
            <a:r>
              <a:rPr lang="en-GB" sz="2400" dirty="0" err="1"/>
              <a:t>vaccinare</a:t>
            </a:r>
            <a:r>
              <a:rPr lang="en-GB" sz="2400" dirty="0"/>
              <a:t> </a:t>
            </a:r>
            <a:r>
              <a:rPr lang="en-GB" sz="2400" dirty="0" err="1"/>
              <a:t>și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ofere</a:t>
            </a:r>
            <a:r>
              <a:rPr lang="en-GB" sz="2400" dirty="0"/>
              <a:t> </a:t>
            </a:r>
            <a:r>
              <a:rPr lang="en-GB" sz="2400" dirty="0" err="1"/>
              <a:t>recomandări</a:t>
            </a:r>
            <a:r>
              <a:rPr lang="en-GB" sz="2400" dirty="0"/>
              <a:t> </a:t>
            </a:r>
            <a:r>
              <a:rPr lang="en-GB" sz="2400" dirty="0" err="1"/>
              <a:t>personalizate</a:t>
            </a:r>
            <a:r>
              <a:rPr lang="en-GB" sz="2400" dirty="0"/>
              <a:t> </a:t>
            </a:r>
            <a:r>
              <a:rPr lang="en-GB" sz="2400" dirty="0" err="1"/>
              <a:t>pentru</a:t>
            </a:r>
            <a:r>
              <a:rPr lang="en-GB" sz="2400" dirty="0"/>
              <a:t> </a:t>
            </a:r>
            <a:r>
              <a:rPr lang="en-GB" sz="2400" dirty="0" err="1"/>
              <a:t>strategiile</a:t>
            </a:r>
            <a:r>
              <a:rPr lang="en-GB" sz="2400" dirty="0"/>
              <a:t> de </a:t>
            </a:r>
            <a:r>
              <a:rPr lang="en-GB" sz="2400" dirty="0" err="1"/>
              <a:t>vaccinare</a:t>
            </a:r>
            <a:r>
              <a:rPr lang="en-GB" sz="2400" dirty="0"/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8569F7-EA86-FF53-03BE-798F525F8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145" y="1878578"/>
            <a:ext cx="3925646" cy="41618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A554CE-8DA1-2E5A-4FA4-961EB3074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745" y="5247231"/>
            <a:ext cx="3315163" cy="1171739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45E1421-04E5-DD25-3BA4-DECB1C040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857" y="-2349073"/>
            <a:ext cx="1978694" cy="22288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6798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EF23C-D06C-1F30-D62B-0A2B8637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2C01D2-1C00-0C96-81A5-E3DE54426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EED6A-860D-B918-1B01-5522C5B25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E0FCD8-10FD-1C66-E19D-E2F71A3F7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3689D5-483E-0457-334F-2A28BEB3A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11590F-1F16-A924-9E87-97C63DA8D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8F770-FF2E-24F0-4D6C-2FC9403C4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48" y="2211821"/>
            <a:ext cx="10119361" cy="4940717"/>
          </a:xfrm>
        </p:spPr>
        <p:txBody>
          <a:bodyPr anchor="ctr">
            <a:noAutofit/>
          </a:bodyPr>
          <a:lstStyle/>
          <a:p>
            <a:pPr algn="just"/>
            <a:r>
              <a:rPr lang="en-US" sz="3200" b="1" i="0" dirty="0" err="1">
                <a:effectLst/>
                <a:latin typeface="gg sans"/>
              </a:rPr>
              <a:t>Problema</a:t>
            </a:r>
            <a:r>
              <a:rPr lang="en-US" sz="3200" b="1" i="0" dirty="0">
                <a:effectLst/>
                <a:latin typeface="gg sans"/>
              </a:rPr>
              <a:t>: </a:t>
            </a:r>
            <a:r>
              <a:rPr lang="en-US" sz="3200" b="0" i="0" dirty="0" err="1">
                <a:effectLst/>
                <a:latin typeface="gg sans"/>
              </a:rPr>
              <a:t>Pacienții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și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medicii</a:t>
            </a:r>
            <a:r>
              <a:rPr lang="en-US" sz="3200" b="0" i="0" dirty="0">
                <a:effectLst/>
                <a:latin typeface="gg sans"/>
              </a:rPr>
              <a:t> au </a:t>
            </a:r>
            <a:r>
              <a:rPr lang="en-US" sz="3200" b="0" i="0" dirty="0" err="1">
                <a:effectLst/>
                <a:latin typeface="gg sans"/>
              </a:rPr>
              <a:t>dificultăți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în</a:t>
            </a:r>
            <a:r>
              <a:rPr lang="en-US" sz="3200" b="0" i="0" dirty="0">
                <a:effectLst/>
                <a:latin typeface="gg sans"/>
              </a:rPr>
              <a:t> a </a:t>
            </a:r>
            <a:r>
              <a:rPr lang="en-US" sz="3200" b="0" i="0" dirty="0" err="1">
                <a:effectLst/>
                <a:latin typeface="gg sans"/>
              </a:rPr>
              <a:t>evalua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riscurile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vaccinului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gripal</a:t>
            </a:r>
            <a:r>
              <a:rPr lang="en-US" sz="3200" b="0" i="0" dirty="0">
                <a:effectLst/>
                <a:latin typeface="gg sans"/>
              </a:rPr>
              <a:t>.</a:t>
            </a:r>
          </a:p>
          <a:p>
            <a:pPr marL="0" indent="0" algn="just">
              <a:buNone/>
            </a:pPr>
            <a:endParaRPr lang="en-US" sz="3200" b="0" i="0" dirty="0">
              <a:effectLst/>
              <a:latin typeface="gg sans"/>
            </a:endParaRPr>
          </a:p>
          <a:p>
            <a:pPr algn="just"/>
            <a:r>
              <a:rPr lang="en-US" sz="3200" b="1" i="0" dirty="0" err="1">
                <a:effectLst/>
                <a:latin typeface="gg sans"/>
              </a:rPr>
              <a:t>Soluția</a:t>
            </a:r>
            <a:r>
              <a:rPr lang="en-US" sz="3200" b="1" i="0" dirty="0">
                <a:effectLst/>
                <a:latin typeface="gg sans"/>
              </a:rPr>
              <a:t>: </a:t>
            </a:r>
            <a:r>
              <a:rPr lang="en-US" sz="3200" b="0" i="0" dirty="0" err="1">
                <a:effectLst/>
                <a:latin typeface="gg sans"/>
              </a:rPr>
              <a:t>Aplicația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noastră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analizează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riscurile</a:t>
            </a:r>
            <a:r>
              <a:rPr lang="en-US" sz="3200" b="0" i="0" dirty="0">
                <a:effectLst/>
                <a:latin typeface="gg sans"/>
              </a:rPr>
              <a:t> pe </a:t>
            </a:r>
            <a:r>
              <a:rPr lang="en-US" sz="3200" b="0" i="0" dirty="0" err="1">
                <a:effectLst/>
                <a:latin typeface="gg sans"/>
              </a:rPr>
              <a:t>baza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analizelor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medicale</a:t>
            </a:r>
            <a:r>
              <a:rPr lang="en-US" sz="3200" b="0" i="0" dirty="0">
                <a:effectLst/>
                <a:latin typeface="gg sans"/>
              </a:rPr>
              <a:t> </a:t>
            </a:r>
            <a:r>
              <a:rPr lang="en-US" sz="3200" b="0" i="0" dirty="0" err="1">
                <a:effectLst/>
                <a:latin typeface="gg sans"/>
              </a:rPr>
              <a:t>personale</a:t>
            </a:r>
            <a:r>
              <a:rPr lang="en-US" sz="3200" dirty="0">
                <a:latin typeface="gg sans"/>
              </a:rPr>
              <a:t>, </a:t>
            </a:r>
            <a:r>
              <a:rPr lang="en-US" sz="3200" dirty="0" err="1">
                <a:latin typeface="gg sans"/>
              </a:rPr>
              <a:t>oferind</a:t>
            </a:r>
            <a:r>
              <a:rPr lang="en-US" sz="3200" dirty="0">
                <a:latin typeface="gg sans"/>
              </a:rPr>
              <a:t> </a:t>
            </a:r>
            <a:r>
              <a:rPr lang="en-US" sz="3200" dirty="0" err="1">
                <a:latin typeface="gg sans"/>
              </a:rPr>
              <a:t>rezultate</a:t>
            </a:r>
            <a:r>
              <a:rPr lang="en-US" sz="3200" dirty="0">
                <a:latin typeface="gg sans"/>
              </a:rPr>
              <a:t> </a:t>
            </a:r>
            <a:r>
              <a:rPr lang="en-US" sz="3200" dirty="0" err="1">
                <a:latin typeface="gg sans"/>
              </a:rPr>
              <a:t>numerice</a:t>
            </a:r>
            <a:r>
              <a:rPr lang="en-US" sz="3200" dirty="0">
                <a:latin typeface="gg sans"/>
              </a:rPr>
              <a:t> </a:t>
            </a:r>
            <a:r>
              <a:rPr lang="en-US" sz="3200" dirty="0" err="1">
                <a:latin typeface="gg sans"/>
              </a:rPr>
              <a:t>si</a:t>
            </a:r>
            <a:r>
              <a:rPr lang="en-US" sz="3200" dirty="0">
                <a:latin typeface="gg sans"/>
              </a:rPr>
              <a:t> </a:t>
            </a:r>
            <a:r>
              <a:rPr lang="en-US" sz="3200" dirty="0" err="1">
                <a:latin typeface="gg sans"/>
              </a:rPr>
              <a:t>personalizate</a:t>
            </a:r>
            <a:r>
              <a:rPr lang="en-US" sz="3200" dirty="0">
                <a:latin typeface="gg sans"/>
              </a:rPr>
              <a:t>.</a:t>
            </a:r>
            <a:endParaRPr lang="en-GB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C16C4-9A78-00C9-26A0-8EA8DFAC7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8857" y="294538"/>
            <a:ext cx="1978694" cy="22288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9EC3700-6A2A-294D-FB53-5850DDA1D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43" y="294538"/>
            <a:ext cx="4449779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Aplicatia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FluPRINT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si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5499456-4DD5-F0DF-3BD1-79A08EF59154}"/>
              </a:ext>
            </a:extLst>
          </p:cNvPr>
          <p:cNvSpPr txBox="1">
            <a:spLocks/>
          </p:cNvSpPr>
          <p:nvPr/>
        </p:nvSpPr>
        <p:spPr>
          <a:xfrm>
            <a:off x="5065981" y="294538"/>
            <a:ext cx="4449779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solidFill>
                  <a:srgbClr val="FFFFFF"/>
                </a:solidFill>
              </a:rPr>
              <a:t>Tehnologia</a:t>
            </a:r>
            <a:endParaRPr lang="ro-RO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694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89826-7772-5E4E-6FB0-36300FBD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07FBE8-C776-EA00-C706-8BFB30A00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131C16-DD07-E538-63AD-EE0DA2FB6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0F36E0-31D5-B325-CC93-27338312E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2F8F6-ED70-59D4-B9CF-51AAFBEAF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7EB228-4E99-F980-79CF-98C6B8A91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44E29-9290-1712-CDE3-9823599E3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30" y="324781"/>
            <a:ext cx="11165300" cy="4940717"/>
          </a:xfrm>
        </p:spPr>
        <p:txBody>
          <a:bodyPr anchor="ctr">
            <a:noAutofit/>
          </a:bodyPr>
          <a:lstStyle/>
          <a:p>
            <a:pPr algn="just"/>
            <a:r>
              <a:rPr lang="en-GB" sz="2400" dirty="0"/>
              <a:t>Este un </a:t>
            </a:r>
            <a:r>
              <a:rPr lang="en-GB" sz="2400" dirty="0" err="1"/>
              <a:t>produs</a:t>
            </a:r>
            <a:r>
              <a:rPr lang="en-GB" sz="2400" dirty="0"/>
              <a:t> self-made, </a:t>
            </a:r>
            <a:r>
              <a:rPr lang="en-GB" sz="2400" dirty="0" err="1"/>
              <a:t>dezvoltat</a:t>
            </a:r>
            <a:r>
              <a:rPr lang="en-GB" sz="2400" dirty="0"/>
              <a:t> </a:t>
            </a:r>
            <a:r>
              <a:rPr lang="en-GB" sz="2400" dirty="0" err="1"/>
              <a:t>folosind</a:t>
            </a:r>
            <a:r>
              <a:rPr lang="en-GB" sz="2400" dirty="0"/>
              <a:t> </a:t>
            </a:r>
            <a:r>
              <a:rPr lang="en-GB" sz="2400" dirty="0" err="1"/>
              <a:t>doar</a:t>
            </a:r>
            <a:r>
              <a:rPr lang="en-GB" sz="2400" dirty="0"/>
              <a:t> </a:t>
            </a:r>
            <a:r>
              <a:rPr lang="en-GB" sz="2400" dirty="0" err="1"/>
              <a:t>wrapperul</a:t>
            </a:r>
            <a:r>
              <a:rPr lang="en-GB" sz="2400" dirty="0"/>
              <a:t> open-source </a:t>
            </a:r>
            <a:r>
              <a:rPr lang="en-GB" sz="2400" dirty="0" err="1"/>
              <a:t>pentru</a:t>
            </a:r>
            <a:r>
              <a:rPr lang="en-GB" sz="2400" dirty="0"/>
              <a:t> </a:t>
            </a:r>
            <a:r>
              <a:rPr lang="en-GB" sz="2400" dirty="0" err="1"/>
              <a:t>uz</a:t>
            </a:r>
            <a:r>
              <a:rPr lang="en-GB" sz="2400" dirty="0"/>
              <a:t> </a:t>
            </a:r>
            <a:r>
              <a:rPr lang="en-GB" sz="2400" dirty="0" err="1"/>
              <a:t>comercial</a:t>
            </a:r>
            <a:r>
              <a:rPr lang="en-GB" sz="2400" dirty="0"/>
              <a:t> </a:t>
            </a:r>
            <a:r>
              <a:rPr lang="en-GB" sz="2400" dirty="0" err="1"/>
              <a:t>wxPython</a:t>
            </a:r>
            <a:r>
              <a:rPr lang="en-GB" sz="2400" dirty="0"/>
              <a:t>, minim </a:t>
            </a:r>
            <a:r>
              <a:rPr lang="en-GB" sz="2400" dirty="0" err="1"/>
              <a:t>viabil</a:t>
            </a:r>
            <a:r>
              <a:rPr lang="en-GB" sz="2400" dirty="0"/>
              <a:t> care nu </a:t>
            </a:r>
            <a:r>
              <a:rPr lang="en-GB" sz="2400" dirty="0" err="1"/>
              <a:t>necesita</a:t>
            </a:r>
            <a:r>
              <a:rPr lang="en-GB" sz="2400" dirty="0"/>
              <a:t> </a:t>
            </a:r>
            <a:r>
              <a:rPr lang="en-GB" sz="2400" dirty="0" err="1"/>
              <a:t>accesul</a:t>
            </a:r>
            <a:r>
              <a:rPr lang="en-GB" sz="2400" dirty="0"/>
              <a:t> la internet, </a:t>
            </a:r>
            <a:r>
              <a:rPr lang="en-GB" sz="2400" dirty="0" err="1"/>
              <a:t>intuitiv</a:t>
            </a:r>
            <a:r>
              <a:rPr lang="en-GB" sz="2400" dirty="0"/>
              <a:t> </a:t>
            </a:r>
            <a:r>
              <a:rPr lang="en-GB" sz="2400" dirty="0" err="1"/>
              <a:t>si</a:t>
            </a:r>
            <a:r>
              <a:rPr lang="en-GB" sz="2400" dirty="0"/>
              <a:t> </a:t>
            </a:r>
            <a:r>
              <a:rPr lang="en-GB" sz="2400" dirty="0" err="1"/>
              <a:t>usor</a:t>
            </a:r>
            <a:r>
              <a:rPr lang="en-GB" sz="2400" dirty="0"/>
              <a:t> de </a:t>
            </a:r>
            <a:r>
              <a:rPr lang="en-GB" sz="2400" dirty="0" err="1"/>
              <a:t>folosit</a:t>
            </a:r>
            <a:r>
              <a:rPr lang="en-GB" sz="2400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9DDC5F-2BF9-1966-7109-27BC4DF1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945725"/>
            <a:ext cx="3517498" cy="3197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3FD695-B3B9-5C86-73FC-AB48DB164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736" y="3704886"/>
            <a:ext cx="3445743" cy="28585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A43B6B-A18D-B813-DA21-D0FBB8AB03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696"/>
          <a:stretch/>
        </p:blipFill>
        <p:spPr>
          <a:xfrm>
            <a:off x="8115299" y="3802179"/>
            <a:ext cx="3955218" cy="225957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00E277AA-5C1A-8FDF-495F-060D18BEE884}"/>
              </a:ext>
            </a:extLst>
          </p:cNvPr>
          <p:cNvSpPr/>
          <p:nvPr/>
        </p:nvSpPr>
        <p:spPr>
          <a:xfrm>
            <a:off x="3517495" y="4945724"/>
            <a:ext cx="429949" cy="3197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ADFD021-F4AD-5B53-CEAC-BAD30C7BD2DB}"/>
              </a:ext>
            </a:extLst>
          </p:cNvPr>
          <p:cNvSpPr/>
          <p:nvPr/>
        </p:nvSpPr>
        <p:spPr>
          <a:xfrm>
            <a:off x="7596394" y="4945724"/>
            <a:ext cx="421416" cy="3197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6B2DF6E3-7ED0-7B53-4732-B9296DAE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43" y="294538"/>
            <a:ext cx="4449779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Aplicatia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FluPRINT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si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D93261BE-D329-6586-AF34-CCD53FE4086B}"/>
              </a:ext>
            </a:extLst>
          </p:cNvPr>
          <p:cNvSpPr txBox="1">
            <a:spLocks/>
          </p:cNvSpPr>
          <p:nvPr/>
        </p:nvSpPr>
        <p:spPr>
          <a:xfrm>
            <a:off x="5065981" y="294538"/>
            <a:ext cx="4449779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solidFill>
                  <a:srgbClr val="FFFFFF"/>
                </a:solidFill>
              </a:rPr>
              <a:t>Tehnologia</a:t>
            </a:r>
            <a:endParaRPr lang="ro-RO" sz="4000" dirty="0">
              <a:solidFill>
                <a:srgbClr val="FFFFFF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81A5705-9C04-2B3B-D6C3-0F1E92457F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8857" y="-2349073"/>
            <a:ext cx="1978694" cy="22288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403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57BF8-855C-A1AE-B555-856C4998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BFB472-086E-18DC-FD21-5040EC2DB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7AE70-C43F-255E-9F90-B82AD9592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BDEFF-8AEF-9437-E7DE-AD13C2FE5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E55926-D3FA-CFE3-2FD0-E9748C26A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18D16E-1233-1EB7-3FC5-52A2B36F6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1A2975-B186-F3CE-2BDB-2F3203B5F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43" y="294538"/>
            <a:ext cx="4449779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Aplicatia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FluPRINT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si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91F59-7D49-0198-3ED2-634933641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973" y="1590741"/>
            <a:ext cx="7551458" cy="4940717"/>
          </a:xfrm>
        </p:spPr>
        <p:txBody>
          <a:bodyPr anchor="ctr">
            <a:noAutofit/>
          </a:bodyPr>
          <a:lstStyle/>
          <a:p>
            <a:pPr algn="just"/>
            <a:r>
              <a:rPr lang="en-GB" sz="2400" dirty="0" err="1"/>
              <a:t>Contine</a:t>
            </a:r>
            <a:r>
              <a:rPr lang="en-GB" sz="2400" dirty="0"/>
              <a:t> </a:t>
            </a:r>
            <a:r>
              <a:rPr lang="en-GB" sz="2400" dirty="0" err="1"/>
              <a:t>trei</a:t>
            </a:r>
            <a:r>
              <a:rPr lang="en-GB" sz="2400" dirty="0"/>
              <a:t> module:</a:t>
            </a:r>
          </a:p>
          <a:p>
            <a:pPr algn="just"/>
            <a:endParaRPr lang="en-GB" sz="2400" dirty="0"/>
          </a:p>
          <a:p>
            <a:pPr lvl="1" algn="just"/>
            <a:r>
              <a:rPr lang="en-GB" sz="2000" b="1" dirty="0"/>
              <a:t>PREDICT:</a:t>
            </a:r>
            <a:r>
              <a:rPr lang="en-GB" sz="2000" dirty="0"/>
              <a:t> </a:t>
            </a:r>
            <a:r>
              <a:rPr lang="en-GB" sz="2000" dirty="0" err="1"/>
              <a:t>Primeste</a:t>
            </a:r>
            <a:r>
              <a:rPr lang="en-GB" sz="2000" dirty="0"/>
              <a:t> </a:t>
            </a:r>
            <a:r>
              <a:rPr lang="en-GB" sz="2000" dirty="0" err="1"/>
              <a:t>analiza</a:t>
            </a:r>
            <a:r>
              <a:rPr lang="en-GB" sz="2000" dirty="0"/>
              <a:t> </a:t>
            </a:r>
            <a:r>
              <a:rPr lang="en-GB" sz="2000" dirty="0" err="1"/>
              <a:t>medicala</a:t>
            </a:r>
            <a:r>
              <a:rPr lang="en-GB" sz="2000" dirty="0"/>
              <a:t> plus </a:t>
            </a:r>
            <a:r>
              <a:rPr lang="en-GB" sz="2000" dirty="0" err="1"/>
              <a:t>alte</a:t>
            </a:r>
            <a:r>
              <a:rPr lang="en-GB" sz="2000" dirty="0"/>
              <a:t> date ale </a:t>
            </a:r>
            <a:r>
              <a:rPr lang="en-GB" sz="2000" dirty="0" err="1"/>
              <a:t>pacientului</a:t>
            </a:r>
            <a:r>
              <a:rPr lang="en-GB" sz="2000" dirty="0"/>
              <a:t> </a:t>
            </a:r>
            <a:r>
              <a:rPr lang="en-GB" sz="2000" dirty="0" err="1"/>
              <a:t>si</a:t>
            </a:r>
            <a:r>
              <a:rPr lang="en-GB" sz="2000" dirty="0"/>
              <a:t> </a:t>
            </a:r>
            <a:r>
              <a:rPr lang="en-GB" sz="2000" dirty="0" err="1"/>
              <a:t>calculeaza</a:t>
            </a:r>
            <a:r>
              <a:rPr lang="en-GB" sz="2000" dirty="0"/>
              <a:t> </a:t>
            </a:r>
            <a:r>
              <a:rPr lang="en-GB" sz="2000" dirty="0" err="1"/>
              <a:t>riscul</a:t>
            </a:r>
            <a:r>
              <a:rPr lang="en-GB" sz="2000" dirty="0"/>
              <a:t> de </a:t>
            </a:r>
            <a:r>
              <a:rPr lang="en-GB" sz="2000" dirty="0" err="1"/>
              <a:t>reactii</a:t>
            </a:r>
            <a:r>
              <a:rPr lang="en-GB" sz="2000" dirty="0"/>
              <a:t> adverse la </a:t>
            </a:r>
            <a:r>
              <a:rPr lang="en-GB" sz="2000" dirty="0" err="1"/>
              <a:t>vaccinul</a:t>
            </a:r>
            <a:r>
              <a:rPr lang="en-GB" sz="2000" dirty="0"/>
              <a:t> </a:t>
            </a:r>
            <a:r>
              <a:rPr lang="en-GB" sz="2000" dirty="0" err="1"/>
              <a:t>antigripal</a:t>
            </a:r>
            <a:r>
              <a:rPr lang="en-GB" sz="2000" dirty="0"/>
              <a:t>.</a:t>
            </a:r>
          </a:p>
          <a:p>
            <a:pPr lvl="1" algn="just"/>
            <a:endParaRPr lang="en-GB" sz="2000" dirty="0"/>
          </a:p>
          <a:p>
            <a:pPr lvl="1" algn="just"/>
            <a:r>
              <a:rPr lang="en-GB" sz="2000" b="1" dirty="0"/>
              <a:t>HISTORY:</a:t>
            </a:r>
            <a:r>
              <a:rPr lang="en-GB" sz="2000" dirty="0"/>
              <a:t> Un </a:t>
            </a:r>
            <a:r>
              <a:rPr lang="en-GB" sz="2000" dirty="0" err="1"/>
              <a:t>tabel</a:t>
            </a:r>
            <a:r>
              <a:rPr lang="en-GB" sz="2000" dirty="0"/>
              <a:t> cu </a:t>
            </a:r>
            <a:r>
              <a:rPr lang="en-GB" sz="2000" dirty="0" err="1"/>
              <a:t>toate</a:t>
            </a:r>
            <a:r>
              <a:rPr lang="en-GB" sz="2000" dirty="0"/>
              <a:t> </a:t>
            </a:r>
            <a:r>
              <a:rPr lang="en-GB" sz="2000" dirty="0" err="1"/>
              <a:t>analizele</a:t>
            </a:r>
            <a:r>
              <a:rPr lang="en-GB" sz="2000" dirty="0"/>
              <a:t> </a:t>
            </a:r>
            <a:r>
              <a:rPr lang="en-GB" sz="2000" dirty="0" err="1"/>
              <a:t>facute</a:t>
            </a:r>
            <a:r>
              <a:rPr lang="en-GB" sz="2000" dirty="0"/>
              <a:t> </a:t>
            </a:r>
            <a:r>
              <a:rPr lang="en-GB" sz="2000" dirty="0" err="1"/>
              <a:t>pana</a:t>
            </a:r>
            <a:r>
              <a:rPr lang="en-GB" sz="2000" dirty="0"/>
              <a:t> </a:t>
            </a:r>
            <a:r>
              <a:rPr lang="en-GB" sz="2000" dirty="0" err="1"/>
              <a:t>acum</a:t>
            </a:r>
            <a:r>
              <a:rPr lang="en-GB" sz="2000" dirty="0"/>
              <a:t>. </a:t>
            </a:r>
            <a:r>
              <a:rPr lang="en-GB" sz="2000" dirty="0" err="1"/>
              <a:t>Pagina</a:t>
            </a:r>
            <a:r>
              <a:rPr lang="en-GB" sz="2000" dirty="0"/>
              <a:t> </a:t>
            </a:r>
            <a:r>
              <a:rPr lang="en-GB" sz="2000" dirty="0" err="1"/>
              <a:t>dispune</a:t>
            </a:r>
            <a:r>
              <a:rPr lang="en-GB" sz="2000" dirty="0"/>
              <a:t> de o bara de </a:t>
            </a:r>
            <a:r>
              <a:rPr lang="en-GB" sz="2000" dirty="0" err="1"/>
              <a:t>cautare</a:t>
            </a:r>
            <a:r>
              <a:rPr lang="en-GB" sz="2000" dirty="0"/>
              <a:t> </a:t>
            </a:r>
            <a:r>
              <a:rPr lang="en-GB" sz="2000" dirty="0" err="1"/>
              <a:t>si</a:t>
            </a:r>
            <a:r>
              <a:rPr lang="en-GB" sz="2000" dirty="0"/>
              <a:t> un </a:t>
            </a:r>
            <a:r>
              <a:rPr lang="en-GB" sz="2000" dirty="0" err="1"/>
              <a:t>buton</a:t>
            </a:r>
            <a:r>
              <a:rPr lang="en-GB" sz="2000" dirty="0"/>
              <a:t> de </a:t>
            </a:r>
            <a:r>
              <a:rPr lang="en-GB" sz="2000" dirty="0" err="1"/>
              <a:t>stergere</a:t>
            </a:r>
            <a:r>
              <a:rPr lang="en-GB" sz="2000" dirty="0"/>
              <a:t>.</a:t>
            </a:r>
          </a:p>
          <a:p>
            <a:pPr lvl="1" algn="just"/>
            <a:endParaRPr lang="en-GB" sz="2000" dirty="0"/>
          </a:p>
          <a:p>
            <a:pPr lvl="1" algn="just"/>
            <a:r>
              <a:rPr lang="en-GB" sz="2000" b="1" dirty="0"/>
              <a:t>SETTINGS: </a:t>
            </a:r>
            <a:r>
              <a:rPr lang="en-GB" sz="2000" dirty="0" err="1"/>
              <a:t>Momentan</a:t>
            </a:r>
            <a:r>
              <a:rPr lang="en-GB" sz="2000" dirty="0"/>
              <a:t> </a:t>
            </a:r>
            <a:r>
              <a:rPr lang="en-GB" sz="2000" dirty="0" err="1"/>
              <a:t>dispune</a:t>
            </a:r>
            <a:r>
              <a:rPr lang="en-GB" sz="2000" dirty="0"/>
              <a:t> </a:t>
            </a:r>
            <a:r>
              <a:rPr lang="en-GB" sz="2000" dirty="0" err="1"/>
              <a:t>doar</a:t>
            </a:r>
            <a:r>
              <a:rPr lang="en-GB" sz="2000" dirty="0"/>
              <a:t> de </a:t>
            </a:r>
            <a:r>
              <a:rPr lang="en-GB" sz="2000" dirty="0" err="1"/>
              <a:t>posibilitatea</a:t>
            </a:r>
            <a:r>
              <a:rPr lang="en-GB" sz="2000" dirty="0"/>
              <a:t> </a:t>
            </a:r>
            <a:r>
              <a:rPr lang="en-GB" sz="2000" dirty="0" err="1"/>
              <a:t>personalizarii</a:t>
            </a:r>
            <a:r>
              <a:rPr lang="en-GB" sz="2000" dirty="0"/>
              <a:t> </a:t>
            </a:r>
            <a:r>
              <a:rPr lang="en-GB" sz="2000" dirty="0" err="1"/>
              <a:t>imaginii</a:t>
            </a:r>
            <a:r>
              <a:rPr lang="en-GB" sz="2000" dirty="0"/>
              <a:t> de fundal, </a:t>
            </a:r>
            <a:r>
              <a:rPr lang="en-GB" sz="2000" dirty="0" err="1"/>
              <a:t>dar</a:t>
            </a:r>
            <a:r>
              <a:rPr lang="en-GB" sz="2000" dirty="0"/>
              <a:t> se </a:t>
            </a:r>
            <a:r>
              <a:rPr lang="en-GB" sz="2000" dirty="0" err="1"/>
              <a:t>poate</a:t>
            </a:r>
            <a:r>
              <a:rPr lang="en-GB" sz="2000" dirty="0"/>
              <a:t> </a:t>
            </a:r>
            <a:r>
              <a:rPr lang="en-GB" sz="2000" dirty="0" err="1"/>
              <a:t>folosi</a:t>
            </a:r>
            <a:r>
              <a:rPr lang="en-GB" sz="2000" dirty="0"/>
              <a:t> in </a:t>
            </a:r>
            <a:r>
              <a:rPr lang="en-GB" sz="2000" dirty="0" err="1"/>
              <a:t>viitor</a:t>
            </a:r>
            <a:r>
              <a:rPr lang="en-GB" sz="2000" dirty="0"/>
              <a:t> </a:t>
            </a:r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introducerea</a:t>
            </a:r>
            <a:r>
              <a:rPr lang="en-GB" sz="2000" dirty="0"/>
              <a:t> </a:t>
            </a:r>
            <a:r>
              <a:rPr lang="en-GB" sz="2000" dirty="0" err="1"/>
              <a:t>altor</a:t>
            </a:r>
            <a:r>
              <a:rPr lang="en-GB" sz="2000" dirty="0"/>
              <a:t> </a:t>
            </a:r>
            <a:r>
              <a:rPr lang="en-GB" sz="2000" dirty="0" err="1"/>
              <a:t>setari</a:t>
            </a:r>
            <a:r>
              <a:rPr lang="en-GB" sz="2000" dirty="0"/>
              <a:t>.</a:t>
            </a:r>
            <a:endParaRPr lang="en-GB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E2344-9672-6D05-D69C-3ED9F29A8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145" y="2393897"/>
            <a:ext cx="3439005" cy="36676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C07F6DE-B3D3-B5A9-B7A0-4847C620266B}"/>
              </a:ext>
            </a:extLst>
          </p:cNvPr>
          <p:cNvSpPr txBox="1">
            <a:spLocks/>
          </p:cNvSpPr>
          <p:nvPr/>
        </p:nvSpPr>
        <p:spPr>
          <a:xfrm>
            <a:off x="5065981" y="294538"/>
            <a:ext cx="4449779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>
                <a:solidFill>
                  <a:srgbClr val="FFFFFF"/>
                </a:solidFill>
              </a:rPr>
              <a:t>Tehnologia</a:t>
            </a:r>
            <a:endParaRPr lang="ro-RO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020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8DD12B-B972-B6A5-8D3F-6E470DEC5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F48116A-BFA0-F76B-152B-EDEF45583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40995E-70CB-919A-B792-8F97CAE79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2756A2-1302-BF47-EDE4-A612CDA6E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F45080-C719-7C0F-5922-9B0B1CCD6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4D4CC1-1E20-AA89-CC2C-F57C2CBA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B8D959-9536-A233-CC13-AEC202C13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43" y="294538"/>
            <a:ext cx="4449779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Aplicatia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FluPRINT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si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63DDB8-2167-9473-3923-D2AF2E59F19C}"/>
              </a:ext>
            </a:extLst>
          </p:cNvPr>
          <p:cNvSpPr txBox="1">
            <a:spLocks/>
          </p:cNvSpPr>
          <p:nvPr/>
        </p:nvSpPr>
        <p:spPr>
          <a:xfrm>
            <a:off x="5065981" y="294538"/>
            <a:ext cx="4449779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Business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4D094E2-F9F7-A012-55AD-C78C96A26B94}"/>
              </a:ext>
            </a:extLst>
          </p:cNvPr>
          <p:cNvSpPr txBox="1">
            <a:spLocks/>
          </p:cNvSpPr>
          <p:nvPr/>
        </p:nvSpPr>
        <p:spPr>
          <a:xfrm>
            <a:off x="116259" y="1911804"/>
            <a:ext cx="5786599" cy="494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2400" dirty="0" err="1"/>
              <a:t>Oportunitati</a:t>
            </a:r>
            <a:r>
              <a:rPr lang="en-GB" sz="2400" dirty="0"/>
              <a:t> pe </a:t>
            </a:r>
            <a:r>
              <a:rPr lang="en-GB" sz="2400" dirty="0" err="1"/>
              <a:t>piata</a:t>
            </a:r>
            <a:r>
              <a:rPr lang="en-GB" sz="2400" dirty="0"/>
              <a:t>:</a:t>
            </a:r>
          </a:p>
          <a:p>
            <a:pPr algn="just"/>
            <a:endParaRPr lang="en-GB" sz="2400" dirty="0"/>
          </a:p>
          <a:p>
            <a:pPr lvl="1" algn="just"/>
            <a:r>
              <a:rPr lang="en-GB" sz="2000" dirty="0" err="1"/>
              <a:t>Cresterea</a:t>
            </a:r>
            <a:r>
              <a:rPr lang="en-GB" sz="2000" dirty="0"/>
              <a:t> </a:t>
            </a:r>
            <a:r>
              <a:rPr lang="en-GB" sz="2000" dirty="0" err="1"/>
              <a:t>cererii</a:t>
            </a:r>
            <a:r>
              <a:rPr lang="en-GB" sz="2000" dirty="0"/>
              <a:t> </a:t>
            </a:r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solutii</a:t>
            </a:r>
            <a:r>
              <a:rPr lang="en-GB" sz="2000" dirty="0"/>
              <a:t> </a:t>
            </a:r>
            <a:r>
              <a:rPr lang="en-GB" sz="2000" dirty="0" err="1"/>
              <a:t>personalizate</a:t>
            </a:r>
            <a:r>
              <a:rPr lang="en-GB" sz="2000" dirty="0"/>
              <a:t> in </a:t>
            </a:r>
            <a:r>
              <a:rPr lang="en-GB" sz="2000" dirty="0" err="1"/>
              <a:t>sanatate</a:t>
            </a:r>
            <a:endParaRPr lang="en-GB" sz="2000" dirty="0"/>
          </a:p>
          <a:p>
            <a:pPr lvl="1" algn="just"/>
            <a:endParaRPr lang="en-GB" sz="2000" dirty="0"/>
          </a:p>
          <a:p>
            <a:pPr lvl="1" algn="just"/>
            <a:r>
              <a:rPr lang="en-GB" sz="2000" dirty="0" err="1"/>
              <a:t>Constientizarea</a:t>
            </a:r>
            <a:r>
              <a:rPr lang="en-GB" sz="2000" dirty="0"/>
              <a:t> </a:t>
            </a:r>
            <a:r>
              <a:rPr lang="en-GB" sz="2000" dirty="0" err="1"/>
              <a:t>riscurilor</a:t>
            </a:r>
            <a:r>
              <a:rPr lang="en-GB" sz="2000" dirty="0"/>
              <a:t> </a:t>
            </a:r>
            <a:r>
              <a:rPr lang="en-GB" sz="2000" dirty="0" err="1"/>
              <a:t>vaccinarii</a:t>
            </a:r>
            <a:r>
              <a:rPr lang="en-GB" sz="2000" dirty="0"/>
              <a:t> </a:t>
            </a:r>
            <a:r>
              <a:rPr lang="en-GB" sz="2000" dirty="0" err="1"/>
              <a:t>si</a:t>
            </a:r>
            <a:r>
              <a:rPr lang="en-GB" sz="2000" dirty="0"/>
              <a:t> </a:t>
            </a:r>
            <a:r>
              <a:rPr lang="en-GB" sz="2000" dirty="0" err="1"/>
              <a:t>necesitatea</a:t>
            </a:r>
            <a:r>
              <a:rPr lang="en-GB" sz="2000" dirty="0"/>
              <a:t> </a:t>
            </a:r>
            <a:r>
              <a:rPr lang="en-GB" sz="2000" dirty="0" err="1"/>
              <a:t>unor</a:t>
            </a:r>
            <a:r>
              <a:rPr lang="en-GB" sz="2000" dirty="0"/>
              <a:t> </a:t>
            </a:r>
            <a:r>
              <a:rPr lang="en-GB" sz="2000" dirty="0" err="1"/>
              <a:t>decizii</a:t>
            </a:r>
            <a:r>
              <a:rPr lang="en-GB" sz="2000" dirty="0"/>
              <a:t> </a:t>
            </a:r>
            <a:r>
              <a:rPr lang="en-GB" sz="2000" dirty="0" err="1"/>
              <a:t>informate</a:t>
            </a:r>
            <a:endParaRPr lang="en-GB" sz="2000" dirty="0"/>
          </a:p>
          <a:p>
            <a:pPr lvl="1" algn="just"/>
            <a:endParaRPr lang="en-GB" sz="2000" dirty="0"/>
          </a:p>
          <a:p>
            <a:pPr lvl="1" algn="just"/>
            <a:r>
              <a:rPr lang="en-GB" sz="2000" dirty="0" err="1"/>
              <a:t>Piata</a:t>
            </a:r>
            <a:r>
              <a:rPr lang="en-GB" sz="2000" dirty="0"/>
              <a:t> </a:t>
            </a:r>
            <a:r>
              <a:rPr lang="en-GB" sz="2000" dirty="0" err="1"/>
              <a:t>globala</a:t>
            </a:r>
            <a:r>
              <a:rPr lang="en-GB" sz="2000" dirty="0"/>
              <a:t> a </a:t>
            </a:r>
            <a:r>
              <a:rPr lang="en-GB" sz="2000" dirty="0" err="1"/>
              <a:t>sanatatii</a:t>
            </a:r>
            <a:r>
              <a:rPr lang="en-GB" sz="2000" dirty="0"/>
              <a:t> </a:t>
            </a:r>
            <a:r>
              <a:rPr lang="en-GB" sz="2000" dirty="0" err="1"/>
              <a:t>digitale</a:t>
            </a:r>
            <a:r>
              <a:rPr lang="en-GB" sz="2000" dirty="0"/>
              <a:t> </a:t>
            </a:r>
            <a:r>
              <a:rPr lang="en-GB" sz="2000" dirty="0" err="1"/>
              <a:t>este</a:t>
            </a:r>
            <a:r>
              <a:rPr lang="en-GB" sz="2000" dirty="0"/>
              <a:t> </a:t>
            </a:r>
            <a:r>
              <a:rPr lang="en-GB" sz="2000" dirty="0" err="1"/>
              <a:t>estimata</a:t>
            </a:r>
            <a:r>
              <a:rPr lang="en-GB" sz="2000" dirty="0"/>
              <a:t> la 480 de </a:t>
            </a:r>
            <a:r>
              <a:rPr lang="en-GB" sz="2000" dirty="0" err="1"/>
              <a:t>miliarde</a:t>
            </a:r>
            <a:r>
              <a:rPr lang="en-GB" sz="2000" dirty="0"/>
              <a:t> de </a:t>
            </a:r>
            <a:r>
              <a:rPr lang="en-GB" sz="2000" dirty="0" err="1"/>
              <a:t>dolari</a:t>
            </a:r>
            <a:r>
              <a:rPr lang="en-GB" sz="2000" dirty="0"/>
              <a:t> </a:t>
            </a:r>
            <a:r>
              <a:rPr lang="en-GB" sz="2000" dirty="0" err="1"/>
              <a:t>si</a:t>
            </a:r>
            <a:r>
              <a:rPr lang="en-GB" sz="2000" dirty="0"/>
              <a:t> </a:t>
            </a:r>
            <a:r>
              <a:rPr lang="en-GB" sz="2000" dirty="0" err="1"/>
              <a:t>creste</a:t>
            </a:r>
            <a:r>
              <a:rPr lang="en-GB" sz="2000" dirty="0"/>
              <a:t> cu o rata </a:t>
            </a:r>
            <a:r>
              <a:rPr lang="en-GB" sz="2000" dirty="0" err="1"/>
              <a:t>anuala</a:t>
            </a:r>
            <a:r>
              <a:rPr lang="en-GB" sz="2000" dirty="0"/>
              <a:t> </a:t>
            </a:r>
            <a:r>
              <a:rPr lang="en-GB" sz="2000" dirty="0" err="1"/>
              <a:t>compusa</a:t>
            </a:r>
            <a:r>
              <a:rPr lang="en-GB" sz="2000" dirty="0"/>
              <a:t> de 26%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57CC7A-F7A8-FB0E-376F-0F2D541FD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946" y="2520246"/>
            <a:ext cx="5578041" cy="3723831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293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EBD43-D879-111A-D8FA-A96B8BFC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112536-2667-4612-2858-795A86A2A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4BC2A4-4B4C-9F82-468F-99245B03A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48962-9512-6531-A005-8DB9535B3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E56075-7E5B-8A9E-C654-3A30F1689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3185D4-EA38-728F-FD2C-D62C1BA3F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BF7298-4FFA-F1B9-D9D5-F163B378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43" y="294538"/>
            <a:ext cx="4449779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Aplicatia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FluPRINT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si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4EA33C-DE11-DFCA-E3CC-A7BAE99AE091}"/>
              </a:ext>
            </a:extLst>
          </p:cNvPr>
          <p:cNvSpPr txBox="1">
            <a:spLocks/>
          </p:cNvSpPr>
          <p:nvPr/>
        </p:nvSpPr>
        <p:spPr>
          <a:xfrm>
            <a:off x="5065981" y="294538"/>
            <a:ext cx="4449779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Business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DE6FDF-306E-F7A6-51EA-815FB65E9CB0}"/>
              </a:ext>
            </a:extLst>
          </p:cNvPr>
          <p:cNvSpPr txBox="1">
            <a:spLocks/>
          </p:cNvSpPr>
          <p:nvPr/>
        </p:nvSpPr>
        <p:spPr>
          <a:xfrm>
            <a:off x="201473" y="1759515"/>
            <a:ext cx="11432230" cy="494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2400" dirty="0" err="1"/>
              <a:t>Nevoile</a:t>
            </a:r>
            <a:r>
              <a:rPr lang="en-GB" sz="2400" dirty="0"/>
              <a:t> </a:t>
            </a:r>
            <a:r>
              <a:rPr lang="en-GB" sz="2400" dirty="0" err="1"/>
              <a:t>adresate</a:t>
            </a:r>
            <a:r>
              <a:rPr lang="en-GB" sz="2400" dirty="0"/>
              <a:t>:</a:t>
            </a:r>
          </a:p>
          <a:p>
            <a:pPr algn="just"/>
            <a:endParaRPr lang="en-GB" sz="2400" dirty="0"/>
          </a:p>
          <a:p>
            <a:pPr lvl="1" algn="just"/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medici</a:t>
            </a:r>
            <a:endParaRPr lang="en-GB" sz="2000" dirty="0"/>
          </a:p>
          <a:p>
            <a:pPr lvl="2" algn="just"/>
            <a:r>
              <a:rPr lang="en-GB" sz="1600" dirty="0" err="1"/>
              <a:t>Timp</a:t>
            </a:r>
            <a:r>
              <a:rPr lang="en-GB" sz="1600" dirty="0"/>
              <a:t> </a:t>
            </a:r>
            <a:r>
              <a:rPr lang="en-GB" sz="1600" dirty="0" err="1"/>
              <a:t>redus</a:t>
            </a:r>
            <a:r>
              <a:rPr lang="en-GB" sz="1600" dirty="0"/>
              <a:t> </a:t>
            </a:r>
            <a:r>
              <a:rPr lang="en-GB" sz="1600" dirty="0" err="1"/>
              <a:t>pentru</a:t>
            </a:r>
            <a:r>
              <a:rPr lang="en-GB" sz="1600" dirty="0"/>
              <a:t> </a:t>
            </a:r>
            <a:r>
              <a:rPr lang="en-GB" sz="1600" dirty="0" err="1"/>
              <a:t>evaluarea</a:t>
            </a:r>
            <a:r>
              <a:rPr lang="en-GB" sz="1600" dirty="0"/>
              <a:t> </a:t>
            </a:r>
            <a:r>
              <a:rPr lang="en-GB" sz="1600" dirty="0" err="1"/>
              <a:t>riscurilor</a:t>
            </a:r>
            <a:endParaRPr lang="en-GB" sz="1600" dirty="0"/>
          </a:p>
          <a:p>
            <a:pPr lvl="2" algn="just"/>
            <a:r>
              <a:rPr lang="en-GB" sz="1600" dirty="0" err="1"/>
              <a:t>Necesitatea</a:t>
            </a:r>
            <a:r>
              <a:rPr lang="en-GB" sz="1600" dirty="0"/>
              <a:t> </a:t>
            </a:r>
            <a:r>
              <a:rPr lang="en-GB" sz="1600" dirty="0" err="1"/>
              <a:t>unei</a:t>
            </a:r>
            <a:r>
              <a:rPr lang="en-GB" sz="1600" dirty="0"/>
              <a:t> </a:t>
            </a:r>
            <a:r>
              <a:rPr lang="en-GB" sz="1600" dirty="0" err="1"/>
              <a:t>solutii</a:t>
            </a:r>
            <a:r>
              <a:rPr lang="en-GB" sz="1600" dirty="0"/>
              <a:t> integrate </a:t>
            </a:r>
            <a:r>
              <a:rPr lang="en-GB" sz="1600" dirty="0" err="1"/>
              <a:t>si</a:t>
            </a:r>
            <a:r>
              <a:rPr lang="en-GB" sz="1600" dirty="0"/>
              <a:t> </a:t>
            </a:r>
            <a:r>
              <a:rPr lang="en-GB" sz="1600" dirty="0" err="1"/>
              <a:t>rapide</a:t>
            </a:r>
            <a:endParaRPr lang="en-GB" sz="1600" dirty="0"/>
          </a:p>
          <a:p>
            <a:pPr marL="914400" lvl="2" indent="0" algn="just">
              <a:buNone/>
            </a:pPr>
            <a:endParaRPr lang="en-GB" sz="1600" dirty="0"/>
          </a:p>
          <a:p>
            <a:pPr lvl="1" algn="just"/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pacienti</a:t>
            </a:r>
            <a:endParaRPr lang="en-GB" sz="2000" dirty="0"/>
          </a:p>
          <a:p>
            <a:pPr lvl="2" algn="just"/>
            <a:r>
              <a:rPr lang="en-GB" sz="1600" dirty="0" err="1"/>
              <a:t>Informatii</a:t>
            </a:r>
            <a:r>
              <a:rPr lang="en-GB" sz="1600" dirty="0"/>
              <a:t> </a:t>
            </a:r>
            <a:r>
              <a:rPr lang="en-GB" sz="1600" dirty="0" err="1"/>
              <a:t>clare</a:t>
            </a:r>
            <a:r>
              <a:rPr lang="en-GB" sz="1600" dirty="0"/>
              <a:t> </a:t>
            </a:r>
            <a:r>
              <a:rPr lang="en-GB" sz="1600" dirty="0" err="1"/>
              <a:t>si</a:t>
            </a:r>
            <a:r>
              <a:rPr lang="en-GB" sz="1600" dirty="0"/>
              <a:t> </a:t>
            </a:r>
            <a:r>
              <a:rPr lang="en-GB" sz="1600" dirty="0" err="1"/>
              <a:t>personalizate</a:t>
            </a:r>
            <a:endParaRPr lang="en-GB" sz="1600" dirty="0"/>
          </a:p>
          <a:p>
            <a:pPr lvl="2" algn="just"/>
            <a:r>
              <a:rPr lang="en-GB" sz="1600" dirty="0" err="1"/>
              <a:t>Siguranta</a:t>
            </a:r>
            <a:r>
              <a:rPr lang="en-GB" sz="1600" dirty="0"/>
              <a:t> in </a:t>
            </a:r>
            <a:r>
              <a:rPr lang="en-GB" sz="1600" dirty="0" err="1"/>
              <a:t>deciziile</a:t>
            </a:r>
            <a:r>
              <a:rPr lang="en-GB" sz="1600" dirty="0"/>
              <a:t> legate de </a:t>
            </a:r>
            <a:r>
              <a:rPr lang="en-GB" sz="1600" dirty="0" err="1"/>
              <a:t>sanatate</a:t>
            </a:r>
            <a:endParaRPr lang="en-GB" sz="1600" dirty="0"/>
          </a:p>
          <a:p>
            <a:pPr marL="914400" lvl="2" indent="0" algn="just">
              <a:buNone/>
            </a:pPr>
            <a:endParaRPr lang="en-GB" sz="1200" dirty="0"/>
          </a:p>
          <a:p>
            <a:pPr lvl="1" algn="just"/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sistemul</a:t>
            </a:r>
            <a:r>
              <a:rPr lang="en-GB" sz="2000" dirty="0"/>
              <a:t> de </a:t>
            </a:r>
            <a:r>
              <a:rPr lang="en-GB" sz="2000" dirty="0" err="1"/>
              <a:t>sanatate</a:t>
            </a:r>
            <a:endParaRPr lang="en-GB" sz="2000" dirty="0"/>
          </a:p>
          <a:p>
            <a:pPr lvl="2" algn="just"/>
            <a:r>
              <a:rPr lang="en-GB" sz="1600" dirty="0" err="1"/>
              <a:t>Reducerea</a:t>
            </a:r>
            <a:r>
              <a:rPr lang="en-GB" sz="1600" dirty="0"/>
              <a:t> </a:t>
            </a:r>
            <a:r>
              <a:rPr lang="en-GB" sz="1600" dirty="0" err="1"/>
              <a:t>cazurilor</a:t>
            </a:r>
            <a:r>
              <a:rPr lang="en-GB" sz="1600" dirty="0"/>
              <a:t> de </a:t>
            </a:r>
            <a:r>
              <a:rPr lang="en-GB" sz="1600" dirty="0" err="1"/>
              <a:t>reactii</a:t>
            </a:r>
            <a:r>
              <a:rPr lang="en-GB" sz="1600" dirty="0"/>
              <a:t> adverse </a:t>
            </a:r>
            <a:r>
              <a:rPr lang="en-GB" sz="1600" dirty="0" err="1"/>
              <a:t>neprevazute</a:t>
            </a:r>
            <a:endParaRPr lang="en-GB" sz="1600" dirty="0"/>
          </a:p>
          <a:p>
            <a:pPr lvl="2" algn="just"/>
            <a:r>
              <a:rPr lang="en-GB" sz="1600" dirty="0" err="1"/>
              <a:t>Inbunatatirea</a:t>
            </a:r>
            <a:r>
              <a:rPr lang="en-GB" sz="1600" dirty="0"/>
              <a:t> </a:t>
            </a:r>
            <a:r>
              <a:rPr lang="en-GB" sz="1600" dirty="0" err="1"/>
              <a:t>increderii</a:t>
            </a:r>
            <a:r>
              <a:rPr lang="en-GB" sz="1600" dirty="0"/>
              <a:t> in </a:t>
            </a:r>
            <a:r>
              <a:rPr lang="en-GB" sz="1600" dirty="0" err="1"/>
              <a:t>procesele</a:t>
            </a:r>
            <a:r>
              <a:rPr lang="en-GB" sz="1600" dirty="0"/>
              <a:t> de </a:t>
            </a:r>
            <a:r>
              <a:rPr lang="en-GB" sz="1600" dirty="0" err="1"/>
              <a:t>vaccinare</a:t>
            </a:r>
            <a:endParaRPr lang="en-GB" sz="1200" dirty="0"/>
          </a:p>
        </p:txBody>
      </p:sp>
      <p:pic>
        <p:nvPicPr>
          <p:cNvPr id="2052" name="Picture 4" descr="A Patient with Doctor Vector silhouette | Premium AI-generated vector">
            <a:extLst>
              <a:ext uri="{FF2B5EF4-FFF2-40B4-BE49-F238E27FC236}">
                <a16:creationId xmlns:a16="http://schemas.microsoft.com/office/drawing/2014/main" id="{85E688D8-9403-3BC1-8521-80CCAF0AF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595" y="2126317"/>
            <a:ext cx="3789159" cy="434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245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B7815-3F65-6532-9981-E24EAF6F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00202B-EDEC-4D9B-633F-D049697FA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C15DF-4180-AF26-1A0A-0B2D0A3DF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7A0DEC-3E16-E5E4-0AEA-55F1E6980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7720A6-F1A1-9218-FE85-DC068ABBB1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048253-A85D-BBEC-1128-44A21312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87032E-3556-58B8-5473-07CCDC1F8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43" y="294538"/>
            <a:ext cx="4449779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Aplicatia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FluPRINT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si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CDA3EA-6D4A-6303-B8B7-96034AA624CB}"/>
              </a:ext>
            </a:extLst>
          </p:cNvPr>
          <p:cNvSpPr txBox="1">
            <a:spLocks/>
          </p:cNvSpPr>
          <p:nvPr/>
        </p:nvSpPr>
        <p:spPr>
          <a:xfrm>
            <a:off x="5065981" y="294538"/>
            <a:ext cx="4449779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Business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DC00418-AD32-C879-AD65-7853239CB4FE}"/>
              </a:ext>
            </a:extLst>
          </p:cNvPr>
          <p:cNvSpPr txBox="1">
            <a:spLocks/>
          </p:cNvSpPr>
          <p:nvPr/>
        </p:nvSpPr>
        <p:spPr>
          <a:xfrm>
            <a:off x="345081" y="2048550"/>
            <a:ext cx="11062286" cy="494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2400" dirty="0" err="1"/>
              <a:t>Profil</a:t>
            </a:r>
            <a:r>
              <a:rPr lang="en-GB" sz="2400" dirty="0"/>
              <a:t> de client:</a:t>
            </a:r>
          </a:p>
          <a:p>
            <a:pPr algn="just"/>
            <a:endParaRPr lang="en-GB" sz="2400" dirty="0"/>
          </a:p>
          <a:p>
            <a:pPr lvl="1" algn="just"/>
            <a:r>
              <a:rPr lang="en-GB" sz="2000" dirty="0" err="1"/>
              <a:t>Profesionisti</a:t>
            </a:r>
            <a:r>
              <a:rPr lang="en-GB" sz="2000" dirty="0"/>
              <a:t> in </a:t>
            </a:r>
            <a:r>
              <a:rPr lang="en-GB" sz="2000" dirty="0" err="1"/>
              <a:t>sanatate</a:t>
            </a:r>
            <a:endParaRPr lang="en-GB" sz="2000" dirty="0"/>
          </a:p>
          <a:p>
            <a:pPr lvl="1" algn="just"/>
            <a:r>
              <a:rPr lang="en-GB" sz="2000" dirty="0" err="1"/>
              <a:t>Clinici</a:t>
            </a:r>
            <a:r>
              <a:rPr lang="en-GB" sz="2000" dirty="0"/>
              <a:t> private care </a:t>
            </a:r>
            <a:r>
              <a:rPr lang="en-GB" sz="2000" dirty="0" err="1"/>
              <a:t>doresc</a:t>
            </a:r>
            <a:r>
              <a:rPr lang="en-GB" sz="2000" dirty="0"/>
              <a:t> </a:t>
            </a:r>
            <a:r>
              <a:rPr lang="en-GB" sz="2000" dirty="0" err="1"/>
              <a:t>sa</a:t>
            </a:r>
            <a:r>
              <a:rPr lang="en-GB" sz="2000" dirty="0"/>
              <a:t> </a:t>
            </a:r>
            <a:r>
              <a:rPr lang="en-GB" sz="2000" dirty="0" err="1"/>
              <a:t>inoveze</a:t>
            </a:r>
            <a:r>
              <a:rPr lang="en-GB" sz="2000" dirty="0"/>
              <a:t> </a:t>
            </a:r>
            <a:r>
              <a:rPr lang="en-GB" sz="2000" dirty="0" err="1"/>
              <a:t>procesul</a:t>
            </a:r>
            <a:r>
              <a:rPr lang="en-GB" sz="2000" dirty="0"/>
              <a:t> de </a:t>
            </a:r>
            <a:r>
              <a:rPr lang="en-GB" sz="2000" dirty="0" err="1"/>
              <a:t>vaccinare</a:t>
            </a:r>
            <a:endParaRPr lang="en-GB" sz="2000" dirty="0"/>
          </a:p>
          <a:p>
            <a:pPr lvl="1" algn="just"/>
            <a:endParaRPr lang="en-GB" sz="2000" dirty="0"/>
          </a:p>
          <a:p>
            <a:pPr lvl="1" algn="just"/>
            <a:endParaRPr lang="en-GB" sz="2000" dirty="0"/>
          </a:p>
          <a:p>
            <a:pPr algn="just"/>
            <a:r>
              <a:rPr lang="en-GB" sz="2400" dirty="0" err="1"/>
              <a:t>Valoarea</a:t>
            </a:r>
            <a:r>
              <a:rPr lang="en-GB" sz="2400" dirty="0"/>
              <a:t> </a:t>
            </a:r>
            <a:r>
              <a:rPr lang="en-GB" sz="2400" dirty="0" err="1"/>
              <a:t>propusa</a:t>
            </a:r>
            <a:r>
              <a:rPr lang="en-GB" sz="2400" dirty="0"/>
              <a:t>:</a:t>
            </a:r>
          </a:p>
          <a:p>
            <a:pPr algn="just"/>
            <a:endParaRPr lang="en-GB" sz="2400" dirty="0"/>
          </a:p>
          <a:p>
            <a:pPr lvl="1" algn="just"/>
            <a:r>
              <a:rPr lang="en-GB" sz="2000" dirty="0" err="1"/>
              <a:t>Reducerea</a:t>
            </a:r>
            <a:r>
              <a:rPr lang="en-GB" sz="2000" dirty="0"/>
              <a:t> </a:t>
            </a:r>
            <a:r>
              <a:rPr lang="en-GB" sz="2000" dirty="0" err="1"/>
              <a:t>incertitudinilor</a:t>
            </a:r>
            <a:r>
              <a:rPr lang="en-GB" sz="2000" dirty="0"/>
              <a:t> legate de </a:t>
            </a:r>
            <a:r>
              <a:rPr lang="en-GB" sz="2000" dirty="0" err="1"/>
              <a:t>vaccinare</a:t>
            </a:r>
            <a:r>
              <a:rPr lang="en-GB" sz="2000" dirty="0"/>
              <a:t> </a:t>
            </a:r>
            <a:r>
              <a:rPr lang="en-GB" sz="2000" dirty="0" err="1"/>
              <a:t>prin</a:t>
            </a:r>
            <a:r>
              <a:rPr lang="en-GB" sz="2000" dirty="0"/>
              <a:t> </a:t>
            </a:r>
            <a:r>
              <a:rPr lang="en-GB" sz="2000" dirty="0" err="1"/>
              <a:t>evaluari</a:t>
            </a:r>
            <a:r>
              <a:rPr lang="en-GB" sz="2000" dirty="0"/>
              <a:t> </a:t>
            </a:r>
            <a:r>
              <a:rPr lang="en-GB" sz="2000" dirty="0" err="1"/>
              <a:t>personalizate</a:t>
            </a:r>
            <a:endParaRPr lang="en-GB" sz="2000" dirty="0"/>
          </a:p>
          <a:p>
            <a:pPr lvl="1" algn="just"/>
            <a:r>
              <a:rPr lang="en-GB" sz="2000" dirty="0" err="1"/>
              <a:t>Solutie</a:t>
            </a:r>
            <a:r>
              <a:rPr lang="en-GB" sz="2000" dirty="0"/>
              <a:t> </a:t>
            </a:r>
            <a:r>
              <a:rPr lang="en-GB" sz="2000" dirty="0" err="1"/>
              <a:t>usor</a:t>
            </a:r>
            <a:r>
              <a:rPr lang="en-GB" sz="2000" dirty="0"/>
              <a:t> de </a:t>
            </a:r>
            <a:r>
              <a:rPr lang="en-GB" sz="2000" dirty="0" err="1"/>
              <a:t>integrat</a:t>
            </a:r>
            <a:r>
              <a:rPr lang="en-GB" sz="2000" dirty="0"/>
              <a:t> in </a:t>
            </a:r>
            <a:r>
              <a:rPr lang="en-GB" sz="2000" dirty="0" err="1"/>
              <a:t>fluxurile</a:t>
            </a:r>
            <a:r>
              <a:rPr lang="en-GB" sz="2000" dirty="0"/>
              <a:t> de </a:t>
            </a:r>
            <a:r>
              <a:rPr lang="en-GB" sz="2000" dirty="0" err="1"/>
              <a:t>lucru</a:t>
            </a:r>
            <a:r>
              <a:rPr lang="en-GB" sz="2000" dirty="0"/>
              <a:t> </a:t>
            </a:r>
            <a:r>
              <a:rPr lang="en-GB" sz="2000" dirty="0" err="1"/>
              <a:t>medicale</a:t>
            </a:r>
            <a:endParaRPr lang="en-GB" sz="2000" dirty="0"/>
          </a:p>
          <a:p>
            <a:pPr lvl="1" algn="just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32244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0FB1E-8069-451A-175E-2BEFDE147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0626C6-5EB3-4694-5CAA-E77175C3E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EDA864-9FB8-3DEB-E42A-B88B51A04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1E8D0B-8F89-6458-28AA-AF1C1102D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FA2993-2A75-9971-D1EF-0D0DCD246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0D9D02-8174-F2C0-B360-FE59218AD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A03C6B7-A7ED-EC3A-EA00-69A7DBF94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643" y="294538"/>
            <a:ext cx="4449779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Aplicatia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FluPRINT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si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41057D-CD7C-18F4-FCEF-CD488FD72831}"/>
              </a:ext>
            </a:extLst>
          </p:cNvPr>
          <p:cNvSpPr txBox="1">
            <a:spLocks/>
          </p:cNvSpPr>
          <p:nvPr/>
        </p:nvSpPr>
        <p:spPr>
          <a:xfrm>
            <a:off x="5065981" y="294538"/>
            <a:ext cx="4449779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Business</a:t>
            </a:r>
            <a:endParaRPr lang="ro-RO" sz="4000" dirty="0">
              <a:solidFill>
                <a:srgbClr val="FFFFFF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9ED530-2C7C-A453-334C-EB90E4A185F9}"/>
              </a:ext>
            </a:extLst>
          </p:cNvPr>
          <p:cNvSpPr txBox="1">
            <a:spLocks/>
          </p:cNvSpPr>
          <p:nvPr/>
        </p:nvSpPr>
        <p:spPr>
          <a:xfrm>
            <a:off x="112709" y="1116043"/>
            <a:ext cx="5901811" cy="494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2400" dirty="0"/>
              <a:t>Cum </a:t>
            </a:r>
            <a:r>
              <a:rPr lang="en-GB" sz="2400" dirty="0" err="1"/>
              <a:t>functioneaza</a:t>
            </a:r>
            <a:r>
              <a:rPr lang="en-GB" sz="2400" dirty="0"/>
              <a:t> </a:t>
            </a:r>
            <a:r>
              <a:rPr lang="en-GB" sz="2400" dirty="0" err="1"/>
              <a:t>modelul</a:t>
            </a:r>
            <a:r>
              <a:rPr lang="en-GB" sz="2400" dirty="0"/>
              <a:t> de business? </a:t>
            </a:r>
          </a:p>
          <a:p>
            <a:pPr algn="just"/>
            <a:endParaRPr lang="en-GB" sz="2400" dirty="0"/>
          </a:p>
          <a:p>
            <a:pPr lvl="1" algn="just"/>
            <a:r>
              <a:rPr lang="en-GB" sz="2000" dirty="0"/>
              <a:t>B2B (</a:t>
            </a:r>
            <a:r>
              <a:rPr lang="en-GB" sz="2000" dirty="0" err="1"/>
              <a:t>Clinici</a:t>
            </a:r>
            <a:r>
              <a:rPr lang="en-GB" sz="2000" dirty="0"/>
              <a:t> </a:t>
            </a:r>
            <a:r>
              <a:rPr lang="en-GB" sz="2000" dirty="0" err="1"/>
              <a:t>si</a:t>
            </a:r>
            <a:r>
              <a:rPr lang="en-GB" sz="2000" dirty="0"/>
              <a:t> </a:t>
            </a:r>
            <a:r>
              <a:rPr lang="en-GB" sz="2000" dirty="0" err="1"/>
              <a:t>spitale</a:t>
            </a:r>
            <a:r>
              <a:rPr lang="en-GB" sz="2000" dirty="0"/>
              <a:t>: </a:t>
            </a:r>
            <a:r>
              <a:rPr lang="en-GB" sz="2000" dirty="0" err="1"/>
              <a:t>Cumpara</a:t>
            </a:r>
            <a:r>
              <a:rPr lang="en-GB" sz="2000" dirty="0"/>
              <a:t> </a:t>
            </a:r>
            <a:r>
              <a:rPr lang="en-GB" sz="2000" dirty="0" err="1"/>
              <a:t>aplicatia</a:t>
            </a:r>
            <a:r>
              <a:rPr lang="en-GB" sz="2000" dirty="0"/>
              <a:t> cu </a:t>
            </a:r>
            <a:r>
              <a:rPr lang="en-GB" sz="2000" dirty="0" err="1"/>
              <a:t>licenta</a:t>
            </a:r>
            <a:r>
              <a:rPr lang="en-GB" sz="2000" dirty="0"/>
              <a:t> unica </a:t>
            </a:r>
            <a:r>
              <a:rPr lang="en-GB" sz="2000" dirty="0" err="1"/>
              <a:t>pentru</a:t>
            </a:r>
            <a:r>
              <a:rPr lang="en-GB" sz="2000" dirty="0"/>
              <a:t> </a:t>
            </a:r>
            <a:r>
              <a:rPr lang="en-GB" sz="2000" dirty="0" err="1"/>
              <a:t>utilizare</a:t>
            </a:r>
            <a:r>
              <a:rPr lang="en-GB" sz="2000" dirty="0"/>
              <a:t> </a:t>
            </a:r>
            <a:r>
              <a:rPr lang="en-GB" sz="2000" dirty="0" err="1"/>
              <a:t>nelimitata</a:t>
            </a:r>
            <a:r>
              <a:rPr lang="en-GB" sz="2000" dirty="0"/>
              <a:t>)</a:t>
            </a:r>
          </a:p>
          <a:p>
            <a:pPr lvl="1" algn="just"/>
            <a:endParaRPr lang="en-GB" sz="2000" dirty="0"/>
          </a:p>
          <a:p>
            <a:pPr lvl="1" algn="just"/>
            <a:r>
              <a:rPr lang="en-GB" sz="2000" dirty="0" err="1"/>
              <a:t>Parteneriate</a:t>
            </a:r>
            <a:r>
              <a:rPr lang="en-GB" sz="2000" dirty="0"/>
              <a:t> (</a:t>
            </a:r>
            <a:r>
              <a:rPr lang="en-GB" sz="2000" dirty="0" err="1"/>
              <a:t>Colaborari</a:t>
            </a:r>
            <a:r>
              <a:rPr lang="en-GB" sz="2000" dirty="0"/>
              <a:t> cu </a:t>
            </a:r>
            <a:r>
              <a:rPr lang="en-GB" sz="2000" dirty="0" err="1"/>
              <a:t>companii</a:t>
            </a:r>
            <a:r>
              <a:rPr lang="en-GB" sz="2000" dirty="0"/>
              <a:t> de </a:t>
            </a:r>
            <a:r>
              <a:rPr lang="en-GB" sz="2000" dirty="0" err="1"/>
              <a:t>asigurari</a:t>
            </a:r>
            <a:r>
              <a:rPr lang="en-GB" sz="2000" dirty="0"/>
              <a:t> </a:t>
            </a:r>
            <a:r>
              <a:rPr lang="en-GB" sz="2000" dirty="0" err="1"/>
              <a:t>si</a:t>
            </a:r>
            <a:r>
              <a:rPr lang="en-GB" sz="2000" dirty="0"/>
              <a:t> </a:t>
            </a:r>
            <a:r>
              <a:rPr lang="en-GB" sz="2000" dirty="0" err="1"/>
              <a:t>laboratoare</a:t>
            </a:r>
            <a:r>
              <a:rPr lang="en-GB" sz="2000" dirty="0"/>
              <a:t>)</a:t>
            </a:r>
          </a:p>
          <a:p>
            <a:pPr lvl="1" algn="just"/>
            <a:endParaRPr lang="en-GB" sz="2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C3ABF6-3686-656D-2EC7-45476604F236}"/>
              </a:ext>
            </a:extLst>
          </p:cNvPr>
          <p:cNvSpPr/>
          <p:nvPr/>
        </p:nvSpPr>
        <p:spPr>
          <a:xfrm>
            <a:off x="7590604" y="2100413"/>
            <a:ext cx="1925156" cy="13963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FluPRINT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272693-E9BA-3C34-DCD1-80A95FA4E288}"/>
              </a:ext>
            </a:extLst>
          </p:cNvPr>
          <p:cNvSpPr/>
          <p:nvPr/>
        </p:nvSpPr>
        <p:spPr>
          <a:xfrm>
            <a:off x="7333307" y="4492822"/>
            <a:ext cx="1918394" cy="13963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Clinici</a:t>
            </a:r>
            <a:r>
              <a:rPr lang="en-US" dirty="0"/>
              <a:t> &amp; </a:t>
            </a:r>
            <a:r>
              <a:rPr lang="en-US" dirty="0" err="1"/>
              <a:t>Spitale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6535AD-B321-ACC8-2AEC-CFAB37DDD247}"/>
              </a:ext>
            </a:extLst>
          </p:cNvPr>
          <p:cNvCxnSpPr>
            <a:cxnSpLocks/>
          </p:cNvCxnSpPr>
          <p:nvPr/>
        </p:nvCxnSpPr>
        <p:spPr>
          <a:xfrm flipV="1">
            <a:off x="8433871" y="3612603"/>
            <a:ext cx="76386" cy="786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3F95CE-B869-2CBC-10A2-1E51A30E4BE6}"/>
              </a:ext>
            </a:extLst>
          </p:cNvPr>
          <p:cNvSpPr txBox="1"/>
          <p:nvPr/>
        </p:nvSpPr>
        <p:spPr>
          <a:xfrm>
            <a:off x="7524952" y="3845839"/>
            <a:ext cx="881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cumpara</a:t>
            </a:r>
            <a:endParaRPr lang="en-US" sz="1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5AF860-ECAA-EB06-1655-403BBDA1E13D}"/>
              </a:ext>
            </a:extLst>
          </p:cNvPr>
          <p:cNvSpPr/>
          <p:nvPr/>
        </p:nvSpPr>
        <p:spPr>
          <a:xfrm>
            <a:off x="9916845" y="3496746"/>
            <a:ext cx="2025525" cy="13963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Companii</a:t>
            </a:r>
            <a:r>
              <a:rPr lang="en-US" dirty="0"/>
              <a:t> </a:t>
            </a:r>
            <a:r>
              <a:rPr lang="en-US" dirty="0" err="1"/>
              <a:t>asigurari</a:t>
            </a:r>
            <a:r>
              <a:rPr lang="en-US" dirty="0"/>
              <a:t>, </a:t>
            </a:r>
            <a:r>
              <a:rPr lang="en-US" dirty="0" err="1"/>
              <a:t>Laboratoare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39EE6C-48FA-F013-255A-A36433B95B06}"/>
              </a:ext>
            </a:extLst>
          </p:cNvPr>
          <p:cNvCxnSpPr>
            <a:cxnSpLocks/>
          </p:cNvCxnSpPr>
          <p:nvPr/>
        </p:nvCxnSpPr>
        <p:spPr>
          <a:xfrm>
            <a:off x="9515760" y="3361254"/>
            <a:ext cx="506426" cy="3416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0BB2ACD-05C9-EBD2-6B47-8C133B21B2A9}"/>
              </a:ext>
            </a:extLst>
          </p:cNvPr>
          <p:cNvSpPr txBox="1"/>
          <p:nvPr/>
        </p:nvSpPr>
        <p:spPr>
          <a:xfrm>
            <a:off x="9768973" y="3121223"/>
            <a:ext cx="1041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parteneriat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36681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53313-B076-4161-BB8A-6713F255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8A3D6-3883-EABC-8974-3028B87A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 dirty="0"/>
              <a:t>Set de date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9B22F-FA17-FC0F-5919-9F01988F0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05894"/>
            <a:ext cx="5915716" cy="3649466"/>
          </a:xfrm>
        </p:spPr>
        <p:txBody>
          <a:bodyPr anchor="t">
            <a:noAutofit/>
          </a:bodyPr>
          <a:lstStyle/>
          <a:p>
            <a:pPr algn="just"/>
            <a:r>
              <a:rPr lang="ro-RO" sz="2400" dirty="0"/>
              <a:t>Setul de date </a:t>
            </a:r>
            <a:r>
              <a:rPr lang="en-GB" sz="2400" dirty="0" err="1"/>
              <a:t>FluPRINT</a:t>
            </a:r>
            <a:r>
              <a:rPr lang="en-GB" sz="2400" dirty="0"/>
              <a:t> </a:t>
            </a:r>
            <a:r>
              <a:rPr lang="en-GB" sz="2400" dirty="0" err="1"/>
              <a:t>reprezintă</a:t>
            </a:r>
            <a:r>
              <a:rPr lang="en-GB" sz="2400" dirty="0"/>
              <a:t> </a:t>
            </a:r>
            <a:r>
              <a:rPr lang="en-GB" sz="2400" dirty="0" err="1"/>
              <a:t>măsurători</a:t>
            </a:r>
            <a:r>
              <a:rPr lang="en-GB" sz="2400" dirty="0"/>
              <a:t> </a:t>
            </a:r>
            <a:r>
              <a:rPr lang="en-GB" sz="2400" dirty="0" err="1"/>
              <a:t>imunologice</a:t>
            </a:r>
            <a:r>
              <a:rPr lang="en-GB" sz="2400" dirty="0"/>
              <a:t> </a:t>
            </a:r>
            <a:r>
              <a:rPr lang="en-GB" sz="2400" dirty="0" err="1"/>
              <a:t>complet</a:t>
            </a:r>
            <a:r>
              <a:rPr lang="en-GB" sz="2400" dirty="0"/>
              <a:t> integrate </a:t>
            </a:r>
            <a:r>
              <a:rPr lang="en-GB" sz="2400" dirty="0" err="1"/>
              <a:t>și</a:t>
            </a:r>
            <a:r>
              <a:rPr lang="en-GB" sz="2400" dirty="0"/>
              <a:t> </a:t>
            </a:r>
            <a:r>
              <a:rPr lang="ro-RO" sz="2400" dirty="0"/>
              <a:t>normalizate</a:t>
            </a:r>
            <a:r>
              <a:rPr lang="en-GB" sz="2400" dirty="0"/>
              <a:t> din opt </a:t>
            </a:r>
            <a:r>
              <a:rPr lang="en-GB" sz="2400" dirty="0" err="1"/>
              <a:t>studii</a:t>
            </a:r>
            <a:r>
              <a:rPr lang="en-GB" sz="2400" dirty="0"/>
              <a:t> </a:t>
            </a:r>
            <a:r>
              <a:rPr lang="en-GB" sz="2400" dirty="0" err="1"/>
              <a:t>clinice</a:t>
            </a:r>
            <a:r>
              <a:rPr lang="en-GB" sz="2400" dirty="0"/>
              <a:t> </a:t>
            </a:r>
            <a:r>
              <a:rPr lang="en-GB" sz="2400" dirty="0" err="1"/>
              <a:t>luate</a:t>
            </a:r>
            <a:r>
              <a:rPr lang="en-GB" sz="2400" dirty="0"/>
              <a:t> de la 740 de </a:t>
            </a:r>
            <a:r>
              <a:rPr lang="en-GB" sz="2400" dirty="0" err="1"/>
              <a:t>persoane</a:t>
            </a:r>
            <a:r>
              <a:rPr lang="en-GB" sz="2400" dirty="0"/>
              <a:t> </a:t>
            </a:r>
            <a:r>
              <a:rPr lang="en-GB" sz="2400" dirty="0" err="1"/>
              <a:t>supuse</a:t>
            </a:r>
            <a:r>
              <a:rPr lang="en-GB" sz="2400" dirty="0"/>
              <a:t> </a:t>
            </a:r>
            <a:r>
              <a:rPr lang="en-GB" sz="2400" dirty="0" err="1"/>
              <a:t>vaccinării</a:t>
            </a:r>
            <a:r>
              <a:rPr lang="en-GB" sz="2400" dirty="0"/>
              <a:t> </a:t>
            </a:r>
            <a:r>
              <a:rPr lang="ro-RO" sz="2400" dirty="0"/>
              <a:t>antigripală</a:t>
            </a:r>
            <a:r>
              <a:rPr lang="en-GB" sz="2400" dirty="0"/>
              <a:t> cu </a:t>
            </a:r>
            <a:r>
              <a:rPr lang="en-GB" sz="2400" dirty="0" err="1"/>
              <a:t>vaccinuri</a:t>
            </a:r>
            <a:r>
              <a:rPr lang="en-GB" sz="2400" dirty="0"/>
              <a:t> </a:t>
            </a:r>
            <a:r>
              <a:rPr lang="en-GB" sz="2400" dirty="0" err="1"/>
              <a:t>gripale</a:t>
            </a:r>
            <a:r>
              <a:rPr lang="en-GB" sz="2400" dirty="0"/>
              <a:t> </a:t>
            </a:r>
            <a:r>
              <a:rPr lang="en-GB" sz="2400" dirty="0" err="1"/>
              <a:t>sezoniere</a:t>
            </a:r>
            <a:r>
              <a:rPr lang="en-GB" sz="2400" dirty="0"/>
              <a:t> inactivate </a:t>
            </a:r>
            <a:r>
              <a:rPr lang="en-GB" sz="2400" dirty="0" err="1"/>
              <a:t>sau</a:t>
            </a:r>
            <a:r>
              <a:rPr lang="en-GB" sz="2400" dirty="0"/>
              <a:t> vii </a:t>
            </a:r>
            <a:r>
              <a:rPr lang="en-GB" sz="2400" dirty="0" err="1"/>
              <a:t>atenuate</a:t>
            </a:r>
            <a:r>
              <a:rPr lang="en-GB" sz="2400" dirty="0"/>
              <a:t> din 2007 </a:t>
            </a:r>
            <a:r>
              <a:rPr lang="en-GB" sz="2400" dirty="0" err="1"/>
              <a:t>până</a:t>
            </a:r>
            <a:r>
              <a:rPr lang="en-GB" sz="2400" dirty="0"/>
              <a:t> </a:t>
            </a:r>
            <a:r>
              <a:rPr lang="en-GB" sz="2400" dirty="0" err="1"/>
              <a:t>în</a:t>
            </a:r>
            <a:r>
              <a:rPr lang="en-GB" sz="2400" dirty="0"/>
              <a:t> 2015 la </a:t>
            </a:r>
            <a:r>
              <a:rPr lang="en-GB" sz="2400" dirty="0" err="1"/>
              <a:t>Centrul</a:t>
            </a:r>
            <a:r>
              <a:rPr lang="en-GB" sz="2400" dirty="0"/>
              <a:t> de </a:t>
            </a:r>
            <a:r>
              <a:rPr lang="en-GB" sz="2400" dirty="0" err="1"/>
              <a:t>monitorizare</a:t>
            </a:r>
            <a:r>
              <a:rPr lang="en-GB" sz="2400" dirty="0"/>
              <a:t> a </a:t>
            </a:r>
            <a:r>
              <a:rPr lang="en-GB" sz="2400" dirty="0" err="1"/>
              <a:t>imunității</a:t>
            </a:r>
            <a:r>
              <a:rPr lang="en-GB" sz="2400" dirty="0"/>
              <a:t> </a:t>
            </a:r>
            <a:r>
              <a:rPr lang="en-GB" sz="2400" dirty="0" err="1"/>
              <a:t>umane</a:t>
            </a:r>
            <a:r>
              <a:rPr lang="en-GB" sz="2400" dirty="0"/>
              <a:t> Stanford.</a:t>
            </a:r>
            <a:endParaRPr lang="ro-RO" sz="2400" dirty="0"/>
          </a:p>
          <a:p>
            <a:pPr marL="0" indent="0" algn="just">
              <a:buNone/>
            </a:pPr>
            <a:r>
              <a:rPr lang="ro-RO" sz="2400" dirty="0"/>
              <a:t> (</a:t>
            </a:r>
            <a:r>
              <a:rPr lang="en-US" sz="2400" u="sng" dirty="0">
                <a:effectLst/>
                <a:ea typeface="Times New Roman" panose="02020603050405020304" pitchFamily="18" charset="0"/>
                <a:hlinkClick r:id="rId2"/>
              </a:rPr>
              <a:t>https://zenodo.org/records/3222451</a:t>
            </a:r>
            <a:r>
              <a:rPr lang="ro-RO" sz="2400" u="sng" dirty="0">
                <a:effectLst/>
                <a:ea typeface="Times New Roman" panose="02020603050405020304" pitchFamily="18" charset="0"/>
              </a:rPr>
              <a:t>)</a:t>
            </a:r>
            <a:endParaRPr lang="ro-RO" sz="2400" dirty="0"/>
          </a:p>
          <a:p>
            <a:pPr algn="just"/>
            <a:endParaRPr lang="en-GB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white cylinder with three layers&#10;&#10;Description automatically generated">
            <a:extLst>
              <a:ext uri="{FF2B5EF4-FFF2-40B4-BE49-F238E27FC236}">
                <a16:creationId xmlns:a16="http://schemas.microsoft.com/office/drawing/2014/main" id="{2E5D79C9-EB88-D628-BA37-04B95424A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967" y="1134403"/>
            <a:ext cx="4170530" cy="462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88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7F57F4-026B-398E-CB70-96C644C8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42CEF-9363-DDD5-C34C-E37DC58B5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o-RO" sz="4000">
                <a:solidFill>
                  <a:srgbClr val="FFFFFF"/>
                </a:solidFill>
              </a:rPr>
              <a:t>Preprocesare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B5255-CBB0-8FA3-B576-C37F9913C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22745"/>
            <a:ext cx="10119361" cy="4940717"/>
          </a:xfrm>
        </p:spPr>
        <p:txBody>
          <a:bodyPr anchor="ctr">
            <a:noAutofit/>
          </a:bodyPr>
          <a:lstStyle/>
          <a:p>
            <a:pPr algn="just"/>
            <a:r>
              <a:rPr lang="ro-RO" sz="2400" dirty="0"/>
              <a:t>Pentru a putea antrena un model eficient am avut nevoie de preprocesarea datelor, folosind tehnici precum selectarea parametrilor, Simple </a:t>
            </a:r>
            <a:r>
              <a:rPr lang="ro-RO" sz="2400" dirty="0" err="1"/>
              <a:t>Imputer</a:t>
            </a:r>
            <a:r>
              <a:rPr lang="ro-RO" sz="2400" dirty="0"/>
              <a:t>, Standard </a:t>
            </a:r>
            <a:r>
              <a:rPr lang="ro-RO" sz="2400" dirty="0" err="1"/>
              <a:t>Scaler</a:t>
            </a:r>
            <a:r>
              <a:rPr lang="ro-RO" sz="2400" dirty="0"/>
              <a:t>, </a:t>
            </a:r>
            <a:r>
              <a:rPr lang="ro-RO" sz="2400" dirty="0" err="1"/>
              <a:t>OneHot</a:t>
            </a:r>
            <a:r>
              <a:rPr lang="ro-RO" sz="2400" dirty="0"/>
              <a:t> </a:t>
            </a:r>
            <a:r>
              <a:rPr lang="ro-RO" sz="2400" dirty="0" err="1"/>
              <a:t>Encoder</a:t>
            </a:r>
            <a:r>
              <a:rPr lang="ro-RO" sz="2400" dirty="0"/>
              <a:t>, etc.</a:t>
            </a:r>
          </a:p>
          <a:p>
            <a:pPr algn="just"/>
            <a:r>
              <a:rPr lang="ro-RO" sz="2400" dirty="0"/>
              <a:t>Am </a:t>
            </a:r>
            <a:r>
              <a:rPr lang="en-GB" sz="2400" dirty="0" err="1"/>
              <a:t>selectat</a:t>
            </a:r>
            <a:r>
              <a:rPr lang="en-GB" sz="2400" dirty="0"/>
              <a:t> </a:t>
            </a:r>
            <a:r>
              <a:rPr lang="ro-RO" sz="2400" dirty="0"/>
              <a:t>toate</a:t>
            </a:r>
            <a:r>
              <a:rPr lang="en-GB" sz="2400" dirty="0"/>
              <a:t> </a:t>
            </a:r>
            <a:r>
              <a:rPr lang="en-GB" sz="2400" dirty="0" err="1"/>
              <a:t>analizele</a:t>
            </a:r>
            <a:r>
              <a:rPr lang="en-GB" sz="2400" dirty="0"/>
              <a:t> </a:t>
            </a:r>
            <a:r>
              <a:rPr lang="en-GB" sz="2400" dirty="0" err="1"/>
              <a:t>unui</a:t>
            </a:r>
            <a:r>
              <a:rPr lang="en-GB" sz="2400" dirty="0"/>
              <a:t> </a:t>
            </a:r>
            <a:r>
              <a:rPr lang="en-GB" sz="2400" dirty="0" err="1"/>
              <a:t>pacient</a:t>
            </a:r>
            <a:r>
              <a:rPr lang="en-GB" sz="2400" dirty="0"/>
              <a:t> </a:t>
            </a:r>
            <a:r>
              <a:rPr lang="ro-RO" sz="2400" dirty="0"/>
              <a:t>și au fost mutate</a:t>
            </a:r>
            <a:r>
              <a:rPr lang="en-GB" sz="2400" dirty="0"/>
              <a:t> pe o </a:t>
            </a:r>
            <a:r>
              <a:rPr lang="en-GB" sz="2400" dirty="0" err="1"/>
              <a:t>singur</a:t>
            </a:r>
            <a:r>
              <a:rPr lang="ro-RO" sz="2400" dirty="0"/>
              <a:t>ă</a:t>
            </a:r>
            <a:r>
              <a:rPr lang="en-GB" sz="2400" dirty="0"/>
              <a:t> </a:t>
            </a:r>
            <a:r>
              <a:rPr lang="en-GB" sz="2400" dirty="0" err="1"/>
              <a:t>linie</a:t>
            </a:r>
            <a:r>
              <a:rPr lang="en-GB" sz="2400" dirty="0"/>
              <a:t> </a:t>
            </a:r>
            <a:r>
              <a:rPr lang="ro-RO" sz="2400" dirty="0"/>
              <a:t>apoi</a:t>
            </a:r>
            <a:r>
              <a:rPr lang="en-GB" sz="2400" dirty="0"/>
              <a:t> am </a:t>
            </a:r>
            <a:r>
              <a:rPr lang="en-GB" sz="2400" dirty="0" err="1"/>
              <a:t>selectat</a:t>
            </a:r>
            <a:r>
              <a:rPr lang="en-GB" sz="2400" dirty="0"/>
              <a:t> </a:t>
            </a:r>
            <a:r>
              <a:rPr lang="en-GB" sz="2400" dirty="0" err="1"/>
              <a:t>doar</a:t>
            </a:r>
            <a:r>
              <a:rPr lang="en-GB" sz="2400" dirty="0"/>
              <a:t> </a:t>
            </a:r>
            <a:r>
              <a:rPr lang="en-GB" sz="2400" dirty="0" err="1"/>
              <a:t>parametrii</a:t>
            </a:r>
            <a:r>
              <a:rPr lang="en-GB" sz="2400" dirty="0"/>
              <a:t> care au maxim 75% </a:t>
            </a:r>
            <a:r>
              <a:rPr lang="en-GB" sz="2400" dirty="0" err="1"/>
              <a:t>valori</a:t>
            </a:r>
            <a:r>
              <a:rPr lang="en-GB" sz="2400" dirty="0"/>
              <a:t> </a:t>
            </a:r>
            <a:r>
              <a:rPr lang="en-GB" sz="2400" dirty="0" err="1"/>
              <a:t>nule</a:t>
            </a:r>
            <a:r>
              <a:rPr lang="en-GB" sz="2400" dirty="0"/>
              <a:t> din </a:t>
            </a:r>
            <a:r>
              <a:rPr lang="en-GB" sz="2400" dirty="0" err="1"/>
              <a:t>numarul</a:t>
            </a:r>
            <a:r>
              <a:rPr lang="en-GB" sz="2400" dirty="0"/>
              <a:t> total. </a:t>
            </a:r>
            <a:r>
              <a:rPr lang="en-GB" sz="2400" dirty="0" err="1"/>
              <a:t>Astfel</a:t>
            </a:r>
            <a:r>
              <a:rPr lang="en-GB" sz="2400" dirty="0"/>
              <a:t>, am </a:t>
            </a:r>
            <a:r>
              <a:rPr lang="en-GB" sz="2400" dirty="0" err="1"/>
              <a:t>ajuns</a:t>
            </a:r>
            <a:r>
              <a:rPr lang="en-GB" sz="2400" dirty="0"/>
              <a:t> la un</a:t>
            </a:r>
            <a:r>
              <a:rPr lang="ro-RO" sz="2400" dirty="0"/>
              <a:t> </a:t>
            </a:r>
            <a:r>
              <a:rPr lang="en-GB" sz="2400" dirty="0"/>
              <a:t>set de date cu 363 de </a:t>
            </a:r>
            <a:r>
              <a:rPr lang="en-GB" sz="2400" dirty="0" err="1"/>
              <a:t>pacienți</a:t>
            </a:r>
            <a:r>
              <a:rPr lang="en-GB" sz="2400" dirty="0"/>
              <a:t> cu 389 de </a:t>
            </a:r>
            <a:r>
              <a:rPr lang="en-GB" sz="2400" dirty="0" err="1"/>
              <a:t>parametri</a:t>
            </a:r>
            <a:r>
              <a:rPr lang="en-GB" sz="2400" dirty="0"/>
              <a:t>. </a:t>
            </a:r>
          </a:p>
          <a:p>
            <a:pPr algn="just"/>
            <a:r>
              <a:rPr lang="en-GB" sz="2400" dirty="0"/>
              <a:t> </a:t>
            </a:r>
            <a:r>
              <a:rPr lang="en-GB" sz="2400" dirty="0" err="1"/>
              <a:t>Această</a:t>
            </a:r>
            <a:r>
              <a:rPr lang="en-GB" sz="2400" dirty="0"/>
              <a:t> </a:t>
            </a:r>
            <a:r>
              <a:rPr lang="en-GB" sz="2400" dirty="0" err="1"/>
              <a:t>abordare</a:t>
            </a:r>
            <a:r>
              <a:rPr lang="en-GB" sz="2400" dirty="0"/>
              <a:t> ne </a:t>
            </a:r>
            <a:r>
              <a:rPr lang="en-GB" sz="2400" dirty="0" err="1"/>
              <a:t>permite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ignorăm</a:t>
            </a:r>
            <a:r>
              <a:rPr lang="en-GB" sz="2400" dirty="0"/>
              <a:t> </a:t>
            </a:r>
            <a:r>
              <a:rPr lang="en-GB" sz="2400" dirty="0" err="1"/>
              <a:t>parametrii</a:t>
            </a:r>
            <a:r>
              <a:rPr lang="en-GB" sz="2400" dirty="0"/>
              <a:t> care nu </a:t>
            </a:r>
            <a:r>
              <a:rPr lang="en-GB" sz="2400" dirty="0" err="1"/>
              <a:t>influențează</a:t>
            </a:r>
            <a:r>
              <a:rPr lang="en-GB" sz="2400" dirty="0"/>
              <a:t> </a:t>
            </a:r>
            <a:r>
              <a:rPr lang="en-GB" sz="2400" dirty="0" err="1"/>
              <a:t>rezultatul</a:t>
            </a:r>
            <a:r>
              <a:rPr lang="en-GB" sz="2400" dirty="0"/>
              <a:t> (</a:t>
            </a:r>
            <a:r>
              <a:rPr lang="en-GB" sz="2400" dirty="0" err="1"/>
              <a:t>vaccine_response</a:t>
            </a:r>
            <a:r>
              <a:rPr lang="en-GB" sz="2400" dirty="0"/>
              <a:t>) </a:t>
            </a:r>
            <a:r>
              <a:rPr lang="en-GB" sz="2400" dirty="0" err="1"/>
              <a:t>și</a:t>
            </a:r>
            <a:r>
              <a:rPr lang="en-GB" sz="2400" dirty="0"/>
              <a:t> </a:t>
            </a:r>
            <a:r>
              <a:rPr lang="en-GB" sz="2400" dirty="0" err="1"/>
              <a:t>să</a:t>
            </a:r>
            <a:r>
              <a:rPr lang="en-GB" sz="2400" dirty="0"/>
              <a:t> </a:t>
            </a:r>
            <a:r>
              <a:rPr lang="en-GB" sz="2400" dirty="0" err="1"/>
              <a:t>folosim</a:t>
            </a:r>
            <a:r>
              <a:rPr lang="en-GB" sz="2400" dirty="0"/>
              <a:t> </a:t>
            </a:r>
            <a:r>
              <a:rPr lang="en-GB" sz="2400" dirty="0" err="1"/>
              <a:t>eficient</a:t>
            </a:r>
            <a:r>
              <a:rPr lang="en-GB" sz="2400" dirty="0"/>
              <a:t> </a:t>
            </a:r>
            <a:r>
              <a:rPr lang="en-GB" sz="2400" dirty="0" err="1"/>
              <a:t>datele</a:t>
            </a:r>
            <a:r>
              <a:rPr lang="en-GB" sz="2400" dirty="0"/>
              <a:t> </a:t>
            </a:r>
            <a:r>
              <a:rPr lang="en-GB" sz="2400" dirty="0" err="1"/>
              <a:t>relevante</a:t>
            </a:r>
            <a:r>
              <a:rPr lang="en-GB" sz="2400" dirty="0"/>
              <a:t> </a:t>
            </a:r>
            <a:r>
              <a:rPr lang="en-GB" sz="2400" dirty="0" err="1"/>
              <a:t>pentru</a:t>
            </a:r>
            <a:r>
              <a:rPr lang="en-GB" sz="2400" dirty="0"/>
              <a:t> a </a:t>
            </a:r>
            <a:r>
              <a:rPr lang="en-GB" sz="2400" dirty="0" err="1"/>
              <a:t>prezice</a:t>
            </a:r>
            <a:r>
              <a:rPr lang="en-GB" sz="2400" dirty="0"/>
              <a:t> un </a:t>
            </a:r>
            <a:r>
              <a:rPr lang="en-GB" sz="2400" dirty="0" err="1"/>
              <a:t>rezultat</a:t>
            </a:r>
            <a:r>
              <a:rPr lang="en-GB" sz="2400" dirty="0"/>
              <a:t> </a:t>
            </a:r>
            <a:r>
              <a:rPr lang="en-GB" sz="2400" dirty="0" err="1"/>
              <a:t>cât</a:t>
            </a:r>
            <a:r>
              <a:rPr lang="en-GB" sz="2400" dirty="0"/>
              <a:t> </a:t>
            </a:r>
            <a:r>
              <a:rPr lang="en-GB" sz="2400" dirty="0" err="1"/>
              <a:t>mai</a:t>
            </a:r>
            <a:r>
              <a:rPr lang="en-GB" sz="2400" dirty="0"/>
              <a:t> precis </a:t>
            </a:r>
            <a:r>
              <a:rPr lang="en-GB" sz="2400" dirty="0" err="1"/>
              <a:t>posibil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2493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AADB3-8FAD-294C-805D-CF516C7E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4940FB-58A7-6012-4DE8-9C1FEC481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71D9A-8DBC-6ED7-907E-C4C2BB321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811" y="345793"/>
            <a:ext cx="4092522" cy="775765"/>
          </a:xfrm>
        </p:spPr>
        <p:txBody>
          <a:bodyPr anchor="b">
            <a:normAutofit/>
          </a:bodyPr>
          <a:lstStyle/>
          <a:p>
            <a:r>
              <a:rPr lang="ro-RO" sz="4000" b="1" dirty="0">
                <a:latin typeface="+mj-lt"/>
              </a:rPr>
              <a:t> </a:t>
            </a:r>
            <a:r>
              <a:rPr lang="ro-RO" sz="4000" b="1" dirty="0" err="1">
                <a:latin typeface="+mj-lt"/>
              </a:rPr>
              <a:t>Decision</a:t>
            </a:r>
            <a:r>
              <a:rPr lang="ro-RO" sz="4000" b="1" dirty="0">
                <a:latin typeface="+mj-lt"/>
              </a:rPr>
              <a:t> </a:t>
            </a:r>
            <a:r>
              <a:rPr lang="ro-RO" sz="4000" b="1" dirty="0" err="1">
                <a:latin typeface="+mj-lt"/>
              </a:rPr>
              <a:t>Tree</a:t>
            </a:r>
            <a:endParaRPr lang="en-GB" sz="4000" b="1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BD47-E9B6-0367-99E3-CDC8E298C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21558"/>
            <a:ext cx="6278879" cy="5371563"/>
          </a:xfrm>
        </p:spPr>
        <p:txBody>
          <a:bodyPr anchor="t">
            <a:noAutofit/>
          </a:bodyPr>
          <a:lstStyle/>
          <a:p>
            <a:pPr algn="just"/>
            <a:r>
              <a:rPr lang="en-GB" sz="2000" dirty="0" err="1"/>
              <a:t>Dintre</a:t>
            </a:r>
            <a:r>
              <a:rPr lang="en-GB" sz="2000" dirty="0"/>
              <a:t> </a:t>
            </a:r>
            <a:r>
              <a:rPr lang="en-GB" sz="2000" dirty="0" err="1"/>
              <a:t>toate</a:t>
            </a:r>
            <a:r>
              <a:rPr lang="en-GB" sz="2000" dirty="0"/>
              <a:t> </a:t>
            </a:r>
            <a:r>
              <a:rPr lang="en-GB" sz="2000" dirty="0" err="1"/>
              <a:t>modelele</a:t>
            </a:r>
            <a:r>
              <a:rPr lang="en-GB" sz="2000" dirty="0"/>
              <a:t> testate, </a:t>
            </a:r>
            <a:r>
              <a:rPr lang="en-GB" sz="2000" dirty="0" err="1"/>
              <a:t>cea</a:t>
            </a:r>
            <a:r>
              <a:rPr lang="en-GB" sz="2000" dirty="0"/>
              <a:t> </a:t>
            </a:r>
            <a:r>
              <a:rPr lang="en-GB" sz="2000" dirty="0" err="1"/>
              <a:t>mai</a:t>
            </a:r>
            <a:r>
              <a:rPr lang="en-GB" sz="2000" dirty="0"/>
              <a:t> </a:t>
            </a:r>
            <a:r>
              <a:rPr lang="en-GB" sz="2000" dirty="0" err="1"/>
              <a:t>bună</a:t>
            </a:r>
            <a:r>
              <a:rPr lang="en-GB" sz="2000" dirty="0"/>
              <a:t> </a:t>
            </a:r>
            <a:r>
              <a:rPr lang="en-GB" sz="2000" dirty="0" err="1"/>
              <a:t>este</a:t>
            </a:r>
            <a:r>
              <a:rPr lang="en-GB" sz="2000" dirty="0"/>
              <a:t> </a:t>
            </a:r>
            <a:r>
              <a:rPr lang="en-GB" sz="2000" dirty="0" err="1"/>
              <a:t>varianta</a:t>
            </a:r>
            <a:r>
              <a:rPr lang="en-GB" sz="2000" dirty="0"/>
              <a:t> care </a:t>
            </a:r>
            <a:r>
              <a:rPr lang="en-GB" sz="2000" dirty="0" err="1"/>
              <a:t>folosește</a:t>
            </a:r>
            <a:r>
              <a:rPr lang="en-GB" sz="2000" dirty="0"/>
              <a:t> Decision Tree pe un set de date </a:t>
            </a:r>
            <a:r>
              <a:rPr lang="en-GB" sz="2000" dirty="0" err="1"/>
              <a:t>preprocesat</a:t>
            </a:r>
            <a:r>
              <a:rPr lang="en-GB" sz="2000" dirty="0"/>
              <a:t>, cu </a:t>
            </a:r>
            <a:r>
              <a:rPr lang="en-GB" sz="2000" dirty="0" err="1"/>
              <a:t>aceasta</a:t>
            </a:r>
            <a:r>
              <a:rPr lang="en-GB" sz="2000" dirty="0"/>
              <a:t> am </a:t>
            </a:r>
            <a:r>
              <a:rPr lang="en-GB" sz="2000" dirty="0" err="1"/>
              <a:t>obținut</a:t>
            </a:r>
            <a:r>
              <a:rPr lang="en-GB" sz="2000" dirty="0"/>
              <a:t> o </a:t>
            </a:r>
            <a:r>
              <a:rPr lang="en-GB" sz="2000" dirty="0" err="1"/>
              <a:t>acuratețe</a:t>
            </a:r>
            <a:r>
              <a:rPr lang="en-GB" sz="2000" dirty="0"/>
              <a:t> de 75%</a:t>
            </a:r>
            <a:r>
              <a:rPr lang="ro-RO" sz="2000" dirty="0"/>
              <a:t>.</a:t>
            </a:r>
            <a:r>
              <a:rPr lang="en-GB" sz="2000" dirty="0"/>
              <a:t> </a:t>
            </a:r>
            <a:endParaRPr lang="ro-RO" sz="2000" dirty="0"/>
          </a:p>
          <a:p>
            <a:pPr marL="0" indent="0" algn="just">
              <a:buNone/>
            </a:pPr>
            <a:r>
              <a:rPr lang="en-GB" sz="2000" dirty="0"/>
              <a:t>Max depth: 100000000000</a:t>
            </a:r>
          </a:p>
          <a:p>
            <a:pPr marL="0" indent="0" algn="just">
              <a:buNone/>
            </a:pPr>
            <a:r>
              <a:rPr lang="en-GB" sz="2000" dirty="0"/>
              <a:t>Min samples split: </a:t>
            </a:r>
            <a:r>
              <a:rPr lang="ro-RO" sz="2000" dirty="0"/>
              <a:t>35</a:t>
            </a:r>
          </a:p>
          <a:p>
            <a:pPr marL="0" indent="0" algn="just">
              <a:buNone/>
            </a:pPr>
            <a:r>
              <a:rPr lang="en-GB" sz="2000" dirty="0"/>
              <a:t>Min samples leaf: 10</a:t>
            </a:r>
          </a:p>
          <a:p>
            <a:pPr algn="just"/>
            <a:r>
              <a:rPr lang="en-GB" sz="2000" dirty="0" err="1"/>
              <a:t>Raport</a:t>
            </a:r>
            <a:r>
              <a:rPr lang="en-GB" sz="2000" dirty="0"/>
              <a:t> de </a:t>
            </a:r>
            <a:r>
              <a:rPr lang="en-GB" sz="2000" dirty="0" err="1"/>
              <a:t>clasificare</a:t>
            </a:r>
            <a:r>
              <a:rPr lang="en-GB" sz="2000" dirty="0"/>
              <a:t>:</a:t>
            </a:r>
            <a:endParaRPr lang="ro-RO" sz="2000" dirty="0"/>
          </a:p>
          <a:p>
            <a:pPr marL="0" indent="0" algn="just">
              <a:buNone/>
            </a:pPr>
            <a:r>
              <a:rPr lang="ro-RO" sz="2000" dirty="0"/>
              <a:t>                      </a:t>
            </a:r>
            <a:r>
              <a:rPr lang="en-GB" sz="2000" dirty="0"/>
              <a:t>precision  recall  </a:t>
            </a:r>
            <a:r>
              <a:rPr lang="ro-RO" sz="2000" dirty="0"/>
              <a:t> </a:t>
            </a:r>
            <a:r>
              <a:rPr lang="en-GB" sz="2000" dirty="0"/>
              <a:t>f1-score   </a:t>
            </a:r>
            <a:r>
              <a:rPr lang="ro-RO" sz="2000" dirty="0" err="1"/>
              <a:t>support</a:t>
            </a:r>
            <a:endParaRPr lang="ro-RO" sz="2000" dirty="0"/>
          </a:p>
          <a:p>
            <a:pPr marL="0" indent="0" algn="just">
              <a:buNone/>
            </a:pPr>
            <a:r>
              <a:rPr lang="ro-RO" sz="2000" dirty="0"/>
              <a:t>          </a:t>
            </a:r>
            <a:r>
              <a:rPr lang="en-GB" sz="2000" dirty="0"/>
              <a:t>0.0     </a:t>
            </a:r>
            <a:r>
              <a:rPr lang="ro-RO" sz="2000" dirty="0"/>
              <a:t>     </a:t>
            </a:r>
            <a:r>
              <a:rPr lang="en-GB" sz="2000" dirty="0"/>
              <a:t>  </a:t>
            </a:r>
            <a:r>
              <a:rPr lang="ro-RO" sz="2000" dirty="0"/>
              <a:t>  </a:t>
            </a:r>
            <a:r>
              <a:rPr lang="en-GB" sz="2000" dirty="0"/>
              <a:t>0.76      </a:t>
            </a:r>
            <a:r>
              <a:rPr lang="ro-RO" sz="2000" dirty="0"/>
              <a:t> </a:t>
            </a:r>
            <a:r>
              <a:rPr lang="en-GB" sz="2000" dirty="0"/>
              <a:t>0.86      0.81        22</a:t>
            </a:r>
            <a:endParaRPr lang="ro-RO" sz="2000" dirty="0"/>
          </a:p>
          <a:p>
            <a:pPr marL="0" indent="0" algn="just">
              <a:buNone/>
            </a:pPr>
            <a:r>
              <a:rPr lang="ro-RO" sz="2000" dirty="0"/>
              <a:t>          </a:t>
            </a:r>
            <a:r>
              <a:rPr lang="en-GB" sz="2000" dirty="0"/>
              <a:t>1.0      </a:t>
            </a:r>
            <a:r>
              <a:rPr lang="ro-RO" sz="2000" dirty="0"/>
              <a:t>       </a:t>
            </a:r>
            <a:r>
              <a:rPr lang="en-GB" sz="2000" dirty="0"/>
              <a:t> 0.75      </a:t>
            </a:r>
            <a:r>
              <a:rPr lang="ro-RO" sz="2000" dirty="0"/>
              <a:t> </a:t>
            </a:r>
            <a:r>
              <a:rPr lang="en-GB" sz="2000" dirty="0"/>
              <a:t>0.60      0.67        15</a:t>
            </a:r>
          </a:p>
          <a:p>
            <a:pPr marL="0" indent="0" algn="just">
              <a:buNone/>
            </a:pPr>
            <a:r>
              <a:rPr lang="en-GB" sz="2000" dirty="0"/>
              <a:t>accuracy                         </a:t>
            </a:r>
            <a:r>
              <a:rPr lang="ro-RO" sz="2000" dirty="0"/>
              <a:t>  </a:t>
            </a:r>
            <a:r>
              <a:rPr lang="en-GB" sz="2000" dirty="0"/>
              <a:t>0.76        37</a:t>
            </a:r>
          </a:p>
          <a:p>
            <a:pPr marL="0" indent="0" algn="just">
              <a:buNone/>
            </a:pPr>
            <a:r>
              <a:rPr lang="en-GB" sz="2000" dirty="0"/>
              <a:t>macro </a:t>
            </a:r>
            <a:r>
              <a:rPr lang="en-GB" sz="2000" dirty="0" err="1"/>
              <a:t>avg</a:t>
            </a:r>
            <a:r>
              <a:rPr lang="en-GB" sz="2000" dirty="0"/>
              <a:t>       </a:t>
            </a:r>
            <a:r>
              <a:rPr lang="ro-RO" sz="2000" dirty="0"/>
              <a:t>   </a:t>
            </a:r>
            <a:r>
              <a:rPr lang="en-GB" sz="2000" dirty="0"/>
              <a:t>0.76      0.73      0.74        37</a:t>
            </a:r>
            <a:endParaRPr lang="ro-RO" sz="2000" dirty="0"/>
          </a:p>
          <a:p>
            <a:pPr marL="0" indent="0" algn="just">
              <a:buNone/>
            </a:pPr>
            <a:r>
              <a:rPr lang="en-GB" sz="2000" dirty="0"/>
              <a:t>weighted </a:t>
            </a:r>
            <a:r>
              <a:rPr lang="en-GB" sz="2000" dirty="0" err="1"/>
              <a:t>avg</a:t>
            </a:r>
            <a:r>
              <a:rPr lang="en-GB" sz="2000" dirty="0"/>
              <a:t>     0.76     0.76      </a:t>
            </a:r>
            <a:r>
              <a:rPr lang="ro-RO" sz="2000" dirty="0"/>
              <a:t> </a:t>
            </a:r>
            <a:r>
              <a:rPr lang="en-GB" sz="2000" dirty="0"/>
              <a:t>0.75       37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E06B19-44BA-3D6E-C3FF-F789CE193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2D3920-29DF-B531-DDBC-DD278DC89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D61741-BAED-610C-16C1-4D9F80216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443260-1701-E683-47D4-3C4DA636D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43131-F65D-815B-488E-EAF4447E5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248" y="1150620"/>
            <a:ext cx="6075679" cy="45567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A28E2B-AC40-D503-6929-2B62D8B42CBA}"/>
              </a:ext>
            </a:extLst>
          </p:cNvPr>
          <p:cNvSpPr txBox="1"/>
          <p:nvPr/>
        </p:nvSpPr>
        <p:spPr>
          <a:xfrm>
            <a:off x="8654060" y="159810"/>
            <a:ext cx="3031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800" dirty="0">
                <a:solidFill>
                  <a:schemeClr val="bg1"/>
                </a:solidFill>
                <a:latin typeface="+mj-lt"/>
              </a:rPr>
              <a:t>Rezultate</a:t>
            </a:r>
          </a:p>
        </p:txBody>
      </p:sp>
    </p:spTree>
    <p:extLst>
      <p:ext uri="{BB962C8B-B14F-4D97-AF65-F5344CB8AC3E}">
        <p14:creationId xmlns:p14="http://schemas.microsoft.com/office/powerpoint/2010/main" val="2397372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D3C360-8C36-E2B8-E098-119B9DFD0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810" y="364878"/>
            <a:ext cx="5323715" cy="775765"/>
          </a:xfrm>
        </p:spPr>
        <p:txBody>
          <a:bodyPr anchor="b">
            <a:normAutofit/>
          </a:bodyPr>
          <a:lstStyle/>
          <a:p>
            <a:r>
              <a:rPr lang="ro-RO" sz="4000" b="1" dirty="0"/>
              <a:t>Logistic </a:t>
            </a:r>
            <a:r>
              <a:rPr lang="ro-RO" sz="4000" b="1" dirty="0" err="1"/>
              <a:t>Regression</a:t>
            </a:r>
            <a:endParaRPr lang="en-GB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BD6F-B4FE-574F-787B-BD58DCD7A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414926"/>
            <a:ext cx="6278879" cy="5078195"/>
          </a:xfrm>
        </p:spPr>
        <p:txBody>
          <a:bodyPr anchor="t">
            <a:noAutofit/>
          </a:bodyPr>
          <a:lstStyle/>
          <a:p>
            <a:pPr algn="just"/>
            <a:r>
              <a:rPr lang="ro-RO" sz="2400" dirty="0"/>
              <a:t>A</a:t>
            </a:r>
            <a:r>
              <a:rPr lang="en-GB" sz="2400" dirty="0"/>
              <a:t>l </a:t>
            </a:r>
            <a:r>
              <a:rPr lang="en-GB" sz="2400" dirty="0" err="1"/>
              <a:t>doilea</a:t>
            </a:r>
            <a:r>
              <a:rPr lang="en-GB" sz="2400" dirty="0"/>
              <a:t> cel </a:t>
            </a:r>
            <a:r>
              <a:rPr lang="en-GB" sz="2400" dirty="0" err="1"/>
              <a:t>mai</a:t>
            </a:r>
            <a:r>
              <a:rPr lang="en-GB" sz="2400" dirty="0"/>
              <a:t> bun model </a:t>
            </a:r>
            <a:r>
              <a:rPr lang="ro-RO" sz="2400" dirty="0"/>
              <a:t>este</a:t>
            </a:r>
            <a:r>
              <a:rPr lang="en-GB" sz="2400" dirty="0"/>
              <a:t> cel</a:t>
            </a:r>
            <a:r>
              <a:rPr lang="ro-RO" sz="2400" dirty="0"/>
              <a:t> ce </a:t>
            </a:r>
            <a:r>
              <a:rPr lang="ro-RO" sz="2400" dirty="0" err="1"/>
              <a:t>foloseste</a:t>
            </a:r>
            <a:r>
              <a:rPr lang="en-GB" sz="2400" dirty="0"/>
              <a:t> </a:t>
            </a:r>
            <a:r>
              <a:rPr lang="ro-RO" sz="2400" dirty="0"/>
              <a:t>Logistic </a:t>
            </a:r>
            <a:r>
              <a:rPr lang="ro-RO" sz="2400" dirty="0" err="1"/>
              <a:t>Regression</a:t>
            </a:r>
            <a:r>
              <a:rPr lang="ro-RO" sz="2400" dirty="0"/>
              <a:t> </a:t>
            </a:r>
            <a:r>
              <a:rPr lang="en-GB" sz="2400" dirty="0"/>
              <a:t>pe </a:t>
            </a:r>
            <a:r>
              <a:rPr lang="en-GB" sz="2400" dirty="0" err="1"/>
              <a:t>același</a:t>
            </a:r>
            <a:r>
              <a:rPr lang="en-GB" sz="2400" dirty="0"/>
              <a:t> set de date</a:t>
            </a:r>
            <a:r>
              <a:rPr lang="ro-RO" sz="2400" dirty="0"/>
              <a:t> preprocesat</a:t>
            </a:r>
            <a:r>
              <a:rPr lang="en-GB" sz="2400" dirty="0"/>
              <a:t>, </a:t>
            </a:r>
            <a:r>
              <a:rPr lang="ro-RO" sz="2400" dirty="0"/>
              <a:t>acesta are </a:t>
            </a:r>
            <a:r>
              <a:rPr lang="en-GB" sz="2400" dirty="0"/>
              <a:t>o </a:t>
            </a:r>
            <a:r>
              <a:rPr lang="en-GB" sz="2400" dirty="0" err="1"/>
              <a:t>acuratețe</a:t>
            </a:r>
            <a:r>
              <a:rPr lang="en-GB" sz="2400" dirty="0"/>
              <a:t> de 68% .</a:t>
            </a:r>
            <a:endParaRPr lang="ro-RO" sz="2400" dirty="0"/>
          </a:p>
          <a:p>
            <a:pPr algn="just"/>
            <a:r>
              <a:rPr lang="en-GB" sz="2400" dirty="0" err="1"/>
              <a:t>Raport</a:t>
            </a:r>
            <a:r>
              <a:rPr lang="en-GB" sz="2400" dirty="0"/>
              <a:t> de </a:t>
            </a:r>
            <a:r>
              <a:rPr lang="ro-RO" sz="2400" dirty="0"/>
              <a:t>clasificare</a:t>
            </a:r>
            <a:r>
              <a:rPr lang="en-GB" sz="2400" dirty="0"/>
              <a:t>:</a:t>
            </a:r>
          </a:p>
          <a:p>
            <a:pPr marL="0" indent="0" algn="just">
              <a:buNone/>
            </a:pPr>
            <a:r>
              <a:rPr lang="en-GB" sz="2400" dirty="0"/>
              <a:t>            </a:t>
            </a:r>
            <a:r>
              <a:rPr lang="ro-RO" sz="2400" dirty="0"/>
              <a:t>       </a:t>
            </a:r>
            <a:r>
              <a:rPr lang="ro-RO" sz="2400" dirty="0" err="1"/>
              <a:t>precision</a:t>
            </a:r>
            <a:r>
              <a:rPr lang="en-GB" sz="2400" dirty="0"/>
              <a:t>  recall  f1-score  support</a:t>
            </a:r>
          </a:p>
          <a:p>
            <a:pPr marL="0" indent="0" algn="just">
              <a:buNone/>
            </a:pPr>
            <a:endParaRPr lang="en-GB" sz="2400" dirty="0"/>
          </a:p>
          <a:p>
            <a:pPr marL="0" indent="0" algn="just">
              <a:buNone/>
            </a:pPr>
            <a:r>
              <a:rPr lang="en-GB" sz="2400" dirty="0"/>
              <a:t>0.0       </a:t>
            </a:r>
            <a:r>
              <a:rPr lang="ro-RO" sz="2400" dirty="0"/>
              <a:t>                </a:t>
            </a:r>
            <a:r>
              <a:rPr lang="en-GB" sz="2400" dirty="0"/>
              <a:t>0.76      0.80      0.78      51</a:t>
            </a:r>
          </a:p>
          <a:p>
            <a:pPr marL="0" indent="0" algn="just">
              <a:buNone/>
            </a:pPr>
            <a:r>
              <a:rPr lang="en-GB" sz="2400" dirty="0"/>
              <a:t>1.0       </a:t>
            </a:r>
            <a:r>
              <a:rPr lang="ro-RO" sz="2400" dirty="0"/>
              <a:t>                </a:t>
            </a:r>
            <a:r>
              <a:rPr lang="en-GB" sz="2400" dirty="0"/>
              <a:t>0.47      0.41      0.44      22</a:t>
            </a:r>
          </a:p>
          <a:p>
            <a:pPr marL="0" indent="0" algn="just">
              <a:buNone/>
            </a:pPr>
            <a:r>
              <a:rPr lang="en-GB" sz="2400" dirty="0"/>
              <a:t>accuracy                         </a:t>
            </a:r>
            <a:r>
              <a:rPr lang="ro-RO" sz="2400" dirty="0"/>
              <a:t>                </a:t>
            </a:r>
            <a:r>
              <a:rPr lang="en-GB" sz="2400" dirty="0"/>
              <a:t>0.68      73</a:t>
            </a:r>
          </a:p>
          <a:p>
            <a:pPr marL="0" indent="0" algn="just">
              <a:buNone/>
            </a:pPr>
            <a:r>
              <a:rPr lang="en-GB" sz="2400" dirty="0"/>
              <a:t>macro </a:t>
            </a:r>
            <a:r>
              <a:rPr lang="en-GB" sz="2400" dirty="0" err="1"/>
              <a:t>avg</a:t>
            </a:r>
            <a:r>
              <a:rPr lang="en-GB" sz="2400" dirty="0"/>
              <a:t>       0.62      </a:t>
            </a:r>
            <a:r>
              <a:rPr lang="ro-RO" sz="2400" dirty="0"/>
              <a:t> </a:t>
            </a:r>
            <a:r>
              <a:rPr lang="en-GB" sz="2400" dirty="0"/>
              <a:t>0.61      0.61      73</a:t>
            </a:r>
          </a:p>
          <a:p>
            <a:pPr marL="0" indent="0" algn="just">
              <a:buNone/>
            </a:pPr>
            <a:r>
              <a:rPr lang="en-GB" sz="2400" dirty="0"/>
              <a:t>weighted </a:t>
            </a:r>
            <a:r>
              <a:rPr lang="en-GB" sz="2400" dirty="0" err="1"/>
              <a:t>avg</a:t>
            </a:r>
            <a:r>
              <a:rPr lang="en-GB" sz="2400" dirty="0"/>
              <a:t>  0.67      0.68      0.68      73</a:t>
            </a:r>
          </a:p>
          <a:p>
            <a:pPr marL="0" indent="0" algn="just">
              <a:buNone/>
            </a:pPr>
            <a:endParaRPr lang="en-GB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12F8D-EBCB-2A81-18E2-05BCA61FD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248" y="1150620"/>
            <a:ext cx="6075679" cy="455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53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E15CE-7FF2-D408-70F3-E8B27DF5F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o-RO" sz="4000">
                <a:solidFill>
                  <a:srgbClr val="FFFFFF"/>
                </a:solidFill>
              </a:rPr>
              <a:t>Concluzie</a:t>
            </a:r>
            <a:endParaRPr lang="en-GB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FECC3-9746-1AFD-8FB0-1691F78EF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2309143"/>
            <a:ext cx="9724031" cy="3683358"/>
          </a:xfrm>
        </p:spPr>
        <p:txBody>
          <a:bodyPr anchor="ctr">
            <a:normAutofit/>
          </a:bodyPr>
          <a:lstStyle/>
          <a:p>
            <a:pPr algn="just"/>
            <a:r>
              <a:rPr lang="ro-RO" sz="2400" dirty="0"/>
              <a:t>În concluzie, algoritmul inteligent dezvoltat este unul de încredere  ce poate fii utilizat în spitale și clinici medicale pentru a oferi în sprijinul personalului medical un instrument de sfătuire în legătură cu gradul de răspundere a pacienților dacă ar alege un vaccin antigripal.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15594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988F6-98B5-668A-AADB-FC646844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ro-RO" sz="4800" dirty="0">
                <a:solidFill>
                  <a:srgbClr val="FFFFFF"/>
                </a:solidFill>
              </a:rPr>
              <a:t>Vă </a:t>
            </a:r>
            <a:r>
              <a:rPr lang="ro-RO" sz="4800" dirty="0" err="1">
                <a:solidFill>
                  <a:srgbClr val="FFFFFF"/>
                </a:solidFill>
              </a:rPr>
              <a:t>multumesc</a:t>
            </a:r>
            <a:r>
              <a:rPr lang="ro-RO" sz="4800" dirty="0">
                <a:solidFill>
                  <a:srgbClr val="FFFFFF"/>
                </a:solidFill>
              </a:rPr>
              <a:t> pentru vizionare!</a:t>
            </a:r>
            <a:endParaRPr lang="en-GB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1278C-6816-FD37-82E3-0A57800E0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2117" y="4876780"/>
            <a:ext cx="9078628" cy="1382107"/>
          </a:xfrm>
        </p:spPr>
        <p:txBody>
          <a:bodyPr anchor="ctr">
            <a:noAutofit/>
          </a:bodyPr>
          <a:lstStyle/>
          <a:p>
            <a:r>
              <a:rPr lang="ro-RO" b="1" dirty="0">
                <a:solidFill>
                  <a:srgbClr val="FFFFFF"/>
                </a:solidFill>
              </a:rPr>
              <a:t>Proiect realizat de</a:t>
            </a:r>
            <a:r>
              <a:rPr lang="en-US" b="1" dirty="0">
                <a:solidFill>
                  <a:srgbClr val="FFFFFF"/>
                </a:solidFill>
              </a:rPr>
              <a:t>:</a:t>
            </a:r>
            <a:endParaRPr lang="ro-RO" b="1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FFFFFF"/>
                </a:solidFill>
              </a:rPr>
              <a:t>Șchiopu Adrian </a:t>
            </a:r>
            <a:r>
              <a:rPr lang="en-US" dirty="0">
                <a:solidFill>
                  <a:srgbClr val="FFFFFF"/>
                </a:solidFill>
              </a:rPr>
              <a:t>(AI)</a:t>
            </a:r>
            <a:endParaRPr lang="ro-RO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FFFFFF"/>
                </a:solidFill>
              </a:rPr>
              <a:t>Șerpe Vlad</a:t>
            </a:r>
            <a:r>
              <a:rPr lang="en-US" dirty="0">
                <a:solidFill>
                  <a:srgbClr val="FFFFFF"/>
                </a:solidFill>
              </a:rPr>
              <a:t> (AI)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Ilea Mario (PPI)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FFFFFF"/>
                </a:solidFill>
              </a:rPr>
              <a:t>Ș</a:t>
            </a:r>
            <a:r>
              <a:rPr lang="en-US" dirty="0" err="1">
                <a:solidFill>
                  <a:srgbClr val="FFFFFF"/>
                </a:solidFill>
              </a:rPr>
              <a:t>urlin</a:t>
            </a:r>
            <a:r>
              <a:rPr lang="en-US" dirty="0">
                <a:solidFill>
                  <a:srgbClr val="FFFFFF"/>
                </a:solidFill>
              </a:rPr>
              <a:t> Darius (PPI)</a:t>
            </a:r>
            <a:endParaRPr lang="en-GB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618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8CD11230B6D248891328E9EA86E3FD" ma:contentTypeVersion="13" ma:contentTypeDescription="Create a new document." ma:contentTypeScope="" ma:versionID="967a42ea26a1170e388e78604e4be4a0">
  <xsd:schema xmlns:xsd="http://www.w3.org/2001/XMLSchema" xmlns:xs="http://www.w3.org/2001/XMLSchema" xmlns:p="http://schemas.microsoft.com/office/2006/metadata/properties" xmlns:ns2="6bfd097c-de7f-452a-9f51-d492e24fd8cf" xmlns:ns3="efb1789d-98cc-491e-820a-b5f4c63bbcf8" targetNamespace="http://schemas.microsoft.com/office/2006/metadata/properties" ma:root="true" ma:fieldsID="8dd754ca8372045a85587c933c344e61" ns2:_="" ns3:_="">
    <xsd:import namespace="6bfd097c-de7f-452a-9f51-d492e24fd8cf"/>
    <xsd:import namespace="efb1789d-98cc-491e-820a-b5f4c63bbcf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097c-de7f-452a-9f51-d492e24fd8c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1789d-98cc-491e-820a-b5f4c63bbcf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b4120566-7fc5-44e3-b5b6-364880437d5c}" ma:internalName="TaxCatchAll" ma:showField="CatchAllData" ma:web="efb1789d-98cc-491e-820a-b5f4c63bbc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6bfd097c-de7f-452a-9f51-d492e24fd8cf" xsi:nil="true"/>
    <TaxCatchAll xmlns="efb1789d-98cc-491e-820a-b5f4c63bbcf8" xsi:nil="true"/>
    <lcf76f155ced4ddcb4097134ff3c332f xmlns="6bfd097c-de7f-452a-9f51-d492e24fd8c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B058301-0CFE-454E-BA9B-2ADC9DBE4668}"/>
</file>

<file path=customXml/itemProps2.xml><?xml version="1.0" encoding="utf-8"?>
<ds:datastoreItem xmlns:ds="http://schemas.openxmlformats.org/officeDocument/2006/customXml" ds:itemID="{B7E0B208-3DC8-4344-AB9E-2B143D8E6CB3}"/>
</file>

<file path=customXml/itemProps3.xml><?xml version="1.0" encoding="utf-8"?>
<ds:datastoreItem xmlns:ds="http://schemas.openxmlformats.org/officeDocument/2006/customXml" ds:itemID="{3D7F46E8-12F9-4084-93FC-FDA05314E775}"/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808</Words>
  <Application>Microsoft Office PowerPoint</Application>
  <PresentationFormat>Widescreen</PresentationFormat>
  <Paragraphs>108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gg sans</vt:lpstr>
      <vt:lpstr>Times New Roman</vt:lpstr>
      <vt:lpstr>Office Theme</vt:lpstr>
      <vt:lpstr>Evoluția Gripei</vt:lpstr>
      <vt:lpstr>Introducere</vt:lpstr>
      <vt:lpstr>Aplicatia FluPRINT si</vt:lpstr>
      <vt:lpstr>Aplicatia FluPRINT si</vt:lpstr>
      <vt:lpstr>Aplicatia FluPRINT si</vt:lpstr>
      <vt:lpstr>Aplicatia FluPRINT si</vt:lpstr>
      <vt:lpstr>Aplicatia FluPRINT si</vt:lpstr>
      <vt:lpstr>Aplicatia FluPRINT si</vt:lpstr>
      <vt:lpstr>Aplicatia FluPRINT si</vt:lpstr>
      <vt:lpstr>Set de date</vt:lpstr>
      <vt:lpstr>Preprocesare</vt:lpstr>
      <vt:lpstr> Decision Tree</vt:lpstr>
      <vt:lpstr>Logistic Regression</vt:lpstr>
      <vt:lpstr>Concluzie</vt:lpstr>
      <vt:lpstr>Vă multumesc pentru vizionare!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ȘCHIOPU</dc:creator>
  <cp:lastModifiedBy>DARIUS FLAVIAN</cp:lastModifiedBy>
  <cp:revision>16</cp:revision>
  <dcterms:created xsi:type="dcterms:W3CDTF">2025-01-16T14:24:07Z</dcterms:created>
  <dcterms:modified xsi:type="dcterms:W3CDTF">2025-01-16T18:25:32Z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0x010100508CD11230B6D248891328E9EA86E3FD</vt:lpwstr>
  </property>
</Properties>
</file>