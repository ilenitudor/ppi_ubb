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08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88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23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62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62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30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2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02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0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62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5095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654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8517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009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861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2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A6BC2-5F5E-4650-8C5F-819C897659A4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5E6A9FB-7977-4689-8536-C4FD15DA2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133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9037A7-2B14-2D0E-B4DF-ED90E4201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Aplicație de Detectare a Regurgitării Mitrale</a:t>
            </a:r>
            <a:endParaRPr lang="en-GB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CF8C5FDC-07B5-CF81-5F8B-F0B842C15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027238"/>
          </a:xfrm>
        </p:spPr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Echipa</a:t>
            </a:r>
            <a:r>
              <a:rPr lang="en-US" dirty="0">
                <a:solidFill>
                  <a:schemeClr val="tx2"/>
                </a:solidFill>
              </a:rPr>
              <a:t> B.O.C (Bacau-Oradea-Cluj)</a:t>
            </a:r>
          </a:p>
          <a:p>
            <a:r>
              <a:rPr lang="en-US" dirty="0">
                <a:solidFill>
                  <a:schemeClr val="tx2"/>
                </a:solidFill>
              </a:rPr>
              <a:t>Mihalache Andrei</a:t>
            </a:r>
          </a:p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Mester</a:t>
            </a:r>
            <a:r>
              <a:rPr lang="en-US" dirty="0">
                <a:solidFill>
                  <a:schemeClr val="tx2"/>
                </a:solidFill>
              </a:rPr>
              <a:t> Alin</a:t>
            </a:r>
          </a:p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Silaghi</a:t>
            </a:r>
            <a:r>
              <a:rPr lang="en-US" dirty="0">
                <a:solidFill>
                  <a:schemeClr val="tx2"/>
                </a:solidFill>
              </a:rPr>
              <a:t> Maria</a:t>
            </a:r>
          </a:p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Miloiu</a:t>
            </a:r>
            <a:r>
              <a:rPr lang="en-US" dirty="0">
                <a:solidFill>
                  <a:schemeClr val="tx2"/>
                </a:solidFill>
              </a:rPr>
              <a:t> Stefan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38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0E8334D-D719-16BB-08CA-0B6E9D34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418666" cy="699247"/>
          </a:xfrm>
        </p:spPr>
        <p:txBody>
          <a:bodyPr>
            <a:normAutofit fontScale="90000"/>
          </a:bodyPr>
          <a:lstStyle/>
          <a:p>
            <a:r>
              <a:rPr lang="en-GB" dirty="0"/>
              <a:t>1. </a:t>
            </a:r>
            <a:r>
              <a:rPr lang="en-GB" dirty="0" err="1"/>
              <a:t>Oportunitățile</a:t>
            </a:r>
            <a:r>
              <a:rPr lang="en-GB" dirty="0"/>
              <a:t> de </a:t>
            </a:r>
            <a:r>
              <a:rPr lang="en-GB" dirty="0" err="1"/>
              <a:t>piață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DAA0481-D8F7-FE8D-BCB5-CE88F955E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8165"/>
            <a:ext cx="8596668" cy="4813197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sz="2000" b="1" dirty="0">
                <a:solidFill>
                  <a:schemeClr val="tx2"/>
                </a:solidFill>
              </a:rPr>
              <a:t>Analiza </a:t>
            </a:r>
            <a:r>
              <a:rPr lang="en-GB" sz="2000" b="1" dirty="0" err="1">
                <a:solidFill>
                  <a:schemeClr val="tx2"/>
                </a:solidFill>
              </a:rPr>
              <a:t>pieței</a:t>
            </a:r>
            <a:r>
              <a:rPr lang="en-GB" sz="2000" b="1" dirty="0">
                <a:solidFill>
                  <a:schemeClr val="tx2"/>
                </a:solidFill>
              </a:rPr>
              <a:t>:</a:t>
            </a:r>
          </a:p>
          <a:p>
            <a:r>
              <a:rPr lang="en-GB" dirty="0">
                <a:solidFill>
                  <a:schemeClr val="tx2"/>
                </a:solidFill>
              </a:rPr>
              <a:t>Industria </a:t>
            </a:r>
            <a:r>
              <a:rPr lang="en-GB" dirty="0" err="1">
                <a:solidFill>
                  <a:schemeClr val="tx2"/>
                </a:solidFill>
              </a:rPr>
              <a:t>sănătății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digitale</a:t>
            </a:r>
            <a:r>
              <a:rPr lang="en-GB" dirty="0">
                <a:solidFill>
                  <a:schemeClr val="tx2"/>
                </a:solidFill>
              </a:rPr>
              <a:t> se </a:t>
            </a:r>
            <a:r>
              <a:rPr lang="en-GB" dirty="0" err="1">
                <a:solidFill>
                  <a:schemeClr val="tx2"/>
                </a:solidFill>
              </a:rPr>
              <a:t>află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într</a:t>
            </a:r>
            <a:r>
              <a:rPr lang="en-GB" dirty="0">
                <a:solidFill>
                  <a:schemeClr val="tx2"/>
                </a:solidFill>
              </a:rPr>
              <a:t>-o </a:t>
            </a:r>
            <a:r>
              <a:rPr lang="en-GB" dirty="0" err="1">
                <a:solidFill>
                  <a:schemeClr val="tx2"/>
                </a:solidFill>
              </a:rPr>
              <a:t>creștere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accelerată</a:t>
            </a:r>
            <a:r>
              <a:rPr lang="en-GB" dirty="0">
                <a:solidFill>
                  <a:schemeClr val="tx2"/>
                </a:solidFill>
              </a:rPr>
              <a:t>, cu o </a:t>
            </a:r>
            <a:r>
              <a:rPr lang="en-GB" dirty="0" err="1">
                <a:solidFill>
                  <a:schemeClr val="tx2"/>
                </a:solidFill>
              </a:rPr>
              <a:t>rată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medie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anuală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creștere</a:t>
            </a:r>
            <a:r>
              <a:rPr lang="en-GB" dirty="0">
                <a:solidFill>
                  <a:schemeClr val="tx2"/>
                </a:solidFill>
              </a:rPr>
              <a:t> (CAGR) de </a:t>
            </a:r>
            <a:r>
              <a:rPr lang="en-GB" dirty="0" err="1">
                <a:solidFill>
                  <a:schemeClr val="tx2"/>
                </a:solidFill>
              </a:rPr>
              <a:t>peste</a:t>
            </a:r>
            <a:r>
              <a:rPr lang="en-GB" dirty="0">
                <a:solidFill>
                  <a:schemeClr val="tx2"/>
                </a:solidFill>
              </a:rPr>
              <a:t> 15%.</a:t>
            </a:r>
          </a:p>
          <a:p>
            <a:r>
              <a:rPr lang="en-GB" dirty="0" err="1">
                <a:solidFill>
                  <a:schemeClr val="tx2"/>
                </a:solidFill>
              </a:rPr>
              <a:t>Piața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globală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aplicații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medicale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axate</a:t>
            </a:r>
            <a:r>
              <a:rPr lang="en-GB" dirty="0">
                <a:solidFill>
                  <a:schemeClr val="tx2"/>
                </a:solidFill>
              </a:rPr>
              <a:t> pe </a:t>
            </a:r>
            <a:r>
              <a:rPr lang="en-GB" dirty="0" err="1">
                <a:solidFill>
                  <a:schemeClr val="tx2"/>
                </a:solidFill>
              </a:rPr>
              <a:t>cardiologie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este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estimată</a:t>
            </a:r>
            <a:r>
              <a:rPr lang="en-GB" dirty="0">
                <a:solidFill>
                  <a:schemeClr val="tx2"/>
                </a:solidFill>
              </a:rPr>
              <a:t> la </a:t>
            </a:r>
            <a:r>
              <a:rPr lang="en-GB" dirty="0" err="1">
                <a:solidFill>
                  <a:schemeClr val="tx2"/>
                </a:solidFill>
              </a:rPr>
              <a:t>peste</a:t>
            </a:r>
            <a:r>
              <a:rPr lang="en-GB" dirty="0">
                <a:solidFill>
                  <a:schemeClr val="tx2"/>
                </a:solidFill>
              </a:rPr>
              <a:t> 20 de </a:t>
            </a:r>
            <a:r>
              <a:rPr lang="en-GB" dirty="0" err="1">
                <a:solidFill>
                  <a:schemeClr val="tx2"/>
                </a:solidFill>
              </a:rPr>
              <a:t>miliarde</a:t>
            </a:r>
            <a:r>
              <a:rPr lang="en-GB" dirty="0">
                <a:solidFill>
                  <a:schemeClr val="tx2"/>
                </a:solidFill>
              </a:rPr>
              <a:t> USD </a:t>
            </a:r>
            <a:r>
              <a:rPr lang="en-GB" dirty="0" err="1">
                <a:solidFill>
                  <a:schemeClr val="tx2"/>
                </a:solidFill>
              </a:rPr>
              <a:t>în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următorii</a:t>
            </a:r>
            <a:r>
              <a:rPr lang="en-GB" dirty="0">
                <a:solidFill>
                  <a:schemeClr val="tx2"/>
                </a:solidFill>
              </a:rPr>
              <a:t> 5 ani.</a:t>
            </a:r>
          </a:p>
          <a:p>
            <a:r>
              <a:rPr lang="en-GB" dirty="0" err="1">
                <a:solidFill>
                  <a:schemeClr val="tx2"/>
                </a:solidFill>
              </a:rPr>
              <a:t>Creșterea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prevalenței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afecțiunilor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cardiace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crește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cererea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soluții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eficiente</a:t>
            </a:r>
            <a:r>
              <a:rPr lang="en-GB" dirty="0">
                <a:solidFill>
                  <a:schemeClr val="tx2"/>
                </a:solidFill>
              </a:rPr>
              <a:t> de diagnostic non-</a:t>
            </a:r>
            <a:r>
              <a:rPr lang="en-GB" dirty="0" err="1">
                <a:solidFill>
                  <a:schemeClr val="tx2"/>
                </a:solidFill>
              </a:rPr>
              <a:t>invaziv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2000" b="1" dirty="0" err="1">
                <a:solidFill>
                  <a:schemeClr val="tx2"/>
                </a:solidFill>
              </a:rPr>
              <a:t>Oportunități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identificate</a:t>
            </a:r>
            <a:r>
              <a:rPr lang="en-GB" sz="2000" b="1" dirty="0">
                <a:solidFill>
                  <a:schemeClr val="tx2"/>
                </a:solidFill>
              </a:rPr>
              <a:t>:</a:t>
            </a:r>
          </a:p>
          <a:p>
            <a:r>
              <a:rPr lang="en-GB" dirty="0" err="1">
                <a:solidFill>
                  <a:schemeClr val="tx2"/>
                </a:solidFill>
              </a:rPr>
              <a:t>Creșterea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adopției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telemedicinei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digitalizării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serviciilor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medicale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r>
              <a:rPr lang="en-GB" dirty="0" err="1">
                <a:solidFill>
                  <a:schemeClr val="tx2"/>
                </a:solidFill>
              </a:rPr>
              <a:t>Cerere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crescută</a:t>
            </a:r>
            <a:r>
              <a:rPr lang="en-GB" dirty="0">
                <a:solidFill>
                  <a:schemeClr val="tx2"/>
                </a:solidFill>
              </a:rPr>
              <a:t> din </a:t>
            </a:r>
            <a:r>
              <a:rPr lang="en-GB" dirty="0" err="1">
                <a:solidFill>
                  <a:schemeClr val="tx2"/>
                </a:solidFill>
              </a:rPr>
              <a:t>partea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clinicilor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soluții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moderne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evaluare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cardiologică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r>
              <a:rPr lang="en-GB" dirty="0" err="1">
                <a:solidFill>
                  <a:schemeClr val="tx2"/>
                </a:solidFill>
              </a:rPr>
              <a:t>Finanțări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granturi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proiecte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inovatoare</a:t>
            </a:r>
            <a:r>
              <a:rPr lang="en-GB" dirty="0">
                <a:solidFill>
                  <a:schemeClr val="tx2"/>
                </a:solidFill>
              </a:rPr>
              <a:t> din </a:t>
            </a:r>
            <a:r>
              <a:rPr lang="en-GB" dirty="0" err="1">
                <a:solidFill>
                  <a:schemeClr val="tx2"/>
                </a:solidFill>
              </a:rPr>
              <a:t>sănătate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003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74C18A8-4A6E-01B6-8F17-4298832F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6141"/>
          </a:xfrm>
        </p:spPr>
        <p:txBody>
          <a:bodyPr/>
          <a:lstStyle/>
          <a:p>
            <a:r>
              <a:rPr lang="en-GB" dirty="0"/>
              <a:t>2. </a:t>
            </a:r>
            <a:r>
              <a:rPr lang="en-GB" dirty="0" err="1"/>
              <a:t>Nevoile</a:t>
            </a:r>
            <a:r>
              <a:rPr lang="en-GB" dirty="0"/>
              <a:t> </a:t>
            </a:r>
            <a:r>
              <a:rPr lang="en-GB" dirty="0" err="1"/>
              <a:t>adresate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6808C85-B6AC-EE9B-44C4-8326B587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4939553"/>
          </a:xfrm>
        </p:spPr>
        <p:txBody>
          <a:bodyPr>
            <a:normAutofit lnSpcReduction="10000"/>
          </a:bodyPr>
          <a:lstStyle/>
          <a:p>
            <a:r>
              <a:rPr lang="en-GB" sz="2200" b="1" dirty="0" err="1">
                <a:solidFill>
                  <a:schemeClr val="tx2"/>
                </a:solidFill>
              </a:rPr>
              <a:t>Nevoia</a:t>
            </a:r>
            <a:r>
              <a:rPr lang="en-GB" sz="2200" b="1" dirty="0">
                <a:solidFill>
                  <a:schemeClr val="tx2"/>
                </a:solidFill>
              </a:rPr>
              <a:t> </a:t>
            </a:r>
            <a:r>
              <a:rPr lang="en-GB" sz="2200" b="1" dirty="0" err="1">
                <a:solidFill>
                  <a:schemeClr val="tx2"/>
                </a:solidFill>
              </a:rPr>
              <a:t>principală</a:t>
            </a:r>
            <a:r>
              <a:rPr lang="en-GB" sz="2200" b="1" dirty="0">
                <a:solidFill>
                  <a:schemeClr val="tx2"/>
                </a:solidFill>
              </a:rPr>
              <a:t>:</a:t>
            </a:r>
          </a:p>
          <a:p>
            <a:r>
              <a:rPr lang="en-GB" dirty="0" err="1">
                <a:solidFill>
                  <a:schemeClr val="tx2"/>
                </a:solidFill>
              </a:rPr>
              <a:t>Detectarea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rapidă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precisă</a:t>
            </a:r>
            <a:r>
              <a:rPr lang="en-GB" dirty="0">
                <a:solidFill>
                  <a:schemeClr val="tx2"/>
                </a:solidFill>
              </a:rPr>
              <a:t> a </a:t>
            </a:r>
            <a:r>
              <a:rPr lang="en-GB" dirty="0" err="1">
                <a:solidFill>
                  <a:schemeClr val="tx2"/>
                </a:solidFill>
              </a:rPr>
              <a:t>regurgitării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mitrale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prevenirea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complicațiilor</a:t>
            </a:r>
            <a:r>
              <a:rPr lang="en-GB" dirty="0">
                <a:solidFill>
                  <a:schemeClr val="tx2"/>
                </a:solidFill>
              </a:rPr>
              <a:t> severe.</a:t>
            </a:r>
          </a:p>
          <a:p>
            <a:r>
              <a:rPr lang="en-GB" dirty="0" err="1">
                <a:solidFill>
                  <a:schemeClr val="tx2"/>
                </a:solidFill>
              </a:rPr>
              <a:t>Optimizarea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timpului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lucru</a:t>
            </a:r>
            <a:r>
              <a:rPr lang="en-GB" dirty="0">
                <a:solidFill>
                  <a:schemeClr val="tx2"/>
                </a:solidFill>
              </a:rPr>
              <a:t> al </a:t>
            </a:r>
            <a:r>
              <a:rPr lang="en-GB" dirty="0" err="1">
                <a:solidFill>
                  <a:schemeClr val="tx2"/>
                </a:solidFill>
              </a:rPr>
              <a:t>medicilor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prin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obținerea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unor</a:t>
            </a:r>
            <a:r>
              <a:rPr lang="en-GB" dirty="0">
                <a:solidFill>
                  <a:schemeClr val="tx2"/>
                </a:solidFill>
              </a:rPr>
              <a:t> date </a:t>
            </a:r>
            <a:r>
              <a:rPr lang="en-GB" dirty="0" err="1">
                <a:solidFill>
                  <a:schemeClr val="tx2"/>
                </a:solidFill>
              </a:rPr>
              <a:t>preliminare</a:t>
            </a:r>
            <a:r>
              <a:rPr lang="en-GB" dirty="0">
                <a:solidFill>
                  <a:schemeClr val="tx2"/>
                </a:solidFill>
              </a:rPr>
              <a:t> precise direct din </a:t>
            </a:r>
            <a:r>
              <a:rPr lang="en-GB" dirty="0" err="1">
                <a:solidFill>
                  <a:schemeClr val="tx2"/>
                </a:solidFill>
              </a:rPr>
              <a:t>aplicație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2200" b="1" dirty="0" err="1">
                <a:solidFill>
                  <a:schemeClr val="tx2"/>
                </a:solidFill>
              </a:rPr>
              <a:t>Comparativ</a:t>
            </a:r>
            <a:r>
              <a:rPr lang="en-GB" sz="2200" b="1" dirty="0">
                <a:solidFill>
                  <a:schemeClr val="tx2"/>
                </a:solidFill>
              </a:rPr>
              <a:t> cu </a:t>
            </a:r>
            <a:r>
              <a:rPr lang="en-GB" sz="2200" b="1" dirty="0" err="1">
                <a:solidFill>
                  <a:schemeClr val="tx2"/>
                </a:solidFill>
              </a:rPr>
              <a:t>competiția</a:t>
            </a:r>
            <a:r>
              <a:rPr lang="en-GB" sz="2200" b="1" dirty="0">
                <a:solidFill>
                  <a:schemeClr val="tx2"/>
                </a:solidFill>
              </a:rPr>
              <a:t>:</a:t>
            </a:r>
          </a:p>
          <a:p>
            <a:r>
              <a:rPr lang="en-GB" dirty="0" err="1">
                <a:solidFill>
                  <a:schemeClr val="tx2"/>
                </a:solidFill>
              </a:rPr>
              <a:t>Companii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similare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oferă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soluții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costisitoare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sau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sisteme</a:t>
            </a:r>
            <a:r>
              <a:rPr lang="en-GB" dirty="0">
                <a:solidFill>
                  <a:schemeClr val="tx2"/>
                </a:solidFill>
              </a:rPr>
              <a:t> complicate de </a:t>
            </a:r>
            <a:r>
              <a:rPr lang="en-GB" dirty="0" err="1">
                <a:solidFill>
                  <a:schemeClr val="tx2"/>
                </a:solidFill>
              </a:rPr>
              <a:t>utilizat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2200" b="1" dirty="0" err="1">
                <a:solidFill>
                  <a:schemeClr val="tx2"/>
                </a:solidFill>
              </a:rPr>
              <a:t>Aplicația</a:t>
            </a:r>
            <a:r>
              <a:rPr lang="en-GB" sz="2200" b="1" dirty="0">
                <a:solidFill>
                  <a:schemeClr val="tx2"/>
                </a:solidFill>
              </a:rPr>
              <a:t> </a:t>
            </a:r>
            <a:r>
              <a:rPr lang="en-GB" sz="2200" b="1" dirty="0" err="1">
                <a:solidFill>
                  <a:schemeClr val="tx2"/>
                </a:solidFill>
              </a:rPr>
              <a:t>noastră</a:t>
            </a:r>
            <a:r>
              <a:rPr lang="en-GB" sz="2200" b="1" dirty="0">
                <a:solidFill>
                  <a:schemeClr val="tx2"/>
                </a:solidFill>
              </a:rPr>
              <a:t> </a:t>
            </a:r>
            <a:r>
              <a:rPr lang="en-GB" sz="2200" b="1" dirty="0" err="1">
                <a:solidFill>
                  <a:schemeClr val="tx2"/>
                </a:solidFill>
              </a:rPr>
              <a:t>oferă</a:t>
            </a:r>
            <a:r>
              <a:rPr lang="en-GB" sz="2200" b="1" dirty="0">
                <a:solidFill>
                  <a:schemeClr val="tx2"/>
                </a:solidFill>
              </a:rPr>
              <a:t>:</a:t>
            </a:r>
          </a:p>
          <a:p>
            <a:r>
              <a:rPr lang="en-GB" dirty="0">
                <a:solidFill>
                  <a:schemeClr val="tx2"/>
                </a:solidFill>
              </a:rPr>
              <a:t>O </a:t>
            </a:r>
            <a:r>
              <a:rPr lang="en-GB" dirty="0" err="1">
                <a:solidFill>
                  <a:schemeClr val="tx2"/>
                </a:solidFill>
              </a:rPr>
              <a:t>interfață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intuitivă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personalul</a:t>
            </a:r>
            <a:r>
              <a:rPr lang="en-GB" dirty="0">
                <a:solidFill>
                  <a:schemeClr val="tx2"/>
                </a:solidFill>
              </a:rPr>
              <a:t> medical.</a:t>
            </a:r>
          </a:p>
          <a:p>
            <a:r>
              <a:rPr lang="en-GB" dirty="0" err="1">
                <a:solidFill>
                  <a:schemeClr val="tx2"/>
                </a:solidFill>
              </a:rPr>
              <a:t>Algoritmi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inteligență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artificială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avansați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rezultate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mai</a:t>
            </a:r>
            <a:r>
              <a:rPr lang="en-GB" dirty="0">
                <a:solidFill>
                  <a:schemeClr val="tx2"/>
                </a:solidFill>
              </a:rPr>
              <a:t> precise.</a:t>
            </a:r>
          </a:p>
          <a:p>
            <a:r>
              <a:rPr lang="en-GB" dirty="0" err="1">
                <a:solidFill>
                  <a:schemeClr val="tx2"/>
                </a:solidFill>
              </a:rPr>
              <a:t>Integrare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facilă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în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fluxul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lucru</a:t>
            </a:r>
            <a:r>
              <a:rPr lang="en-GB" dirty="0">
                <a:solidFill>
                  <a:schemeClr val="tx2"/>
                </a:solidFill>
              </a:rPr>
              <a:t> al </a:t>
            </a:r>
            <a:r>
              <a:rPr lang="en-GB" dirty="0" err="1">
                <a:solidFill>
                  <a:schemeClr val="tx2"/>
                </a:solidFill>
              </a:rPr>
              <a:t>clinicilor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7216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A654C42-31A5-11CA-1AEC-04EDB782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</a:t>
            </a:r>
            <a:r>
              <a:rPr lang="en-GB" dirty="0" err="1"/>
              <a:t>Profilul</a:t>
            </a:r>
            <a:r>
              <a:rPr lang="en-GB" dirty="0"/>
              <a:t> de client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5E8A4AB-F421-FA7A-C132-42523826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49176"/>
          </a:xfrm>
        </p:spPr>
        <p:txBody>
          <a:bodyPr>
            <a:normAutofit/>
          </a:bodyPr>
          <a:lstStyle/>
          <a:p>
            <a:r>
              <a:rPr lang="en-GB" sz="1900" b="1" dirty="0">
                <a:solidFill>
                  <a:schemeClr val="tx2"/>
                </a:solidFill>
              </a:rPr>
              <a:t>Persona: </a:t>
            </a:r>
          </a:p>
          <a:p>
            <a:r>
              <a:rPr lang="en-GB" dirty="0">
                <a:solidFill>
                  <a:schemeClr val="tx2"/>
                </a:solidFill>
              </a:rPr>
              <a:t>Medici </a:t>
            </a:r>
            <a:r>
              <a:rPr lang="en-GB" dirty="0" err="1">
                <a:solidFill>
                  <a:schemeClr val="tx2"/>
                </a:solidFill>
              </a:rPr>
              <a:t>specialiști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în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cardiologie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dirty="0" err="1">
                <a:solidFill>
                  <a:schemeClr val="tx2"/>
                </a:solidFill>
              </a:rPr>
              <a:t>Nevoie</a:t>
            </a:r>
            <a:r>
              <a:rPr lang="en-GB" dirty="0">
                <a:solidFill>
                  <a:schemeClr val="tx2"/>
                </a:solidFill>
              </a:rPr>
              <a:t>: </a:t>
            </a:r>
            <a:r>
              <a:rPr lang="en-GB" dirty="0" err="1">
                <a:solidFill>
                  <a:schemeClr val="tx2"/>
                </a:solidFill>
              </a:rPr>
              <a:t>sprijin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în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evaluarea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preliminară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rapidă</a:t>
            </a:r>
            <a:r>
              <a:rPr lang="en-GB" dirty="0">
                <a:solidFill>
                  <a:schemeClr val="tx2"/>
                </a:solidFill>
              </a:rPr>
              <a:t> a </a:t>
            </a:r>
            <a:r>
              <a:rPr lang="en-GB" dirty="0" err="1">
                <a:solidFill>
                  <a:schemeClr val="tx2"/>
                </a:solidFill>
              </a:rPr>
              <a:t>pacienților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2000" b="1" dirty="0" err="1">
                <a:solidFill>
                  <a:schemeClr val="tx2"/>
                </a:solidFill>
              </a:rPr>
              <a:t>Clinici</a:t>
            </a:r>
            <a:r>
              <a:rPr lang="en-GB" sz="2000" b="1" dirty="0">
                <a:solidFill>
                  <a:schemeClr val="tx2"/>
                </a:solidFill>
              </a:rPr>
              <a:t> private </a:t>
            </a:r>
            <a:r>
              <a:rPr lang="en-GB" sz="2000" b="1" dirty="0" err="1">
                <a:solidFill>
                  <a:schemeClr val="tx2"/>
                </a:solidFill>
              </a:rPr>
              <a:t>și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spitale</a:t>
            </a:r>
            <a:r>
              <a:rPr lang="en-GB" sz="2000" b="1" dirty="0">
                <a:solidFill>
                  <a:schemeClr val="tx2"/>
                </a:solidFill>
              </a:rPr>
              <a:t> (B2B):</a:t>
            </a:r>
          </a:p>
          <a:p>
            <a:r>
              <a:rPr lang="en-GB" dirty="0" err="1">
                <a:solidFill>
                  <a:schemeClr val="tx2"/>
                </a:solidFill>
              </a:rPr>
              <a:t>Nevoie</a:t>
            </a:r>
            <a:r>
              <a:rPr lang="en-GB" dirty="0">
                <a:solidFill>
                  <a:schemeClr val="tx2"/>
                </a:solidFill>
              </a:rPr>
              <a:t>: </a:t>
            </a:r>
            <a:r>
              <a:rPr lang="en-GB" dirty="0" err="1">
                <a:solidFill>
                  <a:schemeClr val="tx2"/>
                </a:solidFill>
              </a:rPr>
              <a:t>îmbunătățirea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serviciilor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medicale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prin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soluții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rapide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eficiente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2000" b="1" dirty="0" err="1">
                <a:solidFill>
                  <a:schemeClr val="tx2"/>
                </a:solidFill>
              </a:rPr>
              <a:t>Instituții</a:t>
            </a:r>
            <a:r>
              <a:rPr lang="en-GB" sz="2000" b="1" dirty="0">
                <a:solidFill>
                  <a:schemeClr val="tx2"/>
                </a:solidFill>
              </a:rPr>
              <a:t> </a:t>
            </a:r>
            <a:r>
              <a:rPr lang="en-GB" sz="2000" b="1" dirty="0" err="1">
                <a:solidFill>
                  <a:schemeClr val="tx2"/>
                </a:solidFill>
              </a:rPr>
              <a:t>publice</a:t>
            </a:r>
            <a:r>
              <a:rPr lang="en-GB" sz="2000" b="1" dirty="0">
                <a:solidFill>
                  <a:schemeClr val="tx2"/>
                </a:solidFill>
              </a:rPr>
              <a:t> (B2G):</a:t>
            </a:r>
          </a:p>
          <a:p>
            <a:r>
              <a:rPr lang="en-GB" dirty="0" err="1">
                <a:solidFill>
                  <a:schemeClr val="tx2"/>
                </a:solidFill>
              </a:rPr>
              <a:t>Nevoie</a:t>
            </a:r>
            <a:r>
              <a:rPr lang="en-GB" dirty="0">
                <a:solidFill>
                  <a:schemeClr val="tx2"/>
                </a:solidFill>
              </a:rPr>
              <a:t>: </a:t>
            </a:r>
            <a:r>
              <a:rPr lang="en-GB" dirty="0" err="1">
                <a:solidFill>
                  <a:schemeClr val="tx2"/>
                </a:solidFill>
              </a:rPr>
              <a:t>implementarea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programe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naționale</a:t>
            </a:r>
            <a:r>
              <a:rPr lang="en-GB" dirty="0">
                <a:solidFill>
                  <a:schemeClr val="tx2"/>
                </a:solidFill>
              </a:rPr>
              <a:t> de screening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prevenția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afecțiunilor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cardiace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711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D4B2015-ECF2-050D-CA17-7FCB4DB3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4424"/>
          </a:xfrm>
        </p:spPr>
        <p:txBody>
          <a:bodyPr/>
          <a:lstStyle/>
          <a:p>
            <a:r>
              <a:rPr lang="en-GB" dirty="0"/>
              <a:t>4. </a:t>
            </a:r>
            <a:r>
              <a:rPr lang="en-GB" dirty="0" err="1"/>
              <a:t>Valoarea</a:t>
            </a:r>
            <a:r>
              <a:rPr lang="en-GB" dirty="0"/>
              <a:t> </a:t>
            </a:r>
            <a:r>
              <a:rPr lang="en-GB" dirty="0" err="1"/>
              <a:t>propusă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0E453C0-26A7-E751-F1DC-AF6ECE941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4669762"/>
          </a:xfrm>
        </p:spPr>
        <p:txBody>
          <a:bodyPr>
            <a:normAutofit/>
          </a:bodyPr>
          <a:lstStyle/>
          <a:p>
            <a:endParaRPr lang="en-GB" sz="2000" dirty="0"/>
          </a:p>
          <a:p>
            <a:r>
              <a:rPr lang="en-GB" sz="2400" b="1" dirty="0" err="1">
                <a:solidFill>
                  <a:schemeClr val="tx2"/>
                </a:solidFill>
              </a:rPr>
              <a:t>Avantaje</a:t>
            </a:r>
            <a:r>
              <a:rPr lang="en-GB" sz="2400" b="1" dirty="0">
                <a:solidFill>
                  <a:schemeClr val="tx2"/>
                </a:solidFill>
              </a:rPr>
              <a:t> competitive: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 err="1">
                <a:solidFill>
                  <a:schemeClr val="tx2"/>
                </a:solidFill>
              </a:rPr>
              <a:t>Detectare</a:t>
            </a:r>
            <a:r>
              <a:rPr lang="en-GB" sz="2000" dirty="0">
                <a:solidFill>
                  <a:schemeClr val="tx2"/>
                </a:solidFill>
              </a:rPr>
              <a:t> non-</a:t>
            </a:r>
            <a:r>
              <a:rPr lang="en-GB" sz="2000" dirty="0" err="1">
                <a:solidFill>
                  <a:schemeClr val="tx2"/>
                </a:solidFill>
              </a:rPr>
              <a:t>invazivă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și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rapidă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prin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intermediul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aplicației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Reducerea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timpului</a:t>
            </a:r>
            <a:r>
              <a:rPr lang="en-GB" sz="2000" dirty="0">
                <a:solidFill>
                  <a:schemeClr val="tx2"/>
                </a:solidFill>
              </a:rPr>
              <a:t> de diagnostic </a:t>
            </a:r>
            <a:r>
              <a:rPr lang="en-GB" sz="2000" dirty="0" err="1">
                <a:solidFill>
                  <a:schemeClr val="tx2"/>
                </a:solidFill>
              </a:rPr>
              <a:t>preliminar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pentru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medici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Algoritm</a:t>
            </a:r>
            <a:r>
              <a:rPr lang="en-GB" sz="2000" dirty="0">
                <a:solidFill>
                  <a:schemeClr val="tx2"/>
                </a:solidFill>
              </a:rPr>
              <a:t> AI care </a:t>
            </a:r>
            <a:r>
              <a:rPr lang="en-GB" sz="2000" dirty="0" err="1">
                <a:solidFill>
                  <a:schemeClr val="tx2"/>
                </a:solidFill>
              </a:rPr>
              <a:t>își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îmbunătățește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performanța</a:t>
            </a:r>
            <a:r>
              <a:rPr lang="en-GB" sz="2000" dirty="0">
                <a:solidFill>
                  <a:schemeClr val="tx2"/>
                </a:solidFill>
              </a:rPr>
              <a:t> pe </a:t>
            </a:r>
            <a:r>
              <a:rPr lang="en-GB" sz="2000" dirty="0" err="1">
                <a:solidFill>
                  <a:schemeClr val="tx2"/>
                </a:solidFill>
              </a:rPr>
              <a:t>baza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datelor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colectate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Integrare</a:t>
            </a:r>
            <a:r>
              <a:rPr lang="en-GB" sz="2000" dirty="0">
                <a:solidFill>
                  <a:schemeClr val="tx2"/>
                </a:solidFill>
              </a:rPr>
              <a:t> cu </a:t>
            </a:r>
            <a:r>
              <a:rPr lang="en-GB" sz="2000" dirty="0" err="1">
                <a:solidFill>
                  <a:schemeClr val="tx2"/>
                </a:solidFill>
              </a:rPr>
              <a:t>echipamente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medicale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existente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pentru</a:t>
            </a:r>
            <a:r>
              <a:rPr lang="en-GB" sz="2000" dirty="0">
                <a:solidFill>
                  <a:schemeClr val="tx2"/>
                </a:solidFill>
              </a:rPr>
              <a:t> o </a:t>
            </a:r>
            <a:r>
              <a:rPr lang="en-GB" sz="2000" dirty="0" err="1">
                <a:solidFill>
                  <a:schemeClr val="tx2"/>
                </a:solidFill>
              </a:rPr>
              <a:t>interoperabilitate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crescută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5009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0D64FBE-C35C-051E-CAA6-6BF4886E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106"/>
          </a:xfrm>
        </p:spPr>
        <p:txBody>
          <a:bodyPr/>
          <a:lstStyle/>
          <a:p>
            <a:r>
              <a:rPr lang="en-GB" dirty="0"/>
              <a:t>5. </a:t>
            </a:r>
            <a:r>
              <a:rPr lang="en-GB" dirty="0" err="1"/>
              <a:t>Modelul</a:t>
            </a:r>
            <a:r>
              <a:rPr lang="en-GB" dirty="0"/>
              <a:t> de business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858B366-DC1D-E899-A744-C59FCFE1A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5059"/>
            <a:ext cx="8596668" cy="4786303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sz="2400" b="1" dirty="0" err="1">
                <a:solidFill>
                  <a:schemeClr val="tx2"/>
                </a:solidFill>
              </a:rPr>
              <a:t>Formă</a:t>
            </a:r>
            <a:r>
              <a:rPr lang="en-GB" sz="2400" b="1" dirty="0">
                <a:solidFill>
                  <a:schemeClr val="tx2"/>
                </a:solidFill>
              </a:rPr>
              <a:t> de </a:t>
            </a:r>
            <a:r>
              <a:rPr lang="en-GB" sz="2400" b="1" dirty="0" err="1">
                <a:solidFill>
                  <a:schemeClr val="tx2"/>
                </a:solidFill>
              </a:rPr>
              <a:t>monetizare</a:t>
            </a:r>
            <a:r>
              <a:rPr lang="en-GB" sz="2400" b="1" dirty="0">
                <a:solidFill>
                  <a:schemeClr val="tx2"/>
                </a:solidFill>
              </a:rPr>
              <a:t>: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Licență</a:t>
            </a:r>
            <a:r>
              <a:rPr lang="en-GB" sz="2000" dirty="0">
                <a:solidFill>
                  <a:schemeClr val="tx2"/>
                </a:solidFill>
              </a:rPr>
              <a:t> (B2B): </a:t>
            </a:r>
            <a:r>
              <a:rPr lang="en-GB" sz="2000" dirty="0" err="1">
                <a:solidFill>
                  <a:schemeClr val="tx2"/>
                </a:solidFill>
              </a:rPr>
              <a:t>pentru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clinici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și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spitale</a:t>
            </a:r>
            <a:r>
              <a:rPr lang="en-GB" sz="2000" dirty="0">
                <a:solidFill>
                  <a:schemeClr val="tx2"/>
                </a:solidFill>
              </a:rPr>
              <a:t>, </a:t>
            </a:r>
            <a:r>
              <a:rPr lang="en-GB" sz="2000" dirty="0" err="1">
                <a:solidFill>
                  <a:schemeClr val="tx2"/>
                </a:solidFill>
              </a:rPr>
              <a:t>acces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complet</a:t>
            </a:r>
            <a:r>
              <a:rPr lang="en-GB" sz="2000" dirty="0">
                <a:solidFill>
                  <a:schemeClr val="tx2"/>
                </a:solidFill>
              </a:rPr>
              <a:t> la </a:t>
            </a:r>
            <a:r>
              <a:rPr lang="en-GB" sz="2000" dirty="0" err="1">
                <a:solidFill>
                  <a:schemeClr val="tx2"/>
                </a:solidFill>
              </a:rPr>
              <a:t>funcții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avansate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Parteneriate</a:t>
            </a:r>
            <a:r>
              <a:rPr lang="en-GB" sz="2000" dirty="0">
                <a:solidFill>
                  <a:schemeClr val="tx2"/>
                </a:solidFill>
              </a:rPr>
              <a:t> cu </a:t>
            </a:r>
            <a:r>
              <a:rPr lang="en-GB" sz="2000" dirty="0" err="1">
                <a:solidFill>
                  <a:schemeClr val="tx2"/>
                </a:solidFill>
              </a:rPr>
              <a:t>instituții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publice</a:t>
            </a:r>
            <a:r>
              <a:rPr lang="en-GB" sz="2000" dirty="0">
                <a:solidFill>
                  <a:schemeClr val="tx2"/>
                </a:solidFill>
              </a:rPr>
              <a:t> (B2G): </a:t>
            </a:r>
            <a:r>
              <a:rPr lang="en-GB" sz="2000" dirty="0" err="1">
                <a:solidFill>
                  <a:schemeClr val="tx2"/>
                </a:solidFill>
              </a:rPr>
              <a:t>integrarea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în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programe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naționale</a:t>
            </a:r>
            <a:r>
              <a:rPr lang="en-GB" sz="2000" dirty="0">
                <a:solidFill>
                  <a:schemeClr val="tx2"/>
                </a:solidFill>
              </a:rPr>
              <a:t> de </a:t>
            </a:r>
            <a:r>
              <a:rPr lang="en-GB" sz="2000" dirty="0" err="1">
                <a:solidFill>
                  <a:schemeClr val="tx2"/>
                </a:solidFill>
              </a:rPr>
              <a:t>sănătate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prin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achiziții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instituționale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400" b="1" dirty="0" err="1">
                <a:solidFill>
                  <a:schemeClr val="tx2"/>
                </a:solidFill>
              </a:rPr>
              <a:t>Fluxuri</a:t>
            </a:r>
            <a:r>
              <a:rPr lang="en-GB" sz="2400" b="1" dirty="0">
                <a:solidFill>
                  <a:schemeClr val="tx2"/>
                </a:solidFill>
              </a:rPr>
              <a:t> de </a:t>
            </a:r>
            <a:r>
              <a:rPr lang="en-GB" sz="2400" b="1" dirty="0" err="1">
                <a:solidFill>
                  <a:schemeClr val="tx2"/>
                </a:solidFill>
              </a:rPr>
              <a:t>venit</a:t>
            </a:r>
            <a:r>
              <a:rPr lang="en-GB" sz="2400" b="1" dirty="0">
                <a:solidFill>
                  <a:schemeClr val="tx2"/>
                </a:solidFill>
              </a:rPr>
              <a:t>: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Licențiere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anuală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pentru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clinici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și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spitale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Servicii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suplimentare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pentru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integrarea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și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personalizarea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aplicației</a:t>
            </a:r>
            <a:r>
              <a:rPr lang="en-GB" sz="2000" dirty="0">
                <a:solidFill>
                  <a:schemeClr val="tx2"/>
                </a:solidFill>
              </a:rPr>
              <a:t> conform </a:t>
            </a:r>
            <a:r>
              <a:rPr lang="en-GB" sz="2000" dirty="0" err="1">
                <a:solidFill>
                  <a:schemeClr val="tx2"/>
                </a:solidFill>
              </a:rPr>
              <a:t>cerințelor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instituțiilor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765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06402C1-41F5-8535-B523-C993C1E7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797859"/>
          </a:xfrm>
        </p:spPr>
        <p:txBody>
          <a:bodyPr anchor="ctr">
            <a:normAutofit/>
          </a:bodyPr>
          <a:lstStyle/>
          <a:p>
            <a:r>
              <a:rPr lang="en-US" dirty="0" err="1"/>
              <a:t>Aplicatie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B10086-DC69-6078-A34B-62B50725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1586753"/>
            <a:ext cx="2930517" cy="4661647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 err="1">
                <a:solidFill>
                  <a:schemeClr val="tx2"/>
                </a:solidFill>
              </a:rPr>
              <a:t>Pașii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pentru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utilizarea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aplicației</a:t>
            </a:r>
            <a:r>
              <a:rPr lang="en-GB" b="1" dirty="0">
                <a:solidFill>
                  <a:schemeClr val="tx2"/>
                </a:solidFill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Încărcare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fișier</a:t>
            </a:r>
            <a:r>
              <a:rPr lang="en-GB" b="1" dirty="0">
                <a:solidFill>
                  <a:schemeClr val="tx2"/>
                </a:solidFill>
              </a:rPr>
              <a:t>: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Apasă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b="1" dirty="0">
                <a:solidFill>
                  <a:schemeClr val="tx2"/>
                </a:solidFill>
              </a:rPr>
              <a:t>"Browse files"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selectează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fișierul</a:t>
            </a:r>
            <a:r>
              <a:rPr lang="en-GB" dirty="0">
                <a:solidFill>
                  <a:schemeClr val="tx2"/>
                </a:solidFill>
              </a:rPr>
              <a:t> Excel cu </a:t>
            </a:r>
            <a:r>
              <a:rPr lang="en-GB" dirty="0" err="1">
                <a:solidFill>
                  <a:schemeClr val="tx2"/>
                </a:solidFill>
              </a:rPr>
              <a:t>datele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pacienților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Procesare</a:t>
            </a:r>
            <a:r>
              <a:rPr lang="en-GB" b="1" dirty="0">
                <a:solidFill>
                  <a:schemeClr val="tx2"/>
                </a:solidFill>
              </a:rPr>
              <a:t> date: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Fișierul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este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încărcat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procesat</a:t>
            </a:r>
            <a:r>
              <a:rPr lang="en-GB" dirty="0">
                <a:solidFill>
                  <a:schemeClr val="tx2"/>
                </a:solidFill>
              </a:rPr>
              <a:t> automat (se </a:t>
            </a:r>
            <a:r>
              <a:rPr lang="en-GB" dirty="0" err="1">
                <a:solidFill>
                  <a:schemeClr val="tx2"/>
                </a:solidFill>
              </a:rPr>
              <a:t>calculează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scorurile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clinice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se </a:t>
            </a:r>
            <a:r>
              <a:rPr lang="en-GB" dirty="0" err="1">
                <a:solidFill>
                  <a:schemeClr val="tx2"/>
                </a:solidFill>
              </a:rPr>
              <a:t>clasifică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severitatea</a:t>
            </a:r>
            <a:r>
              <a:rPr lang="en-GB" dirty="0">
                <a:solidFill>
                  <a:schemeClr val="tx2"/>
                </a:solidFill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Afișare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rezultate</a:t>
            </a:r>
            <a:r>
              <a:rPr lang="en-GB" b="1" dirty="0">
                <a:solidFill>
                  <a:schemeClr val="tx2"/>
                </a:solidFill>
              </a:rPr>
              <a:t>: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Se </a:t>
            </a:r>
            <a:r>
              <a:rPr lang="en-GB" dirty="0" err="1">
                <a:solidFill>
                  <a:schemeClr val="tx2"/>
                </a:solidFill>
              </a:rPr>
              <a:t>afișează</a:t>
            </a:r>
            <a:r>
              <a:rPr lang="en-GB" dirty="0">
                <a:solidFill>
                  <a:schemeClr val="tx2"/>
                </a:solidFill>
              </a:rPr>
              <a:t> un </a:t>
            </a:r>
            <a:r>
              <a:rPr lang="en-GB" dirty="0" err="1">
                <a:solidFill>
                  <a:schemeClr val="tx2"/>
                </a:solidFill>
              </a:rPr>
              <a:t>tabel</a:t>
            </a:r>
            <a:r>
              <a:rPr lang="en-GB" dirty="0">
                <a:solidFill>
                  <a:schemeClr val="tx2"/>
                </a:solidFill>
              </a:rPr>
              <a:t> cu ID-</a:t>
            </a:r>
            <a:r>
              <a:rPr lang="en-GB" dirty="0" err="1">
                <a:solidFill>
                  <a:schemeClr val="tx2"/>
                </a:solidFill>
              </a:rPr>
              <a:t>ul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pacientului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scorul</a:t>
            </a:r>
            <a:r>
              <a:rPr lang="en-GB" dirty="0">
                <a:solidFill>
                  <a:schemeClr val="tx2"/>
                </a:solidFill>
              </a:rPr>
              <a:t> clinic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severitatea</a:t>
            </a:r>
            <a:r>
              <a:rPr lang="en-GB" dirty="0">
                <a:solidFill>
                  <a:schemeClr val="tx2"/>
                </a:solidFill>
              </a:rPr>
              <a:t> (</a:t>
            </a:r>
            <a:r>
              <a:rPr lang="en-GB" dirty="0" err="1">
                <a:solidFill>
                  <a:schemeClr val="tx2"/>
                </a:solidFill>
              </a:rPr>
              <a:t>Ușoară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Moderată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Severă</a:t>
            </a:r>
            <a:r>
              <a:rPr lang="en-GB" dirty="0">
                <a:solidFill>
                  <a:schemeClr val="tx2"/>
                </a:solidFill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Analiză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vizuală</a:t>
            </a:r>
            <a:r>
              <a:rPr lang="en-GB" b="1" dirty="0">
                <a:solidFill>
                  <a:schemeClr val="tx2"/>
                </a:solidFill>
              </a:rPr>
              <a:t>: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După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tabel</a:t>
            </a:r>
            <a:r>
              <a:rPr lang="en-GB" dirty="0">
                <a:solidFill>
                  <a:schemeClr val="tx2"/>
                </a:solidFill>
              </a:rPr>
              <a:t>, sunt </a:t>
            </a:r>
            <a:r>
              <a:rPr lang="en-GB" dirty="0" err="1">
                <a:solidFill>
                  <a:schemeClr val="tx2"/>
                </a:solidFill>
              </a:rPr>
              <a:t>disponibile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grafice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interpretarea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distribuției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scorurilor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relațiilor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dintre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indicatori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5" name="Substituent conținut 4" descr="O imagine care conține text, captură de ecran&#10;&#10;Descriere generată automat">
            <a:extLst>
              <a:ext uri="{FF2B5EF4-FFF2-40B4-BE49-F238E27FC236}">
                <a16:creationId xmlns:a16="http://schemas.microsoft.com/office/drawing/2014/main" id="{C6E65B42-9EE5-2C5F-95FC-B52C5D937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36" y="1040353"/>
            <a:ext cx="7828939" cy="1330919"/>
          </a:xfrm>
          <a:prstGeom prst="rect">
            <a:avLst/>
          </a:prstGeom>
        </p:spPr>
      </p:pic>
      <p:pic>
        <p:nvPicPr>
          <p:cNvPr id="7" name="Imagine 6" descr="O imagine care conține text, captură de ecran, proiectare&#10;&#10;Descriere generată automat">
            <a:extLst>
              <a:ext uri="{FF2B5EF4-FFF2-40B4-BE49-F238E27FC236}">
                <a16:creationId xmlns:a16="http://schemas.microsoft.com/office/drawing/2014/main" id="{37CA5A2B-B9D3-A1E9-7A57-3B07E1D85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38" y="2716307"/>
            <a:ext cx="7802116" cy="310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88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B06DC86-B022-32E6-602D-DC94368B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25" y="609600"/>
            <a:ext cx="5114776" cy="1320800"/>
          </a:xfrm>
        </p:spPr>
        <p:txBody>
          <a:bodyPr>
            <a:normAutofit/>
          </a:bodyPr>
          <a:lstStyle/>
          <a:p>
            <a:r>
              <a:rPr lang="en-US" dirty="0" err="1"/>
              <a:t>Graficele</a:t>
            </a:r>
            <a:endParaRPr lang="en-GB" dirty="0"/>
          </a:p>
        </p:txBody>
      </p:sp>
      <p:pic>
        <p:nvPicPr>
          <p:cNvPr id="7" name="Imagine 6" descr="O imagine care conține captură de ecran, linie, software, Interval&#10;&#10;Descriere generată automat">
            <a:extLst>
              <a:ext uri="{FF2B5EF4-FFF2-40B4-BE49-F238E27FC236}">
                <a16:creationId xmlns:a16="http://schemas.microsoft.com/office/drawing/2014/main" id="{95D22228-4E87-9BFD-131E-6C06F1F30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0" r="10061" b="4"/>
          <a:stretch/>
        </p:blipFill>
        <p:spPr>
          <a:xfrm>
            <a:off x="593649" y="10"/>
            <a:ext cx="3433363" cy="1714490"/>
          </a:xfrm>
          <a:custGeom>
            <a:avLst/>
            <a:gdLst/>
            <a:ahLst/>
            <a:cxnLst/>
            <a:rect l="l" t="t" r="r" b="b"/>
            <a:pathLst>
              <a:path w="3433363" h="1714500">
                <a:moveTo>
                  <a:pt x="254958" y="0"/>
                </a:moveTo>
                <a:lnTo>
                  <a:pt x="3433363" y="0"/>
                </a:lnTo>
                <a:lnTo>
                  <a:pt x="3386734" y="312174"/>
                </a:lnTo>
                <a:lnTo>
                  <a:pt x="3386620" y="312174"/>
                </a:lnTo>
                <a:lnTo>
                  <a:pt x="3177155" y="1714500"/>
                </a:lnTo>
                <a:lnTo>
                  <a:pt x="0" y="1714500"/>
                </a:lnTo>
                <a:close/>
              </a:path>
            </a:pathLst>
          </a:custGeom>
        </p:spPr>
      </p:pic>
      <p:pic>
        <p:nvPicPr>
          <p:cNvPr id="5" name="Substituent conținut 4" descr="O imagine care conține captură de ecran, text, software, Software multimedia&#10;&#10;Descriere generată automat">
            <a:extLst>
              <a:ext uri="{FF2B5EF4-FFF2-40B4-BE49-F238E27FC236}">
                <a16:creationId xmlns:a16="http://schemas.microsoft.com/office/drawing/2014/main" id="{1C2A8CBB-C2B0-EE10-1A25-4F52B99643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22" b="-3"/>
          <a:stretch/>
        </p:blipFill>
        <p:spPr>
          <a:xfrm>
            <a:off x="338691" y="1714500"/>
            <a:ext cx="3432113" cy="1714500"/>
          </a:xfrm>
          <a:custGeom>
            <a:avLst/>
            <a:gdLst/>
            <a:ahLst/>
            <a:cxnLst/>
            <a:rect l="l" t="t" r="r" b="b"/>
            <a:pathLst>
              <a:path w="3432113" h="1714500">
                <a:moveTo>
                  <a:pt x="254958" y="0"/>
                </a:moveTo>
                <a:lnTo>
                  <a:pt x="3432113" y="0"/>
                </a:lnTo>
                <a:lnTo>
                  <a:pt x="3176018" y="1714500"/>
                </a:lnTo>
                <a:lnTo>
                  <a:pt x="0" y="1714500"/>
                </a:lnTo>
                <a:close/>
              </a:path>
            </a:pathLst>
          </a:custGeom>
        </p:spPr>
      </p:pic>
      <p:pic>
        <p:nvPicPr>
          <p:cNvPr id="12" name="Imagine 11" descr="O imagine care conține text, captură de ecran, pătrat, Dreptunghi&#10;&#10;Descriere generată automat">
            <a:extLst>
              <a:ext uri="{FF2B5EF4-FFF2-40B4-BE49-F238E27FC236}">
                <a16:creationId xmlns:a16="http://schemas.microsoft.com/office/drawing/2014/main" id="{94DE2243-8E23-CF3A-C174-8F43C447F5D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11158"/>
          <a:stretch/>
        </p:blipFill>
        <p:spPr>
          <a:xfrm>
            <a:off x="83733" y="3429000"/>
            <a:ext cx="3430976" cy="1714500"/>
          </a:xfrm>
          <a:custGeom>
            <a:avLst/>
            <a:gdLst/>
            <a:ahLst/>
            <a:cxnLst/>
            <a:rect l="l" t="t" r="r" b="b"/>
            <a:pathLst>
              <a:path w="3430976" h="1714500">
                <a:moveTo>
                  <a:pt x="254958" y="0"/>
                </a:moveTo>
                <a:lnTo>
                  <a:pt x="3430976" y="0"/>
                </a:lnTo>
                <a:lnTo>
                  <a:pt x="3174882" y="1714500"/>
                </a:lnTo>
                <a:lnTo>
                  <a:pt x="0" y="1714500"/>
                </a:lnTo>
                <a:close/>
              </a:path>
            </a:pathLst>
          </a:custGeom>
        </p:spPr>
      </p:pic>
      <p:pic>
        <p:nvPicPr>
          <p:cNvPr id="9" name="Substituent conținut 8" descr="O imagine care conține diagramă, captură de ecran, Interval, linie&#10;&#10;Descriere generată automat">
            <a:extLst>
              <a:ext uri="{FF2B5EF4-FFF2-40B4-BE49-F238E27FC236}">
                <a16:creationId xmlns:a16="http://schemas.microsoft.com/office/drawing/2014/main" id="{DB10FD78-0F66-CD9F-7ACB-FE22E28C4CC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15816" b="3"/>
          <a:stretch/>
        </p:blipFill>
        <p:spPr>
          <a:xfrm>
            <a:off x="-10633" y="5127992"/>
            <a:ext cx="3271564" cy="1730008"/>
          </a:xfrm>
          <a:custGeom>
            <a:avLst/>
            <a:gdLst/>
            <a:ahLst/>
            <a:cxnLst/>
            <a:rect l="l" t="t" r="r" b="b"/>
            <a:pathLst>
              <a:path w="3271564" h="1730008">
                <a:moveTo>
                  <a:pt x="96673" y="0"/>
                </a:moveTo>
                <a:lnTo>
                  <a:pt x="3271564" y="0"/>
                </a:lnTo>
                <a:lnTo>
                  <a:pt x="3013153" y="1730008"/>
                </a:lnTo>
                <a:lnTo>
                  <a:pt x="0" y="1730008"/>
                </a:lnTo>
                <a:lnTo>
                  <a:pt x="0" y="650088"/>
                </a:lnTo>
                <a:close/>
              </a:path>
            </a:pathLst>
          </a:custGeom>
        </p:spPr>
      </p:pic>
      <p:sp>
        <p:nvSpPr>
          <p:cNvPr id="26" name="Isosceles Triangle 30">
            <a:extLst>
              <a:ext uri="{FF2B5EF4-FFF2-40B4-BE49-F238E27FC236}">
                <a16:creationId xmlns:a16="http://schemas.microsoft.com/office/drawing/2014/main" id="{A7F86C6F-4E04-40E7-815B-19FB20600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63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37D331-34F4-4851-ACFD-40C39210C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8712" y="1714500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ABCF8F-970F-4735-AAEB-D8920A36E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088" y="3421959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7B193B-079F-4E36-A99E-6B051B12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950" y="5127992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0">
            <a:extLst>
              <a:ext uri="{FF2B5EF4-FFF2-40B4-BE49-F238E27FC236}">
                <a16:creationId xmlns:a16="http://schemas.microsoft.com/office/drawing/2014/main" id="{F25A59A1-ABE2-44A2-8BC8-538425FB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306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03E4C6E-37E0-2EBA-0363-D737D5C8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224" y="1308847"/>
            <a:ext cx="5316469" cy="4732515"/>
          </a:xfrm>
        </p:spPr>
        <p:txBody>
          <a:bodyPr>
            <a:normAutofit lnSpcReduction="10000"/>
          </a:bodyPr>
          <a:lstStyle/>
          <a:p>
            <a:r>
              <a:rPr lang="en-GB" b="1" dirty="0" err="1">
                <a:solidFill>
                  <a:schemeClr val="tx2"/>
                </a:solidFill>
              </a:rPr>
              <a:t>Descrierea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graficelor</a:t>
            </a:r>
            <a:r>
              <a:rPr lang="en-GB" b="1" dirty="0">
                <a:solidFill>
                  <a:schemeClr val="tx2"/>
                </a:solidFill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chemeClr val="tx2"/>
                </a:solidFill>
              </a:rPr>
              <a:t>Scatter Plots: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Relația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dintre</a:t>
            </a:r>
            <a:r>
              <a:rPr lang="en-GB" dirty="0">
                <a:solidFill>
                  <a:schemeClr val="tx2"/>
                </a:solidFill>
              </a:rPr>
              <a:t> MR area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LA/LV area, </a:t>
            </a:r>
            <a:r>
              <a:rPr lang="en-GB" dirty="0" err="1">
                <a:solidFill>
                  <a:schemeClr val="tx2"/>
                </a:solidFill>
              </a:rPr>
              <a:t>colorată</a:t>
            </a:r>
            <a:r>
              <a:rPr lang="en-GB" dirty="0">
                <a:solidFill>
                  <a:schemeClr val="tx2"/>
                </a:solidFill>
              </a:rPr>
              <a:t> pe </a:t>
            </a:r>
            <a:r>
              <a:rPr lang="en-GB" dirty="0" err="1">
                <a:solidFill>
                  <a:schemeClr val="tx2"/>
                </a:solidFill>
              </a:rPr>
              <a:t>severitate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chemeClr val="tx2"/>
                </a:solidFill>
              </a:rPr>
              <a:t>Bar Chart: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Numărul</a:t>
            </a:r>
            <a:r>
              <a:rPr lang="en-GB" dirty="0">
                <a:solidFill>
                  <a:schemeClr val="tx2"/>
                </a:solidFill>
              </a:rPr>
              <a:t> de </a:t>
            </a:r>
            <a:r>
              <a:rPr lang="en-GB" dirty="0" err="1">
                <a:solidFill>
                  <a:schemeClr val="tx2"/>
                </a:solidFill>
              </a:rPr>
              <a:t>pacienți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fiecare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severitate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Histogramă</a:t>
            </a:r>
            <a:r>
              <a:rPr lang="en-GB" b="1" dirty="0">
                <a:solidFill>
                  <a:schemeClr val="tx2"/>
                </a:solidFill>
              </a:rPr>
              <a:t>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Distribuția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scorurilor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clinice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>
                <a:solidFill>
                  <a:schemeClr val="tx2"/>
                </a:solidFill>
              </a:rPr>
              <a:t>Matrice</a:t>
            </a:r>
            <a:r>
              <a:rPr lang="en-GB" b="1" dirty="0">
                <a:solidFill>
                  <a:schemeClr val="tx2"/>
                </a:solidFill>
              </a:rPr>
              <a:t> de </a:t>
            </a:r>
            <a:r>
              <a:rPr lang="en-GB" b="1" dirty="0" err="1">
                <a:solidFill>
                  <a:schemeClr val="tx2"/>
                </a:solidFill>
              </a:rPr>
              <a:t>corelație</a:t>
            </a:r>
            <a:r>
              <a:rPr lang="en-GB" b="1" dirty="0">
                <a:solidFill>
                  <a:schemeClr val="tx2"/>
                </a:solidFill>
              </a:rPr>
              <a:t>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Legătura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dintre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variabile</a:t>
            </a:r>
            <a:r>
              <a:rPr lang="en-GB" dirty="0">
                <a:solidFill>
                  <a:schemeClr val="tx2"/>
                </a:solidFill>
              </a:rPr>
              <a:t> (MR, LA, LV, </a:t>
            </a:r>
            <a:r>
              <a:rPr lang="en-GB" dirty="0" err="1">
                <a:solidFill>
                  <a:schemeClr val="tx2"/>
                </a:solidFill>
              </a:rPr>
              <a:t>scor</a:t>
            </a:r>
            <a:r>
              <a:rPr lang="en-GB" dirty="0">
                <a:solidFill>
                  <a:schemeClr val="tx2"/>
                </a:solidFill>
              </a:rPr>
              <a:t> clinic).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chemeClr val="tx2"/>
                </a:solidFill>
              </a:rPr>
              <a:t>Boxplot: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Distribuția</a:t>
            </a:r>
            <a:r>
              <a:rPr lang="en-GB" dirty="0">
                <a:solidFill>
                  <a:schemeClr val="tx2"/>
                </a:solidFill>
              </a:rPr>
              <a:t> MR area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fiecare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severitate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chemeClr val="tx2"/>
                </a:solidFill>
              </a:rPr>
              <a:t>Violin Plot: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Variația</a:t>
            </a:r>
            <a:r>
              <a:rPr lang="en-GB" dirty="0">
                <a:solidFill>
                  <a:schemeClr val="tx2"/>
                </a:solidFill>
              </a:rPr>
              <a:t> LV area </a:t>
            </a:r>
            <a:r>
              <a:rPr lang="en-GB" dirty="0" err="1">
                <a:solidFill>
                  <a:schemeClr val="tx2"/>
                </a:solidFill>
              </a:rPr>
              <a:t>pentru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fiecare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severitate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r>
              <a:rPr lang="en-GB" dirty="0" err="1">
                <a:solidFill>
                  <a:schemeClr val="tx2"/>
                </a:solidFill>
              </a:rPr>
              <a:t>Aceste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grafice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ajută</a:t>
            </a:r>
            <a:r>
              <a:rPr lang="en-GB" dirty="0">
                <a:solidFill>
                  <a:schemeClr val="tx2"/>
                </a:solidFill>
              </a:rPr>
              <a:t> la </a:t>
            </a:r>
            <a:r>
              <a:rPr lang="en-GB" dirty="0" err="1">
                <a:solidFill>
                  <a:schemeClr val="tx2"/>
                </a:solidFill>
              </a:rPr>
              <a:t>interpretarea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relațiilor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și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distribuțiilor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datelor</a:t>
            </a:r>
            <a:r>
              <a:rPr lang="en-GB" dirty="0">
                <a:solidFill>
                  <a:schemeClr val="tx2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59ACC9A-AB8A-7D8C-1101-8CD8B174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295836"/>
            <a:ext cx="2623947" cy="833718"/>
          </a:xfrm>
        </p:spPr>
        <p:txBody>
          <a:bodyPr anchor="ctr">
            <a:normAutofit/>
          </a:bodyPr>
          <a:lstStyle/>
          <a:p>
            <a:r>
              <a:rPr lang="en-US" dirty="0"/>
              <a:t>AI Classifier</a:t>
            </a:r>
            <a:endParaRPr lang="en-GB" dirty="0"/>
          </a:p>
        </p:txBody>
      </p:sp>
      <p:pic>
        <p:nvPicPr>
          <p:cNvPr id="7" name="Imagine 6" descr="O imagine care conține text, captură de ecran&#10;&#10;Descriere generată automat">
            <a:extLst>
              <a:ext uri="{FF2B5EF4-FFF2-40B4-BE49-F238E27FC236}">
                <a16:creationId xmlns:a16="http://schemas.microsoft.com/office/drawing/2014/main" id="{0FF77177-8766-F5AA-042C-F0B8FEA98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17" y="3949596"/>
            <a:ext cx="6220403" cy="1523998"/>
          </a:xfrm>
          <a:prstGeom prst="rect">
            <a:avLst/>
          </a:prstGeom>
        </p:spPr>
      </p:pic>
      <p:pic>
        <p:nvPicPr>
          <p:cNvPr id="5" name="Substituent conținut 4" descr="O imagine care conține text, captură de ecran, proiectare&#10;&#10;Descriere generată automat">
            <a:extLst>
              <a:ext uri="{FF2B5EF4-FFF2-40B4-BE49-F238E27FC236}">
                <a16:creationId xmlns:a16="http://schemas.microsoft.com/office/drawing/2014/main" id="{22F40E31-DC56-30ED-21B4-75A586D49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17" y="816429"/>
            <a:ext cx="6220407" cy="2612571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74C41B9-9EE9-FBD0-CA45-A8E736990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6477" y="1303697"/>
            <a:ext cx="5420936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AI Classifier – 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Raport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performanță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Afișează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precizia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recall-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fiecare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categorie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severitate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Ușoară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Moderat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Severă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oferă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general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acuratețe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modelului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validarea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performanței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Predicție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pacient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Utilizatorul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introduce manual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valorile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indicatorilor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medicali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MR area (cm²)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– Aria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regurgitării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mitrale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LA area (cm²)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– Aria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atriului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stâng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LV area (cm²)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– Aria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ventriculului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stâng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Rezultatul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predicției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După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apăsarea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butonului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Prezice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Severitatea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,"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modelul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returnează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categoria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estimată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Ușoară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Moderat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Severă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Predicția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afișată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cu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mesaj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evidențiat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interpretare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rapidă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342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7">
            <a:extLst>
              <a:ext uri="{FF2B5EF4-FFF2-40B4-BE49-F238E27FC236}">
                <a16:creationId xmlns:a16="http://schemas.microsoft.com/office/drawing/2014/main" id="{3F993C45-B237-4CD5-A232-CD2DFFF5A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9EA4F6-F0E3-4DB3-8F82-B91A1F693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3A7345F-1794-4777-80F8-B67B01BE7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AEB4062E-9879-4D6E-8C9A-55D81D61C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E0E1E50E-9B56-49FC-AC93-34C80F438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3" name="Isosceles Triangle 12">
              <a:extLst>
                <a:ext uri="{FF2B5EF4-FFF2-40B4-BE49-F238E27FC236}">
                  <a16:creationId xmlns:a16="http://schemas.microsoft.com/office/drawing/2014/main" id="{786CF095-2697-4E6D-832B-E71B7C8D6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A93A2EA0-D245-490B-A61D-8B32A8DF4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6BAC7BF2-009C-48C7-A7F2-2139B507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7D60F62B-3828-4F12-B884-8A8925325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7" name="Isosceles Triangle 16">
              <a:extLst>
                <a:ext uri="{FF2B5EF4-FFF2-40B4-BE49-F238E27FC236}">
                  <a16:creationId xmlns:a16="http://schemas.microsoft.com/office/drawing/2014/main" id="{D8A41293-53F5-4380-B216-EB66A4353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8" name="Isosceles Triangle 17">
              <a:extLst>
                <a:ext uri="{FF2B5EF4-FFF2-40B4-BE49-F238E27FC236}">
                  <a16:creationId xmlns:a16="http://schemas.microsoft.com/office/drawing/2014/main" id="{A6DDE673-E05B-400B-B6E1-335E425D8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 useBgFill="1">
        <p:nvSpPr>
          <p:cNvPr id="39" name="Rectangle 19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21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" name="Isosceles Triangle 23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42" name="Straight Connector 25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u 1">
            <a:extLst>
              <a:ext uri="{FF2B5EF4-FFF2-40B4-BE49-F238E27FC236}">
                <a16:creationId xmlns:a16="http://schemas.microsoft.com/office/drawing/2014/main" id="{C329BDB2-89B2-9629-BEAA-63A1F3C0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9600" dirty="0"/>
              <a:t>Va </a:t>
            </a:r>
            <a:r>
              <a:rPr lang="en-US" sz="9600" dirty="0" err="1"/>
              <a:t>multumim</a:t>
            </a:r>
            <a:r>
              <a:rPr lang="en-US" sz="9600" dirty="0"/>
              <a:t>!</a:t>
            </a: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353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Fațetă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ațetă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țetă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CD11230B6D248891328E9EA86E3FD" ma:contentTypeVersion="13" ma:contentTypeDescription="Create a new document." ma:contentTypeScope="" ma:versionID="967a42ea26a1170e388e78604e4be4a0">
  <xsd:schema xmlns:xsd="http://www.w3.org/2001/XMLSchema" xmlns:xs="http://www.w3.org/2001/XMLSchema" xmlns:p="http://schemas.microsoft.com/office/2006/metadata/properties" xmlns:ns2="6bfd097c-de7f-452a-9f51-d492e24fd8cf" xmlns:ns3="efb1789d-98cc-491e-820a-b5f4c63bbcf8" targetNamespace="http://schemas.microsoft.com/office/2006/metadata/properties" ma:root="true" ma:fieldsID="8dd754ca8372045a85587c933c344e61" ns2:_="" ns3:_="">
    <xsd:import namespace="6bfd097c-de7f-452a-9f51-d492e24fd8c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097c-de7f-452a-9f51-d492e24fd8c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4120566-7fc5-44e3-b5b6-364880437d5c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bfd097c-de7f-452a-9f51-d492e24fd8cf" xsi:nil="true"/>
    <TaxCatchAll xmlns="efb1789d-98cc-491e-820a-b5f4c63bbcf8" xsi:nil="true"/>
    <lcf76f155ced4ddcb4097134ff3c332f xmlns="6bfd097c-de7f-452a-9f51-d492e24fd8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2099C5-40FF-460D-81BA-7CEFD38E9840}"/>
</file>

<file path=customXml/itemProps2.xml><?xml version="1.0" encoding="utf-8"?>
<ds:datastoreItem xmlns:ds="http://schemas.openxmlformats.org/officeDocument/2006/customXml" ds:itemID="{AD657303-FAAD-4648-BA62-9270C8D4FE27}"/>
</file>

<file path=customXml/itemProps3.xml><?xml version="1.0" encoding="utf-8"?>
<ds:datastoreItem xmlns:ds="http://schemas.openxmlformats.org/officeDocument/2006/customXml" ds:itemID="{36EE890C-F807-4424-A928-B47E3C68C52A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656</Words>
  <Application>Microsoft Office PowerPoint</Application>
  <PresentationFormat>Ecran lat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Trebuchet MS</vt:lpstr>
      <vt:lpstr>Wingdings 3</vt:lpstr>
      <vt:lpstr>Fațetă</vt:lpstr>
      <vt:lpstr>Aplicație de Detectare a Regurgitării Mitrale</vt:lpstr>
      <vt:lpstr>1. Oportunitățile de piață</vt:lpstr>
      <vt:lpstr>2. Nevoile adresate</vt:lpstr>
      <vt:lpstr>3. Profilul de client</vt:lpstr>
      <vt:lpstr>4. Valoarea propusă</vt:lpstr>
      <vt:lpstr>5. Modelul de business</vt:lpstr>
      <vt:lpstr>Aplicatie</vt:lpstr>
      <vt:lpstr>Graficele</vt:lpstr>
      <vt:lpstr>AI Classifier</vt:lpstr>
      <vt:lpstr>Va multumim!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Mihalache Andrei</dc:creator>
  <cp:lastModifiedBy>Mihalache Andrei</cp:lastModifiedBy>
  <cp:revision>3</cp:revision>
  <dcterms:created xsi:type="dcterms:W3CDTF">2025-01-14T21:07:56Z</dcterms:created>
  <dcterms:modified xsi:type="dcterms:W3CDTF">2025-01-14T22:20:47Z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0x010100508CD11230B6D248891328E9EA86E3FD</vt:lpwstr>
  </property>
</Properties>
</file>