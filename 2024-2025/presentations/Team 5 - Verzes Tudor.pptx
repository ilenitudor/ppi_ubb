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8" r:id="rId2"/>
    <p:sldId id="256" r:id="rId3"/>
    <p:sldId id="257" r:id="rId4"/>
    <p:sldId id="259" r:id="rId5"/>
    <p:sldId id="260" r:id="rId6"/>
    <p:sldId id="261" r:id="rId7"/>
    <p:sldId id="262" r:id="rId8"/>
    <p:sldId id="272" r:id="rId9"/>
    <p:sldId id="263" r:id="rId10"/>
    <p:sldId id="265" r:id="rId11"/>
    <p:sldId id="266" r:id="rId12"/>
    <p:sldId id="267" r:id="rId13"/>
    <p:sldId id="268" r:id="rId14"/>
    <p:sldId id="269" r:id="rId15"/>
    <p:sldId id="270" r:id="rId16"/>
    <p:sldId id="271" r:id="rId17"/>
    <p:sldId id="264" r:id="rId18"/>
    <p:sldId id="273" r:id="rId19"/>
    <p:sldId id="274" r:id="rId20"/>
    <p:sldId id="275" r:id="rId21"/>
  </p:sldIdLst>
  <p:sldSz cx="12192000" cy="6858000"/>
  <p:notesSz cx="6858000" cy="9144000"/>
  <p:embeddedFontLst>
    <p:embeddedFont>
      <p:font typeface="HelveticaNowDisplay Black" panose="020B0A04030202020204" pitchFamily="34" charset="0"/>
      <p:bold r:id="rId23"/>
      <p:boldItalic r:id="rId24"/>
    </p:embeddedFont>
    <p:embeddedFont>
      <p:font typeface="HelveticaNowDisplay Bold" panose="020B0804030202020204" pitchFamily="34" charset="0"/>
      <p:bold r:id="rId25"/>
      <p:boldItalic r:id="rId26"/>
    </p:embeddedFont>
    <p:embeddedFont>
      <p:font typeface="HelveticaNowDisplay Regular" panose="020B0504030202020204" pitchFamily="34" charset="0"/>
      <p:regular r:id="rId27"/>
      <p:italic r:id="rId28"/>
    </p:embeddedFont>
    <p:embeddedFont>
      <p:font typeface="Roboto" panose="02000000000000000000" pitchFamily="2" charset="0"/>
      <p:regular r:id="rId29"/>
    </p:embeddedFont>
  </p:embeddedFontLst>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66" autoAdjust="0"/>
  </p:normalViewPr>
  <p:slideViewPr>
    <p:cSldViewPr snapToGrid="0">
      <p:cViewPr varScale="1">
        <p:scale>
          <a:sx n="143" d="100"/>
          <a:sy n="143" d="100"/>
        </p:scale>
        <p:origin x="13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22</c:v>
                </c:pt>
                <c:pt idx="1">
                  <c:v>53</c:v>
                </c:pt>
                <c:pt idx="2">
                  <c:v>48</c:v>
                </c:pt>
              </c:numCache>
            </c:numRef>
          </c:val>
          <c:extLst>
            <c:ext xmlns:c16="http://schemas.microsoft.com/office/drawing/2014/chart" uri="{C3380CC4-5D6E-409C-BE32-E72D297353CC}">
              <c16:uniqueId val="{00000000-2671-4351-B205-F434E92F844D}"/>
            </c:ext>
          </c:extLst>
        </c:ser>
        <c:dLbls>
          <c:showLegendKey val="0"/>
          <c:showVal val="0"/>
          <c:showCatName val="0"/>
          <c:showSerName val="0"/>
          <c:showPercent val="0"/>
          <c:showBubbleSize val="0"/>
        </c:dLbls>
        <c:gapWidth val="182"/>
        <c:axId val="556808944"/>
        <c:axId val="556809304"/>
      </c:barChart>
      <c:catAx>
        <c:axId val="556808944"/>
        <c:scaling>
          <c:orientation val="minMax"/>
        </c:scaling>
        <c:delete val="1"/>
        <c:axPos val="l"/>
        <c:numFmt formatCode="General" sourceLinked="1"/>
        <c:majorTickMark val="out"/>
        <c:minorTickMark val="none"/>
        <c:tickLblPos val="nextTo"/>
        <c:crossAx val="556809304"/>
        <c:crosses val="autoZero"/>
        <c:auto val="1"/>
        <c:lblAlgn val="ctr"/>
        <c:lblOffset val="100"/>
        <c:noMultiLvlLbl val="0"/>
      </c:catAx>
      <c:valAx>
        <c:axId val="556809304"/>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5568089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o-RO"/>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315191-C766-450A-8E25-0E662D42160E}" type="datetimeFigureOut">
              <a:rPr lang="ro-RO" smtClean="0"/>
              <a:t>16.01.2025</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F70F82-D5A7-443B-ABC1-EBC97D37DBC3}" type="slidenum">
              <a:rPr lang="ro-RO" smtClean="0"/>
              <a:t>‹#›</a:t>
            </a:fld>
            <a:endParaRPr lang="ro-RO"/>
          </a:p>
        </p:txBody>
      </p:sp>
    </p:spTree>
    <p:extLst>
      <p:ext uri="{BB962C8B-B14F-4D97-AF65-F5344CB8AC3E}">
        <p14:creationId xmlns:p14="http://schemas.microsoft.com/office/powerpoint/2010/main" val="1511448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b="0" i="0" dirty="0">
                <a:solidFill>
                  <a:srgbClr val="E2E2E5"/>
                </a:solidFill>
                <a:effectLst/>
                <a:latin typeface="Google Sans Text"/>
              </a:rPr>
              <a:t>Vă imaginați un viitor în care învățarea se adaptează complet nevoilor individuale, în care fiecare student are la dispoziție un instrument care îl ghidează în funcție de stilul său unic? Asta este viziunea </a:t>
            </a:r>
            <a:r>
              <a:rPr lang="ro-RO" b="0" i="0" dirty="0" err="1">
                <a:solidFill>
                  <a:srgbClr val="E2E2E5"/>
                </a:solidFill>
                <a:effectLst/>
                <a:latin typeface="Google Sans Text"/>
              </a:rPr>
              <a:t>Gradia</a:t>
            </a:r>
            <a:r>
              <a:rPr lang="ro-RO" b="0" i="0" dirty="0">
                <a:solidFill>
                  <a:srgbClr val="E2E2E5"/>
                </a:solidFill>
                <a:effectLst/>
                <a:latin typeface="Google Sans Text"/>
              </a:rPr>
              <a:t>. Ne dorim să creăm un partener de încredere pentru studenți, un instrument care să-i ajute să își atingă potențialul maxim, oferind o experiență de învățare personalizată și extrem de eficientă.</a:t>
            </a:r>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3</a:t>
            </a:fld>
            <a:endParaRPr lang="ro-RO"/>
          </a:p>
        </p:txBody>
      </p:sp>
    </p:spTree>
    <p:extLst>
      <p:ext uri="{BB962C8B-B14F-4D97-AF65-F5344CB8AC3E}">
        <p14:creationId xmlns:p14="http://schemas.microsoft.com/office/powerpoint/2010/main" val="3177674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b="0" i="0" dirty="0">
                <a:solidFill>
                  <a:srgbClr val="E2E2E5"/>
                </a:solidFill>
                <a:effectLst/>
                <a:latin typeface="Google Sans Text"/>
              </a:rPr>
              <a:t>Dar să ne uităm puțin și la contextul în care ne aflăm. </a:t>
            </a:r>
            <a:r>
              <a:rPr lang="ro-RO" dirty="0"/>
              <a:t>Acest proiect a pornit de la o nevoie reala a pieței. </a:t>
            </a:r>
            <a:r>
              <a:rPr lang="ro-RO" b="0" i="0" dirty="0">
                <a:solidFill>
                  <a:srgbClr val="E2E2E5"/>
                </a:solidFill>
                <a:effectLst/>
                <a:latin typeface="Google Sans Text"/>
              </a:rPr>
              <a:t>Piața educațională digitală este în continuă creștere, iar studenții de astăzi sunt mult mai deschiși la soluțiile bazate pe AI. Ceea ce am observat noi este că există o mare oportunitate aici, deoarece nu există o soluție completă care să ofere, în același timp, ajutor la învățat și feedback personalizat pentru scriere academică. Estimările ne arată că această piață va continua să evolueze, iar interesul pentru tehnologie și AI în educație va crește exponențial.</a:t>
            </a:r>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4</a:t>
            </a:fld>
            <a:endParaRPr lang="ro-RO"/>
          </a:p>
        </p:txBody>
      </p:sp>
    </p:spTree>
    <p:extLst>
      <p:ext uri="{BB962C8B-B14F-4D97-AF65-F5344CB8AC3E}">
        <p14:creationId xmlns:p14="http://schemas.microsoft.com/office/powerpoint/2010/main" val="367561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b="0" i="0" dirty="0">
                <a:solidFill>
                  <a:srgbClr val="E2E2E5"/>
                </a:solidFill>
                <a:effectLst/>
                <a:latin typeface="Google Sans Text"/>
              </a:rPr>
              <a:t>Acum, să vorbim despre problemele reale pe care </a:t>
            </a:r>
            <a:r>
              <a:rPr lang="ro-RO" b="0" i="0" dirty="0" err="1">
                <a:solidFill>
                  <a:srgbClr val="E2E2E5"/>
                </a:solidFill>
                <a:effectLst/>
                <a:latin typeface="Google Sans Text"/>
              </a:rPr>
              <a:t>Gradia</a:t>
            </a:r>
            <a:r>
              <a:rPr lang="ro-RO" b="0" i="0" dirty="0">
                <a:solidFill>
                  <a:srgbClr val="E2E2E5"/>
                </a:solidFill>
                <a:effectLst/>
                <a:latin typeface="Google Sans Text"/>
              </a:rPr>
              <a:t> le rezolvă. Studenții se confruntă cu dificultăți reale: feedback-ul pe care îl primesc la scriere este adesea generic, nu înțeleg cum să îl aplice în propriul lor context, le lipsește o platformă unde să primească tot ajutorul de care au nevoie și nu au un instrument care să le eficientizeze procesul de studiu. Aici intervine </a:t>
            </a:r>
            <a:r>
              <a:rPr lang="ro-RO" b="0" i="0" dirty="0" err="1">
                <a:solidFill>
                  <a:srgbClr val="E2E2E5"/>
                </a:solidFill>
                <a:effectLst/>
                <a:latin typeface="Google Sans Text"/>
              </a:rPr>
              <a:t>Gradia</a:t>
            </a:r>
            <a:r>
              <a:rPr lang="ro-RO" b="0" i="0" dirty="0">
                <a:solidFill>
                  <a:srgbClr val="E2E2E5"/>
                </a:solidFill>
                <a:effectLst/>
                <a:latin typeface="Google Sans Text"/>
              </a:rPr>
              <a:t>, oferind o soluție reală și etică.</a:t>
            </a:r>
          </a:p>
          <a:p>
            <a:endParaRPr lang="ro-RO" b="0" i="0" dirty="0">
              <a:solidFill>
                <a:srgbClr val="E2E2E5"/>
              </a:solidFill>
              <a:effectLst/>
              <a:latin typeface="Google Sans Text"/>
            </a:endParaRPr>
          </a:p>
          <a:p>
            <a:r>
              <a:rPr lang="ro-RO" b="0" i="0" dirty="0">
                <a:solidFill>
                  <a:srgbClr val="E2E2E5"/>
                </a:solidFill>
                <a:effectLst/>
                <a:latin typeface="Google Sans Text"/>
              </a:rPr>
              <a:t>Știm că uneltele bazate pe AI, precum </a:t>
            </a:r>
            <a:r>
              <a:rPr lang="ro-RO" b="0" i="0" dirty="0" err="1">
                <a:solidFill>
                  <a:srgbClr val="E2E2E5"/>
                </a:solidFill>
                <a:effectLst/>
                <a:latin typeface="Google Sans Text"/>
              </a:rPr>
              <a:t>ChatGPT</a:t>
            </a:r>
            <a:r>
              <a:rPr lang="ro-RO" b="0" i="0" dirty="0">
                <a:solidFill>
                  <a:srgbClr val="E2E2E5"/>
                </a:solidFill>
                <a:effectLst/>
                <a:latin typeface="Google Sans Text"/>
              </a:rPr>
              <a:t>, sunt des folosite de studenți, dar nu întotdeauna în cele mai bune scopuri. </a:t>
            </a:r>
            <a:r>
              <a:rPr lang="ro-RO" b="0" i="0" dirty="0" err="1">
                <a:solidFill>
                  <a:srgbClr val="E2E2E5"/>
                </a:solidFill>
                <a:effectLst/>
                <a:latin typeface="Google Sans Text"/>
              </a:rPr>
              <a:t>Gradia</a:t>
            </a:r>
            <a:r>
              <a:rPr lang="ro-RO" b="0" i="0" dirty="0">
                <a:solidFill>
                  <a:srgbClr val="E2E2E5"/>
                </a:solidFill>
                <a:effectLst/>
                <a:latin typeface="Google Sans Text"/>
              </a:rPr>
              <a:t>, însă, vrem să fie diferită. Ne dorim să ajutăm studenții să învețe cu adevărat, nu doar să copieze sau să plagieze.</a:t>
            </a:r>
          </a:p>
          <a:p>
            <a:endParaRPr lang="ro-RO" b="0" i="0" dirty="0">
              <a:solidFill>
                <a:srgbClr val="E2E2E5"/>
              </a:solidFill>
              <a:effectLst/>
              <a:latin typeface="Google Sans Text"/>
            </a:endParaRPr>
          </a:p>
          <a:p>
            <a:r>
              <a:rPr lang="ro-RO" b="0" i="0" dirty="0">
                <a:solidFill>
                  <a:srgbClr val="E2E2E5"/>
                </a:solidFill>
                <a:effectLst/>
                <a:latin typeface="Google Sans Text"/>
              </a:rPr>
              <a:t>Ne diferențiem oferind un instrument dedicat nevoilor studenților, și care, folosind AI, se adaptează la stilul individual de învățare, generând un răspuns personalizat în formatul preferat al utilizatorului și oferind feedback specific pentru îmbunătățirea stilului de scriere academică.</a:t>
            </a:r>
          </a:p>
          <a:p>
            <a:endParaRPr lang="ro-RO" b="0" i="0" dirty="0">
              <a:solidFill>
                <a:srgbClr val="E2E2E5"/>
              </a:solidFill>
              <a:effectLst/>
              <a:latin typeface="Google Sans Text"/>
            </a:endParaRPr>
          </a:p>
          <a:p>
            <a:endParaRPr lang="ro-RO" dirty="0"/>
          </a:p>
          <a:p>
            <a:r>
              <a:rPr lang="ro-RO" dirty="0"/>
              <a:t>https://romanialibera.ro/la-zi/89-dintre-elevi-recunosc-ca-folosesc-chatgpt-pentru-temele-de-acasa/?utm_source=chatgpt.com </a:t>
            </a:r>
            <a:r>
              <a:rPr lang="ro-RO" b="0" i="0" dirty="0">
                <a:solidFill>
                  <a:srgbClr val="000000"/>
                </a:solidFill>
                <a:effectLst/>
                <a:latin typeface="Roboto" panose="02000000000000000000" pitchFamily="2" charset="0"/>
              </a:rPr>
              <a:t>Study.com</a:t>
            </a:r>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5</a:t>
            </a:fld>
            <a:endParaRPr lang="ro-RO"/>
          </a:p>
        </p:txBody>
      </p:sp>
    </p:spTree>
    <p:extLst>
      <p:ext uri="{BB962C8B-B14F-4D97-AF65-F5344CB8AC3E}">
        <p14:creationId xmlns:p14="http://schemas.microsoft.com/office/powerpoint/2010/main" val="127338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b="0" i="0" dirty="0">
                <a:solidFill>
                  <a:srgbClr val="E2E2E5"/>
                </a:solidFill>
                <a:effectLst/>
                <a:latin typeface="Google Sans Text"/>
              </a:rPr>
              <a:t>Facem un exercițiu de imaginație:</a:t>
            </a:r>
          </a:p>
          <a:p>
            <a:endParaRPr lang="ro-RO" b="0" i="0" dirty="0">
              <a:solidFill>
                <a:srgbClr val="E2E2E5"/>
              </a:solidFill>
              <a:effectLst/>
              <a:latin typeface="Google Sans Text"/>
            </a:endParaRPr>
          </a:p>
          <a:p>
            <a:r>
              <a:rPr lang="ro-RO" b="0" i="0" dirty="0">
                <a:solidFill>
                  <a:srgbClr val="E2E2E5"/>
                </a:solidFill>
                <a:effectLst/>
                <a:latin typeface="Google Sans Text"/>
              </a:rPr>
              <a:t>Să facem cunoștință cu Alex, un student tipic, pe care îl avem ca exemplu.</a:t>
            </a:r>
          </a:p>
          <a:p>
            <a:endParaRPr lang="ro-RO" b="0" i="0" dirty="0">
              <a:solidFill>
                <a:srgbClr val="E2E2E5"/>
              </a:solidFill>
              <a:effectLst/>
              <a:latin typeface="Google Sans Text"/>
            </a:endParaRPr>
          </a:p>
          <a:p>
            <a:r>
              <a:rPr lang="ro-RO" b="0" i="0" dirty="0">
                <a:solidFill>
                  <a:srgbClr val="E2E2E5"/>
                </a:solidFill>
                <a:effectLst/>
                <a:latin typeface="Google Sans Text"/>
              </a:rPr>
              <a:t>Alex este un student motivat, care își dorește să performeze la facultate. Este deschis la noi metode de învățare, îi place să se documenteze singur, dar se confruntă cu dificultăți în a primi feedback relevant la munca sa.</a:t>
            </a:r>
          </a:p>
          <a:p>
            <a:endParaRPr lang="ro-RO" b="0" i="0" dirty="0">
              <a:solidFill>
                <a:srgbClr val="E2E2E5"/>
              </a:solidFill>
              <a:effectLst/>
              <a:latin typeface="Google Sans Text"/>
            </a:endParaRPr>
          </a:p>
          <a:p>
            <a:r>
              <a:rPr lang="ro-RO" b="0" i="0" dirty="0">
                <a:solidFill>
                  <a:srgbClr val="E2E2E5"/>
                </a:solidFill>
                <a:effectLst/>
                <a:latin typeface="Google Sans Text"/>
              </a:rPr>
              <a:t>Alex are nevoie de un instrument care să-l ghideze, care să-l ajute să-și îmbunătățească abilitățile și care să-i ofere răspunsuri clare și specifice.</a:t>
            </a:r>
          </a:p>
          <a:p>
            <a:endParaRPr lang="ro-RO" b="0" i="0" dirty="0">
              <a:solidFill>
                <a:srgbClr val="E2E2E5"/>
              </a:solidFill>
              <a:effectLst/>
              <a:latin typeface="Google Sans Text"/>
            </a:endParaRPr>
          </a:p>
          <a:p>
            <a:r>
              <a:rPr lang="ro-RO" b="0" i="0" dirty="0">
                <a:solidFill>
                  <a:srgbClr val="E2E2E5"/>
                </a:solidFill>
                <a:effectLst/>
                <a:latin typeface="Google Sans Text"/>
              </a:rPr>
              <a:t>Exact acest lucru oferă </a:t>
            </a:r>
            <a:r>
              <a:rPr lang="ro-RO" b="0" i="0" dirty="0" err="1">
                <a:solidFill>
                  <a:srgbClr val="E2E2E5"/>
                </a:solidFill>
                <a:effectLst/>
                <a:latin typeface="Google Sans Text"/>
              </a:rPr>
              <a:t>Gradia</a:t>
            </a:r>
            <a:r>
              <a:rPr lang="ro-RO" b="0" i="0" dirty="0">
                <a:solidFill>
                  <a:srgbClr val="E2E2E5"/>
                </a:solidFill>
                <a:effectLst/>
                <a:latin typeface="Google Sans Text"/>
              </a:rPr>
              <a:t>. Deci, </a:t>
            </a:r>
            <a:r>
              <a:rPr lang="ro-RO" b="0" i="0" dirty="0" err="1">
                <a:solidFill>
                  <a:srgbClr val="E2E2E5"/>
                </a:solidFill>
                <a:effectLst/>
                <a:latin typeface="Google Sans Text"/>
              </a:rPr>
              <a:t>Gradia</a:t>
            </a:r>
            <a:r>
              <a:rPr lang="ro-RO" b="0" i="0" dirty="0">
                <a:solidFill>
                  <a:srgbClr val="E2E2E5"/>
                </a:solidFill>
                <a:effectLst/>
                <a:latin typeface="Google Sans Text"/>
              </a:rPr>
              <a:t> nu este doar o aplicație, este un partener care se adaptează nevoilor lui Alex, oferind nu doar o platformă, ci și o oportunitate de a progresa.</a:t>
            </a:r>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6</a:t>
            </a:fld>
            <a:endParaRPr lang="ro-RO"/>
          </a:p>
        </p:txBody>
      </p:sp>
    </p:spTree>
    <p:extLst>
      <p:ext uri="{BB962C8B-B14F-4D97-AF65-F5344CB8AC3E}">
        <p14:creationId xmlns:p14="http://schemas.microsoft.com/office/powerpoint/2010/main" val="4009956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cash now. </a:t>
            </a:r>
          </a:p>
          <a:p>
            <a:endParaRPr lang="en-US" dirty="0"/>
          </a:p>
          <a:p>
            <a:r>
              <a:rPr lang="ro-RO" b="0" i="0" dirty="0">
                <a:solidFill>
                  <a:srgbClr val="E2E2E5"/>
                </a:solidFill>
                <a:effectLst/>
                <a:latin typeface="Google Sans Text"/>
              </a:rPr>
              <a:t>Cum facem </a:t>
            </a:r>
            <a:r>
              <a:rPr lang="ro-RO" b="0" i="0" dirty="0" err="1">
                <a:solidFill>
                  <a:srgbClr val="E2E2E5"/>
                </a:solidFill>
                <a:effectLst/>
                <a:latin typeface="Google Sans Text"/>
              </a:rPr>
              <a:t>Gradia</a:t>
            </a:r>
            <a:r>
              <a:rPr lang="ro-RO" b="0" i="0" dirty="0">
                <a:solidFill>
                  <a:srgbClr val="E2E2E5"/>
                </a:solidFill>
                <a:effectLst/>
                <a:latin typeface="Google Sans Text"/>
              </a:rPr>
              <a:t> să funcționeze pe termen lung? Modelul nostru de afaceri este conceput pentru a fi sustenabil. Vom avea o versiune </a:t>
            </a:r>
            <a:r>
              <a:rPr lang="ro-RO" b="0" i="0" dirty="0" err="1">
                <a:solidFill>
                  <a:srgbClr val="E2E2E5"/>
                </a:solidFill>
                <a:effectLst/>
                <a:latin typeface="Google Sans Text"/>
              </a:rPr>
              <a:t>freemium</a:t>
            </a:r>
            <a:r>
              <a:rPr lang="ro-RO" b="0" i="0" dirty="0">
                <a:solidFill>
                  <a:srgbClr val="E2E2E5"/>
                </a:solidFill>
                <a:effectLst/>
                <a:latin typeface="Google Sans Text"/>
              </a:rPr>
              <a:t> a aplicației, cu funcții de bază, și un abonament pentru funcțiile </a:t>
            </a:r>
            <a:r>
              <a:rPr lang="ro-RO" b="0" i="0" dirty="0" err="1">
                <a:solidFill>
                  <a:srgbClr val="E2E2E5"/>
                </a:solidFill>
                <a:effectLst/>
                <a:latin typeface="Google Sans Text"/>
              </a:rPr>
              <a:t>premium</a:t>
            </a:r>
            <a:r>
              <a:rPr lang="ro-RO" b="0" i="0" dirty="0">
                <a:solidFill>
                  <a:srgbClr val="E2E2E5"/>
                </a:solidFill>
                <a:effectLst/>
                <a:latin typeface="Google Sans Text"/>
              </a:rPr>
              <a:t>.</a:t>
            </a:r>
            <a:endParaRPr lang="en-US" b="0" i="0" dirty="0">
              <a:solidFill>
                <a:srgbClr val="E2E2E5"/>
              </a:solidFill>
              <a:effectLst/>
              <a:latin typeface="Google Sans Text"/>
            </a:endParaRPr>
          </a:p>
          <a:p>
            <a:endParaRPr lang="en-US" b="0" i="0" dirty="0">
              <a:solidFill>
                <a:srgbClr val="E2E2E5"/>
              </a:solidFill>
              <a:effectLst/>
              <a:latin typeface="Google Sans Text"/>
            </a:endParaRPr>
          </a:p>
          <a:p>
            <a:r>
              <a:rPr lang="ro-RO" b="0" i="0" dirty="0">
                <a:solidFill>
                  <a:srgbClr val="E2E2E5"/>
                </a:solidFill>
                <a:effectLst/>
                <a:latin typeface="Google Sans Text"/>
              </a:rPr>
              <a:t>Ne uităm, de asemenea, la potențiale parteneriate cu instituții educaționale, pentru a oferi </a:t>
            </a:r>
            <a:r>
              <a:rPr lang="ro-RO" b="0" i="0" dirty="0" err="1">
                <a:solidFill>
                  <a:srgbClr val="E2E2E5"/>
                </a:solidFill>
                <a:effectLst/>
                <a:latin typeface="Google Sans Text"/>
              </a:rPr>
              <a:t>Gradia</a:t>
            </a:r>
            <a:r>
              <a:rPr lang="ro-RO" b="0" i="0" dirty="0">
                <a:solidFill>
                  <a:srgbClr val="E2E2E5"/>
                </a:solidFill>
                <a:effectLst/>
                <a:latin typeface="Google Sans Text"/>
              </a:rPr>
              <a:t> la o scară mai mare.</a:t>
            </a:r>
            <a:endParaRPr lang="en-US" b="0" i="0" dirty="0">
              <a:solidFill>
                <a:srgbClr val="E2E2E5"/>
              </a:solidFill>
              <a:effectLst/>
              <a:latin typeface="Google Sans Text"/>
            </a:endParaRPr>
          </a:p>
          <a:p>
            <a:endParaRPr lang="en-US" b="0" i="0" dirty="0">
              <a:solidFill>
                <a:srgbClr val="E2E2E5"/>
              </a:solidFill>
              <a:effectLst/>
              <a:latin typeface="Google Sans Text"/>
            </a:endParaRPr>
          </a:p>
          <a:p>
            <a:r>
              <a:rPr lang="ro-RO" b="0" i="0" dirty="0" err="1">
                <a:solidFill>
                  <a:srgbClr val="E2E2E5"/>
                </a:solidFill>
                <a:effectLst/>
                <a:latin typeface="Google Sans Text"/>
              </a:rPr>
              <a:t>Gradia</a:t>
            </a:r>
            <a:r>
              <a:rPr lang="ro-RO" b="0" i="0" dirty="0">
                <a:solidFill>
                  <a:srgbClr val="E2E2E5"/>
                </a:solidFill>
                <a:effectLst/>
                <a:latin typeface="Google Sans Text"/>
              </a:rPr>
              <a:t> este vândută ca o aplicație de tip </a:t>
            </a:r>
            <a:r>
              <a:rPr lang="ro-RO" b="0" i="0" dirty="0" err="1">
                <a:solidFill>
                  <a:srgbClr val="E2E2E5"/>
                </a:solidFill>
                <a:effectLst/>
                <a:latin typeface="Google Sans Text"/>
              </a:rPr>
              <a:t>SaaS</a:t>
            </a:r>
            <a:r>
              <a:rPr lang="ro-RO" b="0" i="0" dirty="0">
                <a:solidFill>
                  <a:srgbClr val="E2E2E5"/>
                </a:solidFill>
                <a:effectLst/>
                <a:latin typeface="Google Sans Text"/>
              </a:rPr>
              <a:t> (Software as a Service), asigurând un flux constant de venituri, prin abonamente. Acest model ne oferă un mod de dezvoltare sustenabil, scalabil și adaptabil.</a:t>
            </a:r>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7</a:t>
            </a:fld>
            <a:endParaRPr lang="ro-RO"/>
          </a:p>
        </p:txBody>
      </p:sp>
    </p:spTree>
    <p:extLst>
      <p:ext uri="{BB962C8B-B14F-4D97-AF65-F5344CB8AC3E}">
        <p14:creationId xmlns:p14="http://schemas.microsoft.com/office/powerpoint/2010/main" val="297269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075F-23AE-43C4-BC5D-D1DCF6E57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52AD9-3E2A-06E9-0B84-63F09A694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4E3D12-FE2E-ACC2-EDD8-08BF8420B61C}"/>
              </a:ext>
            </a:extLst>
          </p:cNvPr>
          <p:cNvSpPr>
            <a:spLocks noGrp="1"/>
          </p:cNvSpPr>
          <p:nvPr>
            <p:ph type="body" idx="1"/>
          </p:nvPr>
        </p:nvSpPr>
        <p:spPr/>
        <p:txBody>
          <a:bodyPr/>
          <a:lstStyle/>
          <a:p>
            <a:r>
              <a:rPr lang="en-US" dirty="0"/>
              <a:t>Let’s talk cash now. </a:t>
            </a:r>
          </a:p>
          <a:p>
            <a:endParaRPr lang="en-US" dirty="0"/>
          </a:p>
          <a:p>
            <a:r>
              <a:rPr lang="ro-RO" b="0" i="0" dirty="0">
                <a:solidFill>
                  <a:srgbClr val="E2E2E5"/>
                </a:solidFill>
                <a:effectLst/>
                <a:latin typeface="Google Sans Text"/>
              </a:rPr>
              <a:t>Cum facem </a:t>
            </a:r>
            <a:r>
              <a:rPr lang="ro-RO" b="0" i="0" dirty="0" err="1">
                <a:solidFill>
                  <a:srgbClr val="E2E2E5"/>
                </a:solidFill>
                <a:effectLst/>
                <a:latin typeface="Google Sans Text"/>
              </a:rPr>
              <a:t>Gradia</a:t>
            </a:r>
            <a:r>
              <a:rPr lang="ro-RO" b="0" i="0" dirty="0">
                <a:solidFill>
                  <a:srgbClr val="E2E2E5"/>
                </a:solidFill>
                <a:effectLst/>
                <a:latin typeface="Google Sans Text"/>
              </a:rPr>
              <a:t> să funcționeze pe termen lung? Modelul nostru de afaceri este conceput pentru a fi sustenabil. Vom avea o versiune </a:t>
            </a:r>
            <a:r>
              <a:rPr lang="ro-RO" b="0" i="0" dirty="0" err="1">
                <a:solidFill>
                  <a:srgbClr val="E2E2E5"/>
                </a:solidFill>
                <a:effectLst/>
                <a:latin typeface="Google Sans Text"/>
              </a:rPr>
              <a:t>freemium</a:t>
            </a:r>
            <a:r>
              <a:rPr lang="ro-RO" b="0" i="0" dirty="0">
                <a:solidFill>
                  <a:srgbClr val="E2E2E5"/>
                </a:solidFill>
                <a:effectLst/>
                <a:latin typeface="Google Sans Text"/>
              </a:rPr>
              <a:t> a aplicației, cu funcții de bază, și un abonament pentru funcțiile </a:t>
            </a:r>
            <a:r>
              <a:rPr lang="ro-RO" b="0" i="0" dirty="0" err="1">
                <a:solidFill>
                  <a:srgbClr val="E2E2E5"/>
                </a:solidFill>
                <a:effectLst/>
                <a:latin typeface="Google Sans Text"/>
              </a:rPr>
              <a:t>premium</a:t>
            </a:r>
            <a:r>
              <a:rPr lang="ro-RO" b="0" i="0" dirty="0">
                <a:solidFill>
                  <a:srgbClr val="E2E2E5"/>
                </a:solidFill>
                <a:effectLst/>
                <a:latin typeface="Google Sans Text"/>
              </a:rPr>
              <a:t>.</a:t>
            </a:r>
            <a:endParaRPr lang="en-US" b="0" i="0" dirty="0">
              <a:solidFill>
                <a:srgbClr val="E2E2E5"/>
              </a:solidFill>
              <a:effectLst/>
              <a:latin typeface="Google Sans Text"/>
            </a:endParaRPr>
          </a:p>
          <a:p>
            <a:endParaRPr lang="en-US" b="0" i="0" dirty="0">
              <a:solidFill>
                <a:srgbClr val="E2E2E5"/>
              </a:solidFill>
              <a:effectLst/>
              <a:latin typeface="Google Sans Text"/>
            </a:endParaRPr>
          </a:p>
          <a:p>
            <a:r>
              <a:rPr lang="ro-RO" b="0" i="0" dirty="0">
                <a:solidFill>
                  <a:srgbClr val="E2E2E5"/>
                </a:solidFill>
                <a:effectLst/>
                <a:latin typeface="Google Sans Text"/>
              </a:rPr>
              <a:t>Ne uităm, de asemenea, la potențiale parteneriate cu instituții educaționale, pentru a oferi </a:t>
            </a:r>
            <a:r>
              <a:rPr lang="ro-RO" b="0" i="0" dirty="0" err="1">
                <a:solidFill>
                  <a:srgbClr val="E2E2E5"/>
                </a:solidFill>
                <a:effectLst/>
                <a:latin typeface="Google Sans Text"/>
              </a:rPr>
              <a:t>Gradia</a:t>
            </a:r>
            <a:r>
              <a:rPr lang="ro-RO" b="0" i="0" dirty="0">
                <a:solidFill>
                  <a:srgbClr val="E2E2E5"/>
                </a:solidFill>
                <a:effectLst/>
                <a:latin typeface="Google Sans Text"/>
              </a:rPr>
              <a:t> la o scară mai mare.</a:t>
            </a:r>
            <a:endParaRPr lang="en-US" b="0" i="0" dirty="0">
              <a:solidFill>
                <a:srgbClr val="E2E2E5"/>
              </a:solidFill>
              <a:effectLst/>
              <a:latin typeface="Google Sans Text"/>
            </a:endParaRPr>
          </a:p>
          <a:p>
            <a:endParaRPr lang="en-US" b="0" i="0" dirty="0">
              <a:solidFill>
                <a:srgbClr val="E2E2E5"/>
              </a:solidFill>
              <a:effectLst/>
              <a:latin typeface="Google Sans Text"/>
            </a:endParaRPr>
          </a:p>
          <a:p>
            <a:r>
              <a:rPr lang="ro-RO" b="0" i="0" dirty="0" err="1">
                <a:solidFill>
                  <a:srgbClr val="E2E2E5"/>
                </a:solidFill>
                <a:effectLst/>
                <a:latin typeface="Google Sans Text"/>
              </a:rPr>
              <a:t>Gradia</a:t>
            </a:r>
            <a:r>
              <a:rPr lang="ro-RO" b="0" i="0" dirty="0">
                <a:solidFill>
                  <a:srgbClr val="E2E2E5"/>
                </a:solidFill>
                <a:effectLst/>
                <a:latin typeface="Google Sans Text"/>
              </a:rPr>
              <a:t> este vândută ca o aplicație de tip </a:t>
            </a:r>
            <a:r>
              <a:rPr lang="ro-RO" b="0" i="0" dirty="0" err="1">
                <a:solidFill>
                  <a:srgbClr val="E2E2E5"/>
                </a:solidFill>
                <a:effectLst/>
                <a:latin typeface="Google Sans Text"/>
              </a:rPr>
              <a:t>SaaS</a:t>
            </a:r>
            <a:r>
              <a:rPr lang="ro-RO" b="0" i="0" dirty="0">
                <a:solidFill>
                  <a:srgbClr val="E2E2E5"/>
                </a:solidFill>
                <a:effectLst/>
                <a:latin typeface="Google Sans Text"/>
              </a:rPr>
              <a:t> (Software as a Service), asigurând un flux constant de venituri, prin abonamente. Acest model ne oferă un mod de dezvoltare sustenabil, scalabil și adaptabil.</a:t>
            </a:r>
            <a:endParaRPr lang="ro-RO" dirty="0"/>
          </a:p>
        </p:txBody>
      </p:sp>
      <p:sp>
        <p:nvSpPr>
          <p:cNvPr id="4" name="Slide Number Placeholder 3">
            <a:extLst>
              <a:ext uri="{FF2B5EF4-FFF2-40B4-BE49-F238E27FC236}">
                <a16:creationId xmlns:a16="http://schemas.microsoft.com/office/drawing/2014/main" id="{7B8E7782-0509-FD5B-DA21-24716B9A28EB}"/>
              </a:ext>
            </a:extLst>
          </p:cNvPr>
          <p:cNvSpPr>
            <a:spLocks noGrp="1"/>
          </p:cNvSpPr>
          <p:nvPr>
            <p:ph type="sldNum" sz="quarter" idx="5"/>
          </p:nvPr>
        </p:nvSpPr>
        <p:spPr/>
        <p:txBody>
          <a:bodyPr/>
          <a:lstStyle/>
          <a:p>
            <a:fld id="{35F70F82-D5A7-443B-ABC1-EBC97D37DBC3}" type="slidenum">
              <a:rPr lang="ro-RO" smtClean="0"/>
              <a:t>8</a:t>
            </a:fld>
            <a:endParaRPr lang="ro-RO"/>
          </a:p>
        </p:txBody>
      </p:sp>
    </p:spTree>
    <p:extLst>
      <p:ext uri="{BB962C8B-B14F-4D97-AF65-F5344CB8AC3E}">
        <p14:creationId xmlns:p14="http://schemas.microsoft.com/office/powerpoint/2010/main" val="2642814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9</a:t>
            </a:fld>
            <a:endParaRPr lang="ro-RO"/>
          </a:p>
        </p:txBody>
      </p:sp>
    </p:spTree>
    <p:extLst>
      <p:ext uri="{BB962C8B-B14F-4D97-AF65-F5344CB8AC3E}">
        <p14:creationId xmlns:p14="http://schemas.microsoft.com/office/powerpoint/2010/main" val="4219325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10</a:t>
            </a:fld>
            <a:endParaRPr lang="ro-RO"/>
          </a:p>
        </p:txBody>
      </p:sp>
    </p:spTree>
    <p:extLst>
      <p:ext uri="{BB962C8B-B14F-4D97-AF65-F5344CB8AC3E}">
        <p14:creationId xmlns:p14="http://schemas.microsoft.com/office/powerpoint/2010/main" val="3589033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16</a:t>
            </a:fld>
            <a:endParaRPr lang="ro-RO"/>
          </a:p>
        </p:txBody>
      </p:sp>
    </p:spTree>
    <p:extLst>
      <p:ext uri="{BB962C8B-B14F-4D97-AF65-F5344CB8AC3E}">
        <p14:creationId xmlns:p14="http://schemas.microsoft.com/office/powerpoint/2010/main" val="3404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35F70F82-D5A7-443B-ABC1-EBC97D37DBC3}" type="slidenum">
              <a:rPr lang="ro-RO" smtClean="0"/>
              <a:t>19</a:t>
            </a:fld>
            <a:endParaRPr lang="ro-RO"/>
          </a:p>
        </p:txBody>
      </p:sp>
    </p:spTree>
    <p:extLst>
      <p:ext uri="{BB962C8B-B14F-4D97-AF65-F5344CB8AC3E}">
        <p14:creationId xmlns:p14="http://schemas.microsoft.com/office/powerpoint/2010/main" val="2897797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8628-9553-92C3-FA89-7B1A538A01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o-RO"/>
          </a:p>
        </p:txBody>
      </p:sp>
      <p:sp>
        <p:nvSpPr>
          <p:cNvPr id="3" name="Subtitle 2">
            <a:extLst>
              <a:ext uri="{FF2B5EF4-FFF2-40B4-BE49-F238E27FC236}">
                <a16:creationId xmlns:a16="http://schemas.microsoft.com/office/drawing/2014/main" id="{CCC82A34-0528-CF6F-999C-C9B7C3762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o-RO"/>
          </a:p>
        </p:txBody>
      </p:sp>
      <p:sp>
        <p:nvSpPr>
          <p:cNvPr id="4" name="Date Placeholder 3">
            <a:extLst>
              <a:ext uri="{FF2B5EF4-FFF2-40B4-BE49-F238E27FC236}">
                <a16:creationId xmlns:a16="http://schemas.microsoft.com/office/drawing/2014/main" id="{7C8D139D-1E5D-3F2B-CE13-7DC254A25C58}"/>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5" name="Footer Placeholder 4">
            <a:extLst>
              <a:ext uri="{FF2B5EF4-FFF2-40B4-BE49-F238E27FC236}">
                <a16:creationId xmlns:a16="http://schemas.microsoft.com/office/drawing/2014/main" id="{78DE11AB-7F63-64E8-66D6-8409D8617819}"/>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04234227-8C05-2273-BF31-8367CE2D9DE4}"/>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159966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41D6-952E-9175-ADCE-230A772F38FA}"/>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1AFFB618-A387-A3ED-4C4A-73865119E0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E5261DC2-C09D-775B-6A95-16ACA9077BCE}"/>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5" name="Footer Placeholder 4">
            <a:extLst>
              <a:ext uri="{FF2B5EF4-FFF2-40B4-BE49-F238E27FC236}">
                <a16:creationId xmlns:a16="http://schemas.microsoft.com/office/drawing/2014/main" id="{CE8B5609-A35D-1488-BF16-C429AD497F80}"/>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7AF34143-37AF-8D88-9133-0FACC1B8D12E}"/>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480200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411E5-7CCF-7B04-BC04-A64AE8733C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o-RO"/>
          </a:p>
        </p:txBody>
      </p:sp>
      <p:sp>
        <p:nvSpPr>
          <p:cNvPr id="3" name="Text Placeholder 2">
            <a:extLst>
              <a:ext uri="{FF2B5EF4-FFF2-40B4-BE49-F238E27FC236}">
                <a16:creationId xmlns:a16="http://schemas.microsoft.com/office/drawing/2014/main" id="{758E1105-1A04-91A9-97E2-D54545742C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E3F532-5A71-2BB0-8321-D200E61300FD}"/>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5" name="Footer Placeholder 4">
            <a:extLst>
              <a:ext uri="{FF2B5EF4-FFF2-40B4-BE49-F238E27FC236}">
                <a16:creationId xmlns:a16="http://schemas.microsoft.com/office/drawing/2014/main" id="{1C5B89F5-0201-F61E-8F09-0935B075779D}"/>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CCC565BD-1DF7-CB16-6966-650D5E2487F3}"/>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1729768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C3BF-5EA9-27E4-6F18-CC7DD5036B02}"/>
              </a:ext>
            </a:extLst>
          </p:cNvPr>
          <p:cNvSpPr>
            <a:spLocks noGrp="1"/>
          </p:cNvSpPr>
          <p:nvPr>
            <p:ph type="title"/>
          </p:nvPr>
        </p:nvSpPr>
        <p:spPr/>
        <p:txBody>
          <a:bodyPr/>
          <a:lstStyle/>
          <a:p>
            <a:r>
              <a:rPr lang="en-US"/>
              <a:t>Click to edit Master title style</a:t>
            </a:r>
            <a:endParaRPr lang="ro-RO"/>
          </a:p>
        </p:txBody>
      </p:sp>
      <p:sp>
        <p:nvSpPr>
          <p:cNvPr id="3" name="Content Placeholder 2">
            <a:extLst>
              <a:ext uri="{FF2B5EF4-FFF2-40B4-BE49-F238E27FC236}">
                <a16:creationId xmlns:a16="http://schemas.microsoft.com/office/drawing/2014/main" id="{CD8A7CFC-5F80-CB1C-DFF1-CEE1DE7F35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Content Placeholder 3">
            <a:extLst>
              <a:ext uri="{FF2B5EF4-FFF2-40B4-BE49-F238E27FC236}">
                <a16:creationId xmlns:a16="http://schemas.microsoft.com/office/drawing/2014/main" id="{4829EC39-9739-DBA5-85A1-8E2E6D2427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Date Placeholder 4">
            <a:extLst>
              <a:ext uri="{FF2B5EF4-FFF2-40B4-BE49-F238E27FC236}">
                <a16:creationId xmlns:a16="http://schemas.microsoft.com/office/drawing/2014/main" id="{5940A9FB-45CF-1D5F-DA62-6052C021AD68}"/>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6" name="Footer Placeholder 5">
            <a:extLst>
              <a:ext uri="{FF2B5EF4-FFF2-40B4-BE49-F238E27FC236}">
                <a16:creationId xmlns:a16="http://schemas.microsoft.com/office/drawing/2014/main" id="{A4A089B1-DB17-663E-86C9-ED0432624981}"/>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49E3F545-AD10-AF4C-E552-B4822E2FBA5C}"/>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146921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8F6E-0BD2-7665-5819-C5C4206B28C3}"/>
              </a:ext>
            </a:extLst>
          </p:cNvPr>
          <p:cNvSpPr>
            <a:spLocks noGrp="1"/>
          </p:cNvSpPr>
          <p:nvPr>
            <p:ph type="title"/>
          </p:nvPr>
        </p:nvSpPr>
        <p:spPr>
          <a:xfrm>
            <a:off x="839788" y="365125"/>
            <a:ext cx="10515600" cy="1325563"/>
          </a:xfrm>
        </p:spPr>
        <p:txBody>
          <a:bodyPr/>
          <a:lstStyle/>
          <a:p>
            <a:r>
              <a:rPr lang="en-US"/>
              <a:t>Click to edit Master title style</a:t>
            </a:r>
            <a:endParaRPr lang="ro-RO"/>
          </a:p>
        </p:txBody>
      </p:sp>
      <p:sp>
        <p:nvSpPr>
          <p:cNvPr id="3" name="Text Placeholder 2">
            <a:extLst>
              <a:ext uri="{FF2B5EF4-FFF2-40B4-BE49-F238E27FC236}">
                <a16:creationId xmlns:a16="http://schemas.microsoft.com/office/drawing/2014/main" id="{13F39547-3EE6-5FB4-7ABF-70E96A1252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48483D-20B8-9AD8-1EA9-2B69DC0B3C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5" name="Text Placeholder 4">
            <a:extLst>
              <a:ext uri="{FF2B5EF4-FFF2-40B4-BE49-F238E27FC236}">
                <a16:creationId xmlns:a16="http://schemas.microsoft.com/office/drawing/2014/main" id="{70A6730E-E48A-31D6-50A8-46B7A1309E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177617-9579-D5C8-CC51-6AC8464BC5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7" name="Date Placeholder 6">
            <a:extLst>
              <a:ext uri="{FF2B5EF4-FFF2-40B4-BE49-F238E27FC236}">
                <a16:creationId xmlns:a16="http://schemas.microsoft.com/office/drawing/2014/main" id="{C74B7F3B-101B-6DA3-1A95-E48FE4085F0F}"/>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8" name="Footer Placeholder 7">
            <a:extLst>
              <a:ext uri="{FF2B5EF4-FFF2-40B4-BE49-F238E27FC236}">
                <a16:creationId xmlns:a16="http://schemas.microsoft.com/office/drawing/2014/main" id="{9D072951-0510-B129-B39C-E5FB3C12474B}"/>
              </a:ext>
            </a:extLst>
          </p:cNvPr>
          <p:cNvSpPr>
            <a:spLocks noGrp="1"/>
          </p:cNvSpPr>
          <p:nvPr>
            <p:ph type="ftr" sz="quarter" idx="11"/>
          </p:nvPr>
        </p:nvSpPr>
        <p:spPr/>
        <p:txBody>
          <a:bodyPr/>
          <a:lstStyle/>
          <a:p>
            <a:endParaRPr lang="ro-RO"/>
          </a:p>
        </p:txBody>
      </p:sp>
      <p:sp>
        <p:nvSpPr>
          <p:cNvPr id="9" name="Slide Number Placeholder 8">
            <a:extLst>
              <a:ext uri="{FF2B5EF4-FFF2-40B4-BE49-F238E27FC236}">
                <a16:creationId xmlns:a16="http://schemas.microsoft.com/office/drawing/2014/main" id="{13456C88-7877-41D2-2534-92B91A225063}"/>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2892967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43A36-65DC-A3D3-66DD-D1361C3871EA}"/>
              </a:ext>
            </a:extLst>
          </p:cNvPr>
          <p:cNvSpPr>
            <a:spLocks noGrp="1"/>
          </p:cNvSpPr>
          <p:nvPr>
            <p:ph type="title"/>
          </p:nvPr>
        </p:nvSpPr>
        <p:spPr/>
        <p:txBody>
          <a:bodyPr/>
          <a:lstStyle/>
          <a:p>
            <a:r>
              <a:rPr lang="en-US"/>
              <a:t>Click to edit Master title style</a:t>
            </a:r>
            <a:endParaRPr lang="ro-RO"/>
          </a:p>
        </p:txBody>
      </p:sp>
      <p:sp>
        <p:nvSpPr>
          <p:cNvPr id="3" name="Date Placeholder 2">
            <a:extLst>
              <a:ext uri="{FF2B5EF4-FFF2-40B4-BE49-F238E27FC236}">
                <a16:creationId xmlns:a16="http://schemas.microsoft.com/office/drawing/2014/main" id="{68C3E4ED-C5EE-8CBE-208D-CCD33F9CD459}"/>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4" name="Footer Placeholder 3">
            <a:extLst>
              <a:ext uri="{FF2B5EF4-FFF2-40B4-BE49-F238E27FC236}">
                <a16:creationId xmlns:a16="http://schemas.microsoft.com/office/drawing/2014/main" id="{DD9745CF-92D8-1010-4223-FB88441BDBB3}"/>
              </a:ext>
            </a:extLst>
          </p:cNvPr>
          <p:cNvSpPr>
            <a:spLocks noGrp="1"/>
          </p:cNvSpPr>
          <p:nvPr>
            <p:ph type="ftr" sz="quarter" idx="11"/>
          </p:nvPr>
        </p:nvSpPr>
        <p:spPr/>
        <p:txBody>
          <a:bodyPr/>
          <a:lstStyle/>
          <a:p>
            <a:endParaRPr lang="ro-RO"/>
          </a:p>
        </p:txBody>
      </p:sp>
      <p:sp>
        <p:nvSpPr>
          <p:cNvPr id="5" name="Slide Number Placeholder 4">
            <a:extLst>
              <a:ext uri="{FF2B5EF4-FFF2-40B4-BE49-F238E27FC236}">
                <a16:creationId xmlns:a16="http://schemas.microsoft.com/office/drawing/2014/main" id="{A079F81B-367B-0AA7-BE24-3BB2AD023CB7}"/>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180647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790A25-49A9-7CB1-0EC3-4107783681E6}"/>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3" name="Footer Placeholder 2">
            <a:extLst>
              <a:ext uri="{FF2B5EF4-FFF2-40B4-BE49-F238E27FC236}">
                <a16:creationId xmlns:a16="http://schemas.microsoft.com/office/drawing/2014/main" id="{AC03C7AA-7E83-790D-C51E-F8B1D20EE0C8}"/>
              </a:ext>
            </a:extLst>
          </p:cNvPr>
          <p:cNvSpPr>
            <a:spLocks noGrp="1"/>
          </p:cNvSpPr>
          <p:nvPr>
            <p:ph type="ftr" sz="quarter" idx="11"/>
          </p:nvPr>
        </p:nvSpPr>
        <p:spPr/>
        <p:txBody>
          <a:bodyPr/>
          <a:lstStyle/>
          <a:p>
            <a:endParaRPr lang="ro-RO"/>
          </a:p>
        </p:txBody>
      </p:sp>
      <p:sp>
        <p:nvSpPr>
          <p:cNvPr id="4" name="Slide Number Placeholder 3">
            <a:extLst>
              <a:ext uri="{FF2B5EF4-FFF2-40B4-BE49-F238E27FC236}">
                <a16:creationId xmlns:a16="http://schemas.microsoft.com/office/drawing/2014/main" id="{A63DCC95-6B4B-B377-1F78-1EB369A86FC8}"/>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117799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E92B4-10B7-CD35-E2B1-0AC944EEAC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Content Placeholder 2">
            <a:extLst>
              <a:ext uri="{FF2B5EF4-FFF2-40B4-BE49-F238E27FC236}">
                <a16:creationId xmlns:a16="http://schemas.microsoft.com/office/drawing/2014/main" id="{4F010CCB-1596-ECC7-B680-87852A42E7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Text Placeholder 3">
            <a:extLst>
              <a:ext uri="{FF2B5EF4-FFF2-40B4-BE49-F238E27FC236}">
                <a16:creationId xmlns:a16="http://schemas.microsoft.com/office/drawing/2014/main" id="{0D426415-5E97-E6B9-FA14-4DCC6A232F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19D004-5A9D-0579-9AFA-C0DA9705D7C7}"/>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6" name="Footer Placeholder 5">
            <a:extLst>
              <a:ext uri="{FF2B5EF4-FFF2-40B4-BE49-F238E27FC236}">
                <a16:creationId xmlns:a16="http://schemas.microsoft.com/office/drawing/2014/main" id="{8C8F3A0F-482A-363C-B423-5E1794C9AA0F}"/>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101A9C6C-8158-5C0B-7E0B-923D2DAC71DA}"/>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3211537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F3372-E822-B739-2999-07F9C26AE2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o-RO"/>
          </a:p>
        </p:txBody>
      </p:sp>
      <p:sp>
        <p:nvSpPr>
          <p:cNvPr id="3" name="Picture Placeholder 2">
            <a:extLst>
              <a:ext uri="{FF2B5EF4-FFF2-40B4-BE49-F238E27FC236}">
                <a16:creationId xmlns:a16="http://schemas.microsoft.com/office/drawing/2014/main" id="{90E0F641-9DC5-85D7-F808-49CBFEB2EA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Text Placeholder 3">
            <a:extLst>
              <a:ext uri="{FF2B5EF4-FFF2-40B4-BE49-F238E27FC236}">
                <a16:creationId xmlns:a16="http://schemas.microsoft.com/office/drawing/2014/main" id="{77FAD6FC-2C24-A21F-D15F-AEA0F7C7F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62F52C-1E90-F2B5-FA12-CF4C450D1FCA}"/>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6" name="Footer Placeholder 5">
            <a:extLst>
              <a:ext uri="{FF2B5EF4-FFF2-40B4-BE49-F238E27FC236}">
                <a16:creationId xmlns:a16="http://schemas.microsoft.com/office/drawing/2014/main" id="{1535F1DE-14D9-1115-08C2-5958550521FF}"/>
              </a:ext>
            </a:extLst>
          </p:cNvPr>
          <p:cNvSpPr>
            <a:spLocks noGrp="1"/>
          </p:cNvSpPr>
          <p:nvPr>
            <p:ph type="ftr" sz="quarter" idx="11"/>
          </p:nvPr>
        </p:nvSpPr>
        <p:spPr/>
        <p:txBody>
          <a:bodyPr/>
          <a:lstStyle/>
          <a:p>
            <a:endParaRPr lang="ro-RO"/>
          </a:p>
        </p:txBody>
      </p:sp>
      <p:sp>
        <p:nvSpPr>
          <p:cNvPr id="7" name="Slide Number Placeholder 6">
            <a:extLst>
              <a:ext uri="{FF2B5EF4-FFF2-40B4-BE49-F238E27FC236}">
                <a16:creationId xmlns:a16="http://schemas.microsoft.com/office/drawing/2014/main" id="{FC2AE601-D9E0-B939-7170-BD4E79B04853}"/>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3118136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1558E-8CCA-8B62-EA0D-5E769EA2BA5B}"/>
              </a:ext>
            </a:extLst>
          </p:cNvPr>
          <p:cNvSpPr>
            <a:spLocks noGrp="1"/>
          </p:cNvSpPr>
          <p:nvPr>
            <p:ph type="title"/>
          </p:nvPr>
        </p:nvSpPr>
        <p:spPr/>
        <p:txBody>
          <a:bodyPr/>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BDA07E6E-EE4D-8D7F-26D1-34547EA6B2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FB49AE3B-260B-0340-C29C-546AAFC395C4}"/>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5" name="Footer Placeholder 4">
            <a:extLst>
              <a:ext uri="{FF2B5EF4-FFF2-40B4-BE49-F238E27FC236}">
                <a16:creationId xmlns:a16="http://schemas.microsoft.com/office/drawing/2014/main" id="{E71A8543-1E6B-C76A-AC7A-0FA98AD8D5EB}"/>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C377D198-370B-99D4-3956-B5C90E19E169}"/>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63055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138A91-2416-0037-B592-CA2DCF5F3F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o-RO"/>
          </a:p>
        </p:txBody>
      </p:sp>
      <p:sp>
        <p:nvSpPr>
          <p:cNvPr id="3" name="Vertical Text Placeholder 2">
            <a:extLst>
              <a:ext uri="{FF2B5EF4-FFF2-40B4-BE49-F238E27FC236}">
                <a16:creationId xmlns:a16="http://schemas.microsoft.com/office/drawing/2014/main" id="{87A44202-559E-9D8C-A2F0-1D3703F234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0CD2A7CB-D0E7-F364-01E8-9EEB6B5B7691}"/>
              </a:ext>
            </a:extLst>
          </p:cNvPr>
          <p:cNvSpPr>
            <a:spLocks noGrp="1"/>
          </p:cNvSpPr>
          <p:nvPr>
            <p:ph type="dt" sz="half" idx="10"/>
          </p:nvPr>
        </p:nvSpPr>
        <p:spPr/>
        <p:txBody>
          <a:bodyPr/>
          <a:lstStyle/>
          <a:p>
            <a:fld id="{18AD8022-8EED-45B7-B8FE-33520913151F}" type="datetimeFigureOut">
              <a:rPr lang="ro-RO" smtClean="0"/>
              <a:t>16.01.2025</a:t>
            </a:fld>
            <a:endParaRPr lang="ro-RO"/>
          </a:p>
        </p:txBody>
      </p:sp>
      <p:sp>
        <p:nvSpPr>
          <p:cNvPr id="5" name="Footer Placeholder 4">
            <a:extLst>
              <a:ext uri="{FF2B5EF4-FFF2-40B4-BE49-F238E27FC236}">
                <a16:creationId xmlns:a16="http://schemas.microsoft.com/office/drawing/2014/main" id="{744444E3-1687-9778-E00B-FAD349D616CB}"/>
              </a:ext>
            </a:extLst>
          </p:cNvPr>
          <p:cNvSpPr>
            <a:spLocks noGrp="1"/>
          </p:cNvSpPr>
          <p:nvPr>
            <p:ph type="ftr" sz="quarter" idx="11"/>
          </p:nvPr>
        </p:nvSpPr>
        <p:spPr/>
        <p:txBody>
          <a:bodyPr/>
          <a:lstStyle/>
          <a:p>
            <a:endParaRPr lang="ro-RO"/>
          </a:p>
        </p:txBody>
      </p:sp>
      <p:sp>
        <p:nvSpPr>
          <p:cNvPr id="6" name="Slide Number Placeholder 5">
            <a:extLst>
              <a:ext uri="{FF2B5EF4-FFF2-40B4-BE49-F238E27FC236}">
                <a16:creationId xmlns:a16="http://schemas.microsoft.com/office/drawing/2014/main" id="{BD0CA7AA-168F-A6CC-0EB8-E593F6BC7A85}"/>
              </a:ext>
            </a:extLst>
          </p:cNvPr>
          <p:cNvSpPr>
            <a:spLocks noGrp="1"/>
          </p:cNvSpPr>
          <p:nvPr>
            <p:ph type="sldNum" sz="quarter" idx="12"/>
          </p:nvPr>
        </p:nvSpPr>
        <p:spPr/>
        <p:txBody>
          <a:bodyPr/>
          <a:lstStyle/>
          <a:p>
            <a:fld id="{B2A60D2D-1536-4752-8AB6-773C8894758B}" type="slidenum">
              <a:rPr lang="ro-RO" smtClean="0"/>
              <a:t>‹#›</a:t>
            </a:fld>
            <a:endParaRPr lang="ro-RO"/>
          </a:p>
        </p:txBody>
      </p:sp>
    </p:spTree>
    <p:extLst>
      <p:ext uri="{BB962C8B-B14F-4D97-AF65-F5344CB8AC3E}">
        <p14:creationId xmlns:p14="http://schemas.microsoft.com/office/powerpoint/2010/main" val="515850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F27F6-7180-9D75-9660-F61BF84FC1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o-RO"/>
          </a:p>
        </p:txBody>
      </p:sp>
      <p:sp>
        <p:nvSpPr>
          <p:cNvPr id="3" name="Text Placeholder 2">
            <a:extLst>
              <a:ext uri="{FF2B5EF4-FFF2-40B4-BE49-F238E27FC236}">
                <a16:creationId xmlns:a16="http://schemas.microsoft.com/office/drawing/2014/main" id="{04790CA2-B8AA-C6D4-2E2D-9B0654EC29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4" name="Date Placeholder 3">
            <a:extLst>
              <a:ext uri="{FF2B5EF4-FFF2-40B4-BE49-F238E27FC236}">
                <a16:creationId xmlns:a16="http://schemas.microsoft.com/office/drawing/2014/main" id="{4EF3CC2E-5F21-E207-B84B-B5CE360C5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AD8022-8EED-45B7-B8FE-33520913151F}" type="datetimeFigureOut">
              <a:rPr lang="ro-RO" smtClean="0"/>
              <a:t>16.01.2025</a:t>
            </a:fld>
            <a:endParaRPr lang="ro-RO"/>
          </a:p>
        </p:txBody>
      </p:sp>
      <p:sp>
        <p:nvSpPr>
          <p:cNvPr id="5" name="Footer Placeholder 4">
            <a:extLst>
              <a:ext uri="{FF2B5EF4-FFF2-40B4-BE49-F238E27FC236}">
                <a16:creationId xmlns:a16="http://schemas.microsoft.com/office/drawing/2014/main" id="{D6AA1519-AAEF-46EF-2482-C51690F83B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o-RO"/>
          </a:p>
        </p:txBody>
      </p:sp>
      <p:sp>
        <p:nvSpPr>
          <p:cNvPr id="6" name="Slide Number Placeholder 5">
            <a:extLst>
              <a:ext uri="{FF2B5EF4-FFF2-40B4-BE49-F238E27FC236}">
                <a16:creationId xmlns:a16="http://schemas.microsoft.com/office/drawing/2014/main" id="{D9032E79-6D75-3BBE-623C-7A9CCCB41B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A60D2D-1536-4752-8AB6-773C8894758B}" type="slidenum">
              <a:rPr lang="ro-RO" smtClean="0"/>
              <a:t>‹#›</a:t>
            </a:fld>
            <a:endParaRPr lang="ro-RO"/>
          </a:p>
        </p:txBody>
      </p:sp>
    </p:spTree>
    <p:extLst>
      <p:ext uri="{BB962C8B-B14F-4D97-AF65-F5344CB8AC3E}">
        <p14:creationId xmlns:p14="http://schemas.microsoft.com/office/powerpoint/2010/main" val="10986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885EA-6196-F16D-07C9-AB32053AEE62}"/>
            </a:ext>
          </a:extLst>
        </p:cNvPr>
        <p:cNvGrpSpPr/>
        <p:nvPr/>
      </p:nvGrpSpPr>
      <p:grpSpPr>
        <a:xfrm>
          <a:off x="0" y="0"/>
          <a:ext cx="0" cy="0"/>
          <a:chOff x="0" y="0"/>
          <a:chExt cx="0" cy="0"/>
        </a:xfrm>
      </p:grpSpPr>
      <p:pic>
        <p:nvPicPr>
          <p:cNvPr id="9" name="Picture 8" descr="A yellow light in a black background&#10;&#10;Description automatically generated">
            <a:extLst>
              <a:ext uri="{FF2B5EF4-FFF2-40B4-BE49-F238E27FC236}">
                <a16:creationId xmlns:a16="http://schemas.microsoft.com/office/drawing/2014/main" id="{500F621E-4625-AB43-562C-20C07FCD4F44}"/>
              </a:ext>
            </a:extLst>
          </p:cNvPr>
          <p:cNvPicPr>
            <a:picLocks noGrp="1" noRot="1" noChangeAspect="1" noMove="1" noResize="1" noEditPoints="1" noAdjustHandles="1" noChangeArrowheads="1" noChangeShapeType="1" noCrop="1"/>
          </p:cNvPicPr>
          <p:nvPr/>
        </p:nvPicPr>
        <p:blipFill>
          <a:blip r:embed="rId2">
            <a:alphaModFix amt="68000"/>
            <a:extLst>
              <a:ext uri="{28A0092B-C50C-407E-A947-70E740481C1C}">
                <a14:useLocalDpi xmlns:a14="http://schemas.microsoft.com/office/drawing/2010/main" val="0"/>
              </a:ext>
            </a:extLst>
          </a:blip>
          <a:srcRect t="6626" b="6626"/>
          <a:stretch/>
        </p:blipFill>
        <p:spPr>
          <a:xfrm>
            <a:off x="0" y="-1"/>
            <a:ext cx="12192000" cy="6858001"/>
          </a:xfrm>
          <a:prstGeom prst="rect">
            <a:avLst/>
          </a:prstGeom>
        </p:spPr>
      </p:pic>
    </p:spTree>
    <p:extLst>
      <p:ext uri="{BB962C8B-B14F-4D97-AF65-F5344CB8AC3E}">
        <p14:creationId xmlns:p14="http://schemas.microsoft.com/office/powerpoint/2010/main" val="1942789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yellow light in a black background&#10;&#10;Description automatically generated">
            <a:extLst>
              <a:ext uri="{FF2B5EF4-FFF2-40B4-BE49-F238E27FC236}">
                <a16:creationId xmlns:a16="http://schemas.microsoft.com/office/drawing/2014/main" id="{945F5C72-0106-318F-0EF4-D74ABC0D3601}"/>
              </a:ext>
            </a:extLst>
          </p:cNvPr>
          <p:cNvPicPr>
            <a:picLocks noGrp="1" noRot="1" noChangeAspect="1" noMove="1" noResize="1" noEditPoints="1" noAdjustHandles="1" noChangeArrowheads="1" noChangeShapeType="1" noCrop="1"/>
          </p:cNvPicPr>
          <p:nvPr/>
        </p:nvPicPr>
        <p:blipFill>
          <a:blip r:embed="rId2">
            <a:alphaModFix amt="68000"/>
            <a:extLst>
              <a:ext uri="{28A0092B-C50C-407E-A947-70E740481C1C}">
                <a14:useLocalDpi xmlns:a14="http://schemas.microsoft.com/office/drawing/2010/main" val="0"/>
              </a:ext>
            </a:extLst>
          </a:blip>
          <a:srcRect t="6626" b="6626"/>
          <a:stretch/>
        </p:blipFill>
        <p:spPr>
          <a:xfrm>
            <a:off x="0" y="-1"/>
            <a:ext cx="12192000" cy="6858001"/>
          </a:xfrm>
          <a:prstGeom prst="rect">
            <a:avLst/>
          </a:prstGeom>
        </p:spPr>
      </p:pic>
      <p:pic>
        <p:nvPicPr>
          <p:cNvPr id="5" name="Graphic 4">
            <a:extLst>
              <a:ext uri="{FF2B5EF4-FFF2-40B4-BE49-F238E27FC236}">
                <a16:creationId xmlns:a16="http://schemas.microsoft.com/office/drawing/2014/main" id="{5D55D15C-AB6A-2771-C86E-F3F2319C6D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2837" y="2474595"/>
            <a:ext cx="4886325" cy="1428750"/>
          </a:xfrm>
          <a:prstGeom prst="rect">
            <a:avLst/>
          </a:prstGeom>
        </p:spPr>
      </p:pic>
      <p:sp>
        <p:nvSpPr>
          <p:cNvPr id="11" name="TextBox 10">
            <a:extLst>
              <a:ext uri="{FF2B5EF4-FFF2-40B4-BE49-F238E27FC236}">
                <a16:creationId xmlns:a16="http://schemas.microsoft.com/office/drawing/2014/main" id="{D6A9252B-4A98-738C-ACC2-F883326455DD}"/>
              </a:ext>
            </a:extLst>
          </p:cNvPr>
          <p:cNvSpPr txBox="1"/>
          <p:nvPr/>
        </p:nvSpPr>
        <p:spPr>
          <a:xfrm>
            <a:off x="3022921" y="4057456"/>
            <a:ext cx="6146156" cy="400110"/>
          </a:xfrm>
          <a:prstGeom prst="rect">
            <a:avLst/>
          </a:prstGeom>
          <a:noFill/>
        </p:spPr>
        <p:txBody>
          <a:bodyPr wrap="square">
            <a:spAutoFit/>
          </a:bodyPr>
          <a:lstStyle/>
          <a:p>
            <a:pPr algn="ctr"/>
            <a:r>
              <a:rPr lang="en-US" sz="2000" b="0" i="0" dirty="0">
                <a:solidFill>
                  <a:srgbClr val="000000"/>
                </a:solidFill>
                <a:effectLst/>
                <a:latin typeface="HelveticaNowDisplay Regular" panose="020B0504030202020204" pitchFamily="34" charset="0"/>
                <a:cs typeface="HelveticaNowDisplay Regular" panose="020B0504030202020204" pitchFamily="34" charset="0"/>
              </a:rPr>
              <a:t>Discover, Improve, Excel.</a:t>
            </a:r>
            <a:r>
              <a:rPr lang="en-US" sz="2000" dirty="0">
                <a:solidFill>
                  <a:srgbClr val="000000"/>
                </a:solidFill>
                <a:latin typeface="HelveticaNowDisplay Regular" panose="020B0504030202020204" pitchFamily="34" charset="0"/>
                <a:cs typeface="HelveticaNowDisplay Regular" panose="020B0504030202020204" pitchFamily="34" charset="0"/>
              </a:rPr>
              <a:t> </a:t>
            </a:r>
            <a:r>
              <a:rPr lang="en-US" sz="2000" b="0" i="0" dirty="0">
                <a:solidFill>
                  <a:srgbClr val="000000"/>
                </a:solidFill>
                <a:effectLst/>
                <a:latin typeface="HelveticaNowDisplay Regular" panose="020B0504030202020204" pitchFamily="34" charset="0"/>
                <a:cs typeface="HelveticaNowDisplay Regular" panose="020B0504030202020204" pitchFamily="34" charset="0"/>
              </a:rPr>
              <a:t>Academically and Beyond.</a:t>
            </a:r>
            <a:endParaRPr lang="ro-RO" sz="2000" dirty="0">
              <a:latin typeface="HelveticaNowDisplay Regular" panose="020B0504030202020204" pitchFamily="34" charset="0"/>
              <a:cs typeface="HelveticaNowDisplay Regular" panose="020B0504030202020204" pitchFamily="34" charset="0"/>
            </a:endParaRPr>
          </a:p>
        </p:txBody>
      </p:sp>
    </p:spTree>
    <p:extLst>
      <p:ext uri="{BB962C8B-B14F-4D97-AF65-F5344CB8AC3E}">
        <p14:creationId xmlns:p14="http://schemas.microsoft.com/office/powerpoint/2010/main" val="61880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yellow light in the dark&#10;&#10;Description automatically generated">
            <a:extLst>
              <a:ext uri="{FF2B5EF4-FFF2-40B4-BE49-F238E27FC236}">
                <a16:creationId xmlns:a16="http://schemas.microsoft.com/office/drawing/2014/main" id="{0A9DC4FD-A40F-6DE9-0C14-F1A13D36C0AE}"/>
              </a:ext>
            </a:extLst>
          </p:cNvPr>
          <p:cNvPicPr>
            <a:picLocks noGrp="1" noRot="1" noChangeAspect="1" noMove="1" noResize="1" noEditPoints="1" noAdjustHandles="1" noChangeArrowheads="1" noChangeShapeType="1" noCrop="1"/>
          </p:cNvPicPr>
          <p:nvPr/>
        </p:nvPicPr>
        <p:blipFill>
          <a:blip r:embed="rId3">
            <a:lum bright="70000" contrast="-70000"/>
            <a:extLst>
              <a:ext uri="{28A0092B-C50C-407E-A947-70E740481C1C}">
                <a14:useLocalDpi xmlns:a14="http://schemas.microsoft.com/office/drawing/2010/main" val="0"/>
              </a:ext>
            </a:extLst>
          </a:blip>
          <a:stretch>
            <a:fillRect/>
          </a:stretch>
        </p:blipFill>
        <p:spPr>
          <a:xfrm rot="19890896">
            <a:off x="58564" y="-1408376"/>
            <a:ext cx="4812660" cy="12453134"/>
          </a:xfrm>
          <a:prstGeom prst="rect">
            <a:avLst/>
          </a:prstGeom>
        </p:spPr>
      </p:pic>
      <p:pic>
        <p:nvPicPr>
          <p:cNvPr id="5" name="Picture 4" descr="A red light in the dark&#10;&#10;Description automatically generated">
            <a:extLst>
              <a:ext uri="{FF2B5EF4-FFF2-40B4-BE49-F238E27FC236}">
                <a16:creationId xmlns:a16="http://schemas.microsoft.com/office/drawing/2014/main" id="{24C8CA5B-34AB-0506-F444-2DE786842A68}"/>
              </a:ext>
            </a:extLst>
          </p:cNvPr>
          <p:cNvPicPr>
            <a:picLocks noGrp="1" noRot="1" noChangeAspect="1" noMove="1" noResize="1" noEditPoints="1" noAdjustHandles="1" noChangeArrowheads="1" noChangeShapeType="1" noCrop="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rot="21118214">
            <a:off x="268053" y="-1982951"/>
            <a:ext cx="6011575" cy="9808080"/>
          </a:xfrm>
          <a:prstGeom prst="rect">
            <a:avLst/>
          </a:prstGeom>
        </p:spPr>
      </p:pic>
      <p:pic>
        <p:nvPicPr>
          <p:cNvPr id="3" name="Picture 2" descr="A white cell phone with black text&#10;&#10;Description automatically generated">
            <a:extLst>
              <a:ext uri="{FF2B5EF4-FFF2-40B4-BE49-F238E27FC236}">
                <a16:creationId xmlns:a16="http://schemas.microsoft.com/office/drawing/2014/main" id="{7FB47127-3221-3D16-1F49-C199E90297C8}"/>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l="24092" t="10295" r="25654" b="13213"/>
          <a:stretch/>
        </p:blipFill>
        <p:spPr>
          <a:xfrm>
            <a:off x="88739" y="0"/>
            <a:ext cx="6007261" cy="6858000"/>
          </a:xfrm>
          <a:prstGeom prst="rect">
            <a:avLst/>
          </a:prstGeom>
        </p:spPr>
      </p:pic>
      <p:sp>
        <p:nvSpPr>
          <p:cNvPr id="10" name="TextBox 9">
            <a:extLst>
              <a:ext uri="{FF2B5EF4-FFF2-40B4-BE49-F238E27FC236}">
                <a16:creationId xmlns:a16="http://schemas.microsoft.com/office/drawing/2014/main" id="{4A8B2AF6-1774-2ED7-032F-1190ECED3E00}"/>
              </a:ext>
            </a:extLst>
          </p:cNvPr>
          <p:cNvSpPr txBox="1"/>
          <p:nvPr/>
        </p:nvSpPr>
        <p:spPr>
          <a:xfrm>
            <a:off x="6398713" y="989717"/>
            <a:ext cx="4755756" cy="1938992"/>
          </a:xfrm>
          <a:prstGeom prst="rect">
            <a:avLst/>
          </a:prstGeom>
          <a:noFill/>
        </p:spPr>
        <p:txBody>
          <a:bodyPr wrap="square">
            <a:spAutoFit/>
          </a:bodyPr>
          <a:lstStyle/>
          <a:p>
            <a:r>
              <a:rPr lang="en-US" sz="4000" b="0" i="0" dirty="0">
                <a:solidFill>
                  <a:srgbClr val="000000"/>
                </a:solidFill>
                <a:effectLst/>
                <a:latin typeface="HelveticaNowDisplay Black" panose="020B0A04030202020204" pitchFamily="34" charset="0"/>
                <a:cs typeface="HelveticaNowDisplay Black" panose="020B0A04030202020204" pitchFamily="34" charset="0"/>
              </a:rPr>
              <a:t>VIITORUL ÎNVĂȚĂRII ESTE PERSONALIZAT.</a:t>
            </a:r>
            <a:endParaRPr lang="ro-RO" sz="4000" dirty="0">
              <a:latin typeface="HelveticaNowDisplay Black" panose="020B0A04030202020204" pitchFamily="34" charset="0"/>
              <a:cs typeface="HelveticaNowDisplay Black" panose="020B0A04030202020204" pitchFamily="34" charset="0"/>
            </a:endParaRPr>
          </a:p>
        </p:txBody>
      </p:sp>
      <p:sp>
        <p:nvSpPr>
          <p:cNvPr id="11" name="TextBox 10">
            <a:extLst>
              <a:ext uri="{FF2B5EF4-FFF2-40B4-BE49-F238E27FC236}">
                <a16:creationId xmlns:a16="http://schemas.microsoft.com/office/drawing/2014/main" id="{2B92D1F0-C1A7-B53E-8996-7999917C3E34}"/>
              </a:ext>
            </a:extLst>
          </p:cNvPr>
          <p:cNvSpPr txBox="1"/>
          <p:nvPr/>
        </p:nvSpPr>
        <p:spPr>
          <a:xfrm>
            <a:off x="6398713" y="3114408"/>
            <a:ext cx="4755756" cy="2677656"/>
          </a:xfrm>
          <a:prstGeom prst="rect">
            <a:avLst/>
          </a:prstGeom>
          <a:noFill/>
        </p:spPr>
        <p:txBody>
          <a:bodyPr wrap="square">
            <a:spAutoFit/>
          </a:bodyPr>
          <a:lstStyle/>
          <a:p>
            <a:r>
              <a:rPr lang="ro-RO" sz="2400" b="0" i="0" dirty="0">
                <a:solidFill>
                  <a:srgbClr val="000000"/>
                </a:solidFill>
                <a:effectLst/>
                <a:latin typeface="HelveticaNowDisplay Bold" panose="020B0804030202020204" pitchFamily="34" charset="0"/>
                <a:cs typeface="HelveticaNowDisplay Bold" panose="020B0804030202020204" pitchFamily="34" charset="0"/>
              </a:rPr>
              <a:t>Viziunea noastră este să devenim partenerul de încredere al studenților, ajutându-i să își atingă potențialul academic maxim, oferind o experiență de învățare personalizată și eficientă</a:t>
            </a:r>
            <a:endParaRPr lang="ro-RO" sz="2400" dirty="0">
              <a:latin typeface="HelveticaNowDisplay Bold" panose="020B0804030202020204" pitchFamily="34" charset="0"/>
              <a:cs typeface="HelveticaNowDisplay Bold" panose="020B0804030202020204" pitchFamily="34" charset="0"/>
            </a:endParaRPr>
          </a:p>
        </p:txBody>
      </p:sp>
    </p:spTree>
    <p:extLst>
      <p:ext uri="{BB962C8B-B14F-4D97-AF65-F5344CB8AC3E}">
        <p14:creationId xmlns:p14="http://schemas.microsoft.com/office/powerpoint/2010/main" val="1788213306"/>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ed light in the dark&#10;&#10;Description automatically generated">
            <a:extLst>
              <a:ext uri="{FF2B5EF4-FFF2-40B4-BE49-F238E27FC236}">
                <a16:creationId xmlns:a16="http://schemas.microsoft.com/office/drawing/2014/main" id="{E5A4B646-CFFF-4805-2FFF-735F99CAC3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0147" y="3604259"/>
            <a:ext cx="1986393" cy="1986393"/>
          </a:xfrm>
          <a:prstGeom prst="rect">
            <a:avLst/>
          </a:prstGeom>
        </p:spPr>
      </p:pic>
      <p:sp>
        <p:nvSpPr>
          <p:cNvPr id="2" name="TextBox 1">
            <a:extLst>
              <a:ext uri="{FF2B5EF4-FFF2-40B4-BE49-F238E27FC236}">
                <a16:creationId xmlns:a16="http://schemas.microsoft.com/office/drawing/2014/main" id="{6581F238-8301-2AAD-0178-3D4DF73CF968}"/>
              </a:ext>
            </a:extLst>
          </p:cNvPr>
          <p:cNvSpPr txBox="1"/>
          <p:nvPr/>
        </p:nvSpPr>
        <p:spPr>
          <a:xfrm>
            <a:off x="1590153" y="1843950"/>
            <a:ext cx="9011694" cy="3170099"/>
          </a:xfrm>
          <a:prstGeom prst="rect">
            <a:avLst/>
          </a:prstGeom>
          <a:noFill/>
        </p:spPr>
        <p:txBody>
          <a:bodyPr wrap="square">
            <a:spAutoFit/>
          </a:bodyPr>
          <a:lstStyle/>
          <a:p>
            <a:pPr algn="just"/>
            <a:r>
              <a:rPr lang="ro-RO" sz="4000" b="0" i="0" dirty="0">
                <a:solidFill>
                  <a:srgbClr val="000000"/>
                </a:solidFill>
                <a:effectLst/>
                <a:latin typeface="HelveticaNowDisplay Black" panose="020B0A04030202020204" pitchFamily="34" charset="0"/>
                <a:cs typeface="HelveticaNowDisplay Black" panose="020B0A04030202020204" pitchFamily="34" charset="0"/>
              </a:rPr>
              <a:t>PIAȚA EDUCAȚIONALĂ DIGITALĂ ESTE ÎN CONTINUĂ CREȘTERE,</a:t>
            </a:r>
            <a:r>
              <a:rPr lang="ro-RO" sz="4000" b="0" i="0" dirty="0">
                <a:solidFill>
                  <a:schemeClr val="tx1">
                    <a:lumMod val="50000"/>
                    <a:lumOff val="50000"/>
                  </a:schemeClr>
                </a:solidFill>
                <a:effectLst/>
                <a:latin typeface="HelveticaNowDisplay Black" panose="020B0A04030202020204" pitchFamily="34" charset="0"/>
                <a:cs typeface="HelveticaNowDisplay Black" panose="020B0A04030202020204" pitchFamily="34" charset="0"/>
              </a:rPr>
              <a:t> CU O CERERE DIN CE ÎN CE MAI MARE PENTRU </a:t>
            </a:r>
            <a:r>
              <a:rPr lang="ro-RO" sz="4000" b="0" i="0" dirty="0">
                <a:solidFill>
                  <a:srgbClr val="000000"/>
                </a:solidFill>
                <a:effectLst/>
                <a:latin typeface="HelveticaNowDisplay Black" panose="020B0A04030202020204" pitchFamily="34" charset="0"/>
                <a:cs typeface="HelveticaNowDisplay Black" panose="020B0A04030202020204" pitchFamily="34" charset="0"/>
              </a:rPr>
              <a:t>SOLUȚII DE ÎNVĂȚARE PERSONALIZATE BAZATE PE AI.</a:t>
            </a:r>
            <a:endParaRPr lang="ro-RO" sz="40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12325822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F85E9CF-9653-8938-99F4-CF43814F7A05}"/>
              </a:ext>
            </a:extLst>
          </p:cNvPr>
          <p:cNvGraphicFramePr/>
          <p:nvPr>
            <p:extLst>
              <p:ext uri="{D42A27DB-BD31-4B8C-83A1-F6EECF244321}">
                <p14:modId xmlns:p14="http://schemas.microsoft.com/office/powerpoint/2010/main" val="3995987127"/>
              </p:ext>
            </p:extLst>
          </p:nvPr>
        </p:nvGraphicFramePr>
        <p:xfrm>
          <a:off x="-137821" y="719666"/>
          <a:ext cx="8128000"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204827D7-6246-275E-BAB9-A2CA0D35BFCD}"/>
              </a:ext>
            </a:extLst>
          </p:cNvPr>
          <p:cNvSpPr txBox="1"/>
          <p:nvPr/>
        </p:nvSpPr>
        <p:spPr>
          <a:xfrm>
            <a:off x="4473053" y="1423939"/>
            <a:ext cx="7249047" cy="707886"/>
          </a:xfrm>
          <a:prstGeom prst="rect">
            <a:avLst/>
          </a:prstGeom>
          <a:noFill/>
        </p:spPr>
        <p:txBody>
          <a:bodyPr wrap="square">
            <a:spAutoFit/>
          </a:bodyPr>
          <a:lstStyle/>
          <a:p>
            <a:pPr algn="r"/>
            <a:r>
              <a:rPr lang="ro-RO" sz="4000" dirty="0">
                <a:solidFill>
                  <a:srgbClr val="000000"/>
                </a:solidFill>
                <a:latin typeface="HelveticaNowDisplay Black" panose="020B0A04030202020204" pitchFamily="34" charset="0"/>
                <a:cs typeface="HelveticaNowDisplay Black" panose="020B0A04030202020204" pitchFamily="34" charset="0"/>
              </a:rPr>
              <a:t>PENTRU O TEMĂ DE CASĂ</a:t>
            </a:r>
            <a:endParaRPr lang="ro-RO" sz="4000" dirty="0">
              <a:latin typeface="HelveticaNowDisplay Black" panose="020B0A04030202020204" pitchFamily="34" charset="0"/>
              <a:cs typeface="HelveticaNowDisplay Black" panose="020B0A04030202020204" pitchFamily="34" charset="0"/>
            </a:endParaRPr>
          </a:p>
        </p:txBody>
      </p:sp>
      <p:sp>
        <p:nvSpPr>
          <p:cNvPr id="6" name="TextBox 5">
            <a:extLst>
              <a:ext uri="{FF2B5EF4-FFF2-40B4-BE49-F238E27FC236}">
                <a16:creationId xmlns:a16="http://schemas.microsoft.com/office/drawing/2014/main" id="{098C63A6-5D9D-6349-A5D8-B775C7BAC211}"/>
              </a:ext>
            </a:extLst>
          </p:cNvPr>
          <p:cNvSpPr txBox="1"/>
          <p:nvPr/>
        </p:nvSpPr>
        <p:spPr>
          <a:xfrm>
            <a:off x="3594100" y="3139439"/>
            <a:ext cx="8128000" cy="707886"/>
          </a:xfrm>
          <a:prstGeom prst="rect">
            <a:avLst/>
          </a:prstGeom>
          <a:noFill/>
        </p:spPr>
        <p:txBody>
          <a:bodyPr wrap="square">
            <a:spAutoFit/>
          </a:bodyPr>
          <a:lstStyle/>
          <a:p>
            <a:pPr algn="r"/>
            <a:r>
              <a:rPr lang="ro-RO" sz="4000" dirty="0">
                <a:solidFill>
                  <a:srgbClr val="000000"/>
                </a:solidFill>
                <a:latin typeface="HelveticaNowDisplay Black" panose="020B0A04030202020204" pitchFamily="34" charset="0"/>
                <a:cs typeface="HelveticaNowDisplay Black" panose="020B0A04030202020204" pitchFamily="34" charset="0"/>
              </a:rPr>
              <a:t>PENTRU SCRIEREA UNUI ESEU</a:t>
            </a:r>
            <a:endParaRPr lang="ro-RO" sz="4000" dirty="0">
              <a:latin typeface="HelveticaNowDisplay Black" panose="020B0A04030202020204" pitchFamily="34" charset="0"/>
              <a:cs typeface="HelveticaNowDisplay Black" panose="020B0A04030202020204" pitchFamily="34" charset="0"/>
            </a:endParaRPr>
          </a:p>
        </p:txBody>
      </p:sp>
      <p:sp>
        <p:nvSpPr>
          <p:cNvPr id="7" name="TextBox 6">
            <a:extLst>
              <a:ext uri="{FF2B5EF4-FFF2-40B4-BE49-F238E27FC236}">
                <a16:creationId xmlns:a16="http://schemas.microsoft.com/office/drawing/2014/main" id="{E55924BD-466F-DA5F-BAEA-D1CAF430B817}"/>
              </a:ext>
            </a:extLst>
          </p:cNvPr>
          <p:cNvSpPr txBox="1"/>
          <p:nvPr/>
        </p:nvSpPr>
        <p:spPr>
          <a:xfrm>
            <a:off x="3286760" y="4854939"/>
            <a:ext cx="8435340" cy="707886"/>
          </a:xfrm>
          <a:prstGeom prst="rect">
            <a:avLst/>
          </a:prstGeom>
          <a:noFill/>
        </p:spPr>
        <p:txBody>
          <a:bodyPr wrap="square">
            <a:spAutoFit/>
          </a:bodyPr>
          <a:lstStyle/>
          <a:p>
            <a:pPr algn="r"/>
            <a:r>
              <a:rPr lang="ro-RO" sz="4000" dirty="0">
                <a:solidFill>
                  <a:srgbClr val="000000"/>
                </a:solidFill>
                <a:latin typeface="HelveticaNowDisplay Black" panose="020B0A04030202020204" pitchFamily="34" charset="0"/>
                <a:cs typeface="HelveticaNowDisplay Black" panose="020B0A04030202020204" pitchFamily="34" charset="0"/>
              </a:rPr>
              <a:t>PENTRU LUCRAREA DE LICENȚĂ</a:t>
            </a:r>
            <a:endParaRPr lang="ro-RO" sz="4000" dirty="0">
              <a:latin typeface="HelveticaNowDisplay Black" panose="020B0A04030202020204" pitchFamily="34" charset="0"/>
              <a:cs typeface="HelveticaNowDisplay Black" panose="020B0A04030202020204" pitchFamily="34" charset="0"/>
            </a:endParaRPr>
          </a:p>
        </p:txBody>
      </p:sp>
      <p:sp>
        <p:nvSpPr>
          <p:cNvPr id="8" name="TextBox 7">
            <a:extLst>
              <a:ext uri="{FF2B5EF4-FFF2-40B4-BE49-F238E27FC236}">
                <a16:creationId xmlns:a16="http://schemas.microsoft.com/office/drawing/2014/main" id="{FD6A87F6-F0A7-7236-626D-60F18F10E14B}"/>
              </a:ext>
            </a:extLst>
          </p:cNvPr>
          <p:cNvSpPr txBox="1"/>
          <p:nvPr/>
        </p:nvSpPr>
        <p:spPr>
          <a:xfrm>
            <a:off x="652977" y="1423939"/>
            <a:ext cx="1391751" cy="707886"/>
          </a:xfrm>
          <a:prstGeom prst="rect">
            <a:avLst/>
          </a:prstGeom>
          <a:noFill/>
        </p:spPr>
        <p:txBody>
          <a:bodyPr wrap="square">
            <a:spAutoFit/>
          </a:bodyPr>
          <a:lstStyle/>
          <a:p>
            <a:r>
              <a:rPr lang="ro-RO" sz="4000" dirty="0">
                <a:solidFill>
                  <a:srgbClr val="000000"/>
                </a:solidFill>
                <a:latin typeface="HelveticaNowDisplay Black" panose="020B0A04030202020204" pitchFamily="34" charset="0"/>
                <a:cs typeface="HelveticaNowDisplay Black" panose="020B0A04030202020204" pitchFamily="34" charset="0"/>
              </a:rPr>
              <a:t>48%</a:t>
            </a:r>
            <a:endParaRPr lang="ro-RO" sz="4000" dirty="0">
              <a:latin typeface="HelveticaNowDisplay Black" panose="020B0A04030202020204" pitchFamily="34" charset="0"/>
              <a:cs typeface="HelveticaNowDisplay Black" panose="020B0A04030202020204" pitchFamily="34" charset="0"/>
            </a:endParaRPr>
          </a:p>
        </p:txBody>
      </p:sp>
      <p:sp>
        <p:nvSpPr>
          <p:cNvPr id="9" name="TextBox 8">
            <a:extLst>
              <a:ext uri="{FF2B5EF4-FFF2-40B4-BE49-F238E27FC236}">
                <a16:creationId xmlns:a16="http://schemas.microsoft.com/office/drawing/2014/main" id="{57755AA8-AB9B-AA48-A58D-AD2A92E290CA}"/>
              </a:ext>
            </a:extLst>
          </p:cNvPr>
          <p:cNvSpPr txBox="1"/>
          <p:nvPr/>
        </p:nvSpPr>
        <p:spPr>
          <a:xfrm>
            <a:off x="652976" y="3139439"/>
            <a:ext cx="1391751" cy="707886"/>
          </a:xfrm>
          <a:prstGeom prst="rect">
            <a:avLst/>
          </a:prstGeom>
          <a:noFill/>
        </p:spPr>
        <p:txBody>
          <a:bodyPr wrap="square">
            <a:spAutoFit/>
          </a:bodyPr>
          <a:lstStyle/>
          <a:p>
            <a:r>
              <a:rPr lang="ro-RO" sz="4000" dirty="0">
                <a:solidFill>
                  <a:srgbClr val="000000"/>
                </a:solidFill>
                <a:latin typeface="HelveticaNowDisplay Black" panose="020B0A04030202020204" pitchFamily="34" charset="0"/>
                <a:cs typeface="HelveticaNowDisplay Black" panose="020B0A04030202020204" pitchFamily="34" charset="0"/>
              </a:rPr>
              <a:t>53%</a:t>
            </a:r>
            <a:endParaRPr lang="ro-RO" sz="4000" dirty="0">
              <a:latin typeface="HelveticaNowDisplay Black" panose="020B0A04030202020204" pitchFamily="34" charset="0"/>
              <a:cs typeface="HelveticaNowDisplay Black" panose="020B0A04030202020204" pitchFamily="34" charset="0"/>
            </a:endParaRPr>
          </a:p>
        </p:txBody>
      </p:sp>
      <p:sp>
        <p:nvSpPr>
          <p:cNvPr id="10" name="TextBox 9">
            <a:extLst>
              <a:ext uri="{FF2B5EF4-FFF2-40B4-BE49-F238E27FC236}">
                <a16:creationId xmlns:a16="http://schemas.microsoft.com/office/drawing/2014/main" id="{33E6DCE6-B81E-2508-8ED2-EBE304F61F14}"/>
              </a:ext>
            </a:extLst>
          </p:cNvPr>
          <p:cNvSpPr txBox="1"/>
          <p:nvPr/>
        </p:nvSpPr>
        <p:spPr>
          <a:xfrm>
            <a:off x="652976" y="4854939"/>
            <a:ext cx="1391751" cy="707886"/>
          </a:xfrm>
          <a:prstGeom prst="rect">
            <a:avLst/>
          </a:prstGeom>
          <a:noFill/>
        </p:spPr>
        <p:txBody>
          <a:bodyPr wrap="square">
            <a:spAutoFit/>
          </a:bodyPr>
          <a:lstStyle/>
          <a:p>
            <a:r>
              <a:rPr lang="ro-RO" sz="4000" dirty="0">
                <a:solidFill>
                  <a:srgbClr val="000000"/>
                </a:solidFill>
                <a:latin typeface="HelveticaNowDisplay Black" panose="020B0A04030202020204" pitchFamily="34" charset="0"/>
                <a:cs typeface="HelveticaNowDisplay Black" panose="020B0A04030202020204" pitchFamily="34" charset="0"/>
              </a:rPr>
              <a:t>22%</a:t>
            </a:r>
            <a:endParaRPr lang="ro-RO" sz="40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34183222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sitting at a table with a computer&#10;&#10;Description automatically generated">
            <a:extLst>
              <a:ext uri="{FF2B5EF4-FFF2-40B4-BE49-F238E27FC236}">
                <a16:creationId xmlns:a16="http://schemas.microsoft.com/office/drawing/2014/main" id="{B67B1BFB-5128-3F9C-1AF0-B658E4FB7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268" y="627007"/>
            <a:ext cx="8383464" cy="5603985"/>
          </a:xfrm>
          <a:prstGeom prst="rect">
            <a:avLst/>
          </a:prstGeom>
        </p:spPr>
      </p:pic>
      <p:sp>
        <p:nvSpPr>
          <p:cNvPr id="2" name="TextBox 1">
            <a:extLst>
              <a:ext uri="{FF2B5EF4-FFF2-40B4-BE49-F238E27FC236}">
                <a16:creationId xmlns:a16="http://schemas.microsoft.com/office/drawing/2014/main" id="{864292CD-0D50-64E8-C351-B86858C23E29}"/>
              </a:ext>
            </a:extLst>
          </p:cNvPr>
          <p:cNvSpPr txBox="1"/>
          <p:nvPr/>
        </p:nvSpPr>
        <p:spPr>
          <a:xfrm>
            <a:off x="5457817" y="5122996"/>
            <a:ext cx="6886582" cy="1107996"/>
          </a:xfrm>
          <a:prstGeom prst="rect">
            <a:avLst/>
          </a:prstGeom>
          <a:noFill/>
        </p:spPr>
        <p:txBody>
          <a:bodyPr wrap="square">
            <a:spAutoFit/>
          </a:bodyPr>
          <a:lstStyle/>
          <a:p>
            <a:pPr algn="ctr"/>
            <a:r>
              <a:rPr lang="en-US" sz="6600" b="0" i="0" dirty="0">
                <a:solidFill>
                  <a:schemeClr val="bg1"/>
                </a:solidFill>
                <a:effectLst/>
                <a:latin typeface="HelveticaNowDisplay Black" panose="020B0A04030202020204" pitchFamily="34" charset="0"/>
                <a:cs typeface="HelveticaNowDisplay Black" panose="020B0A04030202020204" pitchFamily="34" charset="0"/>
              </a:rPr>
              <a:t>ALEX</a:t>
            </a:r>
            <a:endParaRPr lang="ro-RO" sz="6600" dirty="0">
              <a:solidFill>
                <a:schemeClr val="bg1"/>
              </a:solidFill>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403210146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2BA505-FF7E-FC22-1F3A-1DC68C07B525}"/>
              </a:ext>
            </a:extLst>
          </p:cNvPr>
          <p:cNvSpPr txBox="1"/>
          <p:nvPr/>
        </p:nvSpPr>
        <p:spPr>
          <a:xfrm>
            <a:off x="1590153" y="2875002"/>
            <a:ext cx="9011694" cy="1107996"/>
          </a:xfrm>
          <a:prstGeom prst="rect">
            <a:avLst/>
          </a:prstGeom>
          <a:noFill/>
        </p:spPr>
        <p:txBody>
          <a:bodyPr wrap="square">
            <a:spAutoFit/>
          </a:bodyPr>
          <a:lstStyle/>
          <a:p>
            <a:pPr algn="ctr"/>
            <a:r>
              <a:rPr lang="en-US" sz="6600" b="0" i="0" dirty="0">
                <a:solidFill>
                  <a:srgbClr val="000000"/>
                </a:solidFill>
                <a:effectLst/>
                <a:latin typeface="HelveticaNowDisplay Black" panose="020B0A04030202020204" pitchFamily="34" charset="0"/>
                <a:cs typeface="HelveticaNowDisplay Black" panose="020B0A04030202020204" pitchFamily="34" charset="0"/>
              </a:rPr>
              <a:t>LET’S TALK CASH</a:t>
            </a:r>
            <a:endParaRPr lang="ro-RO" sz="66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158556569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35E57-9393-DA8C-78A3-6B81CF7DD6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9EA486-4DF2-5B53-B080-9B85BCF6F8DE}"/>
              </a:ext>
            </a:extLst>
          </p:cNvPr>
          <p:cNvSpPr txBox="1"/>
          <p:nvPr/>
        </p:nvSpPr>
        <p:spPr>
          <a:xfrm>
            <a:off x="1590153" y="2875002"/>
            <a:ext cx="9011694" cy="1107996"/>
          </a:xfrm>
          <a:prstGeom prst="rect">
            <a:avLst/>
          </a:prstGeom>
          <a:noFill/>
        </p:spPr>
        <p:txBody>
          <a:bodyPr wrap="square">
            <a:spAutoFit/>
          </a:bodyPr>
          <a:lstStyle/>
          <a:p>
            <a:pPr algn="ctr"/>
            <a:r>
              <a:rPr lang="en-US" sz="6600" b="0" i="0" dirty="0">
                <a:solidFill>
                  <a:srgbClr val="000000"/>
                </a:solidFill>
                <a:effectLst/>
                <a:latin typeface="HelveticaNowDisplay Black" panose="020B0A04030202020204" pitchFamily="34" charset="0"/>
                <a:cs typeface="HelveticaNowDisplay Black" panose="020B0A04030202020204" pitchFamily="34" charset="0"/>
              </a:rPr>
              <a:t>LET’S TALK </a:t>
            </a:r>
            <a:r>
              <a:rPr lang="ro-RO" sz="6600" b="0" i="0" dirty="0">
                <a:solidFill>
                  <a:srgbClr val="000000"/>
                </a:solidFill>
                <a:effectLst/>
                <a:latin typeface="HelveticaNowDisplay Black" panose="020B0A04030202020204" pitchFamily="34" charset="0"/>
                <a:cs typeface="HelveticaNowDisplay Black" panose="020B0A04030202020204" pitchFamily="34" charset="0"/>
              </a:rPr>
              <a:t>TECH</a:t>
            </a:r>
            <a:endParaRPr lang="ro-RO" sz="66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316021722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DFA417-F732-A5AB-3CD4-6A8CDE3B9E43}"/>
              </a:ext>
            </a:extLst>
          </p:cNvPr>
          <p:cNvSpPr txBox="1"/>
          <p:nvPr/>
        </p:nvSpPr>
        <p:spPr>
          <a:xfrm>
            <a:off x="1590153" y="1300253"/>
            <a:ext cx="9011694" cy="1323439"/>
          </a:xfrm>
          <a:prstGeom prst="rect">
            <a:avLst/>
          </a:prstGeom>
          <a:noFill/>
        </p:spPr>
        <p:txBody>
          <a:bodyPr wrap="square">
            <a:spAutoFit/>
          </a:bodyPr>
          <a:lstStyle/>
          <a:p>
            <a:pPr algn="ctr"/>
            <a:r>
              <a:rPr lang="ro-RO" sz="4000" b="0" i="0" dirty="0">
                <a:solidFill>
                  <a:srgbClr val="000000"/>
                </a:solidFill>
                <a:effectLst/>
                <a:latin typeface="HelveticaNowDisplay Black" panose="020B0A04030202020204" pitchFamily="34" charset="0"/>
                <a:cs typeface="HelveticaNowDisplay Black" panose="020B0A04030202020204" pitchFamily="34" charset="0"/>
              </a:rPr>
              <a:t>Ce înseamnă TSQS</a:t>
            </a:r>
            <a:r>
              <a:rPr lang="en-US" sz="4000" b="0" i="0" dirty="0">
                <a:solidFill>
                  <a:srgbClr val="000000"/>
                </a:solidFill>
                <a:effectLst/>
                <a:latin typeface="HelveticaNowDisplay Black" panose="020B0A04030202020204" pitchFamily="34" charset="0"/>
                <a:cs typeface="HelveticaNowDisplay Black" panose="020B0A04030202020204" pitchFamily="34" charset="0"/>
              </a:rPr>
              <a:t> </a:t>
            </a:r>
            <a:r>
              <a:rPr lang="ro-RO" sz="4000" b="0" i="0" dirty="0">
                <a:solidFill>
                  <a:srgbClr val="000000"/>
                </a:solidFill>
                <a:effectLst/>
                <a:latin typeface="HelveticaNowDisplay Black" panose="020B0A04030202020204" pitchFamily="34" charset="0"/>
                <a:cs typeface="HelveticaNowDisplay Black" panose="020B0A04030202020204" pitchFamily="34" charset="0"/>
              </a:rPr>
              <a:t>și TSQS </a:t>
            </a:r>
            <a:r>
              <a:rPr lang="ro-RO" sz="4000" b="0" i="0" dirty="0" err="1">
                <a:solidFill>
                  <a:srgbClr val="000000"/>
                </a:solidFill>
                <a:effectLst/>
                <a:latin typeface="HelveticaNowDisplay Black" panose="020B0A04030202020204" pitchFamily="34" charset="0"/>
                <a:cs typeface="HelveticaNowDisplay Black" panose="020B0A04030202020204" pitchFamily="34" charset="0"/>
              </a:rPr>
              <a:t>Personalized</a:t>
            </a:r>
            <a:r>
              <a:rPr lang="ro-RO" sz="4000" b="0" i="0" dirty="0">
                <a:solidFill>
                  <a:srgbClr val="000000"/>
                </a:solidFill>
                <a:effectLst/>
                <a:latin typeface="HelveticaNowDisplay Black" panose="020B0A04030202020204" pitchFamily="34" charset="0"/>
                <a:cs typeface="HelveticaNowDisplay Black" panose="020B0A04030202020204" pitchFamily="34" charset="0"/>
              </a:rPr>
              <a:t> </a:t>
            </a:r>
            <a:r>
              <a:rPr lang="ro-RO" sz="4000" b="0" i="0" dirty="0" err="1">
                <a:solidFill>
                  <a:srgbClr val="000000"/>
                </a:solidFill>
                <a:effectLst/>
                <a:latin typeface="HelveticaNowDisplay Black" panose="020B0A04030202020204" pitchFamily="34" charset="0"/>
                <a:cs typeface="HelveticaNowDisplay Black" panose="020B0A04030202020204" pitchFamily="34" charset="0"/>
              </a:rPr>
              <a:t>Learning</a:t>
            </a:r>
            <a:r>
              <a:rPr lang="ro-RO" sz="4000" b="0" i="0" dirty="0">
                <a:solidFill>
                  <a:srgbClr val="000000"/>
                </a:solidFill>
                <a:effectLst/>
                <a:latin typeface="HelveticaNowDisplay Black" panose="020B0A04030202020204" pitchFamily="34" charset="0"/>
                <a:cs typeface="HelveticaNowDisplay Black" panose="020B0A04030202020204" pitchFamily="34" charset="0"/>
              </a:rPr>
              <a:t> </a:t>
            </a:r>
            <a:r>
              <a:rPr lang="ro-RO" sz="4000" b="0" i="0" dirty="0" err="1">
                <a:solidFill>
                  <a:srgbClr val="000000"/>
                </a:solidFill>
                <a:effectLst/>
                <a:latin typeface="HelveticaNowDisplay Black" panose="020B0A04030202020204" pitchFamily="34" charset="0"/>
                <a:cs typeface="HelveticaNowDisplay Black" panose="020B0A04030202020204" pitchFamily="34" charset="0"/>
              </a:rPr>
              <a:t>Assistant</a:t>
            </a:r>
            <a:r>
              <a:rPr lang="ro-RO" sz="4000" b="0" i="0" dirty="0">
                <a:solidFill>
                  <a:srgbClr val="000000"/>
                </a:solidFill>
                <a:effectLst/>
                <a:latin typeface="HelveticaNowDisplay Black" panose="020B0A04030202020204" pitchFamily="34" charset="0"/>
                <a:cs typeface="HelveticaNowDisplay Black" panose="020B0A04030202020204" pitchFamily="34" charset="0"/>
              </a:rPr>
              <a:t>?</a:t>
            </a:r>
            <a:endParaRPr lang="ro-RO" sz="4000" dirty="0">
              <a:latin typeface="HelveticaNowDisplay Black" panose="020B0A04030202020204" pitchFamily="34" charset="0"/>
              <a:cs typeface="HelveticaNowDisplay Black" panose="020B0A04030202020204" pitchFamily="34" charset="0"/>
            </a:endParaRPr>
          </a:p>
        </p:txBody>
      </p:sp>
      <p:sp>
        <p:nvSpPr>
          <p:cNvPr id="3" name="TextBox 2">
            <a:extLst>
              <a:ext uri="{FF2B5EF4-FFF2-40B4-BE49-F238E27FC236}">
                <a16:creationId xmlns:a16="http://schemas.microsoft.com/office/drawing/2014/main" id="{166C3E26-8E15-DB92-4E08-22940DA6E9CA}"/>
              </a:ext>
            </a:extLst>
          </p:cNvPr>
          <p:cNvSpPr txBox="1"/>
          <p:nvPr/>
        </p:nvSpPr>
        <p:spPr>
          <a:xfrm>
            <a:off x="2474426" y="2623692"/>
            <a:ext cx="7243147" cy="3046988"/>
          </a:xfrm>
          <a:prstGeom prst="rect">
            <a:avLst/>
          </a:prstGeom>
          <a:noFill/>
        </p:spPr>
        <p:txBody>
          <a:bodyPr wrap="square">
            <a:spAutoFit/>
          </a:bodyPr>
          <a:lstStyle/>
          <a:p>
            <a:pPr algn="ctr"/>
            <a:r>
              <a:rPr lang="ro-RO" sz="2400" b="0" i="0" dirty="0">
                <a:solidFill>
                  <a:srgbClr val="000000"/>
                </a:solidFill>
                <a:effectLst/>
                <a:latin typeface="HelveticaNowDisplay Bold" panose="020B0804030202020204" pitchFamily="34" charset="0"/>
                <a:cs typeface="HelveticaNowDisplay Bold" panose="020B0804030202020204" pitchFamily="34" charset="0"/>
              </a:rPr>
              <a:t>TSQS este o abreviere pentru "Text </a:t>
            </a:r>
            <a:r>
              <a:rPr lang="ro-RO" sz="2400" b="0" i="0" dirty="0" err="1">
                <a:solidFill>
                  <a:srgbClr val="000000"/>
                </a:solidFill>
                <a:effectLst/>
                <a:latin typeface="HelveticaNowDisplay Bold" panose="020B0804030202020204" pitchFamily="34" charset="0"/>
                <a:cs typeface="HelveticaNowDisplay Bold" panose="020B0804030202020204" pitchFamily="34" charset="0"/>
              </a:rPr>
              <a:t>Style</a:t>
            </a:r>
            <a:r>
              <a:rPr lang="ro-RO" sz="2400" b="0" i="0" dirty="0">
                <a:solidFill>
                  <a:srgbClr val="000000"/>
                </a:solidFill>
                <a:effectLst/>
                <a:latin typeface="HelveticaNowDisplay Bold" panose="020B0804030202020204" pitchFamily="34" charset="0"/>
                <a:cs typeface="HelveticaNowDisplay Bold" panose="020B0804030202020204" pitchFamily="34" charset="0"/>
              </a:rPr>
              <a:t> </a:t>
            </a:r>
            <a:r>
              <a:rPr lang="ro-RO" sz="2400" b="0" i="0" dirty="0" err="1">
                <a:solidFill>
                  <a:srgbClr val="000000"/>
                </a:solidFill>
                <a:effectLst/>
                <a:latin typeface="HelveticaNowDisplay Bold" panose="020B0804030202020204" pitchFamily="34" charset="0"/>
                <a:cs typeface="HelveticaNowDisplay Bold" panose="020B0804030202020204" pitchFamily="34" charset="0"/>
              </a:rPr>
              <a:t>Query</a:t>
            </a:r>
            <a:r>
              <a:rPr lang="ro-RO" sz="2400" b="0" i="0" dirty="0">
                <a:solidFill>
                  <a:srgbClr val="000000"/>
                </a:solidFill>
                <a:effectLst/>
                <a:latin typeface="HelveticaNowDisplay Bold" panose="020B0804030202020204" pitchFamily="34" charset="0"/>
                <a:cs typeface="HelveticaNowDisplay Bold" panose="020B0804030202020204" pitchFamily="34" charset="0"/>
              </a:rPr>
              <a:t> </a:t>
            </a:r>
            <a:r>
              <a:rPr lang="ro-RO" sz="2400" b="0" i="0" dirty="0" err="1">
                <a:solidFill>
                  <a:srgbClr val="000000"/>
                </a:solidFill>
                <a:effectLst/>
                <a:latin typeface="HelveticaNowDisplay Bold" panose="020B0804030202020204" pitchFamily="34" charset="0"/>
                <a:cs typeface="HelveticaNowDisplay Bold" panose="020B0804030202020204" pitchFamily="34" charset="0"/>
              </a:rPr>
              <a:t>System</a:t>
            </a:r>
            <a:r>
              <a:rPr lang="ro-RO" sz="2400" b="0" i="0" dirty="0">
                <a:solidFill>
                  <a:srgbClr val="000000"/>
                </a:solidFill>
                <a:effectLst/>
                <a:latin typeface="HelveticaNowDisplay Bold" panose="020B0804030202020204" pitchFamily="34" charset="0"/>
                <a:cs typeface="HelveticaNowDisplay Bold" panose="020B0804030202020204" pitchFamily="34" charset="0"/>
              </a:rPr>
              <a:t>". Sistemul este conceput pentru a acomoda utilizatorii cu stilul lor preferat de scriere. Aplicația noastră oferă o soluție inteligentă celor care doresc să învețe eficient, punând întrebări relevante care să corespundă stilului lor lingvistic preferat și îmbunătățindu-le aptitudinile de scriere prin feedback specializat.</a:t>
            </a:r>
            <a:endParaRPr lang="ro-RO" sz="2400" dirty="0">
              <a:latin typeface="HelveticaNowDisplay Bold" panose="020B0804030202020204" pitchFamily="34" charset="0"/>
              <a:cs typeface="HelveticaNowDisplay Bold" panose="020B0804030202020204" pitchFamily="34" charset="0"/>
            </a:endParaRPr>
          </a:p>
        </p:txBody>
      </p:sp>
    </p:spTree>
    <p:extLst>
      <p:ext uri="{BB962C8B-B14F-4D97-AF65-F5344CB8AC3E}">
        <p14:creationId xmlns:p14="http://schemas.microsoft.com/office/powerpoint/2010/main" val="357764496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yellow light in the dark&#10;&#10;Description automatically generated">
            <a:extLst>
              <a:ext uri="{FF2B5EF4-FFF2-40B4-BE49-F238E27FC236}">
                <a16:creationId xmlns:a16="http://schemas.microsoft.com/office/drawing/2014/main" id="{E95B57E3-78BF-E9D9-FFE5-BA9433B20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4370" y="0"/>
            <a:ext cx="6914913" cy="6858000"/>
          </a:xfrm>
          <a:prstGeom prst="rect">
            <a:avLst/>
          </a:prstGeom>
        </p:spPr>
      </p:pic>
      <p:pic>
        <p:nvPicPr>
          <p:cNvPr id="8" name="Picture 7" descr="A yellow light in the dark&#10;&#10;Description automatically generated">
            <a:extLst>
              <a:ext uri="{FF2B5EF4-FFF2-40B4-BE49-F238E27FC236}">
                <a16:creationId xmlns:a16="http://schemas.microsoft.com/office/drawing/2014/main" id="{581E2CCE-88EB-4F81-2BE6-C350BA54E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1260" y="0"/>
            <a:ext cx="6914913" cy="6858000"/>
          </a:xfrm>
          <a:prstGeom prst="rect">
            <a:avLst/>
          </a:prstGeom>
        </p:spPr>
      </p:pic>
      <p:pic>
        <p:nvPicPr>
          <p:cNvPr id="6" name="Picture 5" descr="A yellow light in the dark&#10;&#10;Description automatically generated">
            <a:extLst>
              <a:ext uri="{FF2B5EF4-FFF2-40B4-BE49-F238E27FC236}">
                <a16:creationId xmlns:a16="http://schemas.microsoft.com/office/drawing/2014/main" id="{8971976D-EA8F-8654-CC49-AA98E02372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8543" y="0"/>
            <a:ext cx="6914913" cy="6858000"/>
          </a:xfrm>
          <a:prstGeom prst="rect">
            <a:avLst/>
          </a:prstGeom>
        </p:spPr>
      </p:pic>
      <p:sp>
        <p:nvSpPr>
          <p:cNvPr id="2" name="TextBox 1">
            <a:extLst>
              <a:ext uri="{FF2B5EF4-FFF2-40B4-BE49-F238E27FC236}">
                <a16:creationId xmlns:a16="http://schemas.microsoft.com/office/drawing/2014/main" id="{F4F2F218-8E38-1824-E55F-3BBEC5D98350}"/>
              </a:ext>
            </a:extLst>
          </p:cNvPr>
          <p:cNvSpPr txBox="1"/>
          <p:nvPr/>
        </p:nvSpPr>
        <p:spPr>
          <a:xfrm>
            <a:off x="4189065" y="2363280"/>
            <a:ext cx="3813869" cy="2246769"/>
          </a:xfrm>
          <a:prstGeom prst="rect">
            <a:avLst/>
          </a:prstGeom>
          <a:noFill/>
        </p:spPr>
        <p:txBody>
          <a:bodyPr wrap="square">
            <a:spAutoFit/>
          </a:bodyPr>
          <a:lstStyle/>
          <a:p>
            <a:pPr algn="ctr"/>
            <a:r>
              <a:rPr lang="ro-RO" sz="2800" b="0" i="0" dirty="0">
                <a:solidFill>
                  <a:srgbClr val="000000"/>
                </a:solidFill>
                <a:effectLst/>
                <a:latin typeface="HelveticaNowDisplay Black" panose="020B0A04030202020204" pitchFamily="34" charset="0"/>
                <a:cs typeface="HelveticaNowDisplay Black" panose="020B0A04030202020204" pitchFamily="34" charset="0"/>
              </a:rPr>
              <a:t>OFERĂ FEEDBACK ȘI SUGESTII DE ÎMBUNĂTĂȚIRE PENTRU UN STIL SELECTAT.</a:t>
            </a:r>
            <a:endParaRPr lang="ro-RO" sz="2800" dirty="0">
              <a:latin typeface="HelveticaNowDisplay Black" panose="020B0A04030202020204" pitchFamily="34" charset="0"/>
              <a:cs typeface="HelveticaNowDisplay Black" panose="020B0A04030202020204" pitchFamily="34" charset="0"/>
            </a:endParaRPr>
          </a:p>
        </p:txBody>
      </p:sp>
      <p:sp>
        <p:nvSpPr>
          <p:cNvPr id="3" name="TextBox 2">
            <a:extLst>
              <a:ext uri="{FF2B5EF4-FFF2-40B4-BE49-F238E27FC236}">
                <a16:creationId xmlns:a16="http://schemas.microsoft.com/office/drawing/2014/main" id="{E31D1C5C-2E4F-FA76-A9F8-D695881BE296}"/>
              </a:ext>
            </a:extLst>
          </p:cNvPr>
          <p:cNvSpPr txBox="1"/>
          <p:nvPr/>
        </p:nvSpPr>
        <p:spPr>
          <a:xfrm>
            <a:off x="8648199" y="2363280"/>
            <a:ext cx="3361036" cy="2246769"/>
          </a:xfrm>
          <a:prstGeom prst="rect">
            <a:avLst/>
          </a:prstGeom>
          <a:noFill/>
        </p:spPr>
        <p:txBody>
          <a:bodyPr wrap="square">
            <a:spAutoFit/>
          </a:bodyPr>
          <a:lstStyle/>
          <a:p>
            <a:pPr algn="ctr"/>
            <a:r>
              <a:rPr lang="ro-RO" sz="2800" b="0" i="0" dirty="0">
                <a:solidFill>
                  <a:srgbClr val="000000"/>
                </a:solidFill>
                <a:effectLst/>
                <a:latin typeface="HelveticaNowDisplay Black" panose="020B0A04030202020204" pitchFamily="34" charset="0"/>
                <a:cs typeface="HelveticaNowDisplay Black" panose="020B0A04030202020204" pitchFamily="34" charset="0"/>
              </a:rPr>
              <a:t>RĂSPUNDE ÎNTREBĂRILOR UTILIZATORULUI ÎN STILUL PREFERAT.</a:t>
            </a:r>
            <a:endParaRPr lang="ro-RO" sz="2800" dirty="0">
              <a:latin typeface="HelveticaNowDisplay Black" panose="020B0A04030202020204" pitchFamily="34" charset="0"/>
              <a:cs typeface="HelveticaNowDisplay Black" panose="020B0A04030202020204" pitchFamily="34" charset="0"/>
            </a:endParaRPr>
          </a:p>
        </p:txBody>
      </p:sp>
      <p:sp>
        <p:nvSpPr>
          <p:cNvPr id="4" name="TextBox 3">
            <a:extLst>
              <a:ext uri="{FF2B5EF4-FFF2-40B4-BE49-F238E27FC236}">
                <a16:creationId xmlns:a16="http://schemas.microsoft.com/office/drawing/2014/main" id="{CD6D5919-DB8D-EFBA-6E6A-EA2B74167FA0}"/>
              </a:ext>
            </a:extLst>
          </p:cNvPr>
          <p:cNvSpPr txBox="1"/>
          <p:nvPr/>
        </p:nvSpPr>
        <p:spPr>
          <a:xfrm>
            <a:off x="66153" y="2363281"/>
            <a:ext cx="3813869" cy="2246769"/>
          </a:xfrm>
          <a:prstGeom prst="rect">
            <a:avLst/>
          </a:prstGeom>
          <a:noFill/>
        </p:spPr>
        <p:txBody>
          <a:bodyPr wrap="square">
            <a:spAutoFit/>
          </a:bodyPr>
          <a:lstStyle/>
          <a:p>
            <a:pPr algn="ctr"/>
            <a:r>
              <a:rPr lang="ro-RO" sz="2800" b="0" i="0" dirty="0">
                <a:solidFill>
                  <a:srgbClr val="000000"/>
                </a:solidFill>
                <a:effectLst/>
                <a:latin typeface="HelveticaNowDisplay Black" panose="020B0A04030202020204" pitchFamily="34" charset="0"/>
                <a:cs typeface="HelveticaNowDisplay Black" panose="020B0A04030202020204" pitchFamily="34" charset="0"/>
              </a:rPr>
              <a:t>ANALIZEAZĂ TEXTUL ȘI RETURNEAZĂ CLASIFICAREA STILULUI</a:t>
            </a:r>
            <a:endParaRPr lang="ro-RO" sz="28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276059767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4C6434-6A7F-2D82-FB91-175DF16AD176}"/>
              </a:ext>
            </a:extLst>
          </p:cNvPr>
          <p:cNvSpPr txBox="1"/>
          <p:nvPr/>
        </p:nvSpPr>
        <p:spPr>
          <a:xfrm>
            <a:off x="926882" y="674400"/>
            <a:ext cx="10338236" cy="5509200"/>
          </a:xfrm>
          <a:prstGeom prst="rect">
            <a:avLst/>
          </a:prstGeom>
          <a:noFill/>
        </p:spPr>
        <p:txBody>
          <a:bodyPr wrap="square">
            <a:spAutoFit/>
          </a:bodyPr>
          <a:lstStyle/>
          <a:p>
            <a:pPr marL="742950" indent="-742950">
              <a:buFont typeface="+mj-lt"/>
              <a:buAutoNum type="arabicPeriod"/>
            </a:pPr>
            <a:r>
              <a:rPr lang="ro-RO" sz="32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PREPROCESARE DATE: </a:t>
            </a:r>
            <a:r>
              <a:rPr lang="ro-RO" sz="3200" b="0" i="0" dirty="0" err="1">
                <a:solidFill>
                  <a:srgbClr val="000000"/>
                </a:solidFill>
                <a:effectLst/>
                <a:latin typeface="HelveticaNowDisplay Black" panose="020B0A04030202020204" pitchFamily="34" charset="0"/>
                <a:cs typeface="HelveticaNowDisplay Black" panose="020B0A04030202020204" pitchFamily="34" charset="0"/>
              </a:rPr>
              <a:t>Tokenizarea</a:t>
            </a:r>
            <a:r>
              <a:rPr lang="ro-RO" sz="3200" b="0" i="0" dirty="0">
                <a:solidFill>
                  <a:srgbClr val="000000"/>
                </a:solidFill>
                <a:effectLst/>
                <a:latin typeface="HelveticaNowDisplay Black" panose="020B0A04030202020204" pitchFamily="34" charset="0"/>
                <a:cs typeface="HelveticaNowDisplay Black" panose="020B0A04030202020204" pitchFamily="34" charset="0"/>
              </a:rPr>
              <a:t> datelor și crearea unui fișier </a:t>
            </a:r>
            <a:r>
              <a:rPr lang="ro-RO" sz="3200" b="0" i="0" dirty="0" err="1">
                <a:solidFill>
                  <a:srgbClr val="000000"/>
                </a:solidFill>
                <a:effectLst/>
                <a:latin typeface="HelveticaNowDisplay Black" panose="020B0A04030202020204" pitchFamily="34" charset="0"/>
                <a:cs typeface="HelveticaNowDisplay Black" panose="020B0A04030202020204" pitchFamily="34" charset="0"/>
              </a:rPr>
              <a:t>pickle</a:t>
            </a:r>
            <a:r>
              <a:rPr lang="ro-RO" sz="3200" b="0" i="0" dirty="0">
                <a:solidFill>
                  <a:srgbClr val="000000"/>
                </a:solidFill>
                <a:effectLst/>
                <a:latin typeface="HelveticaNowDisplay Black" panose="020B0A04030202020204" pitchFamily="34" charset="0"/>
                <a:cs typeface="HelveticaNowDisplay Black" panose="020B0A04030202020204" pitchFamily="34" charset="0"/>
              </a:rPr>
              <a:t>.</a:t>
            </a:r>
          </a:p>
          <a:p>
            <a:pPr marL="742950" indent="-742950">
              <a:buFont typeface="+mj-lt"/>
              <a:buAutoNum type="arabicPeriod"/>
            </a:pPr>
            <a:endParaRPr lang="ro-RO" sz="3200" b="0" i="0" dirty="0">
              <a:solidFill>
                <a:srgbClr val="000000"/>
              </a:solidFill>
              <a:effectLst/>
              <a:latin typeface="HelveticaNowDisplay Black" panose="020B0A04030202020204" pitchFamily="34" charset="0"/>
              <a:cs typeface="HelveticaNowDisplay Black" panose="020B0A04030202020204" pitchFamily="34" charset="0"/>
            </a:endParaRPr>
          </a:p>
          <a:p>
            <a:pPr marL="742950" indent="-742950">
              <a:buFont typeface="+mj-lt"/>
              <a:buAutoNum type="arabicPeriod"/>
            </a:pPr>
            <a:r>
              <a:rPr lang="ro-RO" sz="32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CLASIFICARE RANDOM FOREST: </a:t>
            </a:r>
            <a:r>
              <a:rPr lang="ro-RO" sz="3200" b="0" i="0" dirty="0">
                <a:solidFill>
                  <a:srgbClr val="000000"/>
                </a:solidFill>
                <a:effectLst/>
                <a:latin typeface="HelveticaNowDisplay Black" panose="020B0A04030202020204" pitchFamily="34" charset="0"/>
                <a:cs typeface="HelveticaNowDisplay Black" panose="020B0A04030202020204" pitchFamily="34" charset="0"/>
              </a:rPr>
              <a:t>Recunoașterea și etichetarea stilului textului.</a:t>
            </a:r>
          </a:p>
          <a:p>
            <a:pPr marL="742950" indent="-742950">
              <a:buFont typeface="+mj-lt"/>
              <a:buAutoNum type="arabicPeriod"/>
            </a:pPr>
            <a:endParaRPr lang="ro-RO" sz="3200" b="0" i="0" dirty="0">
              <a:solidFill>
                <a:srgbClr val="000000"/>
              </a:solidFill>
              <a:effectLst/>
              <a:latin typeface="HelveticaNowDisplay Black" panose="020B0A04030202020204" pitchFamily="34" charset="0"/>
              <a:cs typeface="HelveticaNowDisplay Black" panose="020B0A04030202020204" pitchFamily="34" charset="0"/>
            </a:endParaRPr>
          </a:p>
          <a:p>
            <a:pPr marL="742950" indent="-742950">
              <a:buFont typeface="+mj-lt"/>
              <a:buAutoNum type="arabicPeriod"/>
            </a:pPr>
            <a:r>
              <a:rPr lang="ro-RO" sz="32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ANTRENARE GPT-2: </a:t>
            </a:r>
            <a:r>
              <a:rPr lang="ro-RO" sz="3200" b="0" i="0" dirty="0">
                <a:solidFill>
                  <a:srgbClr val="000000"/>
                </a:solidFill>
                <a:effectLst/>
                <a:latin typeface="HelveticaNowDisplay Black" panose="020B0A04030202020204" pitchFamily="34" charset="0"/>
                <a:cs typeface="HelveticaNowDisplay Black" panose="020B0A04030202020204" pitchFamily="34" charset="0"/>
              </a:rPr>
              <a:t>Generare de text stilizat și feedback folosind diverse seturi de date.</a:t>
            </a:r>
          </a:p>
          <a:p>
            <a:pPr marL="742950" indent="-742950">
              <a:buFont typeface="+mj-lt"/>
              <a:buAutoNum type="arabicPeriod"/>
            </a:pPr>
            <a:endParaRPr lang="ro-RO" sz="3200" b="0" i="0" dirty="0">
              <a:solidFill>
                <a:srgbClr val="000000"/>
              </a:solidFill>
              <a:effectLst/>
              <a:latin typeface="HelveticaNowDisplay Black" panose="020B0A04030202020204" pitchFamily="34" charset="0"/>
              <a:cs typeface="HelveticaNowDisplay Black" panose="020B0A04030202020204" pitchFamily="34" charset="0"/>
            </a:endParaRPr>
          </a:p>
          <a:p>
            <a:pPr marL="742950" indent="-742950">
              <a:buFont typeface="+mj-lt"/>
              <a:buAutoNum type="arabicPeriod"/>
            </a:pPr>
            <a:r>
              <a:rPr lang="ro-RO" sz="32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EVALUARE METRICI: </a:t>
            </a:r>
            <a:r>
              <a:rPr lang="ro-RO" sz="3200" b="0" i="0" dirty="0">
                <a:solidFill>
                  <a:srgbClr val="000000"/>
                </a:solidFill>
                <a:effectLst/>
                <a:latin typeface="HelveticaNowDisplay Black" panose="020B0A04030202020204" pitchFamily="34" charset="0"/>
                <a:cs typeface="HelveticaNowDisplay Black" panose="020B0A04030202020204" pitchFamily="34" charset="0"/>
              </a:rPr>
              <a:t>Erori și performanțe măsurate prin diverse metode.</a:t>
            </a:r>
            <a:endParaRPr lang="ro-RO" sz="32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138785436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2DC09-84D2-3D27-8246-FEE43A7F62E8}"/>
              </a:ext>
            </a:extLst>
          </p:cNvPr>
          <p:cNvSpPr txBox="1"/>
          <p:nvPr/>
        </p:nvSpPr>
        <p:spPr>
          <a:xfrm>
            <a:off x="2474427" y="2944968"/>
            <a:ext cx="7243147" cy="1569660"/>
          </a:xfrm>
          <a:prstGeom prst="rect">
            <a:avLst/>
          </a:prstGeom>
          <a:noFill/>
        </p:spPr>
        <p:txBody>
          <a:bodyPr wrap="square">
            <a:spAutoFit/>
          </a:bodyPr>
          <a:lstStyle/>
          <a:p>
            <a:pPr algn="ctr"/>
            <a:r>
              <a:rPr lang="ro-RO" sz="2400" b="0" i="0" dirty="0">
                <a:solidFill>
                  <a:srgbClr val="000000"/>
                </a:solidFill>
                <a:effectLst/>
                <a:latin typeface="HelveticaNowDisplay Bold" panose="020B0804030202020204" pitchFamily="34" charset="0"/>
                <a:cs typeface="HelveticaNowDisplay Bold" panose="020B0804030202020204" pitchFamily="34" charset="0"/>
              </a:rPr>
              <a:t>Datele au fost împărțite pe stiluri: academic, formal, umoristic și informal. Fiecare set a fost formatat astfel: </a:t>
            </a:r>
            <a:r>
              <a:rPr lang="ro-RO" sz="2400" b="0" i="0" dirty="0">
                <a:solidFill>
                  <a:srgbClr val="FF0000"/>
                </a:solidFill>
                <a:effectLst/>
                <a:latin typeface="HelveticaNowDisplay Bold" panose="020B0804030202020204" pitchFamily="34" charset="0"/>
                <a:cs typeface="HelveticaNowDisplay Bold" panose="020B0804030202020204" pitchFamily="34" charset="0"/>
              </a:rPr>
              <a:t>&lt;|</a:t>
            </a:r>
            <a:r>
              <a:rPr lang="ro-RO" sz="2400" b="0" i="0" dirty="0" err="1">
                <a:solidFill>
                  <a:srgbClr val="FF0000"/>
                </a:solidFill>
                <a:effectLst/>
                <a:latin typeface="HelveticaNowDisplay Bold" panose="020B0804030202020204" pitchFamily="34" charset="0"/>
                <a:cs typeface="HelveticaNowDisplay Bold" panose="020B0804030202020204" pitchFamily="34" charset="0"/>
              </a:rPr>
              <a:t>style</a:t>
            </a:r>
            <a:r>
              <a:rPr lang="ro-RO" sz="2400" b="0" i="0" dirty="0">
                <a:solidFill>
                  <a:srgbClr val="FF0000"/>
                </a:solidFill>
                <a:effectLst/>
                <a:latin typeface="HelveticaNowDisplay Bold" panose="020B0804030202020204" pitchFamily="34" charset="0"/>
                <a:cs typeface="HelveticaNowDisplay Bold" panose="020B0804030202020204" pitchFamily="34" charset="0"/>
              </a:rPr>
              <a:t>|&gt; text</a:t>
            </a:r>
            <a:r>
              <a:rPr lang="ro-RO" sz="2400" b="0" i="0" dirty="0">
                <a:solidFill>
                  <a:srgbClr val="000000"/>
                </a:solidFill>
                <a:effectLst/>
                <a:latin typeface="HelveticaNowDisplay Bold" panose="020B0804030202020204" pitchFamily="34" charset="0"/>
                <a:cs typeface="HelveticaNowDisplay Bold" panose="020B0804030202020204" pitchFamily="34" charset="0"/>
              </a:rPr>
              <a:t>. Datele consolidate au fost utilizate pentru antrenarea modelului.</a:t>
            </a:r>
            <a:endParaRPr lang="ro-RO" sz="2400" dirty="0">
              <a:latin typeface="HelveticaNowDisplay Bold" panose="020B0804030202020204" pitchFamily="34" charset="0"/>
              <a:cs typeface="HelveticaNowDisplay Bold" panose="020B0804030202020204" pitchFamily="34" charset="0"/>
            </a:endParaRPr>
          </a:p>
        </p:txBody>
      </p:sp>
      <p:sp>
        <p:nvSpPr>
          <p:cNvPr id="4" name="TextBox 3">
            <a:extLst>
              <a:ext uri="{FF2B5EF4-FFF2-40B4-BE49-F238E27FC236}">
                <a16:creationId xmlns:a16="http://schemas.microsoft.com/office/drawing/2014/main" id="{22E30604-6D4B-3232-FD31-BE53F84509CB}"/>
              </a:ext>
            </a:extLst>
          </p:cNvPr>
          <p:cNvSpPr txBox="1"/>
          <p:nvPr/>
        </p:nvSpPr>
        <p:spPr>
          <a:xfrm>
            <a:off x="2310713" y="2093096"/>
            <a:ext cx="7570573" cy="707886"/>
          </a:xfrm>
          <a:prstGeom prst="rect">
            <a:avLst/>
          </a:prstGeom>
          <a:noFill/>
        </p:spPr>
        <p:txBody>
          <a:bodyPr wrap="square">
            <a:spAutoFit/>
          </a:bodyPr>
          <a:lstStyle/>
          <a:p>
            <a:pPr algn="ctr"/>
            <a:r>
              <a:rPr lang="ro-RO" sz="40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PREPROCESARE</a:t>
            </a:r>
            <a:r>
              <a:rPr lang="ro-RO" sz="4000" dirty="0">
                <a:solidFill>
                  <a:srgbClr val="000000"/>
                </a:solidFill>
                <a:highlight>
                  <a:srgbClr val="FFFF00"/>
                </a:highlight>
                <a:latin typeface="HelveticaNowDisplay Black" panose="020B0A04030202020204" pitchFamily="34" charset="0"/>
                <a:cs typeface="HelveticaNowDisplay Black" panose="020B0A04030202020204" pitchFamily="34" charset="0"/>
              </a:rPr>
              <a:t>A</a:t>
            </a:r>
            <a:r>
              <a:rPr lang="ro-RO" sz="40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 DATELOR </a:t>
            </a:r>
            <a:endParaRPr lang="ro-RO" sz="4000" dirty="0"/>
          </a:p>
        </p:txBody>
      </p:sp>
    </p:spTree>
    <p:extLst>
      <p:ext uri="{BB962C8B-B14F-4D97-AF65-F5344CB8AC3E}">
        <p14:creationId xmlns:p14="http://schemas.microsoft.com/office/powerpoint/2010/main" val="191834028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9A21-5BAD-DCF5-E6FC-F0E6D4F487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89ED0F-4FAD-F66C-33E8-11C64DF5A823}"/>
              </a:ext>
            </a:extLst>
          </p:cNvPr>
          <p:cNvSpPr txBox="1"/>
          <p:nvPr/>
        </p:nvSpPr>
        <p:spPr>
          <a:xfrm>
            <a:off x="2333368" y="3258006"/>
            <a:ext cx="7525264" cy="1569660"/>
          </a:xfrm>
          <a:prstGeom prst="rect">
            <a:avLst/>
          </a:prstGeom>
          <a:noFill/>
        </p:spPr>
        <p:txBody>
          <a:bodyPr wrap="square">
            <a:spAutoFit/>
          </a:bodyPr>
          <a:lstStyle/>
          <a:p>
            <a:pPr algn="ctr"/>
            <a:r>
              <a:rPr lang="ro-RO" sz="2400" b="0" i="0" dirty="0">
                <a:solidFill>
                  <a:srgbClr val="000000"/>
                </a:solidFill>
                <a:effectLst/>
                <a:latin typeface="HelveticaNowDisplay Bold" panose="020B0804030202020204" pitchFamily="34" charset="0"/>
                <a:cs typeface="HelveticaNowDisplay Bold" panose="020B0804030202020204" pitchFamily="34" charset="0"/>
              </a:rPr>
              <a:t>Pentru calcularea procentajelor stilurilor, am utilizat </a:t>
            </a:r>
            <a:r>
              <a:rPr lang="ro-RO" sz="2400" b="0" i="0" dirty="0" err="1">
                <a:solidFill>
                  <a:srgbClr val="FF0000"/>
                </a:solidFill>
                <a:effectLst/>
                <a:latin typeface="HelveticaNowDisplay Bold" panose="020B0804030202020204" pitchFamily="34" charset="0"/>
                <a:cs typeface="HelveticaNowDisplay Bold" panose="020B0804030202020204" pitchFamily="34" charset="0"/>
              </a:rPr>
              <a:t>Random</a:t>
            </a:r>
            <a:r>
              <a:rPr lang="ro-RO" sz="2400" b="0" i="0" dirty="0">
                <a:solidFill>
                  <a:srgbClr val="FF0000"/>
                </a:solidFill>
                <a:effectLst/>
                <a:latin typeface="HelveticaNowDisplay Bold" panose="020B0804030202020204" pitchFamily="34" charset="0"/>
                <a:cs typeface="HelveticaNowDisplay Bold" panose="020B0804030202020204" pitchFamily="34" charset="0"/>
              </a:rPr>
              <a:t> Forest </a:t>
            </a:r>
            <a:r>
              <a:rPr lang="ro-RO" sz="2400" b="0" i="0" dirty="0">
                <a:solidFill>
                  <a:srgbClr val="000000"/>
                </a:solidFill>
                <a:effectLst/>
                <a:latin typeface="HelveticaNowDisplay Bold" panose="020B0804030202020204" pitchFamily="34" charset="0"/>
                <a:cs typeface="HelveticaNowDisplay Bold" panose="020B0804030202020204" pitchFamily="34" charset="0"/>
              </a:rPr>
              <a:t>datorită suprapunerii semnificative de cuvinte între stiluri. Alte opțiuni, precum Logistic </a:t>
            </a:r>
            <a:r>
              <a:rPr lang="ro-RO" sz="2400" b="0" i="0" dirty="0" err="1">
                <a:solidFill>
                  <a:srgbClr val="000000"/>
                </a:solidFill>
                <a:effectLst/>
                <a:latin typeface="HelveticaNowDisplay Bold" panose="020B0804030202020204" pitchFamily="34" charset="0"/>
                <a:cs typeface="HelveticaNowDisplay Bold" panose="020B0804030202020204" pitchFamily="34" charset="0"/>
              </a:rPr>
              <a:t>Regression</a:t>
            </a:r>
            <a:r>
              <a:rPr lang="ro-RO" sz="2400" b="0" i="0" dirty="0">
                <a:solidFill>
                  <a:srgbClr val="000000"/>
                </a:solidFill>
                <a:effectLst/>
                <a:latin typeface="HelveticaNowDisplay Bold" panose="020B0804030202020204" pitchFamily="34" charset="0"/>
                <a:cs typeface="HelveticaNowDisplay Bold" panose="020B0804030202020204" pitchFamily="34" charset="0"/>
              </a:rPr>
              <a:t> sau CNN, au fost mai puțin eficiente.</a:t>
            </a:r>
            <a:endParaRPr lang="ro-RO" sz="2400" dirty="0">
              <a:latin typeface="HelveticaNowDisplay Bold" panose="020B0804030202020204" pitchFamily="34" charset="0"/>
              <a:cs typeface="HelveticaNowDisplay Bold" panose="020B0804030202020204" pitchFamily="34" charset="0"/>
            </a:endParaRPr>
          </a:p>
        </p:txBody>
      </p:sp>
      <p:sp>
        <p:nvSpPr>
          <p:cNvPr id="4" name="TextBox 3">
            <a:extLst>
              <a:ext uri="{FF2B5EF4-FFF2-40B4-BE49-F238E27FC236}">
                <a16:creationId xmlns:a16="http://schemas.microsoft.com/office/drawing/2014/main" id="{0BC6C3FE-42B0-8359-8E44-2E42422D012A}"/>
              </a:ext>
            </a:extLst>
          </p:cNvPr>
          <p:cNvSpPr txBox="1"/>
          <p:nvPr/>
        </p:nvSpPr>
        <p:spPr>
          <a:xfrm>
            <a:off x="2333368" y="1813010"/>
            <a:ext cx="7525264" cy="1323439"/>
          </a:xfrm>
          <a:prstGeom prst="rect">
            <a:avLst/>
          </a:prstGeom>
          <a:noFill/>
        </p:spPr>
        <p:txBody>
          <a:bodyPr wrap="square">
            <a:spAutoFit/>
          </a:bodyPr>
          <a:lstStyle/>
          <a:p>
            <a:pPr algn="ctr"/>
            <a:r>
              <a:rPr lang="ro-RO" sz="40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RANDOM FOREST CU BOOTSTRAP AGGREGATING</a:t>
            </a:r>
            <a:endParaRPr lang="ro-RO" sz="4000" dirty="0"/>
          </a:p>
        </p:txBody>
      </p:sp>
    </p:spTree>
    <p:extLst>
      <p:ext uri="{BB962C8B-B14F-4D97-AF65-F5344CB8AC3E}">
        <p14:creationId xmlns:p14="http://schemas.microsoft.com/office/powerpoint/2010/main" val="168485480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9222E-DECA-9467-5485-92C306A441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03BEA6-835E-C24A-4E72-C1DD64F13CF7}"/>
              </a:ext>
            </a:extLst>
          </p:cNvPr>
          <p:cNvSpPr txBox="1"/>
          <p:nvPr/>
        </p:nvSpPr>
        <p:spPr>
          <a:xfrm>
            <a:off x="2310712" y="2944968"/>
            <a:ext cx="7570573" cy="1569660"/>
          </a:xfrm>
          <a:prstGeom prst="rect">
            <a:avLst/>
          </a:prstGeom>
          <a:noFill/>
        </p:spPr>
        <p:txBody>
          <a:bodyPr wrap="square">
            <a:spAutoFit/>
          </a:bodyPr>
          <a:lstStyle/>
          <a:p>
            <a:pPr algn="ctr"/>
            <a:r>
              <a:rPr lang="ro-RO" sz="2400" b="0" i="0" dirty="0">
                <a:solidFill>
                  <a:srgbClr val="000000"/>
                </a:solidFill>
                <a:effectLst/>
                <a:latin typeface="HelveticaNowDisplay Bold" panose="020B0804030202020204" pitchFamily="34" charset="0"/>
                <a:cs typeface="HelveticaNowDisplay Bold" panose="020B0804030202020204" pitchFamily="34" charset="0"/>
              </a:rPr>
              <a:t>Am folosit </a:t>
            </a:r>
            <a:r>
              <a:rPr lang="ro-RO" sz="2400" b="0" i="0" dirty="0">
                <a:solidFill>
                  <a:srgbClr val="FF0000"/>
                </a:solidFill>
                <a:effectLst/>
                <a:latin typeface="HelveticaNowDisplay Bold" panose="020B0804030202020204" pitchFamily="34" charset="0"/>
                <a:cs typeface="HelveticaNowDisplay Bold" panose="020B0804030202020204" pitchFamily="34" charset="0"/>
              </a:rPr>
              <a:t>Ray cu 8 nuclee CPU și 1 GPU</a:t>
            </a:r>
            <a:r>
              <a:rPr lang="ro-RO" sz="2400" b="0" i="0" dirty="0">
                <a:solidFill>
                  <a:srgbClr val="000000"/>
                </a:solidFill>
                <a:effectLst/>
                <a:latin typeface="HelveticaNowDisplay Bold" panose="020B0804030202020204" pitchFamily="34" charset="0"/>
                <a:cs typeface="HelveticaNowDisplay Bold" panose="020B0804030202020204" pitchFamily="34" charset="0"/>
              </a:rPr>
              <a:t>, pe un subset de întrebări, răspunsuri și recenzii (1200 în total, distribuite 80% pentru antrenare, 20% pentru testare). Antrenarea finală a inclus 6000 de mostre.</a:t>
            </a:r>
            <a:endParaRPr lang="ro-RO" sz="2400" dirty="0">
              <a:latin typeface="HelveticaNowDisplay Bold" panose="020B0804030202020204" pitchFamily="34" charset="0"/>
              <a:cs typeface="HelveticaNowDisplay Bold" panose="020B0804030202020204" pitchFamily="34" charset="0"/>
            </a:endParaRPr>
          </a:p>
        </p:txBody>
      </p:sp>
      <p:sp>
        <p:nvSpPr>
          <p:cNvPr id="4" name="TextBox 3">
            <a:extLst>
              <a:ext uri="{FF2B5EF4-FFF2-40B4-BE49-F238E27FC236}">
                <a16:creationId xmlns:a16="http://schemas.microsoft.com/office/drawing/2014/main" id="{F6E8A645-EDDC-D418-A13C-62F01ABFAFD1}"/>
              </a:ext>
            </a:extLst>
          </p:cNvPr>
          <p:cNvSpPr txBox="1"/>
          <p:nvPr/>
        </p:nvSpPr>
        <p:spPr>
          <a:xfrm>
            <a:off x="2310713" y="2093096"/>
            <a:ext cx="7570573" cy="707886"/>
          </a:xfrm>
          <a:prstGeom prst="rect">
            <a:avLst/>
          </a:prstGeom>
          <a:noFill/>
        </p:spPr>
        <p:txBody>
          <a:bodyPr wrap="square">
            <a:spAutoFit/>
          </a:bodyPr>
          <a:lstStyle/>
          <a:p>
            <a:pPr algn="ctr"/>
            <a:r>
              <a:rPr lang="ro-RO" sz="40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ANTRENARE GPT-2</a:t>
            </a:r>
            <a:endParaRPr lang="ro-RO" sz="4000" dirty="0"/>
          </a:p>
        </p:txBody>
      </p:sp>
    </p:spTree>
    <p:extLst>
      <p:ext uri="{BB962C8B-B14F-4D97-AF65-F5344CB8AC3E}">
        <p14:creationId xmlns:p14="http://schemas.microsoft.com/office/powerpoint/2010/main" val="237080859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FC0DC8-CE2B-D557-315D-2704997BBD1F}"/>
              </a:ext>
            </a:extLst>
          </p:cNvPr>
          <p:cNvSpPr txBox="1"/>
          <p:nvPr/>
        </p:nvSpPr>
        <p:spPr>
          <a:xfrm>
            <a:off x="926882" y="1659285"/>
            <a:ext cx="10338236" cy="3539430"/>
          </a:xfrm>
          <a:prstGeom prst="rect">
            <a:avLst/>
          </a:prstGeom>
          <a:noFill/>
        </p:spPr>
        <p:txBody>
          <a:bodyPr wrap="square">
            <a:spAutoFit/>
          </a:bodyPr>
          <a:lstStyle/>
          <a:p>
            <a:r>
              <a:rPr lang="pt-BR" sz="32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rPr>
              <a:t>CUM AM REALIZAT ACEST LUCRU?</a:t>
            </a:r>
            <a:endParaRPr lang="ro-RO" sz="3200" b="0" i="0" dirty="0">
              <a:solidFill>
                <a:srgbClr val="000000"/>
              </a:solidFill>
              <a:effectLst/>
              <a:highlight>
                <a:srgbClr val="FFFF00"/>
              </a:highlight>
              <a:latin typeface="HelveticaNowDisplay Black" panose="020B0A04030202020204" pitchFamily="34" charset="0"/>
              <a:cs typeface="HelveticaNowDisplay Black" panose="020B0A04030202020204" pitchFamily="34" charset="0"/>
            </a:endParaRPr>
          </a:p>
          <a:p>
            <a:endParaRPr lang="ro-RO" sz="3200" b="0" i="0" dirty="0">
              <a:solidFill>
                <a:srgbClr val="000000"/>
              </a:solidFill>
              <a:effectLst/>
              <a:latin typeface="HelveticaNowDisplay Black" panose="020B0A04030202020204" pitchFamily="34" charset="0"/>
              <a:cs typeface="HelveticaNowDisplay Black" panose="020B0A04030202020204" pitchFamily="34" charset="0"/>
            </a:endParaRPr>
          </a:p>
          <a:p>
            <a:pPr marL="742950" indent="-742950">
              <a:buFont typeface="Arial" panose="020B0604020202020204" pitchFamily="34" charset="0"/>
              <a:buChar char="•"/>
            </a:pPr>
            <a:r>
              <a:rPr lang="ro-RO" sz="3200" b="0" i="0" dirty="0">
                <a:solidFill>
                  <a:srgbClr val="000000"/>
                </a:solidFill>
                <a:effectLst/>
                <a:latin typeface="HelveticaNowDisplay Black" panose="020B0A04030202020204" pitchFamily="34" charset="0"/>
                <a:cs typeface="HelveticaNowDisplay Black" panose="020B0A04030202020204" pitchFamily="34" charset="0"/>
              </a:rPr>
              <a:t>Experimentare continuă cu modele, parametri și seturi de date.</a:t>
            </a:r>
          </a:p>
          <a:p>
            <a:pPr marL="742950" indent="-742950">
              <a:buFont typeface="Arial" panose="020B0604020202020204" pitchFamily="34" charset="0"/>
              <a:buChar char="•"/>
            </a:pPr>
            <a:r>
              <a:rPr lang="ro-RO" sz="3200" b="0" i="0" dirty="0">
                <a:solidFill>
                  <a:srgbClr val="000000"/>
                </a:solidFill>
                <a:effectLst/>
                <a:latin typeface="HelveticaNowDisplay Black" panose="020B0A04030202020204" pitchFamily="34" charset="0"/>
                <a:cs typeface="HelveticaNowDisplay Black" panose="020B0A04030202020204" pitchFamily="34" charset="0"/>
              </a:rPr>
              <a:t>Căutare intensă de seturi de date potrivite.</a:t>
            </a:r>
          </a:p>
          <a:p>
            <a:pPr marL="742950" indent="-742950">
              <a:buFont typeface="Arial" panose="020B0604020202020204" pitchFamily="34" charset="0"/>
              <a:buChar char="•"/>
            </a:pPr>
            <a:r>
              <a:rPr lang="ro-RO" sz="3200" b="0" i="0" dirty="0">
                <a:solidFill>
                  <a:srgbClr val="000000"/>
                </a:solidFill>
                <a:effectLst/>
                <a:latin typeface="HelveticaNowDisplay Black" panose="020B0A04030202020204" pitchFamily="34" charset="0"/>
                <a:cs typeface="HelveticaNowDisplay Black" panose="020B0A04030202020204" pitchFamily="34" charset="0"/>
              </a:rPr>
              <a:t>Cooperare între membri pentru idei și soluții noi.</a:t>
            </a:r>
            <a:endParaRPr lang="ro-RO" sz="32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53912933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yellow light in the dark&#10;&#10;Description automatically generated">
            <a:extLst>
              <a:ext uri="{FF2B5EF4-FFF2-40B4-BE49-F238E27FC236}">
                <a16:creationId xmlns:a16="http://schemas.microsoft.com/office/drawing/2014/main" id="{CEB7687F-E100-947F-9FFB-2E6092C975AA}"/>
              </a:ext>
            </a:extLst>
          </p:cNvPr>
          <p:cNvPicPr>
            <a:picLocks noChangeAspect="1"/>
          </p:cNvPicPr>
          <p:nvPr/>
        </p:nvPicPr>
        <p:blipFill>
          <a:blip r:embed="rId3">
            <a:extLst>
              <a:ext uri="{28A0092B-C50C-407E-A947-70E740481C1C}">
                <a14:useLocalDpi xmlns:a14="http://schemas.microsoft.com/office/drawing/2010/main" val="0"/>
              </a:ext>
            </a:extLst>
          </a:blip>
          <a:srcRect t="13809" b="13809"/>
          <a:stretch/>
        </p:blipFill>
        <p:spPr>
          <a:xfrm>
            <a:off x="1319269" y="0"/>
            <a:ext cx="9553457" cy="6858000"/>
          </a:xfrm>
          <a:prstGeom prst="rect">
            <a:avLst/>
          </a:prstGeom>
        </p:spPr>
      </p:pic>
      <p:sp>
        <p:nvSpPr>
          <p:cNvPr id="2" name="TextBox 1">
            <a:extLst>
              <a:ext uri="{FF2B5EF4-FFF2-40B4-BE49-F238E27FC236}">
                <a16:creationId xmlns:a16="http://schemas.microsoft.com/office/drawing/2014/main" id="{42EF20DF-ADC4-D764-EBC5-FE50A5D52C1C}"/>
              </a:ext>
            </a:extLst>
          </p:cNvPr>
          <p:cNvSpPr txBox="1"/>
          <p:nvPr/>
        </p:nvSpPr>
        <p:spPr>
          <a:xfrm>
            <a:off x="297385" y="588614"/>
            <a:ext cx="3956751" cy="707886"/>
          </a:xfrm>
          <a:prstGeom prst="rect">
            <a:avLst/>
          </a:prstGeom>
          <a:noFill/>
        </p:spPr>
        <p:txBody>
          <a:bodyPr wrap="square">
            <a:spAutoFit/>
          </a:bodyPr>
          <a:lstStyle/>
          <a:p>
            <a:r>
              <a:rPr lang="ro-RO" sz="4000" b="0" i="0" dirty="0">
                <a:solidFill>
                  <a:srgbClr val="000000"/>
                </a:solidFill>
                <a:effectLst/>
                <a:latin typeface="HelveticaNowDisplay Black" panose="020B0A04030202020204" pitchFamily="34" charset="0"/>
                <a:cs typeface="HelveticaNowDisplay Black" panose="020B0A04030202020204" pitchFamily="34" charset="0"/>
              </a:rPr>
              <a:t>REZULTATE</a:t>
            </a:r>
            <a:endParaRPr lang="ro-RO" sz="4000" dirty="0"/>
          </a:p>
        </p:txBody>
      </p:sp>
      <p:sp>
        <p:nvSpPr>
          <p:cNvPr id="4" name="TextBox 3">
            <a:extLst>
              <a:ext uri="{FF2B5EF4-FFF2-40B4-BE49-F238E27FC236}">
                <a16:creationId xmlns:a16="http://schemas.microsoft.com/office/drawing/2014/main" id="{A54780DD-8495-369F-9211-5EAB38A7A58D}"/>
              </a:ext>
            </a:extLst>
          </p:cNvPr>
          <p:cNvSpPr txBox="1"/>
          <p:nvPr/>
        </p:nvSpPr>
        <p:spPr>
          <a:xfrm>
            <a:off x="297385" y="1885113"/>
            <a:ext cx="3590055" cy="830997"/>
          </a:xfrm>
          <a:prstGeom prst="rect">
            <a:avLst/>
          </a:prstGeom>
          <a:noFill/>
        </p:spPr>
        <p:txBody>
          <a:bodyPr wrap="square">
            <a:spAutoFit/>
          </a:bodyPr>
          <a:lstStyle/>
          <a:p>
            <a:r>
              <a:rPr lang="ro-RO" sz="2400" b="0" i="0" dirty="0">
                <a:solidFill>
                  <a:srgbClr val="000000"/>
                </a:solidFill>
                <a:effectLst/>
                <a:latin typeface="HelveticaNowDisplay Black" panose="020B0A04030202020204" pitchFamily="34" charset="0"/>
                <a:cs typeface="HelveticaNowDisplay Black" panose="020B0A04030202020204" pitchFamily="34" charset="0"/>
              </a:rPr>
              <a:t>RANDOM FOREST CLASSIFICATION</a:t>
            </a:r>
          </a:p>
        </p:txBody>
      </p:sp>
      <p:sp>
        <p:nvSpPr>
          <p:cNvPr id="5" name="TextBox 4">
            <a:extLst>
              <a:ext uri="{FF2B5EF4-FFF2-40B4-BE49-F238E27FC236}">
                <a16:creationId xmlns:a16="http://schemas.microsoft.com/office/drawing/2014/main" id="{DBCDFB59-579C-602D-66BF-8DA0E5A98B7F}"/>
              </a:ext>
            </a:extLst>
          </p:cNvPr>
          <p:cNvSpPr txBox="1"/>
          <p:nvPr/>
        </p:nvSpPr>
        <p:spPr>
          <a:xfrm>
            <a:off x="4826261" y="1884274"/>
            <a:ext cx="2748970" cy="1200329"/>
          </a:xfrm>
          <a:prstGeom prst="rect">
            <a:avLst/>
          </a:prstGeom>
          <a:noFill/>
        </p:spPr>
        <p:txBody>
          <a:bodyPr wrap="square">
            <a:spAutoFit/>
          </a:bodyPr>
          <a:lstStyle/>
          <a:p>
            <a:r>
              <a:rPr lang="en-US" sz="2400" b="0" i="0" dirty="0">
                <a:solidFill>
                  <a:srgbClr val="000000"/>
                </a:solidFill>
                <a:effectLst/>
                <a:latin typeface="HelveticaNowDisplay Bold" panose="020B0804030202020204" pitchFamily="34" charset="0"/>
                <a:cs typeface="HelveticaNowDisplay Bold" panose="020B0804030202020204" pitchFamily="34" charset="0"/>
              </a:rPr>
              <a:t>Out-of-Bag err</a:t>
            </a:r>
            <a:r>
              <a:rPr lang="ro-RO" sz="2400" dirty="0">
                <a:solidFill>
                  <a:srgbClr val="000000"/>
                </a:solidFill>
                <a:latin typeface="HelveticaNowDisplay Bold" panose="020B0804030202020204" pitchFamily="34" charset="0"/>
                <a:cs typeface="HelveticaNowDisplay Bold" panose="020B0804030202020204" pitchFamily="34" charset="0"/>
              </a:rPr>
              <a:t>or</a:t>
            </a:r>
            <a:r>
              <a:rPr lang="en-US" sz="2400" b="0" i="0" dirty="0">
                <a:solidFill>
                  <a:srgbClr val="000000"/>
                </a:solidFill>
                <a:effectLst/>
                <a:latin typeface="HelveticaNowDisplay Bold" panose="020B0804030202020204" pitchFamily="34" charset="0"/>
                <a:cs typeface="HelveticaNowDisplay Bold" panose="020B0804030202020204" pitchFamily="34" charset="0"/>
              </a:rPr>
              <a:t> </a:t>
            </a:r>
            <a:endParaRPr lang="ro-RO" sz="2400" b="0" i="0" dirty="0">
              <a:solidFill>
                <a:srgbClr val="000000"/>
              </a:solidFill>
              <a:effectLst/>
              <a:latin typeface="HelveticaNowDisplay Bold" panose="020B0804030202020204" pitchFamily="34" charset="0"/>
              <a:cs typeface="HelveticaNowDisplay Bold" panose="020B0804030202020204" pitchFamily="34" charset="0"/>
            </a:endParaRPr>
          </a:p>
          <a:p>
            <a:r>
              <a:rPr lang="en-US" sz="2400" b="0" i="0" dirty="0">
                <a:solidFill>
                  <a:srgbClr val="000000"/>
                </a:solidFill>
                <a:effectLst/>
                <a:latin typeface="HelveticaNowDisplay Bold" panose="020B0804030202020204" pitchFamily="34" charset="0"/>
                <a:cs typeface="HelveticaNowDisplay Bold" panose="020B0804030202020204" pitchFamily="34" charset="0"/>
              </a:rPr>
              <a:t>Accuracy</a:t>
            </a:r>
          </a:p>
          <a:p>
            <a:r>
              <a:rPr lang="en-US" sz="2400" b="0" i="0" dirty="0">
                <a:solidFill>
                  <a:srgbClr val="000000"/>
                </a:solidFill>
                <a:effectLst/>
                <a:latin typeface="HelveticaNowDisplay Bold" panose="020B0804030202020204" pitchFamily="34" charset="0"/>
                <a:cs typeface="HelveticaNowDisplay Bold" panose="020B0804030202020204" pitchFamily="34" charset="0"/>
              </a:rPr>
              <a:t>Over-all precision</a:t>
            </a:r>
          </a:p>
        </p:txBody>
      </p:sp>
      <p:sp>
        <p:nvSpPr>
          <p:cNvPr id="6" name="TextBox 5">
            <a:extLst>
              <a:ext uri="{FF2B5EF4-FFF2-40B4-BE49-F238E27FC236}">
                <a16:creationId xmlns:a16="http://schemas.microsoft.com/office/drawing/2014/main" id="{6E07E001-91FB-507A-F05B-E3CDF9EFF9D8}"/>
              </a:ext>
            </a:extLst>
          </p:cNvPr>
          <p:cNvSpPr txBox="1"/>
          <p:nvPr/>
        </p:nvSpPr>
        <p:spPr>
          <a:xfrm>
            <a:off x="9452071" y="1884273"/>
            <a:ext cx="1501536" cy="1200329"/>
          </a:xfrm>
          <a:prstGeom prst="rect">
            <a:avLst/>
          </a:prstGeom>
          <a:noFill/>
        </p:spPr>
        <p:txBody>
          <a:bodyPr wrap="square">
            <a:spAutoFit/>
          </a:bodyPr>
          <a:lstStyle/>
          <a:p>
            <a:pPr algn="r"/>
            <a:r>
              <a:rPr lang="en-US" sz="2400" b="0" i="0" dirty="0">
                <a:solidFill>
                  <a:srgbClr val="000000"/>
                </a:solidFill>
                <a:effectLst/>
                <a:latin typeface="HelveticaNowDisplay Bold" panose="020B0804030202020204" pitchFamily="34" charset="0"/>
                <a:cs typeface="HelveticaNowDisplay Bold" panose="020B0804030202020204" pitchFamily="34" charset="0"/>
              </a:rPr>
              <a:t>82.46%</a:t>
            </a:r>
          </a:p>
          <a:p>
            <a:pPr algn="r"/>
            <a:r>
              <a:rPr lang="en-US" sz="2400" b="0" i="0" dirty="0">
                <a:solidFill>
                  <a:srgbClr val="000000"/>
                </a:solidFill>
                <a:effectLst/>
                <a:latin typeface="HelveticaNowDisplay Bold" panose="020B0804030202020204" pitchFamily="34" charset="0"/>
                <a:cs typeface="HelveticaNowDisplay Bold" panose="020B0804030202020204" pitchFamily="34" charset="0"/>
              </a:rPr>
              <a:t>82.25%</a:t>
            </a:r>
          </a:p>
          <a:p>
            <a:pPr algn="r"/>
            <a:r>
              <a:rPr lang="en-US" sz="2400" b="0" i="0" dirty="0">
                <a:solidFill>
                  <a:srgbClr val="000000"/>
                </a:solidFill>
                <a:effectLst/>
                <a:latin typeface="HelveticaNowDisplay Bold" panose="020B0804030202020204" pitchFamily="34" charset="0"/>
                <a:cs typeface="HelveticaNowDisplay Bold" panose="020B0804030202020204" pitchFamily="34" charset="0"/>
              </a:rPr>
              <a:t>84%</a:t>
            </a:r>
          </a:p>
        </p:txBody>
      </p:sp>
      <p:sp>
        <p:nvSpPr>
          <p:cNvPr id="7" name="TextBox 6">
            <a:extLst>
              <a:ext uri="{FF2B5EF4-FFF2-40B4-BE49-F238E27FC236}">
                <a16:creationId xmlns:a16="http://schemas.microsoft.com/office/drawing/2014/main" id="{D3BFC644-5C33-7E3F-2F5F-1B5E020D613B}"/>
              </a:ext>
            </a:extLst>
          </p:cNvPr>
          <p:cNvSpPr txBox="1"/>
          <p:nvPr/>
        </p:nvSpPr>
        <p:spPr>
          <a:xfrm>
            <a:off x="297385" y="3742876"/>
            <a:ext cx="3590055" cy="830997"/>
          </a:xfrm>
          <a:prstGeom prst="rect">
            <a:avLst/>
          </a:prstGeom>
          <a:noFill/>
        </p:spPr>
        <p:txBody>
          <a:bodyPr wrap="square">
            <a:spAutoFit/>
          </a:bodyPr>
          <a:lstStyle/>
          <a:p>
            <a:r>
              <a:rPr lang="ro-RO" sz="2400" b="0" i="0" dirty="0">
                <a:solidFill>
                  <a:srgbClr val="000000"/>
                </a:solidFill>
                <a:effectLst/>
                <a:latin typeface="HelveticaNowDisplay Black" panose="020B0A04030202020204" pitchFamily="34" charset="0"/>
                <a:cs typeface="HelveticaNowDisplay Black" panose="020B0A04030202020204" pitchFamily="34" charset="0"/>
              </a:rPr>
              <a:t>RAY EXPERIMENT RESULTS</a:t>
            </a:r>
          </a:p>
        </p:txBody>
      </p:sp>
      <p:sp>
        <p:nvSpPr>
          <p:cNvPr id="8" name="TextBox 7">
            <a:extLst>
              <a:ext uri="{FF2B5EF4-FFF2-40B4-BE49-F238E27FC236}">
                <a16:creationId xmlns:a16="http://schemas.microsoft.com/office/drawing/2014/main" id="{FE6B9D15-FF0F-DB7E-7B62-D782D6CE6271}"/>
              </a:ext>
            </a:extLst>
          </p:cNvPr>
          <p:cNvSpPr txBox="1"/>
          <p:nvPr/>
        </p:nvSpPr>
        <p:spPr>
          <a:xfrm>
            <a:off x="4826261" y="3748350"/>
            <a:ext cx="3376456" cy="830997"/>
          </a:xfrm>
          <a:prstGeom prst="rect">
            <a:avLst/>
          </a:prstGeom>
          <a:noFill/>
        </p:spPr>
        <p:txBody>
          <a:bodyPr wrap="square">
            <a:spAutoFit/>
          </a:bodyPr>
          <a:lstStyle/>
          <a:p>
            <a:r>
              <a:rPr lang="en-US" sz="2400" b="0" i="0" dirty="0">
                <a:solidFill>
                  <a:srgbClr val="000000"/>
                </a:solidFill>
                <a:effectLst/>
                <a:latin typeface="HelveticaNowDisplay Bold" panose="020B0804030202020204" pitchFamily="34" charset="0"/>
                <a:cs typeface="HelveticaNowDisplay Bold" panose="020B0804030202020204" pitchFamily="34" charset="0"/>
              </a:rPr>
              <a:t>Avg. train loss</a:t>
            </a:r>
            <a:endParaRPr lang="ro-RO" sz="2400" b="0" i="0" dirty="0">
              <a:solidFill>
                <a:srgbClr val="000000"/>
              </a:solidFill>
              <a:effectLst/>
              <a:latin typeface="HelveticaNowDisplay Bold" panose="020B0804030202020204" pitchFamily="34" charset="0"/>
              <a:cs typeface="HelveticaNowDisplay Bold" panose="020B0804030202020204" pitchFamily="34" charset="0"/>
            </a:endParaRPr>
          </a:p>
          <a:p>
            <a:r>
              <a:rPr lang="en-US" sz="2400" b="0" i="0" dirty="0">
                <a:solidFill>
                  <a:srgbClr val="000000"/>
                </a:solidFill>
                <a:effectLst/>
                <a:latin typeface="HelveticaNowDisplay Bold" panose="020B0804030202020204" pitchFamily="34" charset="0"/>
                <a:cs typeface="HelveticaNowDisplay Bold" panose="020B0804030202020204" pitchFamily="34" charset="0"/>
              </a:rPr>
              <a:t>Avg. evaluation loss </a:t>
            </a:r>
          </a:p>
        </p:txBody>
      </p:sp>
      <p:sp>
        <p:nvSpPr>
          <p:cNvPr id="9" name="TextBox 8">
            <a:extLst>
              <a:ext uri="{FF2B5EF4-FFF2-40B4-BE49-F238E27FC236}">
                <a16:creationId xmlns:a16="http://schemas.microsoft.com/office/drawing/2014/main" id="{016003EF-BF06-F416-8F9B-0E6761E434C6}"/>
              </a:ext>
            </a:extLst>
          </p:cNvPr>
          <p:cNvSpPr txBox="1"/>
          <p:nvPr/>
        </p:nvSpPr>
        <p:spPr>
          <a:xfrm>
            <a:off x="8713719" y="3748350"/>
            <a:ext cx="2239888" cy="830997"/>
          </a:xfrm>
          <a:prstGeom prst="rect">
            <a:avLst/>
          </a:prstGeom>
          <a:noFill/>
        </p:spPr>
        <p:txBody>
          <a:bodyPr wrap="square">
            <a:spAutoFit/>
          </a:bodyPr>
          <a:lstStyle/>
          <a:p>
            <a:pPr algn="r"/>
            <a:r>
              <a:rPr lang="en-US" sz="2400" b="0" i="0" dirty="0">
                <a:solidFill>
                  <a:srgbClr val="000000"/>
                </a:solidFill>
                <a:effectLst/>
                <a:latin typeface="HelveticaNowDisplay Bold" panose="020B0804030202020204" pitchFamily="34" charset="0"/>
                <a:cs typeface="HelveticaNowDisplay Bold" panose="020B0804030202020204" pitchFamily="34" charset="0"/>
              </a:rPr>
              <a:t>16.694342</a:t>
            </a:r>
            <a:endParaRPr lang="ro-RO" sz="2400" b="0" i="0" dirty="0">
              <a:solidFill>
                <a:srgbClr val="000000"/>
              </a:solidFill>
              <a:effectLst/>
              <a:latin typeface="HelveticaNowDisplay Bold" panose="020B0804030202020204" pitchFamily="34" charset="0"/>
              <a:cs typeface="HelveticaNowDisplay Bold" panose="020B0804030202020204" pitchFamily="34" charset="0"/>
            </a:endParaRPr>
          </a:p>
          <a:p>
            <a:pPr algn="r"/>
            <a:r>
              <a:rPr lang="en-US" sz="2400" b="0" i="0" dirty="0">
                <a:solidFill>
                  <a:srgbClr val="000000"/>
                </a:solidFill>
                <a:effectLst/>
                <a:latin typeface="HelveticaNowDisplay Bold" panose="020B0804030202020204" pitchFamily="34" charset="0"/>
                <a:cs typeface="HelveticaNowDisplay Bold" panose="020B0804030202020204" pitchFamily="34" charset="0"/>
              </a:rPr>
              <a:t>3.758790</a:t>
            </a:r>
          </a:p>
        </p:txBody>
      </p:sp>
      <p:sp>
        <p:nvSpPr>
          <p:cNvPr id="10" name="TextBox 9">
            <a:extLst>
              <a:ext uri="{FF2B5EF4-FFF2-40B4-BE49-F238E27FC236}">
                <a16:creationId xmlns:a16="http://schemas.microsoft.com/office/drawing/2014/main" id="{00B58032-1E55-7B47-BF76-510CA4B07761}"/>
              </a:ext>
            </a:extLst>
          </p:cNvPr>
          <p:cNvSpPr txBox="1"/>
          <p:nvPr/>
        </p:nvSpPr>
        <p:spPr>
          <a:xfrm>
            <a:off x="297385" y="5237620"/>
            <a:ext cx="3590055" cy="830997"/>
          </a:xfrm>
          <a:prstGeom prst="rect">
            <a:avLst/>
          </a:prstGeom>
          <a:noFill/>
        </p:spPr>
        <p:txBody>
          <a:bodyPr wrap="square">
            <a:spAutoFit/>
          </a:bodyPr>
          <a:lstStyle/>
          <a:p>
            <a:r>
              <a:rPr lang="ro-RO" sz="2400" b="0" i="0" dirty="0">
                <a:solidFill>
                  <a:srgbClr val="000000"/>
                </a:solidFill>
                <a:effectLst/>
                <a:latin typeface="HelveticaNowDisplay Black" panose="020B0A04030202020204" pitchFamily="34" charset="0"/>
                <a:cs typeface="HelveticaNowDisplay Black" panose="020B0A04030202020204" pitchFamily="34" charset="0"/>
              </a:rPr>
              <a:t>GPT-2 TEXT GENERATION</a:t>
            </a:r>
          </a:p>
        </p:txBody>
      </p:sp>
      <p:sp>
        <p:nvSpPr>
          <p:cNvPr id="11" name="TextBox 10">
            <a:extLst>
              <a:ext uri="{FF2B5EF4-FFF2-40B4-BE49-F238E27FC236}">
                <a16:creationId xmlns:a16="http://schemas.microsoft.com/office/drawing/2014/main" id="{50742726-CDD5-CFC3-2D84-4EC875692603}"/>
              </a:ext>
            </a:extLst>
          </p:cNvPr>
          <p:cNvSpPr txBox="1"/>
          <p:nvPr/>
        </p:nvSpPr>
        <p:spPr>
          <a:xfrm>
            <a:off x="4826261" y="5243094"/>
            <a:ext cx="3376456" cy="830997"/>
          </a:xfrm>
          <a:prstGeom prst="rect">
            <a:avLst/>
          </a:prstGeom>
          <a:noFill/>
        </p:spPr>
        <p:txBody>
          <a:bodyPr wrap="square">
            <a:spAutoFit/>
          </a:bodyPr>
          <a:lstStyle/>
          <a:p>
            <a:r>
              <a:rPr lang="en-US" sz="2400" b="0" i="0" dirty="0">
                <a:solidFill>
                  <a:srgbClr val="000000"/>
                </a:solidFill>
                <a:effectLst/>
                <a:latin typeface="HelveticaNowDisplay Bold" panose="020B0804030202020204" pitchFamily="34" charset="0"/>
                <a:cs typeface="HelveticaNowDisplay Bold" panose="020B0804030202020204" pitchFamily="34" charset="0"/>
              </a:rPr>
              <a:t>Mean Absolute Error</a:t>
            </a:r>
            <a:endParaRPr lang="ro-RO" sz="2400" b="0" i="0" dirty="0">
              <a:solidFill>
                <a:srgbClr val="000000"/>
              </a:solidFill>
              <a:effectLst/>
              <a:latin typeface="HelveticaNowDisplay Bold" panose="020B0804030202020204" pitchFamily="34" charset="0"/>
              <a:cs typeface="HelveticaNowDisplay Bold" panose="020B0804030202020204" pitchFamily="34" charset="0"/>
            </a:endParaRPr>
          </a:p>
          <a:p>
            <a:r>
              <a:rPr lang="en-US" sz="2400" b="0" i="0" dirty="0">
                <a:solidFill>
                  <a:srgbClr val="000000"/>
                </a:solidFill>
                <a:effectLst/>
                <a:latin typeface="HelveticaNowDisplay Bold" panose="020B0804030202020204" pitchFamily="34" charset="0"/>
                <a:cs typeface="HelveticaNowDisplay Bold" panose="020B0804030202020204" pitchFamily="34" charset="0"/>
              </a:rPr>
              <a:t>Average BLEU Score</a:t>
            </a:r>
          </a:p>
        </p:txBody>
      </p:sp>
      <p:sp>
        <p:nvSpPr>
          <p:cNvPr id="12" name="TextBox 11">
            <a:extLst>
              <a:ext uri="{FF2B5EF4-FFF2-40B4-BE49-F238E27FC236}">
                <a16:creationId xmlns:a16="http://schemas.microsoft.com/office/drawing/2014/main" id="{7643A5F0-A7B8-51CA-F135-62B78A332C0B}"/>
              </a:ext>
            </a:extLst>
          </p:cNvPr>
          <p:cNvSpPr txBox="1"/>
          <p:nvPr/>
        </p:nvSpPr>
        <p:spPr>
          <a:xfrm>
            <a:off x="8304562" y="5243094"/>
            <a:ext cx="2649045" cy="830997"/>
          </a:xfrm>
          <a:prstGeom prst="rect">
            <a:avLst/>
          </a:prstGeom>
          <a:noFill/>
        </p:spPr>
        <p:txBody>
          <a:bodyPr wrap="square">
            <a:spAutoFit/>
          </a:bodyPr>
          <a:lstStyle/>
          <a:p>
            <a:pPr algn="r"/>
            <a:r>
              <a:rPr lang="en-US" sz="2400" b="0" i="0" dirty="0">
                <a:solidFill>
                  <a:srgbClr val="000000"/>
                </a:solidFill>
                <a:effectLst/>
                <a:latin typeface="HelveticaNowDisplay Bold" panose="020B0804030202020204" pitchFamily="34" charset="0"/>
                <a:cs typeface="HelveticaNowDisplay Bold" panose="020B0804030202020204" pitchFamily="34" charset="0"/>
              </a:rPr>
              <a:t>2.54455333948</a:t>
            </a:r>
            <a:endParaRPr lang="ro-RO" sz="2400" b="0" i="0" dirty="0">
              <a:solidFill>
                <a:srgbClr val="000000"/>
              </a:solidFill>
              <a:effectLst/>
              <a:latin typeface="HelveticaNowDisplay Bold" panose="020B0804030202020204" pitchFamily="34" charset="0"/>
              <a:cs typeface="HelveticaNowDisplay Bold" panose="020B0804030202020204" pitchFamily="34" charset="0"/>
            </a:endParaRPr>
          </a:p>
          <a:p>
            <a:pPr algn="r"/>
            <a:r>
              <a:rPr lang="ro-RO" sz="2400" b="0" i="0" dirty="0">
                <a:solidFill>
                  <a:srgbClr val="000000"/>
                </a:solidFill>
                <a:effectLst/>
                <a:latin typeface="HelveticaNowDisplay Bold" panose="020B0804030202020204" pitchFamily="34" charset="0"/>
                <a:cs typeface="HelveticaNowDisplay Bold" panose="020B0804030202020204" pitchFamily="34" charset="0"/>
              </a:rPr>
              <a:t>0</a:t>
            </a:r>
            <a:r>
              <a:rPr lang="en-US" sz="2400" b="0" i="0" dirty="0">
                <a:solidFill>
                  <a:srgbClr val="000000"/>
                </a:solidFill>
                <a:effectLst/>
                <a:latin typeface="HelveticaNowDisplay Bold" panose="020B0804030202020204" pitchFamily="34" charset="0"/>
                <a:cs typeface="HelveticaNowDisplay Bold" panose="020B0804030202020204" pitchFamily="34" charset="0"/>
              </a:rPr>
              <a:t>.</a:t>
            </a:r>
            <a:r>
              <a:rPr lang="ro-RO" sz="2400" b="0" i="0" dirty="0">
                <a:solidFill>
                  <a:srgbClr val="000000"/>
                </a:solidFill>
                <a:effectLst/>
                <a:latin typeface="HelveticaNowDisplay Bold" panose="020B0804030202020204" pitchFamily="34" charset="0"/>
                <a:cs typeface="HelveticaNowDisplay Bold" panose="020B0804030202020204" pitchFamily="34" charset="0"/>
              </a:rPr>
              <a:t>2624</a:t>
            </a:r>
            <a:endParaRPr lang="en-US" sz="2400" b="0" i="0" dirty="0">
              <a:solidFill>
                <a:srgbClr val="000000"/>
              </a:solidFill>
              <a:effectLst/>
              <a:latin typeface="HelveticaNowDisplay Bold" panose="020B0804030202020204" pitchFamily="34" charset="0"/>
              <a:cs typeface="HelveticaNowDisplay Bold" panose="020B0804030202020204" pitchFamily="34" charset="0"/>
            </a:endParaRPr>
          </a:p>
        </p:txBody>
      </p:sp>
    </p:spTree>
    <p:extLst>
      <p:ext uri="{BB962C8B-B14F-4D97-AF65-F5344CB8AC3E}">
        <p14:creationId xmlns:p14="http://schemas.microsoft.com/office/powerpoint/2010/main" val="260895977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171040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9C869-F3DB-A07D-A6DE-BC85649CFC28}"/>
            </a:ext>
          </a:extLst>
        </p:cNvPr>
        <p:cNvGrpSpPr/>
        <p:nvPr/>
      </p:nvGrpSpPr>
      <p:grpSpPr>
        <a:xfrm>
          <a:off x="0" y="0"/>
          <a:ext cx="0" cy="0"/>
          <a:chOff x="0" y="0"/>
          <a:chExt cx="0" cy="0"/>
        </a:xfrm>
      </p:grpSpPr>
      <p:pic>
        <p:nvPicPr>
          <p:cNvPr id="9" name="Picture 8" descr="A yellow light in a black background&#10;&#10;Description automatically generated">
            <a:extLst>
              <a:ext uri="{FF2B5EF4-FFF2-40B4-BE49-F238E27FC236}">
                <a16:creationId xmlns:a16="http://schemas.microsoft.com/office/drawing/2014/main" id="{0C1526AB-0CBF-7908-10B4-C6369531E364}"/>
              </a:ext>
            </a:extLst>
          </p:cNvPr>
          <p:cNvPicPr>
            <a:picLocks noGrp="1" noRot="1" noChangeAspect="1" noMove="1" noResize="1" noEditPoints="1" noAdjustHandles="1" noChangeArrowheads="1" noChangeShapeType="1" noCrop="1"/>
          </p:cNvPicPr>
          <p:nvPr/>
        </p:nvPicPr>
        <p:blipFill>
          <a:blip r:embed="rId2">
            <a:alphaModFix amt="68000"/>
            <a:extLst>
              <a:ext uri="{28A0092B-C50C-407E-A947-70E740481C1C}">
                <a14:useLocalDpi xmlns:a14="http://schemas.microsoft.com/office/drawing/2010/main" val="0"/>
              </a:ext>
            </a:extLst>
          </a:blip>
          <a:srcRect t="6626" b="6626"/>
          <a:stretch/>
        </p:blipFill>
        <p:spPr>
          <a:xfrm>
            <a:off x="0" y="-1"/>
            <a:ext cx="12192000" cy="6858001"/>
          </a:xfrm>
          <a:prstGeom prst="rect">
            <a:avLst/>
          </a:prstGeom>
        </p:spPr>
      </p:pic>
      <p:sp>
        <p:nvSpPr>
          <p:cNvPr id="11" name="TextBox 10">
            <a:extLst>
              <a:ext uri="{FF2B5EF4-FFF2-40B4-BE49-F238E27FC236}">
                <a16:creationId xmlns:a16="http://schemas.microsoft.com/office/drawing/2014/main" id="{1D13806F-534F-637A-2A70-5414CA88A68A}"/>
              </a:ext>
            </a:extLst>
          </p:cNvPr>
          <p:cNvSpPr txBox="1"/>
          <p:nvPr/>
        </p:nvSpPr>
        <p:spPr>
          <a:xfrm>
            <a:off x="4632395" y="3350215"/>
            <a:ext cx="2927210" cy="1015663"/>
          </a:xfrm>
          <a:prstGeom prst="rect">
            <a:avLst/>
          </a:prstGeom>
          <a:noFill/>
        </p:spPr>
        <p:txBody>
          <a:bodyPr wrap="square">
            <a:spAutoFit/>
          </a:bodyPr>
          <a:lstStyle/>
          <a:p>
            <a:pPr algn="ctr"/>
            <a:r>
              <a:rPr lang="it-IT" sz="2000" b="0" i="0" dirty="0">
                <a:solidFill>
                  <a:srgbClr val="000000"/>
                </a:solidFill>
                <a:effectLst/>
                <a:latin typeface="HelveticaNowDisplay Regular" panose="020B0504030202020204" pitchFamily="34" charset="0"/>
                <a:cs typeface="HelveticaNowDisplay Regular" panose="020B0504030202020204" pitchFamily="34" charset="0"/>
              </a:rPr>
              <a:t>Frandeș Raul-Sorin</a:t>
            </a:r>
          </a:p>
          <a:p>
            <a:pPr algn="ctr"/>
            <a:r>
              <a:rPr lang="it-IT" sz="2000" b="0" i="0" dirty="0">
                <a:solidFill>
                  <a:srgbClr val="000000"/>
                </a:solidFill>
                <a:effectLst/>
                <a:latin typeface="HelveticaNowDisplay Regular" panose="020B0504030202020204" pitchFamily="34" charset="0"/>
                <a:cs typeface="HelveticaNowDisplay Regular" panose="020B0504030202020204" pitchFamily="34" charset="0"/>
              </a:rPr>
              <a:t> Haidamac Ioana-Paula</a:t>
            </a:r>
          </a:p>
          <a:p>
            <a:pPr algn="ctr"/>
            <a:r>
              <a:rPr lang="it-IT" sz="2000" b="0" i="0" dirty="0">
                <a:solidFill>
                  <a:srgbClr val="000000"/>
                </a:solidFill>
                <a:effectLst/>
                <a:latin typeface="HelveticaNowDisplay Regular" panose="020B0504030202020204" pitchFamily="34" charset="0"/>
                <a:cs typeface="HelveticaNowDisplay Regular" panose="020B0504030202020204" pitchFamily="34" charset="0"/>
              </a:rPr>
              <a:t> Ion Andreea-Marina</a:t>
            </a:r>
            <a:endParaRPr lang="ro-RO" sz="2000" dirty="0">
              <a:latin typeface="HelveticaNowDisplay Regular" panose="020B0504030202020204" pitchFamily="34" charset="0"/>
              <a:cs typeface="HelveticaNowDisplay Regular" panose="020B0504030202020204" pitchFamily="34" charset="0"/>
            </a:endParaRPr>
          </a:p>
        </p:txBody>
      </p:sp>
      <p:sp>
        <p:nvSpPr>
          <p:cNvPr id="2" name="TextBox 1">
            <a:extLst>
              <a:ext uri="{FF2B5EF4-FFF2-40B4-BE49-F238E27FC236}">
                <a16:creationId xmlns:a16="http://schemas.microsoft.com/office/drawing/2014/main" id="{9FEA398F-AF96-AF96-9514-72EF092E7F5C}"/>
              </a:ext>
            </a:extLst>
          </p:cNvPr>
          <p:cNvSpPr txBox="1"/>
          <p:nvPr/>
        </p:nvSpPr>
        <p:spPr>
          <a:xfrm>
            <a:off x="4632395" y="5124899"/>
            <a:ext cx="2927210" cy="400110"/>
          </a:xfrm>
          <a:prstGeom prst="rect">
            <a:avLst/>
          </a:prstGeom>
          <a:noFill/>
        </p:spPr>
        <p:txBody>
          <a:bodyPr wrap="square">
            <a:spAutoFit/>
          </a:bodyPr>
          <a:lstStyle/>
          <a:p>
            <a:pPr algn="ctr"/>
            <a:r>
              <a:rPr lang="it-IT" sz="2000" dirty="0">
                <a:solidFill>
                  <a:srgbClr val="000000"/>
                </a:solidFill>
                <a:latin typeface="HelveticaNowDisplay Regular" panose="020B0504030202020204" pitchFamily="34" charset="0"/>
                <a:cs typeface="HelveticaNowDisplay Regular" panose="020B0504030202020204" pitchFamily="34" charset="0"/>
              </a:rPr>
              <a:t>Verze</a:t>
            </a:r>
            <a:r>
              <a:rPr lang="ro-RO" sz="2000" dirty="0">
                <a:solidFill>
                  <a:srgbClr val="000000"/>
                </a:solidFill>
                <a:latin typeface="HelveticaNowDisplay Regular" panose="020B0504030202020204" pitchFamily="34" charset="0"/>
                <a:cs typeface="HelveticaNowDisplay Regular" panose="020B0504030202020204" pitchFamily="34" charset="0"/>
              </a:rPr>
              <a:t>ș Tudor-Andrei</a:t>
            </a:r>
            <a:endParaRPr lang="ro-RO" sz="2000" dirty="0">
              <a:latin typeface="HelveticaNowDisplay Regular" panose="020B0504030202020204" pitchFamily="34" charset="0"/>
              <a:cs typeface="HelveticaNowDisplay Regular" panose="020B0504030202020204" pitchFamily="34" charset="0"/>
            </a:endParaRPr>
          </a:p>
        </p:txBody>
      </p:sp>
      <p:sp>
        <p:nvSpPr>
          <p:cNvPr id="3" name="TextBox 2">
            <a:extLst>
              <a:ext uri="{FF2B5EF4-FFF2-40B4-BE49-F238E27FC236}">
                <a16:creationId xmlns:a16="http://schemas.microsoft.com/office/drawing/2014/main" id="{0ACCA7ED-E144-0EA3-7798-9843347E1A58}"/>
              </a:ext>
            </a:extLst>
          </p:cNvPr>
          <p:cNvSpPr txBox="1"/>
          <p:nvPr/>
        </p:nvSpPr>
        <p:spPr>
          <a:xfrm>
            <a:off x="3144369" y="1085500"/>
            <a:ext cx="5903261" cy="1323439"/>
          </a:xfrm>
          <a:prstGeom prst="rect">
            <a:avLst/>
          </a:prstGeom>
          <a:noFill/>
        </p:spPr>
        <p:txBody>
          <a:bodyPr wrap="square">
            <a:spAutoFit/>
          </a:bodyPr>
          <a:lstStyle/>
          <a:p>
            <a:pPr algn="ctr"/>
            <a:r>
              <a:rPr lang="ro-RO" sz="4000" dirty="0">
                <a:solidFill>
                  <a:srgbClr val="000000"/>
                </a:solidFill>
                <a:latin typeface="HelveticaNowDisplay Black" panose="020B0A04030202020204" pitchFamily="34" charset="0"/>
                <a:cs typeface="HelveticaNowDisplay Black" panose="020B0A04030202020204" pitchFamily="34" charset="0"/>
              </a:rPr>
              <a:t>UN PROIECT REALIZAT DE  DE</a:t>
            </a:r>
            <a:endParaRPr lang="ro-RO" sz="4000" dirty="0">
              <a:latin typeface="HelveticaNowDisplay Black" panose="020B0A04030202020204" pitchFamily="34" charset="0"/>
              <a:cs typeface="HelveticaNowDisplay Black" panose="020B0A04030202020204" pitchFamily="34" charset="0"/>
            </a:endParaRPr>
          </a:p>
        </p:txBody>
      </p:sp>
      <p:sp>
        <p:nvSpPr>
          <p:cNvPr id="4" name="TextBox 3">
            <a:extLst>
              <a:ext uri="{FF2B5EF4-FFF2-40B4-BE49-F238E27FC236}">
                <a16:creationId xmlns:a16="http://schemas.microsoft.com/office/drawing/2014/main" id="{A90872AB-73D2-82D4-9DC7-2D22093C164B}"/>
              </a:ext>
            </a:extLst>
          </p:cNvPr>
          <p:cNvSpPr txBox="1"/>
          <p:nvPr/>
        </p:nvSpPr>
        <p:spPr>
          <a:xfrm>
            <a:off x="4154318" y="2983280"/>
            <a:ext cx="3883362" cy="461665"/>
          </a:xfrm>
          <a:prstGeom prst="rect">
            <a:avLst/>
          </a:prstGeom>
          <a:noFill/>
        </p:spPr>
        <p:txBody>
          <a:bodyPr wrap="square">
            <a:spAutoFit/>
          </a:bodyPr>
          <a:lstStyle/>
          <a:p>
            <a:pPr algn="ctr"/>
            <a:r>
              <a:rPr lang="ro-RO" sz="2400" dirty="0">
                <a:solidFill>
                  <a:srgbClr val="000000"/>
                </a:solidFill>
                <a:latin typeface="HelveticaNowDisplay Black" panose="020B0A04030202020204" pitchFamily="34" charset="0"/>
                <a:cs typeface="HelveticaNowDisplay Black" panose="020B0A04030202020204" pitchFamily="34" charset="0"/>
              </a:rPr>
              <a:t>ECHIPA AI</a:t>
            </a:r>
            <a:endParaRPr lang="ro-RO" sz="2400" dirty="0">
              <a:latin typeface="HelveticaNowDisplay Black" panose="020B0A04030202020204" pitchFamily="34" charset="0"/>
              <a:cs typeface="HelveticaNowDisplay Black" panose="020B0A04030202020204" pitchFamily="34" charset="0"/>
            </a:endParaRPr>
          </a:p>
        </p:txBody>
      </p:sp>
      <p:sp>
        <p:nvSpPr>
          <p:cNvPr id="6" name="TextBox 5">
            <a:extLst>
              <a:ext uri="{FF2B5EF4-FFF2-40B4-BE49-F238E27FC236}">
                <a16:creationId xmlns:a16="http://schemas.microsoft.com/office/drawing/2014/main" id="{A0C32B72-95AB-ACA1-1414-D4332442D2A2}"/>
              </a:ext>
            </a:extLst>
          </p:cNvPr>
          <p:cNvSpPr txBox="1"/>
          <p:nvPr/>
        </p:nvSpPr>
        <p:spPr>
          <a:xfrm>
            <a:off x="4154318" y="4690449"/>
            <a:ext cx="3883362" cy="461665"/>
          </a:xfrm>
          <a:prstGeom prst="rect">
            <a:avLst/>
          </a:prstGeom>
          <a:noFill/>
        </p:spPr>
        <p:txBody>
          <a:bodyPr wrap="square">
            <a:spAutoFit/>
          </a:bodyPr>
          <a:lstStyle/>
          <a:p>
            <a:pPr algn="ctr"/>
            <a:r>
              <a:rPr lang="ro-RO" sz="2400" dirty="0">
                <a:solidFill>
                  <a:srgbClr val="000000"/>
                </a:solidFill>
                <a:latin typeface="HelveticaNowDisplay Black" panose="020B0A04030202020204" pitchFamily="34" charset="0"/>
                <a:cs typeface="HelveticaNowDisplay Black" panose="020B0A04030202020204" pitchFamily="34" charset="0"/>
              </a:rPr>
              <a:t>ECHIPA PPI</a:t>
            </a:r>
            <a:endParaRPr lang="ro-RO" sz="24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1416350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01F2-4ECE-B1C3-256C-235E134EC68B}"/>
            </a:ext>
          </a:extLst>
        </p:cNvPr>
        <p:cNvGrpSpPr/>
        <p:nvPr/>
      </p:nvGrpSpPr>
      <p:grpSpPr>
        <a:xfrm>
          <a:off x="0" y="0"/>
          <a:ext cx="0" cy="0"/>
          <a:chOff x="0" y="0"/>
          <a:chExt cx="0" cy="0"/>
        </a:xfrm>
      </p:grpSpPr>
      <p:pic>
        <p:nvPicPr>
          <p:cNvPr id="9" name="Picture 8" descr="A yellow light in a black background&#10;&#10;Description automatically generated">
            <a:extLst>
              <a:ext uri="{FF2B5EF4-FFF2-40B4-BE49-F238E27FC236}">
                <a16:creationId xmlns:a16="http://schemas.microsoft.com/office/drawing/2014/main" id="{6B97D58E-1826-CBC0-BC23-0487D9A176DC}"/>
              </a:ext>
            </a:extLst>
          </p:cNvPr>
          <p:cNvPicPr>
            <a:picLocks noGrp="1" noRot="1" noChangeAspect="1" noMove="1" noResize="1" noEditPoints="1" noAdjustHandles="1" noChangeArrowheads="1" noChangeShapeType="1" noCrop="1"/>
          </p:cNvPicPr>
          <p:nvPr/>
        </p:nvPicPr>
        <p:blipFill>
          <a:blip r:embed="rId3">
            <a:alphaModFix amt="68000"/>
            <a:extLst>
              <a:ext uri="{28A0092B-C50C-407E-A947-70E740481C1C}">
                <a14:useLocalDpi xmlns:a14="http://schemas.microsoft.com/office/drawing/2010/main" val="0"/>
              </a:ext>
            </a:extLst>
          </a:blip>
          <a:srcRect t="6626" b="6626"/>
          <a:stretch/>
        </p:blipFill>
        <p:spPr>
          <a:xfrm>
            <a:off x="0" y="-1"/>
            <a:ext cx="12192000" cy="6858001"/>
          </a:xfrm>
          <a:prstGeom prst="rect">
            <a:avLst/>
          </a:prstGeom>
        </p:spPr>
      </p:pic>
      <p:sp>
        <p:nvSpPr>
          <p:cNvPr id="2" name="TextBox 1">
            <a:extLst>
              <a:ext uri="{FF2B5EF4-FFF2-40B4-BE49-F238E27FC236}">
                <a16:creationId xmlns:a16="http://schemas.microsoft.com/office/drawing/2014/main" id="{EFEC1D9E-5731-5B94-46FC-5F1D156B18CB}"/>
              </a:ext>
            </a:extLst>
          </p:cNvPr>
          <p:cNvSpPr txBox="1"/>
          <p:nvPr/>
        </p:nvSpPr>
        <p:spPr>
          <a:xfrm>
            <a:off x="2875738" y="3760091"/>
            <a:ext cx="6440522" cy="707886"/>
          </a:xfrm>
          <a:prstGeom prst="rect">
            <a:avLst/>
          </a:prstGeom>
          <a:noFill/>
        </p:spPr>
        <p:txBody>
          <a:bodyPr wrap="square">
            <a:spAutoFit/>
          </a:bodyPr>
          <a:lstStyle/>
          <a:p>
            <a:pPr algn="ctr"/>
            <a:r>
              <a:rPr lang="it-IT" sz="2000" dirty="0">
                <a:solidFill>
                  <a:srgbClr val="000000"/>
                </a:solidFill>
                <a:latin typeface="HelveticaNowDisplay Regular" panose="020B0504030202020204" pitchFamily="34" charset="0"/>
                <a:cs typeface="HelveticaNowDisplay Regular" panose="020B0504030202020204" pitchFamily="34" charset="0"/>
              </a:rPr>
              <a:t>https://github.com/tudorverzes/GradiaAPI</a:t>
            </a:r>
            <a:endParaRPr lang="ro-RO" sz="2000" dirty="0">
              <a:solidFill>
                <a:srgbClr val="000000"/>
              </a:solidFill>
              <a:latin typeface="HelveticaNowDisplay Regular" panose="020B0504030202020204" pitchFamily="34" charset="0"/>
              <a:cs typeface="HelveticaNowDisplay Regular" panose="020B0504030202020204" pitchFamily="34" charset="0"/>
            </a:endParaRPr>
          </a:p>
          <a:p>
            <a:pPr algn="ctr"/>
            <a:r>
              <a:rPr lang="ro-RO" sz="2000" dirty="0">
                <a:latin typeface="HelveticaNowDisplay Regular" panose="020B0504030202020204" pitchFamily="34" charset="0"/>
                <a:cs typeface="HelveticaNowDisplay Regular" panose="020B0504030202020204" pitchFamily="34" charset="0"/>
              </a:rPr>
              <a:t>https://github.com/tudorverzes/GradiaFrontend</a:t>
            </a:r>
          </a:p>
        </p:txBody>
      </p:sp>
      <p:sp>
        <p:nvSpPr>
          <p:cNvPr id="3" name="TextBox 2">
            <a:extLst>
              <a:ext uri="{FF2B5EF4-FFF2-40B4-BE49-F238E27FC236}">
                <a16:creationId xmlns:a16="http://schemas.microsoft.com/office/drawing/2014/main" id="{5ED1557A-91B4-24FB-8EAF-33F842C39C8C}"/>
              </a:ext>
            </a:extLst>
          </p:cNvPr>
          <p:cNvSpPr txBox="1"/>
          <p:nvPr/>
        </p:nvSpPr>
        <p:spPr>
          <a:xfrm>
            <a:off x="2782484" y="2246856"/>
            <a:ext cx="6627030" cy="1323439"/>
          </a:xfrm>
          <a:prstGeom prst="rect">
            <a:avLst/>
          </a:prstGeom>
          <a:noFill/>
        </p:spPr>
        <p:txBody>
          <a:bodyPr wrap="square">
            <a:spAutoFit/>
          </a:bodyPr>
          <a:lstStyle/>
          <a:p>
            <a:pPr algn="ctr"/>
            <a:r>
              <a:rPr lang="ro-RO" sz="4000" dirty="0">
                <a:solidFill>
                  <a:srgbClr val="000000"/>
                </a:solidFill>
                <a:latin typeface="HelveticaNowDisplay Black" panose="020B0A04030202020204" pitchFamily="34" charset="0"/>
                <a:cs typeface="HelveticaNowDisplay Black" panose="020B0A04030202020204" pitchFamily="34" charset="0"/>
              </a:rPr>
              <a:t>EXPLORAȚI ÎN DETALIU PROIECTELE NOATRE</a:t>
            </a:r>
            <a:endParaRPr lang="ro-RO" sz="4000" dirty="0">
              <a:latin typeface="HelveticaNowDisplay Black" panose="020B0A04030202020204" pitchFamily="34" charset="0"/>
              <a:cs typeface="HelveticaNowDisplay Black" panose="020B0A04030202020204" pitchFamily="34" charset="0"/>
            </a:endParaRPr>
          </a:p>
        </p:txBody>
      </p:sp>
    </p:spTree>
    <p:extLst>
      <p:ext uri="{BB962C8B-B14F-4D97-AF65-F5344CB8AC3E}">
        <p14:creationId xmlns:p14="http://schemas.microsoft.com/office/powerpoint/2010/main" val="892372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DAAA7-A740-73EC-EEEB-EE1E35E7F6D1}"/>
            </a:ext>
          </a:extLst>
        </p:cNvPr>
        <p:cNvGrpSpPr/>
        <p:nvPr/>
      </p:nvGrpSpPr>
      <p:grpSpPr>
        <a:xfrm>
          <a:off x="0" y="0"/>
          <a:ext cx="0" cy="0"/>
          <a:chOff x="0" y="0"/>
          <a:chExt cx="0" cy="0"/>
        </a:xfrm>
      </p:grpSpPr>
    </p:spTree>
    <p:extLst>
      <p:ext uri="{BB962C8B-B14F-4D97-AF65-F5344CB8AC3E}">
        <p14:creationId xmlns:p14="http://schemas.microsoft.com/office/powerpoint/2010/main" val="4247520552"/>
      </p:ext>
    </p:extLst>
  </p:cSld>
  <p:clrMapOvr>
    <a:masterClrMapping/>
  </p:clrMapOvr>
  <p:transition spd="slow">
    <p:push dir="u"/>
  </p:transition>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8CD11230B6D248891328E9EA86E3FD" ma:contentTypeVersion="13" ma:contentTypeDescription="Create a new document." ma:contentTypeScope="" ma:versionID="967a42ea26a1170e388e78604e4be4a0">
  <xsd:schema xmlns:xsd="http://www.w3.org/2001/XMLSchema" xmlns:xs="http://www.w3.org/2001/XMLSchema" xmlns:p="http://schemas.microsoft.com/office/2006/metadata/properties" xmlns:ns2="6bfd097c-de7f-452a-9f51-d492e24fd8cf" xmlns:ns3="efb1789d-98cc-491e-820a-b5f4c63bbcf8" targetNamespace="http://schemas.microsoft.com/office/2006/metadata/properties" ma:root="true" ma:fieldsID="8dd754ca8372045a85587c933c344e61" ns2:_="" ns3:_="">
    <xsd:import namespace="6bfd097c-de7f-452a-9f51-d492e24fd8cf"/>
    <xsd:import namespace="efb1789d-98cc-491e-820a-b5f4c63bbcf8"/>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d097c-de7f-452a-9f51-d492e24fd8cf"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f85decb-1301-438d-8b3f-81c7864c2a9b"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fb1789d-98cc-491e-820a-b5f4c63bbcf8"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4120566-7fc5-44e3-b5b6-364880437d5c}" ma:internalName="TaxCatchAll" ma:showField="CatchAllData" ma:web="efb1789d-98cc-491e-820a-b5f4c63bbcf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6bfd097c-de7f-452a-9f51-d492e24fd8cf" xsi:nil="true"/>
    <TaxCatchAll xmlns="efb1789d-98cc-491e-820a-b5f4c63bbcf8" xsi:nil="true"/>
    <lcf76f155ced4ddcb4097134ff3c332f xmlns="6bfd097c-de7f-452a-9f51-d492e24fd8c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C0186B4-A9E5-4025-9599-1694AF1F613B}"/>
</file>

<file path=customXml/itemProps2.xml><?xml version="1.0" encoding="utf-8"?>
<ds:datastoreItem xmlns:ds="http://schemas.openxmlformats.org/officeDocument/2006/customXml" ds:itemID="{69152C6E-1D83-4AF6-8EFE-DB254B55F01E}"/>
</file>

<file path=customXml/itemProps3.xml><?xml version="1.0" encoding="utf-8"?>
<ds:datastoreItem xmlns:ds="http://schemas.openxmlformats.org/officeDocument/2006/customXml" ds:itemID="{F6B84604-C3A4-4AD6-AD7A-9C92EB7A4939}"/>
</file>

<file path=docProps/app.xml><?xml version="1.0" encoding="utf-8"?>
<Properties xmlns="http://schemas.openxmlformats.org/officeDocument/2006/extended-properties" xmlns:vt="http://schemas.openxmlformats.org/officeDocument/2006/docPropsVTypes">
  <TotalTime>242</TotalTime>
  <Words>1196</Words>
  <Application>Microsoft Office PowerPoint</Application>
  <PresentationFormat>Widescreen</PresentationFormat>
  <Paragraphs>107</Paragraphs>
  <Slides>20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Aptos Display</vt:lpstr>
      <vt:lpstr>Roboto</vt:lpstr>
      <vt:lpstr>Aptos</vt:lpstr>
      <vt:lpstr>HelveticaNowDisplay Black</vt:lpstr>
      <vt:lpstr>Google Sans Text</vt:lpstr>
      <vt:lpstr>Arial</vt:lpstr>
      <vt:lpstr>HelveticaNowDisplay Bold</vt:lpstr>
      <vt:lpstr>HelveticaNowDisplay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Tudor Verzeș</dc:creator>
  <cp:lastModifiedBy>Tudor Verzeș</cp:lastModifiedBy>
  <cp:revision>7</cp:revision>
  <dcterms:created xsi:type="dcterms:W3CDTF">2025-01-15T13:25:13Z</dcterms:created>
  <dcterms:modified xsi:type="dcterms:W3CDTF">2025-01-16T12:24:40Z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0x010100508CD11230B6D248891328E9EA86E3FD</vt:lpwstr>
  </property>
</Properties>
</file>