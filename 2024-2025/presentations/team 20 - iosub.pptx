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diagrams/layout3.xml" ContentType="application/vnd.openxmlformats-officedocument.drawingml.diagramLayout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olors1.xml" ContentType="application/vnd.ms-office.chartcolorstyle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6"/>
  </p:notesMasterIdLst>
  <p:sldIdLst>
    <p:sldId id="257" r:id="rId2"/>
    <p:sldId id="258" r:id="rId3"/>
    <p:sldId id="259" r:id="rId4"/>
    <p:sldId id="264" r:id="rId5"/>
    <p:sldId id="265" r:id="rId6"/>
    <p:sldId id="266" r:id="rId7"/>
    <p:sldId id="262" r:id="rId8"/>
    <p:sldId id="267" r:id="rId9"/>
    <p:sldId id="260" r:id="rId10"/>
    <p:sldId id="261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61" autoAdjust="0"/>
  </p:normalViewPr>
  <p:slideViewPr>
    <p:cSldViewPr snapToGrid="0">
      <p:cViewPr>
        <p:scale>
          <a:sx n="87" d="100"/>
          <a:sy n="87" d="100"/>
        </p:scale>
        <p:origin x="499" y="10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o-RO" noProof="0"/>
              <a:t>Venituri</a:t>
            </a:r>
            <a:r>
              <a:rPr lang="ro-RO" baseline="0" noProof="0"/>
              <a:t> si costuri estimate</a:t>
            </a:r>
            <a:endParaRPr lang="ro-RO" noProof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Infrastructura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Costuri</c:v>
                </c:pt>
                <c:pt idx="1">
                  <c:v>Venituri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2-4ED1-A22D-36C1DEEDF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Dezvoltare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Costuri</c:v>
                </c:pt>
                <c:pt idx="1">
                  <c:v>Venituri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C2-4ED1-A22D-36C1DEEDF0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Suport clienti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Costuri</c:v>
                </c:pt>
                <c:pt idx="1">
                  <c:v>Venituri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C2-4ED1-A22D-36C1DEEDF0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Abonamente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Costuri</c:v>
                </c:pt>
                <c:pt idx="1">
                  <c:v>Venituri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C2-4ED1-A22D-36C1DEEDF0E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Sesiuni rezervate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Costuri</c:v>
                </c:pt>
                <c:pt idx="1">
                  <c:v>Venituri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C2-4ED1-A22D-36C1DEEDF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868112351"/>
        <c:axId val="868111391"/>
      </c:barChart>
      <c:catAx>
        <c:axId val="868112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11391"/>
        <c:crosses val="autoZero"/>
        <c:auto val="1"/>
        <c:lblAlgn val="ctr"/>
        <c:lblOffset val="100"/>
        <c:noMultiLvlLbl val="0"/>
      </c:catAx>
      <c:valAx>
        <c:axId val="868111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12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64DA28-250D-4A60-9A63-968102AE7A8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1AC9C11-ED70-4D63-8537-105A1EB63CE6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ro-RO" sz="2000" dirty="0">
              <a:solidFill>
                <a:schemeClr val="accent1"/>
              </a:solidFill>
            </a:rPr>
            <a:t>Detectarea timpurie a stresului</a:t>
          </a:r>
          <a:endParaRPr lang="en-GB" sz="2000" dirty="0">
            <a:solidFill>
              <a:schemeClr val="accent1"/>
            </a:solidFill>
          </a:endParaRPr>
        </a:p>
      </dgm:t>
    </dgm:pt>
    <dgm:pt modelId="{44D629D4-60CB-4B21-B4B4-69483F2267A5}" type="parTrans" cxnId="{7914C8E1-5D9B-4E17-8162-B0D18D79EB39}">
      <dgm:prSet/>
      <dgm:spPr/>
      <dgm:t>
        <a:bodyPr/>
        <a:lstStyle/>
        <a:p>
          <a:endParaRPr lang="en-GB"/>
        </a:p>
      </dgm:t>
    </dgm:pt>
    <dgm:pt modelId="{F00C256E-6A95-42BA-AEEC-001DAB3FA251}" type="sibTrans" cxnId="{7914C8E1-5D9B-4E17-8162-B0D18D79EB39}">
      <dgm:prSet/>
      <dgm:spPr/>
      <dgm:t>
        <a:bodyPr/>
        <a:lstStyle/>
        <a:p>
          <a:endParaRPr lang="en-GB"/>
        </a:p>
      </dgm:t>
    </dgm:pt>
    <dgm:pt modelId="{71337A20-FACD-4E89-96E2-FA495289C928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ro-RO" sz="2000" dirty="0">
              <a:solidFill>
                <a:schemeClr val="accent1"/>
              </a:solidFill>
            </a:rPr>
            <a:t>Sfaturi personalizate pentru relaxare</a:t>
          </a:r>
          <a:endParaRPr lang="en-GB" sz="2000" dirty="0">
            <a:solidFill>
              <a:schemeClr val="accent1"/>
            </a:solidFill>
          </a:endParaRPr>
        </a:p>
      </dgm:t>
    </dgm:pt>
    <dgm:pt modelId="{2C5E098C-F5D3-4ABB-98C4-F4FBA1AE562D}" type="parTrans" cxnId="{1F1736E4-D831-454B-8C5C-127E3A2B455C}">
      <dgm:prSet/>
      <dgm:spPr/>
      <dgm:t>
        <a:bodyPr/>
        <a:lstStyle/>
        <a:p>
          <a:endParaRPr lang="en-GB"/>
        </a:p>
      </dgm:t>
    </dgm:pt>
    <dgm:pt modelId="{73A6B1DF-975B-4480-9A68-222651DB3B7C}" type="sibTrans" cxnId="{1F1736E4-D831-454B-8C5C-127E3A2B455C}">
      <dgm:prSet/>
      <dgm:spPr/>
      <dgm:t>
        <a:bodyPr/>
        <a:lstStyle/>
        <a:p>
          <a:endParaRPr lang="en-GB"/>
        </a:p>
      </dgm:t>
    </dgm:pt>
    <dgm:pt modelId="{6508B310-25AF-4BC9-8851-F731865AA499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ro-RO" sz="2000" dirty="0">
              <a:solidFill>
                <a:schemeClr val="accent1"/>
              </a:solidFill>
            </a:rPr>
            <a:t>Conectare cu un psiholog</a:t>
          </a:r>
          <a:endParaRPr lang="en-GB" sz="2000" dirty="0">
            <a:solidFill>
              <a:schemeClr val="accent1"/>
            </a:solidFill>
          </a:endParaRPr>
        </a:p>
      </dgm:t>
    </dgm:pt>
    <dgm:pt modelId="{546B25F1-674F-4CCE-B6A1-0E9A57352A68}" type="parTrans" cxnId="{3A19DF3E-C60E-4FF8-B304-D786C8B4101A}">
      <dgm:prSet/>
      <dgm:spPr/>
      <dgm:t>
        <a:bodyPr/>
        <a:lstStyle/>
        <a:p>
          <a:endParaRPr lang="en-GB"/>
        </a:p>
      </dgm:t>
    </dgm:pt>
    <dgm:pt modelId="{375BB4A7-3160-4CD7-B518-987A2B51A118}" type="sibTrans" cxnId="{3A19DF3E-C60E-4FF8-B304-D786C8B4101A}">
      <dgm:prSet/>
      <dgm:spPr/>
      <dgm:t>
        <a:bodyPr/>
        <a:lstStyle/>
        <a:p>
          <a:endParaRPr lang="en-GB"/>
        </a:p>
      </dgm:t>
    </dgm:pt>
    <dgm:pt modelId="{1C7B3ECD-633A-4E6C-B179-D9919910844F}" type="pres">
      <dgm:prSet presAssocID="{1964DA28-250D-4A60-9A63-968102AE7A8D}" presName="Name0" presStyleCnt="0">
        <dgm:presLayoutVars>
          <dgm:chMax val="7"/>
          <dgm:chPref val="7"/>
          <dgm:dir/>
        </dgm:presLayoutVars>
      </dgm:prSet>
      <dgm:spPr/>
    </dgm:pt>
    <dgm:pt modelId="{9319922F-6FF6-4D5D-AC40-6D1B7BD7D417}" type="pres">
      <dgm:prSet presAssocID="{1964DA28-250D-4A60-9A63-968102AE7A8D}" presName="Name1" presStyleCnt="0"/>
      <dgm:spPr/>
    </dgm:pt>
    <dgm:pt modelId="{B23BC02F-A232-40FD-9488-4BFEECC6BADA}" type="pres">
      <dgm:prSet presAssocID="{1964DA28-250D-4A60-9A63-968102AE7A8D}" presName="cycle" presStyleCnt="0"/>
      <dgm:spPr/>
    </dgm:pt>
    <dgm:pt modelId="{14807B21-5353-43C7-ADDF-E6F925AADBD8}" type="pres">
      <dgm:prSet presAssocID="{1964DA28-250D-4A60-9A63-968102AE7A8D}" presName="srcNode" presStyleLbl="node1" presStyleIdx="0" presStyleCnt="3"/>
      <dgm:spPr/>
    </dgm:pt>
    <dgm:pt modelId="{BB850346-4B17-456C-A543-65112A4C9FC4}" type="pres">
      <dgm:prSet presAssocID="{1964DA28-250D-4A60-9A63-968102AE7A8D}" presName="conn" presStyleLbl="parChTrans1D2" presStyleIdx="0" presStyleCnt="1"/>
      <dgm:spPr/>
    </dgm:pt>
    <dgm:pt modelId="{AD526F71-6311-4335-AD71-263A19416762}" type="pres">
      <dgm:prSet presAssocID="{1964DA28-250D-4A60-9A63-968102AE7A8D}" presName="extraNode" presStyleLbl="node1" presStyleIdx="0" presStyleCnt="3"/>
      <dgm:spPr/>
    </dgm:pt>
    <dgm:pt modelId="{BDC88F00-210B-4B8A-A1D1-1F95518766BF}" type="pres">
      <dgm:prSet presAssocID="{1964DA28-250D-4A60-9A63-968102AE7A8D}" presName="dstNode" presStyleLbl="node1" presStyleIdx="0" presStyleCnt="3"/>
      <dgm:spPr/>
    </dgm:pt>
    <dgm:pt modelId="{9EEDD7F8-FBA3-4578-B343-FD67EF93810D}" type="pres">
      <dgm:prSet presAssocID="{71AC9C11-ED70-4D63-8537-105A1EB63CE6}" presName="text_1" presStyleLbl="node1" presStyleIdx="0" presStyleCnt="3">
        <dgm:presLayoutVars>
          <dgm:bulletEnabled val="1"/>
        </dgm:presLayoutVars>
      </dgm:prSet>
      <dgm:spPr/>
    </dgm:pt>
    <dgm:pt modelId="{0B168DC7-CECD-45B2-8F3C-DA63ECB38D47}" type="pres">
      <dgm:prSet presAssocID="{71AC9C11-ED70-4D63-8537-105A1EB63CE6}" presName="accent_1" presStyleCnt="0"/>
      <dgm:spPr/>
    </dgm:pt>
    <dgm:pt modelId="{3D1AA39C-DED3-4D87-96F7-4737164C9FA8}" type="pres">
      <dgm:prSet presAssocID="{71AC9C11-ED70-4D63-8537-105A1EB63CE6}" presName="accentRepeatNode" presStyleLbl="solidFgAcc1" presStyleIdx="0" presStyleCnt="3"/>
      <dgm:spPr/>
    </dgm:pt>
    <dgm:pt modelId="{0F88171D-8A31-4F62-9441-1F64FB55E02C}" type="pres">
      <dgm:prSet presAssocID="{71337A20-FACD-4E89-96E2-FA495289C928}" presName="text_2" presStyleLbl="node1" presStyleIdx="1" presStyleCnt="3">
        <dgm:presLayoutVars>
          <dgm:bulletEnabled val="1"/>
        </dgm:presLayoutVars>
      </dgm:prSet>
      <dgm:spPr/>
    </dgm:pt>
    <dgm:pt modelId="{E97EB9C7-8CAA-4952-8954-6E9E52D00F27}" type="pres">
      <dgm:prSet presAssocID="{71337A20-FACD-4E89-96E2-FA495289C928}" presName="accent_2" presStyleCnt="0"/>
      <dgm:spPr/>
    </dgm:pt>
    <dgm:pt modelId="{B13AAC00-5629-4613-90B3-8B640D17954C}" type="pres">
      <dgm:prSet presAssocID="{71337A20-FACD-4E89-96E2-FA495289C928}" presName="accentRepeatNode" presStyleLbl="solidFgAcc1" presStyleIdx="1" presStyleCnt="3"/>
      <dgm:spPr/>
    </dgm:pt>
    <dgm:pt modelId="{E3DC77A4-9FA1-40D3-8141-89D081963FD6}" type="pres">
      <dgm:prSet presAssocID="{6508B310-25AF-4BC9-8851-F731865AA499}" presName="text_3" presStyleLbl="node1" presStyleIdx="2" presStyleCnt="3">
        <dgm:presLayoutVars>
          <dgm:bulletEnabled val="1"/>
        </dgm:presLayoutVars>
      </dgm:prSet>
      <dgm:spPr/>
    </dgm:pt>
    <dgm:pt modelId="{439DB616-FA22-473C-9D96-1E3275AA6704}" type="pres">
      <dgm:prSet presAssocID="{6508B310-25AF-4BC9-8851-F731865AA499}" presName="accent_3" presStyleCnt="0"/>
      <dgm:spPr/>
    </dgm:pt>
    <dgm:pt modelId="{F5C1C4A6-317C-4CD6-B788-CED0EF4427B3}" type="pres">
      <dgm:prSet presAssocID="{6508B310-25AF-4BC9-8851-F731865AA499}" presName="accentRepeatNode" presStyleLbl="solidFgAcc1" presStyleIdx="2" presStyleCnt="3"/>
      <dgm:spPr/>
    </dgm:pt>
  </dgm:ptLst>
  <dgm:cxnLst>
    <dgm:cxn modelId="{8B358C1B-7ED5-4ACE-928F-A044BB916C02}" type="presOf" srcId="{71337A20-FACD-4E89-96E2-FA495289C928}" destId="{0F88171D-8A31-4F62-9441-1F64FB55E02C}" srcOrd="0" destOrd="0" presId="urn:microsoft.com/office/officeart/2008/layout/VerticalCurvedList"/>
    <dgm:cxn modelId="{758FE722-B2DE-435F-92DD-AC6BE2C6B690}" type="presOf" srcId="{F00C256E-6A95-42BA-AEEC-001DAB3FA251}" destId="{BB850346-4B17-456C-A543-65112A4C9FC4}" srcOrd="0" destOrd="0" presId="urn:microsoft.com/office/officeart/2008/layout/VerticalCurvedList"/>
    <dgm:cxn modelId="{3A19DF3E-C60E-4FF8-B304-D786C8B4101A}" srcId="{1964DA28-250D-4A60-9A63-968102AE7A8D}" destId="{6508B310-25AF-4BC9-8851-F731865AA499}" srcOrd="2" destOrd="0" parTransId="{546B25F1-674F-4CCE-B6A1-0E9A57352A68}" sibTransId="{375BB4A7-3160-4CD7-B518-987A2B51A118}"/>
    <dgm:cxn modelId="{C0531C93-6FCD-4952-9143-882C9B9E8AD5}" type="presOf" srcId="{1964DA28-250D-4A60-9A63-968102AE7A8D}" destId="{1C7B3ECD-633A-4E6C-B179-D9919910844F}" srcOrd="0" destOrd="0" presId="urn:microsoft.com/office/officeart/2008/layout/VerticalCurvedList"/>
    <dgm:cxn modelId="{F370C7B1-53D8-4704-A49E-B0284D14B769}" type="presOf" srcId="{6508B310-25AF-4BC9-8851-F731865AA499}" destId="{E3DC77A4-9FA1-40D3-8141-89D081963FD6}" srcOrd="0" destOrd="0" presId="urn:microsoft.com/office/officeart/2008/layout/VerticalCurvedList"/>
    <dgm:cxn modelId="{720C11D5-173E-4C7E-A692-0449694CCA17}" type="presOf" srcId="{71AC9C11-ED70-4D63-8537-105A1EB63CE6}" destId="{9EEDD7F8-FBA3-4578-B343-FD67EF93810D}" srcOrd="0" destOrd="0" presId="urn:microsoft.com/office/officeart/2008/layout/VerticalCurvedList"/>
    <dgm:cxn modelId="{7914C8E1-5D9B-4E17-8162-B0D18D79EB39}" srcId="{1964DA28-250D-4A60-9A63-968102AE7A8D}" destId="{71AC9C11-ED70-4D63-8537-105A1EB63CE6}" srcOrd="0" destOrd="0" parTransId="{44D629D4-60CB-4B21-B4B4-69483F2267A5}" sibTransId="{F00C256E-6A95-42BA-AEEC-001DAB3FA251}"/>
    <dgm:cxn modelId="{1F1736E4-D831-454B-8C5C-127E3A2B455C}" srcId="{1964DA28-250D-4A60-9A63-968102AE7A8D}" destId="{71337A20-FACD-4E89-96E2-FA495289C928}" srcOrd="1" destOrd="0" parTransId="{2C5E098C-F5D3-4ABB-98C4-F4FBA1AE562D}" sibTransId="{73A6B1DF-975B-4480-9A68-222651DB3B7C}"/>
    <dgm:cxn modelId="{5BC7E968-DA31-4BDF-A67E-86731B6B6FB3}" type="presParOf" srcId="{1C7B3ECD-633A-4E6C-B179-D9919910844F}" destId="{9319922F-6FF6-4D5D-AC40-6D1B7BD7D417}" srcOrd="0" destOrd="0" presId="urn:microsoft.com/office/officeart/2008/layout/VerticalCurvedList"/>
    <dgm:cxn modelId="{4C15F232-B4AD-4A8D-B279-9ADF751476D5}" type="presParOf" srcId="{9319922F-6FF6-4D5D-AC40-6D1B7BD7D417}" destId="{B23BC02F-A232-40FD-9488-4BFEECC6BADA}" srcOrd="0" destOrd="0" presId="urn:microsoft.com/office/officeart/2008/layout/VerticalCurvedList"/>
    <dgm:cxn modelId="{946B9F7B-8721-489D-8357-DDEA4D9A90C4}" type="presParOf" srcId="{B23BC02F-A232-40FD-9488-4BFEECC6BADA}" destId="{14807B21-5353-43C7-ADDF-E6F925AADBD8}" srcOrd="0" destOrd="0" presId="urn:microsoft.com/office/officeart/2008/layout/VerticalCurvedList"/>
    <dgm:cxn modelId="{404403F3-BDC5-447E-81A0-AFF913CA4F79}" type="presParOf" srcId="{B23BC02F-A232-40FD-9488-4BFEECC6BADA}" destId="{BB850346-4B17-456C-A543-65112A4C9FC4}" srcOrd="1" destOrd="0" presId="urn:microsoft.com/office/officeart/2008/layout/VerticalCurvedList"/>
    <dgm:cxn modelId="{7412BF5D-3B11-489C-9067-A03B03DFD3D8}" type="presParOf" srcId="{B23BC02F-A232-40FD-9488-4BFEECC6BADA}" destId="{AD526F71-6311-4335-AD71-263A19416762}" srcOrd="2" destOrd="0" presId="urn:microsoft.com/office/officeart/2008/layout/VerticalCurvedList"/>
    <dgm:cxn modelId="{6F156BA5-A0BA-49C8-BEB3-ACF9C4F18AD6}" type="presParOf" srcId="{B23BC02F-A232-40FD-9488-4BFEECC6BADA}" destId="{BDC88F00-210B-4B8A-A1D1-1F95518766BF}" srcOrd="3" destOrd="0" presId="urn:microsoft.com/office/officeart/2008/layout/VerticalCurvedList"/>
    <dgm:cxn modelId="{B10D3B3E-2868-4074-A74B-799A22FA9D54}" type="presParOf" srcId="{9319922F-6FF6-4D5D-AC40-6D1B7BD7D417}" destId="{9EEDD7F8-FBA3-4578-B343-FD67EF93810D}" srcOrd="1" destOrd="0" presId="urn:microsoft.com/office/officeart/2008/layout/VerticalCurvedList"/>
    <dgm:cxn modelId="{478765F7-7BF2-4EA6-9D33-86ABD72E2AF3}" type="presParOf" srcId="{9319922F-6FF6-4D5D-AC40-6D1B7BD7D417}" destId="{0B168DC7-CECD-45B2-8F3C-DA63ECB38D47}" srcOrd="2" destOrd="0" presId="urn:microsoft.com/office/officeart/2008/layout/VerticalCurvedList"/>
    <dgm:cxn modelId="{A028705F-85B5-4E30-A46C-E24247A616D7}" type="presParOf" srcId="{0B168DC7-CECD-45B2-8F3C-DA63ECB38D47}" destId="{3D1AA39C-DED3-4D87-96F7-4737164C9FA8}" srcOrd="0" destOrd="0" presId="urn:microsoft.com/office/officeart/2008/layout/VerticalCurvedList"/>
    <dgm:cxn modelId="{AAC6E351-2CFF-4039-895B-AEE4D6B7D990}" type="presParOf" srcId="{9319922F-6FF6-4D5D-AC40-6D1B7BD7D417}" destId="{0F88171D-8A31-4F62-9441-1F64FB55E02C}" srcOrd="3" destOrd="0" presId="urn:microsoft.com/office/officeart/2008/layout/VerticalCurvedList"/>
    <dgm:cxn modelId="{A0DA02BA-25AE-4ABC-B6A3-4A392774F083}" type="presParOf" srcId="{9319922F-6FF6-4D5D-AC40-6D1B7BD7D417}" destId="{E97EB9C7-8CAA-4952-8954-6E9E52D00F27}" srcOrd="4" destOrd="0" presId="urn:microsoft.com/office/officeart/2008/layout/VerticalCurvedList"/>
    <dgm:cxn modelId="{480D3C6C-1367-49BE-86B7-A0503AD371D0}" type="presParOf" srcId="{E97EB9C7-8CAA-4952-8954-6E9E52D00F27}" destId="{B13AAC00-5629-4613-90B3-8B640D17954C}" srcOrd="0" destOrd="0" presId="urn:microsoft.com/office/officeart/2008/layout/VerticalCurvedList"/>
    <dgm:cxn modelId="{1BB67949-7C91-4884-843D-CE498A7182C6}" type="presParOf" srcId="{9319922F-6FF6-4D5D-AC40-6D1B7BD7D417}" destId="{E3DC77A4-9FA1-40D3-8141-89D081963FD6}" srcOrd="5" destOrd="0" presId="urn:microsoft.com/office/officeart/2008/layout/VerticalCurvedList"/>
    <dgm:cxn modelId="{FF8671B0-3CB4-4F6A-9F0B-7E5BD106E22C}" type="presParOf" srcId="{9319922F-6FF6-4D5D-AC40-6D1B7BD7D417}" destId="{439DB616-FA22-473C-9D96-1E3275AA6704}" srcOrd="6" destOrd="0" presId="urn:microsoft.com/office/officeart/2008/layout/VerticalCurvedList"/>
    <dgm:cxn modelId="{ABE14916-36BB-426E-8999-85048B822610}" type="presParOf" srcId="{439DB616-FA22-473C-9D96-1E3275AA6704}" destId="{F5C1C4A6-317C-4CD6-B788-CED0EF4427B3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5243E5-0555-4B07-919A-0A643ED07E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33BDD78-D876-4855-90E4-9C0C02D2B80F}">
      <dgm:prSet phldrT="[Text]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ro-RO" b="1" dirty="0">
              <a:solidFill>
                <a:schemeClr val="accent1"/>
              </a:solidFill>
            </a:rPr>
            <a:t>Detectarea stresului în timp real</a:t>
          </a:r>
          <a:endParaRPr lang="en-GB" b="1" dirty="0">
            <a:solidFill>
              <a:schemeClr val="accent1"/>
            </a:solidFill>
          </a:endParaRPr>
        </a:p>
      </dgm:t>
    </dgm:pt>
    <dgm:pt modelId="{AB01E3F7-6665-4FF9-B4AE-63A2E29A8EE4}" type="parTrans" cxnId="{BEC98709-58A9-40E2-BBF5-B7A4EF0A8AF2}">
      <dgm:prSet/>
      <dgm:spPr/>
      <dgm:t>
        <a:bodyPr/>
        <a:lstStyle/>
        <a:p>
          <a:endParaRPr lang="en-GB"/>
        </a:p>
      </dgm:t>
    </dgm:pt>
    <dgm:pt modelId="{86D49BD4-39FF-4EAE-A66F-07CD2401A5AD}" type="sibTrans" cxnId="{BEC98709-58A9-40E2-BBF5-B7A4EF0A8AF2}">
      <dgm:prSet/>
      <dgm:spPr/>
      <dgm:t>
        <a:bodyPr/>
        <a:lstStyle/>
        <a:p>
          <a:endParaRPr lang="en-GB"/>
        </a:p>
      </dgm:t>
    </dgm:pt>
    <dgm:pt modelId="{31405659-A6A4-4D5A-B8E8-31DAEC1BD09D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Simulare integrare cu dispozitive purtabile</a:t>
          </a:r>
          <a:endParaRPr lang="en-GB" dirty="0"/>
        </a:p>
      </dgm:t>
    </dgm:pt>
    <dgm:pt modelId="{C400A57C-F0FA-48A8-BAD3-128FFBBAAC16}" type="parTrans" cxnId="{27625792-C2CE-418E-AE7E-12F2DB598B7E}">
      <dgm:prSet/>
      <dgm:spPr/>
      <dgm:t>
        <a:bodyPr/>
        <a:lstStyle/>
        <a:p>
          <a:endParaRPr lang="en-GB"/>
        </a:p>
      </dgm:t>
    </dgm:pt>
    <dgm:pt modelId="{987E5D44-BCCD-462E-AABA-5A23C3E10A02}" type="sibTrans" cxnId="{27625792-C2CE-418E-AE7E-12F2DB598B7E}">
      <dgm:prSet/>
      <dgm:spPr/>
      <dgm:t>
        <a:bodyPr/>
        <a:lstStyle/>
        <a:p>
          <a:endParaRPr lang="en-GB"/>
        </a:p>
      </dgm:t>
    </dgm:pt>
    <dgm:pt modelId="{1F07BB9F-63CB-4B1B-A385-FA6E0A48A541}">
      <dgm:prSet phldrT="[Text]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ro-RO" b="1" dirty="0">
              <a:solidFill>
                <a:schemeClr val="accent1"/>
              </a:solidFill>
            </a:rPr>
            <a:t>Sfaturi personalizate</a:t>
          </a:r>
          <a:endParaRPr lang="en-GB" b="1" dirty="0">
            <a:solidFill>
              <a:schemeClr val="accent1"/>
            </a:solidFill>
          </a:endParaRPr>
        </a:p>
      </dgm:t>
    </dgm:pt>
    <dgm:pt modelId="{6D39D40C-8D08-4399-98FA-918DB18D4C9F}" type="parTrans" cxnId="{BFD39A70-4A35-4628-9B82-2C9F00B99D10}">
      <dgm:prSet/>
      <dgm:spPr/>
      <dgm:t>
        <a:bodyPr/>
        <a:lstStyle/>
        <a:p>
          <a:endParaRPr lang="en-GB"/>
        </a:p>
      </dgm:t>
    </dgm:pt>
    <dgm:pt modelId="{A5A1C2EC-1EE3-4AAA-BC3B-133F7458A08A}" type="sibTrans" cxnId="{BFD39A70-4A35-4628-9B82-2C9F00B99D10}">
      <dgm:prSet/>
      <dgm:spPr/>
      <dgm:t>
        <a:bodyPr/>
        <a:lstStyle/>
        <a:p>
          <a:endParaRPr lang="en-GB"/>
        </a:p>
      </dgm:t>
    </dgm:pt>
    <dgm:pt modelId="{F5F158D3-3261-488F-8C82-DB0B5489FDFA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Recomandări generate în timp real </a:t>
          </a:r>
          <a:endParaRPr lang="en-GB" dirty="0"/>
        </a:p>
      </dgm:t>
    </dgm:pt>
    <dgm:pt modelId="{58A28FF6-7AD9-489B-9CBE-6EF6577F3F6E}" type="parTrans" cxnId="{DC0903C7-6FAB-471C-A845-D4AE6E7A6FAD}">
      <dgm:prSet/>
      <dgm:spPr/>
      <dgm:t>
        <a:bodyPr/>
        <a:lstStyle/>
        <a:p>
          <a:endParaRPr lang="en-GB"/>
        </a:p>
      </dgm:t>
    </dgm:pt>
    <dgm:pt modelId="{3D1DB367-0B8C-402E-9973-AF91C94F570B}" type="sibTrans" cxnId="{DC0903C7-6FAB-471C-A845-D4AE6E7A6FAD}">
      <dgm:prSet/>
      <dgm:spPr/>
      <dgm:t>
        <a:bodyPr/>
        <a:lstStyle/>
        <a:p>
          <a:endParaRPr lang="en-GB"/>
        </a:p>
      </dgm:t>
    </dgm:pt>
    <dgm:pt modelId="{A00369EE-32AB-4EE1-A566-615DC6B7274F}">
      <dgm:prSet phldrT="[Text]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ro-RO" b="1" dirty="0">
              <a:solidFill>
                <a:schemeClr val="accent1"/>
              </a:solidFill>
            </a:rPr>
            <a:t>Interfață intuitivă</a:t>
          </a:r>
          <a:endParaRPr lang="en-GB" b="1" dirty="0">
            <a:solidFill>
              <a:schemeClr val="accent1"/>
            </a:solidFill>
          </a:endParaRPr>
        </a:p>
      </dgm:t>
    </dgm:pt>
    <dgm:pt modelId="{DA9F0090-5E24-47FE-B61E-AB0AE21AC383}" type="parTrans" cxnId="{92384193-ACA5-414E-A4E5-854B04CF6EE2}">
      <dgm:prSet/>
      <dgm:spPr/>
      <dgm:t>
        <a:bodyPr/>
        <a:lstStyle/>
        <a:p>
          <a:endParaRPr lang="en-GB"/>
        </a:p>
      </dgm:t>
    </dgm:pt>
    <dgm:pt modelId="{F9AC7ECB-D70C-4E32-AF8B-DB4EB799A262}" type="sibTrans" cxnId="{92384193-ACA5-414E-A4E5-854B04CF6EE2}">
      <dgm:prSet/>
      <dgm:spPr/>
      <dgm:t>
        <a:bodyPr/>
        <a:lstStyle/>
        <a:p>
          <a:endParaRPr lang="en-GB"/>
        </a:p>
      </dgm:t>
    </dgm:pt>
    <dgm:pt modelId="{5902409B-B919-4383-9F27-BAEC0B8E4715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Expo React Native</a:t>
          </a:r>
          <a:endParaRPr lang="en-GB" dirty="0"/>
        </a:p>
      </dgm:t>
    </dgm:pt>
    <dgm:pt modelId="{A518E1EA-DDF5-4F4D-B5B7-BF88F2F31953}" type="parTrans" cxnId="{5172C9C3-74EE-4210-8AA5-A57972E55500}">
      <dgm:prSet/>
      <dgm:spPr/>
      <dgm:t>
        <a:bodyPr/>
        <a:lstStyle/>
        <a:p>
          <a:endParaRPr lang="en-GB"/>
        </a:p>
      </dgm:t>
    </dgm:pt>
    <dgm:pt modelId="{33F828C0-1D48-4AA4-A752-8B8EBBC4F98F}" type="sibTrans" cxnId="{5172C9C3-74EE-4210-8AA5-A57972E55500}">
      <dgm:prSet/>
      <dgm:spPr/>
      <dgm:t>
        <a:bodyPr/>
        <a:lstStyle/>
        <a:p>
          <a:endParaRPr lang="en-GB"/>
        </a:p>
      </dgm:t>
    </dgm:pt>
    <dgm:pt modelId="{7F7A0A49-531D-4C70-8340-0209D5C2105C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Algoritm AI pentru analiza stresului</a:t>
          </a:r>
          <a:endParaRPr lang="en-GB" dirty="0"/>
        </a:p>
      </dgm:t>
    </dgm:pt>
    <dgm:pt modelId="{E1D1BF01-77B6-4733-8B94-1CEE6E3BB24D}" type="parTrans" cxnId="{23352EFC-46DB-4285-86EE-A3E3FF1D3D55}">
      <dgm:prSet/>
      <dgm:spPr/>
      <dgm:t>
        <a:bodyPr/>
        <a:lstStyle/>
        <a:p>
          <a:endParaRPr lang="en-GB"/>
        </a:p>
      </dgm:t>
    </dgm:pt>
    <dgm:pt modelId="{49C657A2-23DF-4584-8455-B06418CD46FA}" type="sibTrans" cxnId="{23352EFC-46DB-4285-86EE-A3E3FF1D3D55}">
      <dgm:prSet/>
      <dgm:spPr/>
      <dgm:t>
        <a:bodyPr/>
        <a:lstStyle/>
        <a:p>
          <a:endParaRPr lang="en-GB"/>
        </a:p>
      </dgm:t>
    </dgm:pt>
    <dgm:pt modelId="{58368587-1A29-49D9-850D-F5CB996114FE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Integrare cu API cu GPT-4 pentru soluții adaptate utilizatorilor</a:t>
          </a:r>
          <a:endParaRPr lang="en-GB" dirty="0"/>
        </a:p>
      </dgm:t>
    </dgm:pt>
    <dgm:pt modelId="{FF02E60C-52A2-4701-9130-9B4B4B7236BA}" type="parTrans" cxnId="{DAC14F06-60C1-4789-83D6-14FFD69F798B}">
      <dgm:prSet/>
      <dgm:spPr/>
      <dgm:t>
        <a:bodyPr/>
        <a:lstStyle/>
        <a:p>
          <a:endParaRPr lang="en-GB"/>
        </a:p>
      </dgm:t>
    </dgm:pt>
    <dgm:pt modelId="{5F16D4F2-3CC7-419C-B326-F87428095DE1}" type="sibTrans" cxnId="{DAC14F06-60C1-4789-83D6-14FFD69F798B}">
      <dgm:prSet/>
      <dgm:spPr/>
      <dgm:t>
        <a:bodyPr/>
        <a:lstStyle/>
        <a:p>
          <a:endParaRPr lang="en-GB"/>
        </a:p>
      </dgm:t>
    </dgm:pt>
    <dgm:pt modelId="{D2617A6F-6787-4A88-AF4A-6311D3018B17}">
      <dgm:prSet phldrT="[Text]"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r>
            <a:rPr lang="ro-RO" dirty="0"/>
            <a:t>Compatibilă cu Android și IOS</a:t>
          </a:r>
          <a:endParaRPr lang="en-GB" dirty="0"/>
        </a:p>
      </dgm:t>
    </dgm:pt>
    <dgm:pt modelId="{32E8C657-09EF-4457-AFB4-4EE609787488}" type="parTrans" cxnId="{227C048D-136F-4B2D-A871-0D3093E20C2B}">
      <dgm:prSet/>
      <dgm:spPr/>
      <dgm:t>
        <a:bodyPr/>
        <a:lstStyle/>
        <a:p>
          <a:endParaRPr lang="en-GB"/>
        </a:p>
      </dgm:t>
    </dgm:pt>
    <dgm:pt modelId="{C1B6684B-B266-496F-B47B-6A381EA3BACB}" type="sibTrans" cxnId="{227C048D-136F-4B2D-A871-0D3093E20C2B}">
      <dgm:prSet/>
      <dgm:spPr/>
      <dgm:t>
        <a:bodyPr/>
        <a:lstStyle/>
        <a:p>
          <a:endParaRPr lang="en-GB"/>
        </a:p>
      </dgm:t>
    </dgm:pt>
    <dgm:pt modelId="{DE752D2E-467D-4BC6-B632-7FE417226E56}" type="pres">
      <dgm:prSet presAssocID="{1D5243E5-0555-4B07-919A-0A643ED07EB9}" presName="Name0" presStyleCnt="0">
        <dgm:presLayoutVars>
          <dgm:dir/>
          <dgm:animLvl val="lvl"/>
          <dgm:resizeHandles val="exact"/>
        </dgm:presLayoutVars>
      </dgm:prSet>
      <dgm:spPr/>
    </dgm:pt>
    <dgm:pt modelId="{993E2D86-99CD-4028-AAB3-C0BA6EF4A71A}" type="pres">
      <dgm:prSet presAssocID="{833BDD78-D876-4855-90E4-9C0C02D2B80F}" presName="composite" presStyleCnt="0"/>
      <dgm:spPr/>
    </dgm:pt>
    <dgm:pt modelId="{1C9F3362-34B8-46E4-9D78-67201A11E099}" type="pres">
      <dgm:prSet presAssocID="{833BDD78-D876-4855-90E4-9C0C02D2B80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C085154-5E81-4777-8693-DB6877834C1C}" type="pres">
      <dgm:prSet presAssocID="{833BDD78-D876-4855-90E4-9C0C02D2B80F}" presName="desTx" presStyleLbl="alignAccFollowNode1" presStyleIdx="0" presStyleCnt="3">
        <dgm:presLayoutVars>
          <dgm:bulletEnabled val="1"/>
        </dgm:presLayoutVars>
      </dgm:prSet>
      <dgm:spPr/>
    </dgm:pt>
    <dgm:pt modelId="{CA64E0A3-7A83-4D13-A277-8371A8B6BB03}" type="pres">
      <dgm:prSet presAssocID="{86D49BD4-39FF-4EAE-A66F-07CD2401A5AD}" presName="space" presStyleCnt="0"/>
      <dgm:spPr/>
    </dgm:pt>
    <dgm:pt modelId="{F34CA058-BC55-4354-A757-D33250F3998E}" type="pres">
      <dgm:prSet presAssocID="{1F07BB9F-63CB-4B1B-A385-FA6E0A48A541}" presName="composite" presStyleCnt="0"/>
      <dgm:spPr/>
    </dgm:pt>
    <dgm:pt modelId="{DCAF7933-10DF-47D6-A6FE-169B10B6755F}" type="pres">
      <dgm:prSet presAssocID="{1F07BB9F-63CB-4B1B-A385-FA6E0A48A54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C08F655-E4EB-4EA3-836C-F7F2620C6462}" type="pres">
      <dgm:prSet presAssocID="{1F07BB9F-63CB-4B1B-A385-FA6E0A48A541}" presName="desTx" presStyleLbl="alignAccFollowNode1" presStyleIdx="1" presStyleCnt="3">
        <dgm:presLayoutVars>
          <dgm:bulletEnabled val="1"/>
        </dgm:presLayoutVars>
      </dgm:prSet>
      <dgm:spPr/>
    </dgm:pt>
    <dgm:pt modelId="{69735FA5-37EB-4BA1-8256-E622F942A838}" type="pres">
      <dgm:prSet presAssocID="{A5A1C2EC-1EE3-4AAA-BC3B-133F7458A08A}" presName="space" presStyleCnt="0"/>
      <dgm:spPr/>
    </dgm:pt>
    <dgm:pt modelId="{FFB754BA-F1D5-43EA-AA0F-CF184AA5C77A}" type="pres">
      <dgm:prSet presAssocID="{A00369EE-32AB-4EE1-A566-615DC6B7274F}" presName="composite" presStyleCnt="0"/>
      <dgm:spPr/>
    </dgm:pt>
    <dgm:pt modelId="{73892858-F4BD-40A1-BBF3-62B0C19B516A}" type="pres">
      <dgm:prSet presAssocID="{A00369EE-32AB-4EE1-A566-615DC6B7274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CD91251-42FD-479E-9B94-630C608A0565}" type="pres">
      <dgm:prSet presAssocID="{A00369EE-32AB-4EE1-A566-615DC6B7274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AC14F06-60C1-4789-83D6-14FFD69F798B}" srcId="{1F07BB9F-63CB-4B1B-A385-FA6E0A48A541}" destId="{58368587-1A29-49D9-850D-F5CB996114FE}" srcOrd="1" destOrd="0" parTransId="{FF02E60C-52A2-4701-9130-9B4B4B7236BA}" sibTransId="{5F16D4F2-3CC7-419C-B326-F87428095DE1}"/>
    <dgm:cxn modelId="{BEC98709-58A9-40E2-BBF5-B7A4EF0A8AF2}" srcId="{1D5243E5-0555-4B07-919A-0A643ED07EB9}" destId="{833BDD78-D876-4855-90E4-9C0C02D2B80F}" srcOrd="0" destOrd="0" parTransId="{AB01E3F7-6665-4FF9-B4AE-63A2E29A8EE4}" sibTransId="{86D49BD4-39FF-4EAE-A66F-07CD2401A5AD}"/>
    <dgm:cxn modelId="{744AE717-CD3B-4CF8-B928-FC08950DBDDE}" type="presOf" srcId="{7F7A0A49-531D-4C70-8340-0209D5C2105C}" destId="{DC085154-5E81-4777-8693-DB6877834C1C}" srcOrd="0" destOrd="1" presId="urn:microsoft.com/office/officeart/2005/8/layout/hList1"/>
    <dgm:cxn modelId="{90AAE62D-786B-449E-ADF6-0ADDDC619E15}" type="presOf" srcId="{5902409B-B919-4383-9F27-BAEC0B8E4715}" destId="{DCD91251-42FD-479E-9B94-630C608A0565}" srcOrd="0" destOrd="0" presId="urn:microsoft.com/office/officeart/2005/8/layout/hList1"/>
    <dgm:cxn modelId="{CF2D0762-44D1-4069-9E15-AE87960118A6}" type="presOf" srcId="{A00369EE-32AB-4EE1-A566-615DC6B7274F}" destId="{73892858-F4BD-40A1-BBF3-62B0C19B516A}" srcOrd="0" destOrd="0" presId="urn:microsoft.com/office/officeart/2005/8/layout/hList1"/>
    <dgm:cxn modelId="{CA2F8F4C-04F4-406A-8ED9-3A515803C75C}" type="presOf" srcId="{31405659-A6A4-4D5A-B8E8-31DAEC1BD09D}" destId="{DC085154-5E81-4777-8693-DB6877834C1C}" srcOrd="0" destOrd="0" presId="urn:microsoft.com/office/officeart/2005/8/layout/hList1"/>
    <dgm:cxn modelId="{BFD39A70-4A35-4628-9B82-2C9F00B99D10}" srcId="{1D5243E5-0555-4B07-919A-0A643ED07EB9}" destId="{1F07BB9F-63CB-4B1B-A385-FA6E0A48A541}" srcOrd="1" destOrd="0" parTransId="{6D39D40C-8D08-4399-98FA-918DB18D4C9F}" sibTransId="{A5A1C2EC-1EE3-4AAA-BC3B-133F7458A08A}"/>
    <dgm:cxn modelId="{CBD19179-B143-484F-85ED-5A46606811D3}" type="presOf" srcId="{D2617A6F-6787-4A88-AF4A-6311D3018B17}" destId="{DCD91251-42FD-479E-9B94-630C608A0565}" srcOrd="0" destOrd="1" presId="urn:microsoft.com/office/officeart/2005/8/layout/hList1"/>
    <dgm:cxn modelId="{227C048D-136F-4B2D-A871-0D3093E20C2B}" srcId="{A00369EE-32AB-4EE1-A566-615DC6B7274F}" destId="{D2617A6F-6787-4A88-AF4A-6311D3018B17}" srcOrd="1" destOrd="0" parTransId="{32E8C657-09EF-4457-AFB4-4EE609787488}" sibTransId="{C1B6684B-B266-496F-B47B-6A381EA3BACB}"/>
    <dgm:cxn modelId="{27625792-C2CE-418E-AE7E-12F2DB598B7E}" srcId="{833BDD78-D876-4855-90E4-9C0C02D2B80F}" destId="{31405659-A6A4-4D5A-B8E8-31DAEC1BD09D}" srcOrd="0" destOrd="0" parTransId="{C400A57C-F0FA-48A8-BAD3-128FFBBAAC16}" sibTransId="{987E5D44-BCCD-462E-AABA-5A23C3E10A02}"/>
    <dgm:cxn modelId="{92384193-ACA5-414E-A4E5-854B04CF6EE2}" srcId="{1D5243E5-0555-4B07-919A-0A643ED07EB9}" destId="{A00369EE-32AB-4EE1-A566-615DC6B7274F}" srcOrd="2" destOrd="0" parTransId="{DA9F0090-5E24-47FE-B61E-AB0AE21AC383}" sibTransId="{F9AC7ECB-D70C-4E32-AF8B-DB4EB799A262}"/>
    <dgm:cxn modelId="{6DD602B9-5557-4C41-8043-C1AD2FDD6019}" type="presOf" srcId="{F5F158D3-3261-488F-8C82-DB0B5489FDFA}" destId="{EC08F655-E4EB-4EA3-836C-F7F2620C6462}" srcOrd="0" destOrd="0" presId="urn:microsoft.com/office/officeart/2005/8/layout/hList1"/>
    <dgm:cxn modelId="{5172C9C3-74EE-4210-8AA5-A57972E55500}" srcId="{A00369EE-32AB-4EE1-A566-615DC6B7274F}" destId="{5902409B-B919-4383-9F27-BAEC0B8E4715}" srcOrd="0" destOrd="0" parTransId="{A518E1EA-DDF5-4F4D-B5B7-BF88F2F31953}" sibTransId="{33F828C0-1D48-4AA4-A752-8B8EBBC4F98F}"/>
    <dgm:cxn modelId="{1EE594C5-9AAE-46B0-A141-A387733D9D6D}" type="presOf" srcId="{58368587-1A29-49D9-850D-F5CB996114FE}" destId="{EC08F655-E4EB-4EA3-836C-F7F2620C6462}" srcOrd="0" destOrd="1" presId="urn:microsoft.com/office/officeart/2005/8/layout/hList1"/>
    <dgm:cxn modelId="{DC0903C7-6FAB-471C-A845-D4AE6E7A6FAD}" srcId="{1F07BB9F-63CB-4B1B-A385-FA6E0A48A541}" destId="{F5F158D3-3261-488F-8C82-DB0B5489FDFA}" srcOrd="0" destOrd="0" parTransId="{58A28FF6-7AD9-489B-9CBE-6EF6577F3F6E}" sibTransId="{3D1DB367-0B8C-402E-9973-AF91C94F570B}"/>
    <dgm:cxn modelId="{6015E2CA-1265-4595-BC20-0E248B88C40B}" type="presOf" srcId="{833BDD78-D876-4855-90E4-9C0C02D2B80F}" destId="{1C9F3362-34B8-46E4-9D78-67201A11E099}" srcOrd="0" destOrd="0" presId="urn:microsoft.com/office/officeart/2005/8/layout/hList1"/>
    <dgm:cxn modelId="{A52E96DF-AA9C-40FE-B815-0B48A52960A5}" type="presOf" srcId="{1D5243E5-0555-4B07-919A-0A643ED07EB9}" destId="{DE752D2E-467D-4BC6-B632-7FE417226E56}" srcOrd="0" destOrd="0" presId="urn:microsoft.com/office/officeart/2005/8/layout/hList1"/>
    <dgm:cxn modelId="{23352EFC-46DB-4285-86EE-A3E3FF1D3D55}" srcId="{833BDD78-D876-4855-90E4-9C0C02D2B80F}" destId="{7F7A0A49-531D-4C70-8340-0209D5C2105C}" srcOrd="1" destOrd="0" parTransId="{E1D1BF01-77B6-4733-8B94-1CEE6E3BB24D}" sibTransId="{49C657A2-23DF-4584-8455-B06418CD46FA}"/>
    <dgm:cxn modelId="{5A6A41FD-125E-4249-A2AD-1ECACBA4F243}" type="presOf" srcId="{1F07BB9F-63CB-4B1B-A385-FA6E0A48A541}" destId="{DCAF7933-10DF-47D6-A6FE-169B10B6755F}" srcOrd="0" destOrd="0" presId="urn:microsoft.com/office/officeart/2005/8/layout/hList1"/>
    <dgm:cxn modelId="{8982A063-A737-40D4-9087-2D728D1E7BC7}" type="presParOf" srcId="{DE752D2E-467D-4BC6-B632-7FE417226E56}" destId="{993E2D86-99CD-4028-AAB3-C0BA6EF4A71A}" srcOrd="0" destOrd="0" presId="urn:microsoft.com/office/officeart/2005/8/layout/hList1"/>
    <dgm:cxn modelId="{D0A68132-54A7-457E-8279-48446CF15C64}" type="presParOf" srcId="{993E2D86-99CD-4028-AAB3-C0BA6EF4A71A}" destId="{1C9F3362-34B8-46E4-9D78-67201A11E099}" srcOrd="0" destOrd="0" presId="urn:microsoft.com/office/officeart/2005/8/layout/hList1"/>
    <dgm:cxn modelId="{512C668E-5BBB-4535-8C20-B9A51801C5B4}" type="presParOf" srcId="{993E2D86-99CD-4028-AAB3-C0BA6EF4A71A}" destId="{DC085154-5E81-4777-8693-DB6877834C1C}" srcOrd="1" destOrd="0" presId="urn:microsoft.com/office/officeart/2005/8/layout/hList1"/>
    <dgm:cxn modelId="{B347CD5C-910D-43CF-8544-B27F1537F8E2}" type="presParOf" srcId="{DE752D2E-467D-4BC6-B632-7FE417226E56}" destId="{CA64E0A3-7A83-4D13-A277-8371A8B6BB03}" srcOrd="1" destOrd="0" presId="urn:microsoft.com/office/officeart/2005/8/layout/hList1"/>
    <dgm:cxn modelId="{8B95BA61-0AFA-41A2-A908-E01D004A1CF3}" type="presParOf" srcId="{DE752D2E-467D-4BC6-B632-7FE417226E56}" destId="{F34CA058-BC55-4354-A757-D33250F3998E}" srcOrd="2" destOrd="0" presId="urn:microsoft.com/office/officeart/2005/8/layout/hList1"/>
    <dgm:cxn modelId="{81657CCA-0B32-4732-A438-AA23A1BEAC9E}" type="presParOf" srcId="{F34CA058-BC55-4354-A757-D33250F3998E}" destId="{DCAF7933-10DF-47D6-A6FE-169B10B6755F}" srcOrd="0" destOrd="0" presId="urn:microsoft.com/office/officeart/2005/8/layout/hList1"/>
    <dgm:cxn modelId="{AB6614BD-D684-40BB-9730-EDD24E74F19C}" type="presParOf" srcId="{F34CA058-BC55-4354-A757-D33250F3998E}" destId="{EC08F655-E4EB-4EA3-836C-F7F2620C6462}" srcOrd="1" destOrd="0" presId="urn:microsoft.com/office/officeart/2005/8/layout/hList1"/>
    <dgm:cxn modelId="{A8BA81BF-727E-4395-B8B8-E39A89C8BDF5}" type="presParOf" srcId="{DE752D2E-467D-4BC6-B632-7FE417226E56}" destId="{69735FA5-37EB-4BA1-8256-E622F942A838}" srcOrd="3" destOrd="0" presId="urn:microsoft.com/office/officeart/2005/8/layout/hList1"/>
    <dgm:cxn modelId="{8CE541EE-E629-443E-B1B9-D92F16E5E76F}" type="presParOf" srcId="{DE752D2E-467D-4BC6-B632-7FE417226E56}" destId="{FFB754BA-F1D5-43EA-AA0F-CF184AA5C77A}" srcOrd="4" destOrd="0" presId="urn:microsoft.com/office/officeart/2005/8/layout/hList1"/>
    <dgm:cxn modelId="{96980B4A-4A41-4BB7-BE7C-CB09605E919C}" type="presParOf" srcId="{FFB754BA-F1D5-43EA-AA0F-CF184AA5C77A}" destId="{73892858-F4BD-40A1-BBF3-62B0C19B516A}" srcOrd="0" destOrd="0" presId="urn:microsoft.com/office/officeart/2005/8/layout/hList1"/>
    <dgm:cxn modelId="{F0513C01-731B-4B86-A165-F85BEB9B9C10}" type="presParOf" srcId="{FFB754BA-F1D5-43EA-AA0F-CF184AA5C77A}" destId="{DCD91251-42FD-479E-9B94-630C608A05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B87595-6E69-4B93-A438-B9F884132090}" type="doc">
      <dgm:prSet loTypeId="urn:microsoft.com/office/officeart/2005/8/layout/hList1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GB"/>
        </a:p>
      </dgm:t>
    </dgm:pt>
    <dgm:pt modelId="{27BC1F75-2D9B-4C2D-B11A-09A6169A4164}">
      <dgm:prSet phldrT="[Text]"/>
      <dgm:spPr/>
      <dgm:t>
        <a:bodyPr/>
        <a:lstStyle/>
        <a:p>
          <a:r>
            <a:rPr lang="en-US" dirty="0" err="1"/>
            <a:t>Preluare</a:t>
          </a:r>
          <a:endParaRPr lang="en-GB" dirty="0"/>
        </a:p>
      </dgm:t>
    </dgm:pt>
    <dgm:pt modelId="{33978F7C-1BAE-4E9D-B0C9-0514B6F72782}" type="parTrans" cxnId="{359CA080-E89B-410F-ABF3-8CA62A6DCC9D}">
      <dgm:prSet/>
      <dgm:spPr/>
      <dgm:t>
        <a:bodyPr/>
        <a:lstStyle/>
        <a:p>
          <a:endParaRPr lang="en-GB"/>
        </a:p>
      </dgm:t>
    </dgm:pt>
    <dgm:pt modelId="{5A4EB727-B8DC-490E-BD3E-F14F51746739}" type="sibTrans" cxnId="{359CA080-E89B-410F-ABF3-8CA62A6DCC9D}">
      <dgm:prSet/>
      <dgm:spPr/>
      <dgm:t>
        <a:bodyPr/>
        <a:lstStyle/>
        <a:p>
          <a:endParaRPr lang="en-GB"/>
        </a:p>
      </dgm:t>
    </dgm:pt>
    <dgm:pt modelId="{67599844-9188-44CF-AEED-8A959EFD89B6}">
      <dgm:prSet phldrT="[Text]" custT="1"/>
      <dgm:spPr/>
      <dgm:t>
        <a:bodyPr/>
        <a:lstStyle/>
        <a:p>
          <a:r>
            <a:rPr lang="en-US" sz="2000" dirty="0"/>
            <a:t>Fi</a:t>
          </a:r>
          <a:r>
            <a:rPr lang="ro-RO" sz="2000" dirty="0"/>
            <a:t>șierul public WESAD</a:t>
          </a:r>
          <a:endParaRPr lang="en-GB" sz="2000" dirty="0"/>
        </a:p>
      </dgm:t>
    </dgm:pt>
    <dgm:pt modelId="{CB6F6629-7FD1-44AE-8E95-F6AA10FD4CDB}" type="parTrans" cxnId="{3D920688-8273-4511-811D-8CF0F978AB1F}">
      <dgm:prSet/>
      <dgm:spPr/>
      <dgm:t>
        <a:bodyPr/>
        <a:lstStyle/>
        <a:p>
          <a:endParaRPr lang="en-GB"/>
        </a:p>
      </dgm:t>
    </dgm:pt>
    <dgm:pt modelId="{7189C498-B6D9-4383-A676-0BC254ABE044}" type="sibTrans" cxnId="{3D920688-8273-4511-811D-8CF0F978AB1F}">
      <dgm:prSet/>
      <dgm:spPr/>
      <dgm:t>
        <a:bodyPr/>
        <a:lstStyle/>
        <a:p>
          <a:endParaRPr lang="en-GB"/>
        </a:p>
      </dgm:t>
    </dgm:pt>
    <dgm:pt modelId="{B8425F87-14E7-47DC-A386-B3E37FCBBCDA}">
      <dgm:prSet phldrT="[Text]" custT="1"/>
      <dgm:spPr/>
      <dgm:t>
        <a:bodyPr/>
        <a:lstStyle/>
        <a:p>
          <a:r>
            <a:rPr lang="ro-RO" sz="2000" dirty="0"/>
            <a:t>Măsurători preluate din încheietură pentru niște subiecți</a:t>
          </a:r>
          <a:endParaRPr lang="en-GB" sz="2000" dirty="0"/>
        </a:p>
      </dgm:t>
    </dgm:pt>
    <dgm:pt modelId="{5DEF3AEC-1FA0-49F7-B02E-BE2FAF5572D8}" type="parTrans" cxnId="{A430213E-57FB-4DEB-BF8F-6BA53FB574EB}">
      <dgm:prSet/>
      <dgm:spPr/>
      <dgm:t>
        <a:bodyPr/>
        <a:lstStyle/>
        <a:p>
          <a:endParaRPr lang="en-GB"/>
        </a:p>
      </dgm:t>
    </dgm:pt>
    <dgm:pt modelId="{401BF3FF-F83D-476D-8D89-260BE37BBE96}" type="sibTrans" cxnId="{A430213E-57FB-4DEB-BF8F-6BA53FB574EB}">
      <dgm:prSet/>
      <dgm:spPr/>
      <dgm:t>
        <a:bodyPr/>
        <a:lstStyle/>
        <a:p>
          <a:endParaRPr lang="en-GB"/>
        </a:p>
      </dgm:t>
    </dgm:pt>
    <dgm:pt modelId="{AF8F6745-F4BF-4FE6-AE9D-69D7263B8D2C}">
      <dgm:prSet phldrT="[Text]"/>
      <dgm:spPr/>
      <dgm:t>
        <a:bodyPr/>
        <a:lstStyle/>
        <a:p>
          <a:r>
            <a:rPr lang="ro-RO" dirty="0"/>
            <a:t>Uniformizare </a:t>
          </a:r>
          <a:endParaRPr lang="en-GB" dirty="0"/>
        </a:p>
      </dgm:t>
    </dgm:pt>
    <dgm:pt modelId="{F95CE5BC-9D7E-4DBD-99B7-8EA083FC506F}" type="parTrans" cxnId="{C73922D7-4658-4426-A744-E22BDB15FE9D}">
      <dgm:prSet/>
      <dgm:spPr/>
      <dgm:t>
        <a:bodyPr/>
        <a:lstStyle/>
        <a:p>
          <a:endParaRPr lang="en-GB"/>
        </a:p>
      </dgm:t>
    </dgm:pt>
    <dgm:pt modelId="{299A2F99-F617-4526-9003-A9BD6BFE64C4}" type="sibTrans" cxnId="{C73922D7-4658-4426-A744-E22BDB15FE9D}">
      <dgm:prSet/>
      <dgm:spPr/>
      <dgm:t>
        <a:bodyPr/>
        <a:lstStyle/>
        <a:p>
          <a:endParaRPr lang="en-GB"/>
        </a:p>
      </dgm:t>
    </dgm:pt>
    <dgm:pt modelId="{6EE04596-FC1E-49EF-BBD6-A61B83D73127}">
      <dgm:prSet phldrT="[Text]" custT="1"/>
      <dgm:spPr/>
      <dgm:t>
        <a:bodyPr/>
        <a:lstStyle/>
        <a:p>
          <a:r>
            <a:rPr lang="ro-RO" sz="2000" dirty="0"/>
            <a:t>D</a:t>
          </a:r>
          <a:r>
            <a:rPr lang="en-GB" sz="2000" dirty="0" err="1"/>
            <a:t>ownsamplin</a:t>
          </a:r>
          <a:r>
            <a:rPr lang="ro-RO" sz="2000" dirty="0"/>
            <a:t>g</a:t>
          </a:r>
          <a:endParaRPr lang="en-GB" sz="2000" dirty="0"/>
        </a:p>
      </dgm:t>
    </dgm:pt>
    <dgm:pt modelId="{CF94AD7F-28A4-4BE1-AEAD-963B3D2C50D0}" type="parTrans" cxnId="{930AF3BC-85F1-4852-8D26-C189F95B238A}">
      <dgm:prSet/>
      <dgm:spPr/>
      <dgm:t>
        <a:bodyPr/>
        <a:lstStyle/>
        <a:p>
          <a:endParaRPr lang="en-GB"/>
        </a:p>
      </dgm:t>
    </dgm:pt>
    <dgm:pt modelId="{E53ED8DF-F868-4473-ACCB-C8F24A6F3489}" type="sibTrans" cxnId="{930AF3BC-85F1-4852-8D26-C189F95B238A}">
      <dgm:prSet/>
      <dgm:spPr/>
      <dgm:t>
        <a:bodyPr/>
        <a:lstStyle/>
        <a:p>
          <a:endParaRPr lang="en-GB"/>
        </a:p>
      </dgm:t>
    </dgm:pt>
    <dgm:pt modelId="{E52F35DD-DCF8-47B3-BF63-0B0295514906}">
      <dgm:prSet phldrT="[Text]"/>
      <dgm:spPr/>
      <dgm:t>
        <a:bodyPr/>
        <a:lstStyle/>
        <a:p>
          <a:r>
            <a:rPr lang="ro-RO" dirty="0"/>
            <a:t>Normalizare</a:t>
          </a:r>
          <a:endParaRPr lang="en-GB" dirty="0"/>
        </a:p>
      </dgm:t>
    </dgm:pt>
    <dgm:pt modelId="{171EDB53-C319-4216-B2C9-ABBCD95094D7}" type="parTrans" cxnId="{EB29094E-9691-4EDB-81BA-DD9FE858338D}">
      <dgm:prSet/>
      <dgm:spPr/>
      <dgm:t>
        <a:bodyPr/>
        <a:lstStyle/>
        <a:p>
          <a:endParaRPr lang="en-GB"/>
        </a:p>
      </dgm:t>
    </dgm:pt>
    <dgm:pt modelId="{FCC3FB3F-82D5-4332-9B32-752E91E4DC74}" type="sibTrans" cxnId="{EB29094E-9691-4EDB-81BA-DD9FE858338D}">
      <dgm:prSet/>
      <dgm:spPr/>
      <dgm:t>
        <a:bodyPr/>
        <a:lstStyle/>
        <a:p>
          <a:endParaRPr lang="en-GB"/>
        </a:p>
      </dgm:t>
    </dgm:pt>
    <dgm:pt modelId="{02CBDB2A-A4FD-431C-B80B-B06D8DD2813D}">
      <dgm:prSet phldrT="[Text]" custT="1"/>
      <dgm:spPr/>
      <dgm:t>
        <a:bodyPr/>
        <a:lstStyle/>
        <a:p>
          <a:r>
            <a:rPr lang="ro-RO" sz="2000" dirty="0"/>
            <a:t>Min-Max scalling</a:t>
          </a:r>
          <a:endParaRPr lang="en-GB" sz="2000" dirty="0"/>
        </a:p>
      </dgm:t>
    </dgm:pt>
    <dgm:pt modelId="{9E02E5BD-FE0E-47CE-831A-4B637E9435DE}" type="parTrans" cxnId="{C3446E56-A18D-4BE9-82FE-79928ABD054F}">
      <dgm:prSet/>
      <dgm:spPr/>
      <dgm:t>
        <a:bodyPr/>
        <a:lstStyle/>
        <a:p>
          <a:endParaRPr lang="en-GB"/>
        </a:p>
      </dgm:t>
    </dgm:pt>
    <dgm:pt modelId="{4F14E1C9-01B5-4D3E-8156-3EDF9C50B2C2}" type="sibTrans" cxnId="{C3446E56-A18D-4BE9-82FE-79928ABD054F}">
      <dgm:prSet/>
      <dgm:spPr/>
      <dgm:t>
        <a:bodyPr/>
        <a:lstStyle/>
        <a:p>
          <a:endParaRPr lang="en-GB"/>
        </a:p>
      </dgm:t>
    </dgm:pt>
    <dgm:pt modelId="{0AC13D5C-943C-4391-936E-AD90595E4FBE}">
      <dgm:prSet phldrT="[Text]" custT="1"/>
      <dgm:spPr/>
      <dgm:t>
        <a:bodyPr/>
        <a:lstStyle/>
        <a:p>
          <a:r>
            <a:rPr lang="it-IT" sz="2000" dirty="0"/>
            <a:t>Normalizarea elimin</a:t>
          </a:r>
          <a:r>
            <a:rPr lang="ro-RO" sz="2000" dirty="0"/>
            <a:t>ă</a:t>
          </a:r>
          <a:r>
            <a:rPr lang="it-IT" sz="2000" dirty="0"/>
            <a:t> varia</a:t>
          </a:r>
          <a:r>
            <a:rPr lang="ro-RO" sz="2000" dirty="0"/>
            <a:t>ț</a:t>
          </a:r>
          <a:r>
            <a:rPr lang="it-IT" sz="2000" dirty="0"/>
            <a:t>iile extreme </a:t>
          </a:r>
          <a:r>
            <a:rPr lang="ro-RO" sz="2000" dirty="0"/>
            <a:t>ș</a:t>
          </a:r>
          <a:r>
            <a:rPr lang="it-IT" sz="2000" dirty="0"/>
            <a:t>i faciliteaz</a:t>
          </a:r>
          <a:r>
            <a:rPr lang="ro-RO" sz="2000" dirty="0"/>
            <a:t>ă</a:t>
          </a:r>
          <a:r>
            <a:rPr lang="it-IT" sz="2000" dirty="0"/>
            <a:t> </a:t>
          </a:r>
          <a:r>
            <a:rPr lang="ro-RO" sz="2000" dirty="0"/>
            <a:t>î</a:t>
          </a:r>
          <a:r>
            <a:rPr lang="it-IT" sz="2000" dirty="0"/>
            <a:t>nv</a:t>
          </a:r>
          <a:r>
            <a:rPr lang="ro-RO" sz="2000" dirty="0"/>
            <a:t>ăț</a:t>
          </a:r>
          <a:r>
            <a:rPr lang="it-IT" sz="2000" dirty="0"/>
            <a:t>area modelulu</a:t>
          </a:r>
          <a:r>
            <a:rPr lang="ro-RO" sz="2000" dirty="0"/>
            <a:t>i</a:t>
          </a:r>
          <a:endParaRPr lang="en-GB" sz="2000" dirty="0"/>
        </a:p>
      </dgm:t>
    </dgm:pt>
    <dgm:pt modelId="{E8BCDFC8-02CC-4735-A556-1FA186D05D0C}" type="parTrans" cxnId="{5171523A-03F7-459A-9D4B-501933F099C3}">
      <dgm:prSet/>
      <dgm:spPr/>
      <dgm:t>
        <a:bodyPr/>
        <a:lstStyle/>
        <a:p>
          <a:endParaRPr lang="en-GB"/>
        </a:p>
      </dgm:t>
    </dgm:pt>
    <dgm:pt modelId="{F9B1CC03-33B9-401A-AF2D-832A462EC0A8}" type="sibTrans" cxnId="{5171523A-03F7-459A-9D4B-501933F099C3}">
      <dgm:prSet/>
      <dgm:spPr/>
      <dgm:t>
        <a:bodyPr/>
        <a:lstStyle/>
        <a:p>
          <a:endParaRPr lang="en-GB"/>
        </a:p>
      </dgm:t>
    </dgm:pt>
    <dgm:pt modelId="{DE9FD064-B13B-4C4F-81BB-DE7401B59832}">
      <dgm:prSet phldrT="[Text]" custT="1"/>
      <dgm:spPr/>
      <dgm:t>
        <a:bodyPr/>
        <a:lstStyle/>
        <a:p>
          <a:r>
            <a:rPr lang="ro-RO" sz="2000" dirty="0"/>
            <a:t>Reducerea datelor la o frecvență comună =</a:t>
          </a:r>
          <a:r>
            <a:rPr lang="en-GB" sz="2000" dirty="0"/>
            <a:t>&gt; </a:t>
          </a:r>
          <a:r>
            <a:rPr lang="ro-RO" sz="2000" dirty="0"/>
            <a:t>set de date cu dimensiune unitară</a:t>
          </a:r>
          <a:endParaRPr lang="en-GB" sz="2000" dirty="0"/>
        </a:p>
      </dgm:t>
    </dgm:pt>
    <dgm:pt modelId="{A6B5D390-5413-4455-BF9C-39552CA9F2F3}" type="parTrans" cxnId="{279AA3E2-EE13-47E0-BBEA-E3FBDB0AA5E0}">
      <dgm:prSet/>
      <dgm:spPr/>
      <dgm:t>
        <a:bodyPr/>
        <a:lstStyle/>
        <a:p>
          <a:endParaRPr lang="en-GB"/>
        </a:p>
      </dgm:t>
    </dgm:pt>
    <dgm:pt modelId="{81E7D688-EC14-4F04-B630-26CA0AB6970F}" type="sibTrans" cxnId="{279AA3E2-EE13-47E0-BBEA-E3FBDB0AA5E0}">
      <dgm:prSet/>
      <dgm:spPr/>
      <dgm:t>
        <a:bodyPr/>
        <a:lstStyle/>
        <a:p>
          <a:endParaRPr lang="en-GB"/>
        </a:p>
      </dgm:t>
    </dgm:pt>
    <dgm:pt modelId="{C50D2C81-4275-4741-8617-4BA3BAC6343D}" type="pres">
      <dgm:prSet presAssocID="{7BB87595-6E69-4B93-A438-B9F884132090}" presName="Name0" presStyleCnt="0">
        <dgm:presLayoutVars>
          <dgm:dir/>
          <dgm:animLvl val="lvl"/>
          <dgm:resizeHandles val="exact"/>
        </dgm:presLayoutVars>
      </dgm:prSet>
      <dgm:spPr/>
    </dgm:pt>
    <dgm:pt modelId="{582B5B30-8244-4759-BF45-E1BEA12C46F6}" type="pres">
      <dgm:prSet presAssocID="{27BC1F75-2D9B-4C2D-B11A-09A6169A4164}" presName="composite" presStyleCnt="0"/>
      <dgm:spPr/>
    </dgm:pt>
    <dgm:pt modelId="{44E5F0C9-4219-4DAA-8132-7F00FD0AB5F3}" type="pres">
      <dgm:prSet presAssocID="{27BC1F75-2D9B-4C2D-B11A-09A6169A416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BB914D7-68EE-473F-8269-4BF563D08901}" type="pres">
      <dgm:prSet presAssocID="{27BC1F75-2D9B-4C2D-B11A-09A6169A4164}" presName="desTx" presStyleLbl="alignAccFollowNode1" presStyleIdx="0" presStyleCnt="3">
        <dgm:presLayoutVars>
          <dgm:bulletEnabled val="1"/>
        </dgm:presLayoutVars>
      </dgm:prSet>
      <dgm:spPr/>
    </dgm:pt>
    <dgm:pt modelId="{5275B39A-4915-44F1-B487-9C7C0CBEC2E8}" type="pres">
      <dgm:prSet presAssocID="{5A4EB727-B8DC-490E-BD3E-F14F51746739}" presName="space" presStyleCnt="0"/>
      <dgm:spPr/>
    </dgm:pt>
    <dgm:pt modelId="{D7355F55-3832-4752-A291-10028C58AED3}" type="pres">
      <dgm:prSet presAssocID="{AF8F6745-F4BF-4FE6-AE9D-69D7263B8D2C}" presName="composite" presStyleCnt="0"/>
      <dgm:spPr/>
    </dgm:pt>
    <dgm:pt modelId="{A201C32F-49C7-499C-A769-0270F22564EA}" type="pres">
      <dgm:prSet presAssocID="{AF8F6745-F4BF-4FE6-AE9D-69D7263B8D2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3CA9954-E752-4D43-A5E3-9D542D198220}" type="pres">
      <dgm:prSet presAssocID="{AF8F6745-F4BF-4FE6-AE9D-69D7263B8D2C}" presName="desTx" presStyleLbl="alignAccFollowNode1" presStyleIdx="1" presStyleCnt="3">
        <dgm:presLayoutVars>
          <dgm:bulletEnabled val="1"/>
        </dgm:presLayoutVars>
      </dgm:prSet>
      <dgm:spPr/>
    </dgm:pt>
    <dgm:pt modelId="{B5279856-9515-40C1-9DDD-D22CA193B41B}" type="pres">
      <dgm:prSet presAssocID="{299A2F99-F617-4526-9003-A9BD6BFE64C4}" presName="space" presStyleCnt="0"/>
      <dgm:spPr/>
    </dgm:pt>
    <dgm:pt modelId="{644C05D8-6709-497C-A573-39E4EAD93EA9}" type="pres">
      <dgm:prSet presAssocID="{E52F35DD-DCF8-47B3-BF63-0B0295514906}" presName="composite" presStyleCnt="0"/>
      <dgm:spPr/>
    </dgm:pt>
    <dgm:pt modelId="{6310FDBA-2E21-4337-A06D-2089D2D98DBD}" type="pres">
      <dgm:prSet presAssocID="{E52F35DD-DCF8-47B3-BF63-0B029551490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62A3165-0A30-483E-B55A-97AE65D22891}" type="pres">
      <dgm:prSet presAssocID="{E52F35DD-DCF8-47B3-BF63-0B029551490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C9D1A0B-0ACE-4A1A-9420-FB7C63B2E89A}" type="presOf" srcId="{67599844-9188-44CF-AEED-8A959EFD89B6}" destId="{7BB914D7-68EE-473F-8269-4BF563D08901}" srcOrd="0" destOrd="0" presId="urn:microsoft.com/office/officeart/2005/8/layout/hList1"/>
    <dgm:cxn modelId="{324F2F1D-7A86-4441-A715-AE9743BA5B58}" type="presOf" srcId="{DE9FD064-B13B-4C4F-81BB-DE7401B59832}" destId="{33CA9954-E752-4D43-A5E3-9D542D198220}" srcOrd="0" destOrd="1" presId="urn:microsoft.com/office/officeart/2005/8/layout/hList1"/>
    <dgm:cxn modelId="{28C16821-4D9C-472A-9AD6-04DA8E688DF1}" type="presOf" srcId="{02CBDB2A-A4FD-431C-B80B-B06D8DD2813D}" destId="{462A3165-0A30-483E-B55A-97AE65D22891}" srcOrd="0" destOrd="0" presId="urn:microsoft.com/office/officeart/2005/8/layout/hList1"/>
    <dgm:cxn modelId="{F9134C23-6C91-4E07-80FA-8E80AA8F0035}" type="presOf" srcId="{B8425F87-14E7-47DC-A386-B3E37FCBBCDA}" destId="{7BB914D7-68EE-473F-8269-4BF563D08901}" srcOrd="0" destOrd="1" presId="urn:microsoft.com/office/officeart/2005/8/layout/hList1"/>
    <dgm:cxn modelId="{5171523A-03F7-459A-9D4B-501933F099C3}" srcId="{E52F35DD-DCF8-47B3-BF63-0B0295514906}" destId="{0AC13D5C-943C-4391-936E-AD90595E4FBE}" srcOrd="1" destOrd="0" parTransId="{E8BCDFC8-02CC-4735-A556-1FA186D05D0C}" sibTransId="{F9B1CC03-33B9-401A-AF2D-832A462EC0A8}"/>
    <dgm:cxn modelId="{A430213E-57FB-4DEB-BF8F-6BA53FB574EB}" srcId="{27BC1F75-2D9B-4C2D-B11A-09A6169A4164}" destId="{B8425F87-14E7-47DC-A386-B3E37FCBBCDA}" srcOrd="1" destOrd="0" parTransId="{5DEF3AEC-1FA0-49F7-B02E-BE2FAF5572D8}" sibTransId="{401BF3FF-F83D-476D-8D89-260BE37BBE96}"/>
    <dgm:cxn modelId="{31B20D45-FCE8-4DB9-8D8D-2D5CEBF491F8}" type="presOf" srcId="{27BC1F75-2D9B-4C2D-B11A-09A6169A4164}" destId="{44E5F0C9-4219-4DAA-8132-7F00FD0AB5F3}" srcOrd="0" destOrd="0" presId="urn:microsoft.com/office/officeart/2005/8/layout/hList1"/>
    <dgm:cxn modelId="{EB29094E-9691-4EDB-81BA-DD9FE858338D}" srcId="{7BB87595-6E69-4B93-A438-B9F884132090}" destId="{E52F35DD-DCF8-47B3-BF63-0B0295514906}" srcOrd="2" destOrd="0" parTransId="{171EDB53-C319-4216-B2C9-ABBCD95094D7}" sibTransId="{FCC3FB3F-82D5-4332-9B32-752E91E4DC74}"/>
    <dgm:cxn modelId="{EE91976F-27C3-46FD-B617-A32965121355}" type="presOf" srcId="{6EE04596-FC1E-49EF-BBD6-A61B83D73127}" destId="{33CA9954-E752-4D43-A5E3-9D542D198220}" srcOrd="0" destOrd="0" presId="urn:microsoft.com/office/officeart/2005/8/layout/hList1"/>
    <dgm:cxn modelId="{D43EBA53-7568-4604-A75A-4E8916B3A98A}" type="presOf" srcId="{0AC13D5C-943C-4391-936E-AD90595E4FBE}" destId="{462A3165-0A30-483E-B55A-97AE65D22891}" srcOrd="0" destOrd="1" presId="urn:microsoft.com/office/officeart/2005/8/layout/hList1"/>
    <dgm:cxn modelId="{C3446E56-A18D-4BE9-82FE-79928ABD054F}" srcId="{E52F35DD-DCF8-47B3-BF63-0B0295514906}" destId="{02CBDB2A-A4FD-431C-B80B-B06D8DD2813D}" srcOrd="0" destOrd="0" parTransId="{9E02E5BD-FE0E-47CE-831A-4B637E9435DE}" sibTransId="{4F14E1C9-01B5-4D3E-8156-3EDF9C50B2C2}"/>
    <dgm:cxn modelId="{AA9DC47C-3B0C-4086-8CCB-2820EDC0E75F}" type="presOf" srcId="{7BB87595-6E69-4B93-A438-B9F884132090}" destId="{C50D2C81-4275-4741-8617-4BA3BAC6343D}" srcOrd="0" destOrd="0" presId="urn:microsoft.com/office/officeart/2005/8/layout/hList1"/>
    <dgm:cxn modelId="{359CA080-E89B-410F-ABF3-8CA62A6DCC9D}" srcId="{7BB87595-6E69-4B93-A438-B9F884132090}" destId="{27BC1F75-2D9B-4C2D-B11A-09A6169A4164}" srcOrd="0" destOrd="0" parTransId="{33978F7C-1BAE-4E9D-B0C9-0514B6F72782}" sibTransId="{5A4EB727-B8DC-490E-BD3E-F14F51746739}"/>
    <dgm:cxn modelId="{3D920688-8273-4511-811D-8CF0F978AB1F}" srcId="{27BC1F75-2D9B-4C2D-B11A-09A6169A4164}" destId="{67599844-9188-44CF-AEED-8A959EFD89B6}" srcOrd="0" destOrd="0" parTransId="{CB6F6629-7FD1-44AE-8E95-F6AA10FD4CDB}" sibTransId="{7189C498-B6D9-4383-A676-0BC254ABE044}"/>
    <dgm:cxn modelId="{A84717A8-8478-4775-9627-210B3B315F03}" type="presOf" srcId="{AF8F6745-F4BF-4FE6-AE9D-69D7263B8D2C}" destId="{A201C32F-49C7-499C-A769-0270F22564EA}" srcOrd="0" destOrd="0" presId="urn:microsoft.com/office/officeart/2005/8/layout/hList1"/>
    <dgm:cxn modelId="{930AF3BC-85F1-4852-8D26-C189F95B238A}" srcId="{AF8F6745-F4BF-4FE6-AE9D-69D7263B8D2C}" destId="{6EE04596-FC1E-49EF-BBD6-A61B83D73127}" srcOrd="0" destOrd="0" parTransId="{CF94AD7F-28A4-4BE1-AEAD-963B3D2C50D0}" sibTransId="{E53ED8DF-F868-4473-ACCB-C8F24A6F3489}"/>
    <dgm:cxn modelId="{280172C0-1829-4196-AFC7-27299C9B5DA2}" type="presOf" srcId="{E52F35DD-DCF8-47B3-BF63-0B0295514906}" destId="{6310FDBA-2E21-4337-A06D-2089D2D98DBD}" srcOrd="0" destOrd="0" presId="urn:microsoft.com/office/officeart/2005/8/layout/hList1"/>
    <dgm:cxn modelId="{C73922D7-4658-4426-A744-E22BDB15FE9D}" srcId="{7BB87595-6E69-4B93-A438-B9F884132090}" destId="{AF8F6745-F4BF-4FE6-AE9D-69D7263B8D2C}" srcOrd="1" destOrd="0" parTransId="{F95CE5BC-9D7E-4DBD-99B7-8EA083FC506F}" sibTransId="{299A2F99-F617-4526-9003-A9BD6BFE64C4}"/>
    <dgm:cxn modelId="{279AA3E2-EE13-47E0-BBEA-E3FBDB0AA5E0}" srcId="{AF8F6745-F4BF-4FE6-AE9D-69D7263B8D2C}" destId="{DE9FD064-B13B-4C4F-81BB-DE7401B59832}" srcOrd="1" destOrd="0" parTransId="{A6B5D390-5413-4455-BF9C-39552CA9F2F3}" sibTransId="{81E7D688-EC14-4F04-B630-26CA0AB6970F}"/>
    <dgm:cxn modelId="{88334F21-C156-4F15-8D63-91EFF5696AE6}" type="presParOf" srcId="{C50D2C81-4275-4741-8617-4BA3BAC6343D}" destId="{582B5B30-8244-4759-BF45-E1BEA12C46F6}" srcOrd="0" destOrd="0" presId="urn:microsoft.com/office/officeart/2005/8/layout/hList1"/>
    <dgm:cxn modelId="{FE6493A8-99B1-4306-9F4F-1A822E1A1890}" type="presParOf" srcId="{582B5B30-8244-4759-BF45-E1BEA12C46F6}" destId="{44E5F0C9-4219-4DAA-8132-7F00FD0AB5F3}" srcOrd="0" destOrd="0" presId="urn:microsoft.com/office/officeart/2005/8/layout/hList1"/>
    <dgm:cxn modelId="{F589F0AC-5078-4030-8198-2C7D4EADE89E}" type="presParOf" srcId="{582B5B30-8244-4759-BF45-E1BEA12C46F6}" destId="{7BB914D7-68EE-473F-8269-4BF563D08901}" srcOrd="1" destOrd="0" presId="urn:microsoft.com/office/officeart/2005/8/layout/hList1"/>
    <dgm:cxn modelId="{798A03D9-CE75-448B-B3C9-88CE227D213D}" type="presParOf" srcId="{C50D2C81-4275-4741-8617-4BA3BAC6343D}" destId="{5275B39A-4915-44F1-B487-9C7C0CBEC2E8}" srcOrd="1" destOrd="0" presId="urn:microsoft.com/office/officeart/2005/8/layout/hList1"/>
    <dgm:cxn modelId="{A2A4E2CB-FFC2-4E9F-970F-5F89CF47314C}" type="presParOf" srcId="{C50D2C81-4275-4741-8617-4BA3BAC6343D}" destId="{D7355F55-3832-4752-A291-10028C58AED3}" srcOrd="2" destOrd="0" presId="urn:microsoft.com/office/officeart/2005/8/layout/hList1"/>
    <dgm:cxn modelId="{12598849-645B-4911-AA77-8082AF71FEB4}" type="presParOf" srcId="{D7355F55-3832-4752-A291-10028C58AED3}" destId="{A201C32F-49C7-499C-A769-0270F22564EA}" srcOrd="0" destOrd="0" presId="urn:microsoft.com/office/officeart/2005/8/layout/hList1"/>
    <dgm:cxn modelId="{AF4A8EA4-291B-4E4C-9B00-B98AE6E3DBB1}" type="presParOf" srcId="{D7355F55-3832-4752-A291-10028C58AED3}" destId="{33CA9954-E752-4D43-A5E3-9D542D198220}" srcOrd="1" destOrd="0" presId="urn:microsoft.com/office/officeart/2005/8/layout/hList1"/>
    <dgm:cxn modelId="{93D73046-77FF-4928-A174-A1EE5BE6A061}" type="presParOf" srcId="{C50D2C81-4275-4741-8617-4BA3BAC6343D}" destId="{B5279856-9515-40C1-9DDD-D22CA193B41B}" srcOrd="3" destOrd="0" presId="urn:microsoft.com/office/officeart/2005/8/layout/hList1"/>
    <dgm:cxn modelId="{93437203-2FC5-4D17-903B-CE4F8715AAB7}" type="presParOf" srcId="{C50D2C81-4275-4741-8617-4BA3BAC6343D}" destId="{644C05D8-6709-497C-A573-39E4EAD93EA9}" srcOrd="4" destOrd="0" presId="urn:microsoft.com/office/officeart/2005/8/layout/hList1"/>
    <dgm:cxn modelId="{674F9CB3-5ED1-4735-A14A-8535CDC52A72}" type="presParOf" srcId="{644C05D8-6709-497C-A573-39E4EAD93EA9}" destId="{6310FDBA-2E21-4337-A06D-2089D2D98DBD}" srcOrd="0" destOrd="0" presId="urn:microsoft.com/office/officeart/2005/8/layout/hList1"/>
    <dgm:cxn modelId="{31C3AE86-ABFA-4B55-8B1F-F3AF3BD364EB}" type="presParOf" srcId="{644C05D8-6709-497C-A573-39E4EAD93EA9}" destId="{462A3165-0A30-483E-B55A-97AE65D228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50346-4B17-456C-A543-65112A4C9FC4}">
      <dsp:nvSpPr>
        <dsp:cNvPr id="0" name=""/>
        <dsp:cNvSpPr/>
      </dsp:nvSpPr>
      <dsp:spPr>
        <a:xfrm>
          <a:off x="-4165075" y="-639149"/>
          <a:ext cx="4962886" cy="4962886"/>
        </a:xfrm>
        <a:prstGeom prst="blockArc">
          <a:avLst>
            <a:gd name="adj1" fmla="val 18900000"/>
            <a:gd name="adj2" fmla="val 2700000"/>
            <a:gd name="adj3" fmla="val 435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EDD7F8-FBA3-4578-B343-FD67EF93810D}">
      <dsp:nvSpPr>
        <dsp:cNvPr id="0" name=""/>
        <dsp:cNvSpPr/>
      </dsp:nvSpPr>
      <dsp:spPr>
        <a:xfrm>
          <a:off x="513073" y="368458"/>
          <a:ext cx="4620919" cy="73691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92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solidFill>
                <a:schemeClr val="accent1"/>
              </a:solidFill>
            </a:rPr>
            <a:t>Detectarea timpurie a stresului</a:t>
          </a:r>
          <a:endParaRPr lang="en-GB" sz="2000" kern="1200" dirty="0">
            <a:solidFill>
              <a:schemeClr val="accent1"/>
            </a:solidFill>
          </a:endParaRPr>
        </a:p>
      </dsp:txBody>
      <dsp:txXfrm>
        <a:off x="513073" y="368458"/>
        <a:ext cx="4620919" cy="736917"/>
      </dsp:txXfrm>
    </dsp:sp>
    <dsp:sp modelId="{3D1AA39C-DED3-4D87-96F7-4737164C9FA8}">
      <dsp:nvSpPr>
        <dsp:cNvPr id="0" name=""/>
        <dsp:cNvSpPr/>
      </dsp:nvSpPr>
      <dsp:spPr>
        <a:xfrm>
          <a:off x="52500" y="276344"/>
          <a:ext cx="921147" cy="92114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8171D-8A31-4F62-9441-1F64FB55E02C}">
      <dsp:nvSpPr>
        <dsp:cNvPr id="0" name=""/>
        <dsp:cNvSpPr/>
      </dsp:nvSpPr>
      <dsp:spPr>
        <a:xfrm>
          <a:off x="780943" y="1473835"/>
          <a:ext cx="4353050" cy="73691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92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solidFill>
                <a:schemeClr val="accent1"/>
              </a:solidFill>
            </a:rPr>
            <a:t>Sfaturi personalizate pentru relaxare</a:t>
          </a:r>
          <a:endParaRPr lang="en-GB" sz="2000" kern="1200" dirty="0">
            <a:solidFill>
              <a:schemeClr val="accent1"/>
            </a:solidFill>
          </a:endParaRPr>
        </a:p>
      </dsp:txBody>
      <dsp:txXfrm>
        <a:off x="780943" y="1473835"/>
        <a:ext cx="4353050" cy="736917"/>
      </dsp:txXfrm>
    </dsp:sp>
    <dsp:sp modelId="{B13AAC00-5629-4613-90B3-8B640D17954C}">
      <dsp:nvSpPr>
        <dsp:cNvPr id="0" name=""/>
        <dsp:cNvSpPr/>
      </dsp:nvSpPr>
      <dsp:spPr>
        <a:xfrm>
          <a:off x="320370" y="1381720"/>
          <a:ext cx="921147" cy="92114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C77A4-9FA1-40D3-8141-89D081963FD6}">
      <dsp:nvSpPr>
        <dsp:cNvPr id="0" name=""/>
        <dsp:cNvSpPr/>
      </dsp:nvSpPr>
      <dsp:spPr>
        <a:xfrm>
          <a:off x="513073" y="2579211"/>
          <a:ext cx="4620919" cy="73691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92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solidFill>
                <a:schemeClr val="accent1"/>
              </a:solidFill>
            </a:rPr>
            <a:t>Conectare cu un psiholog</a:t>
          </a:r>
          <a:endParaRPr lang="en-GB" sz="2000" kern="1200" dirty="0">
            <a:solidFill>
              <a:schemeClr val="accent1"/>
            </a:solidFill>
          </a:endParaRPr>
        </a:p>
      </dsp:txBody>
      <dsp:txXfrm>
        <a:off x="513073" y="2579211"/>
        <a:ext cx="4620919" cy="736917"/>
      </dsp:txXfrm>
    </dsp:sp>
    <dsp:sp modelId="{F5C1C4A6-317C-4CD6-B788-CED0EF4427B3}">
      <dsp:nvSpPr>
        <dsp:cNvPr id="0" name=""/>
        <dsp:cNvSpPr/>
      </dsp:nvSpPr>
      <dsp:spPr>
        <a:xfrm>
          <a:off x="52500" y="2487096"/>
          <a:ext cx="921147" cy="92114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F3362-34B8-46E4-9D78-67201A11E099}">
      <dsp:nvSpPr>
        <dsp:cNvPr id="0" name=""/>
        <dsp:cNvSpPr/>
      </dsp:nvSpPr>
      <dsp:spPr>
        <a:xfrm>
          <a:off x="2980" y="694755"/>
          <a:ext cx="2905507" cy="1162202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1" kern="1200" dirty="0">
              <a:solidFill>
                <a:schemeClr val="accent1"/>
              </a:solidFill>
            </a:rPr>
            <a:t>Detectarea stresului în timp real</a:t>
          </a:r>
          <a:endParaRPr lang="en-GB" sz="2300" b="1" kern="1200" dirty="0">
            <a:solidFill>
              <a:schemeClr val="accent1"/>
            </a:solidFill>
          </a:endParaRPr>
        </a:p>
      </dsp:txBody>
      <dsp:txXfrm>
        <a:off x="2980" y="694755"/>
        <a:ext cx="2905507" cy="1162202"/>
      </dsp:txXfrm>
    </dsp:sp>
    <dsp:sp modelId="{DC085154-5E81-4777-8693-DB6877834C1C}">
      <dsp:nvSpPr>
        <dsp:cNvPr id="0" name=""/>
        <dsp:cNvSpPr/>
      </dsp:nvSpPr>
      <dsp:spPr>
        <a:xfrm>
          <a:off x="2980" y="1856958"/>
          <a:ext cx="2905507" cy="2610237"/>
        </a:xfrm>
        <a:prstGeom prst="rect">
          <a:avLst/>
        </a:prstGeom>
        <a:solidFill>
          <a:schemeClr val="bg2">
            <a:alpha val="90000"/>
          </a:schemeClr>
        </a:solidFill>
        <a:ln w="19050" cap="flat" cmpd="sng" algn="ctr">
          <a:solidFill>
            <a:schemeClr val="bg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Simulare integrare cu dispozitive purtabile</a:t>
          </a:r>
          <a:endParaRPr lang="en-GB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Algoritm AI pentru analiza stresului</a:t>
          </a:r>
          <a:endParaRPr lang="en-GB" sz="2300" kern="1200" dirty="0"/>
        </a:p>
      </dsp:txBody>
      <dsp:txXfrm>
        <a:off x="2980" y="1856958"/>
        <a:ext cx="2905507" cy="2610237"/>
      </dsp:txXfrm>
    </dsp:sp>
    <dsp:sp modelId="{DCAF7933-10DF-47D6-A6FE-169B10B6755F}">
      <dsp:nvSpPr>
        <dsp:cNvPr id="0" name=""/>
        <dsp:cNvSpPr/>
      </dsp:nvSpPr>
      <dsp:spPr>
        <a:xfrm>
          <a:off x="3315257" y="694755"/>
          <a:ext cx="2905507" cy="1162202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1" kern="1200" dirty="0">
              <a:solidFill>
                <a:schemeClr val="accent1"/>
              </a:solidFill>
            </a:rPr>
            <a:t>Sfaturi personalizate</a:t>
          </a:r>
          <a:endParaRPr lang="en-GB" sz="2300" b="1" kern="1200" dirty="0">
            <a:solidFill>
              <a:schemeClr val="accent1"/>
            </a:solidFill>
          </a:endParaRPr>
        </a:p>
      </dsp:txBody>
      <dsp:txXfrm>
        <a:off x="3315257" y="694755"/>
        <a:ext cx="2905507" cy="1162202"/>
      </dsp:txXfrm>
    </dsp:sp>
    <dsp:sp modelId="{EC08F655-E4EB-4EA3-836C-F7F2620C6462}">
      <dsp:nvSpPr>
        <dsp:cNvPr id="0" name=""/>
        <dsp:cNvSpPr/>
      </dsp:nvSpPr>
      <dsp:spPr>
        <a:xfrm>
          <a:off x="3315257" y="1856958"/>
          <a:ext cx="2905507" cy="2610237"/>
        </a:xfrm>
        <a:prstGeom prst="rect">
          <a:avLst/>
        </a:prstGeom>
        <a:solidFill>
          <a:schemeClr val="bg2">
            <a:alpha val="90000"/>
          </a:schemeClr>
        </a:solidFill>
        <a:ln w="19050" cap="flat" cmpd="sng" algn="ctr">
          <a:solidFill>
            <a:schemeClr val="bg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Recomandări generate în timp real </a:t>
          </a:r>
          <a:endParaRPr lang="en-GB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Integrare cu API cu GPT-4 pentru soluții adaptate utilizatorilor</a:t>
          </a:r>
          <a:endParaRPr lang="en-GB" sz="2300" kern="1200" dirty="0"/>
        </a:p>
      </dsp:txBody>
      <dsp:txXfrm>
        <a:off x="3315257" y="1856958"/>
        <a:ext cx="2905507" cy="2610237"/>
      </dsp:txXfrm>
    </dsp:sp>
    <dsp:sp modelId="{73892858-F4BD-40A1-BBF3-62B0C19B516A}">
      <dsp:nvSpPr>
        <dsp:cNvPr id="0" name=""/>
        <dsp:cNvSpPr/>
      </dsp:nvSpPr>
      <dsp:spPr>
        <a:xfrm>
          <a:off x="6627535" y="694755"/>
          <a:ext cx="2905507" cy="1162202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1" kern="1200" dirty="0">
              <a:solidFill>
                <a:schemeClr val="accent1"/>
              </a:solidFill>
            </a:rPr>
            <a:t>Interfață intuitivă</a:t>
          </a:r>
          <a:endParaRPr lang="en-GB" sz="2300" b="1" kern="1200" dirty="0">
            <a:solidFill>
              <a:schemeClr val="accent1"/>
            </a:solidFill>
          </a:endParaRPr>
        </a:p>
      </dsp:txBody>
      <dsp:txXfrm>
        <a:off x="6627535" y="694755"/>
        <a:ext cx="2905507" cy="1162202"/>
      </dsp:txXfrm>
    </dsp:sp>
    <dsp:sp modelId="{DCD91251-42FD-479E-9B94-630C608A0565}">
      <dsp:nvSpPr>
        <dsp:cNvPr id="0" name=""/>
        <dsp:cNvSpPr/>
      </dsp:nvSpPr>
      <dsp:spPr>
        <a:xfrm>
          <a:off x="6627535" y="1856958"/>
          <a:ext cx="2905507" cy="2610237"/>
        </a:xfrm>
        <a:prstGeom prst="rect">
          <a:avLst/>
        </a:prstGeom>
        <a:solidFill>
          <a:schemeClr val="bg2">
            <a:alpha val="90000"/>
          </a:schemeClr>
        </a:solidFill>
        <a:ln w="19050" cap="flat" cmpd="sng" algn="ctr">
          <a:solidFill>
            <a:schemeClr val="bg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Expo React Native</a:t>
          </a:r>
          <a:endParaRPr lang="en-GB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300" kern="1200" dirty="0"/>
            <a:t>Compatibilă cu Android și IOS</a:t>
          </a:r>
          <a:endParaRPr lang="en-GB" sz="2300" kern="1200" dirty="0"/>
        </a:p>
      </dsp:txBody>
      <dsp:txXfrm>
        <a:off x="6627535" y="1856958"/>
        <a:ext cx="2905507" cy="2610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5F0C9-4219-4DAA-8132-7F00FD0AB5F3}">
      <dsp:nvSpPr>
        <dsp:cNvPr id="0" name=""/>
        <dsp:cNvSpPr/>
      </dsp:nvSpPr>
      <dsp:spPr>
        <a:xfrm>
          <a:off x="3404" y="1291293"/>
          <a:ext cx="3319314" cy="11232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 err="1"/>
            <a:t>Preluare</a:t>
          </a:r>
          <a:endParaRPr lang="en-GB" sz="3900" kern="1200" dirty="0"/>
        </a:p>
      </dsp:txBody>
      <dsp:txXfrm>
        <a:off x="3404" y="1291293"/>
        <a:ext cx="3319314" cy="1123200"/>
      </dsp:txXfrm>
    </dsp:sp>
    <dsp:sp modelId="{7BB914D7-68EE-473F-8269-4BF563D08901}">
      <dsp:nvSpPr>
        <dsp:cNvPr id="0" name=""/>
        <dsp:cNvSpPr/>
      </dsp:nvSpPr>
      <dsp:spPr>
        <a:xfrm>
          <a:off x="3404" y="2414493"/>
          <a:ext cx="3319314" cy="171288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</a:t>
          </a:r>
          <a:r>
            <a:rPr lang="ro-RO" sz="2000" kern="1200" dirty="0"/>
            <a:t>șierul public WESAD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000" kern="1200" dirty="0"/>
            <a:t>Măsurători preluate din încheietură pentru niște subiecți</a:t>
          </a:r>
          <a:endParaRPr lang="en-GB" sz="2000" kern="1200" dirty="0"/>
        </a:p>
      </dsp:txBody>
      <dsp:txXfrm>
        <a:off x="3404" y="2414493"/>
        <a:ext cx="3319314" cy="1712880"/>
      </dsp:txXfrm>
    </dsp:sp>
    <dsp:sp modelId="{A201C32F-49C7-499C-A769-0270F22564EA}">
      <dsp:nvSpPr>
        <dsp:cNvPr id="0" name=""/>
        <dsp:cNvSpPr/>
      </dsp:nvSpPr>
      <dsp:spPr>
        <a:xfrm>
          <a:off x="3787423" y="1291293"/>
          <a:ext cx="3319314" cy="11232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900" kern="1200" dirty="0"/>
            <a:t>Uniformizare </a:t>
          </a:r>
          <a:endParaRPr lang="en-GB" sz="3900" kern="1200" dirty="0"/>
        </a:p>
      </dsp:txBody>
      <dsp:txXfrm>
        <a:off x="3787423" y="1291293"/>
        <a:ext cx="3319314" cy="1123200"/>
      </dsp:txXfrm>
    </dsp:sp>
    <dsp:sp modelId="{33CA9954-E752-4D43-A5E3-9D542D198220}">
      <dsp:nvSpPr>
        <dsp:cNvPr id="0" name=""/>
        <dsp:cNvSpPr/>
      </dsp:nvSpPr>
      <dsp:spPr>
        <a:xfrm>
          <a:off x="3787423" y="2414493"/>
          <a:ext cx="3319314" cy="171288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000" kern="1200" dirty="0"/>
            <a:t>D</a:t>
          </a:r>
          <a:r>
            <a:rPr lang="en-GB" sz="2000" kern="1200" dirty="0" err="1"/>
            <a:t>ownsamplin</a:t>
          </a:r>
          <a:r>
            <a:rPr lang="ro-RO" sz="2000" kern="1200" dirty="0"/>
            <a:t>g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000" kern="1200" dirty="0"/>
            <a:t>Reducerea datelor la o frecvență comună =</a:t>
          </a:r>
          <a:r>
            <a:rPr lang="en-GB" sz="2000" kern="1200" dirty="0"/>
            <a:t>&gt; </a:t>
          </a:r>
          <a:r>
            <a:rPr lang="ro-RO" sz="2000" kern="1200" dirty="0"/>
            <a:t>set de date cu dimensiune unitară</a:t>
          </a:r>
          <a:endParaRPr lang="en-GB" sz="2000" kern="1200" dirty="0"/>
        </a:p>
      </dsp:txBody>
      <dsp:txXfrm>
        <a:off x="3787423" y="2414493"/>
        <a:ext cx="3319314" cy="1712880"/>
      </dsp:txXfrm>
    </dsp:sp>
    <dsp:sp modelId="{6310FDBA-2E21-4337-A06D-2089D2D98DBD}">
      <dsp:nvSpPr>
        <dsp:cNvPr id="0" name=""/>
        <dsp:cNvSpPr/>
      </dsp:nvSpPr>
      <dsp:spPr>
        <a:xfrm>
          <a:off x="7571441" y="1291293"/>
          <a:ext cx="3319314" cy="11232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900" kern="1200" dirty="0"/>
            <a:t>Normalizare</a:t>
          </a:r>
          <a:endParaRPr lang="en-GB" sz="3900" kern="1200" dirty="0"/>
        </a:p>
      </dsp:txBody>
      <dsp:txXfrm>
        <a:off x="7571441" y="1291293"/>
        <a:ext cx="3319314" cy="1123200"/>
      </dsp:txXfrm>
    </dsp:sp>
    <dsp:sp modelId="{462A3165-0A30-483E-B55A-97AE65D22891}">
      <dsp:nvSpPr>
        <dsp:cNvPr id="0" name=""/>
        <dsp:cNvSpPr/>
      </dsp:nvSpPr>
      <dsp:spPr>
        <a:xfrm>
          <a:off x="7571441" y="2414493"/>
          <a:ext cx="3319314" cy="171288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000" kern="1200" dirty="0"/>
            <a:t>Min-Max scalling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dirty="0"/>
            <a:t>Normalizarea elimin</a:t>
          </a:r>
          <a:r>
            <a:rPr lang="ro-RO" sz="2000" kern="1200" dirty="0"/>
            <a:t>ă</a:t>
          </a:r>
          <a:r>
            <a:rPr lang="it-IT" sz="2000" kern="1200" dirty="0"/>
            <a:t> varia</a:t>
          </a:r>
          <a:r>
            <a:rPr lang="ro-RO" sz="2000" kern="1200" dirty="0"/>
            <a:t>ț</a:t>
          </a:r>
          <a:r>
            <a:rPr lang="it-IT" sz="2000" kern="1200" dirty="0"/>
            <a:t>iile extreme </a:t>
          </a:r>
          <a:r>
            <a:rPr lang="ro-RO" sz="2000" kern="1200" dirty="0"/>
            <a:t>ș</a:t>
          </a:r>
          <a:r>
            <a:rPr lang="it-IT" sz="2000" kern="1200" dirty="0"/>
            <a:t>i faciliteaz</a:t>
          </a:r>
          <a:r>
            <a:rPr lang="ro-RO" sz="2000" kern="1200" dirty="0"/>
            <a:t>ă</a:t>
          </a:r>
          <a:r>
            <a:rPr lang="it-IT" sz="2000" kern="1200" dirty="0"/>
            <a:t> </a:t>
          </a:r>
          <a:r>
            <a:rPr lang="ro-RO" sz="2000" kern="1200" dirty="0"/>
            <a:t>î</a:t>
          </a:r>
          <a:r>
            <a:rPr lang="it-IT" sz="2000" kern="1200" dirty="0"/>
            <a:t>nv</a:t>
          </a:r>
          <a:r>
            <a:rPr lang="ro-RO" sz="2000" kern="1200" dirty="0"/>
            <a:t>ăț</a:t>
          </a:r>
          <a:r>
            <a:rPr lang="it-IT" sz="2000" kern="1200" dirty="0"/>
            <a:t>area modelulu</a:t>
          </a:r>
          <a:r>
            <a:rPr lang="ro-RO" sz="2000" kern="1200" dirty="0"/>
            <a:t>i</a:t>
          </a:r>
          <a:endParaRPr lang="en-GB" sz="2000" kern="1200" dirty="0"/>
        </a:p>
      </dsp:txBody>
      <dsp:txXfrm>
        <a:off x="7571441" y="2414493"/>
        <a:ext cx="3319314" cy="1712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3CF91-7E68-4D74-98BA-21FD4A9F201A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3BC06-3BFA-46CF-9543-26295881BC6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92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ultimii</a:t>
            </a:r>
            <a:r>
              <a:rPr lang="en-US" dirty="0"/>
              <a:t> ani </a:t>
            </a:r>
            <a:r>
              <a:rPr lang="en-US" dirty="0" err="1"/>
              <a:t>afectiunile</a:t>
            </a:r>
            <a:r>
              <a:rPr lang="en-US" dirty="0"/>
              <a:t> </a:t>
            </a:r>
            <a:r>
              <a:rPr lang="en-US" dirty="0" err="1"/>
              <a:t>mentale</a:t>
            </a:r>
            <a:r>
              <a:rPr lang="en-US" dirty="0"/>
              <a:t>, in special </a:t>
            </a:r>
            <a:r>
              <a:rPr lang="en-US" dirty="0" err="1"/>
              <a:t>depresia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stresul</a:t>
            </a:r>
            <a:r>
              <a:rPr lang="en-US" dirty="0"/>
              <a:t> au </a:t>
            </a:r>
            <a:r>
              <a:rPr lang="en-US" dirty="0" err="1"/>
              <a:t>devenit</a:t>
            </a:r>
            <a:r>
              <a:rPr lang="en-US" dirty="0"/>
              <a:t> din </a:t>
            </a:r>
            <a:r>
              <a:rPr lang="en-US" dirty="0" err="1"/>
              <a:t>ce</a:t>
            </a:r>
            <a:r>
              <a:rPr lang="en-US" dirty="0"/>
              <a:t> in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intalnite</a:t>
            </a:r>
            <a:r>
              <a:rPr lang="en-US" dirty="0"/>
              <a:t>. </a:t>
            </a:r>
          </a:p>
          <a:p>
            <a:r>
              <a:rPr lang="en-US" dirty="0"/>
              <a:t>Pandemia de Covid-19, pe </a:t>
            </a:r>
            <a:r>
              <a:rPr lang="en-US" dirty="0" err="1"/>
              <a:t>langa</a:t>
            </a:r>
            <a:r>
              <a:rPr lang="en-US" dirty="0"/>
              <a:t> </a:t>
            </a:r>
            <a:r>
              <a:rPr lang="en-US" dirty="0" err="1"/>
              <a:t>agravarea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trend, a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o </a:t>
            </a:r>
            <a:r>
              <a:rPr lang="en-US" dirty="0" err="1"/>
              <a:t>crestere</a:t>
            </a:r>
            <a:r>
              <a:rPr lang="en-US" dirty="0"/>
              <a:t> </a:t>
            </a:r>
            <a:r>
              <a:rPr lang="en-US" dirty="0" err="1"/>
              <a:t>exponentiala</a:t>
            </a:r>
            <a:r>
              <a:rPr lang="en-US" dirty="0"/>
              <a:t> a </a:t>
            </a:r>
            <a:r>
              <a:rPr lang="en-US" dirty="0" err="1"/>
              <a:t>utilizatorilor</a:t>
            </a:r>
            <a:r>
              <a:rPr lang="en-US" dirty="0"/>
              <a:t> de </a:t>
            </a:r>
            <a:r>
              <a:rPr lang="en-US" dirty="0" err="1"/>
              <a:t>dispozitive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de </a:t>
            </a:r>
            <a:r>
              <a:rPr lang="en-US" dirty="0" err="1"/>
              <a:t>sanatate</a:t>
            </a:r>
            <a:r>
              <a:rPr lang="en-US" dirty="0"/>
              <a:t>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smartwatchuri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fitness trackers.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3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Nume</a:t>
            </a:r>
            <a:r>
              <a:rPr lang="en-US" sz="2000" b="1" dirty="0"/>
              <a:t>:</a:t>
            </a:r>
            <a:r>
              <a:rPr lang="en-US" sz="2000" dirty="0"/>
              <a:t> Andrei Popescu </a:t>
            </a:r>
            <a:r>
              <a:rPr lang="en-US" sz="2000" i="1" dirty="0"/>
              <a:t>(</a:t>
            </a:r>
            <a:r>
              <a:rPr lang="en-US" sz="2000" i="1" dirty="0" err="1"/>
              <a:t>Persoana</a:t>
            </a:r>
            <a:r>
              <a:rPr lang="en-US" sz="2000" i="1" dirty="0"/>
              <a:t> </a:t>
            </a:r>
            <a:r>
              <a:rPr lang="en-US" sz="2000" i="1" dirty="0" err="1"/>
              <a:t>ficțională</a:t>
            </a:r>
            <a:r>
              <a:rPr lang="en-US" sz="2000" i="1" dirty="0"/>
              <a:t>)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Vârstă</a:t>
            </a:r>
            <a:r>
              <a:rPr lang="en-US" sz="2000" b="1" dirty="0"/>
              <a:t>:</a:t>
            </a:r>
            <a:r>
              <a:rPr lang="en-US" sz="2000" dirty="0"/>
              <a:t> 28 ani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Tehnologie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Deține</a:t>
            </a:r>
            <a:r>
              <a:rPr lang="en-US" sz="2000" dirty="0"/>
              <a:t> un smartwatch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monitorizarea</a:t>
            </a:r>
            <a:r>
              <a:rPr lang="en-US" sz="2000" dirty="0"/>
              <a:t> </a:t>
            </a:r>
            <a:r>
              <a:rPr lang="en-US" sz="2000" dirty="0" err="1"/>
              <a:t>sănătății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Stil</a:t>
            </a:r>
            <a:r>
              <a:rPr lang="en-US" sz="2000" b="1" dirty="0"/>
              <a:t> de </a:t>
            </a:r>
            <a:r>
              <a:rPr lang="en-US" sz="2000" b="1" dirty="0" err="1"/>
              <a:t>viață</a:t>
            </a:r>
            <a:r>
              <a:rPr lang="en-US" sz="2000" b="1" dirty="0"/>
              <a:t>: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Petrece</a:t>
            </a:r>
            <a:r>
              <a:rPr lang="en-US" sz="2000" dirty="0"/>
              <a:t> 8-10 ore pe zi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fața</a:t>
            </a:r>
            <a:r>
              <a:rPr lang="en-US" sz="2000" dirty="0"/>
              <a:t> </a:t>
            </a:r>
            <a:r>
              <a:rPr lang="en-US" sz="2000" dirty="0" err="1"/>
              <a:t>ecranului</a:t>
            </a:r>
            <a:r>
              <a:rPr lang="en-US" sz="20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Practică</a:t>
            </a:r>
            <a:r>
              <a:rPr lang="en-US" sz="2000" dirty="0"/>
              <a:t> fitness </a:t>
            </a:r>
            <a:r>
              <a:rPr lang="en-US" sz="2000" dirty="0" err="1"/>
              <a:t>ocazional</a:t>
            </a:r>
            <a:r>
              <a:rPr lang="en-US" sz="2000" dirty="0"/>
              <a:t>, </a:t>
            </a:r>
            <a:r>
              <a:rPr lang="en-US" sz="2000" dirty="0" err="1"/>
              <a:t>dar</a:t>
            </a:r>
            <a:r>
              <a:rPr lang="en-US" sz="2000" dirty="0"/>
              <a:t> se </a:t>
            </a:r>
            <a:r>
              <a:rPr lang="en-US" sz="2000" dirty="0" err="1"/>
              <a:t>simte</a:t>
            </a:r>
            <a:r>
              <a:rPr lang="en-US" sz="2000" dirty="0"/>
              <a:t> </a:t>
            </a:r>
            <a:r>
              <a:rPr lang="en-US" sz="2000" dirty="0" err="1"/>
              <a:t>copleșit</a:t>
            </a:r>
            <a:r>
              <a:rPr lang="en-US" sz="2000" dirty="0"/>
              <a:t> de </a:t>
            </a:r>
            <a:r>
              <a:rPr lang="en-US" sz="2000" dirty="0" err="1"/>
              <a:t>muncă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Nevoi</a:t>
            </a:r>
            <a:r>
              <a:rPr lang="en-US" sz="2000" b="1" dirty="0"/>
              <a:t> </a:t>
            </a:r>
            <a:r>
              <a:rPr lang="en-US" sz="2000" b="1" dirty="0" err="1"/>
              <a:t>și</a:t>
            </a:r>
            <a:r>
              <a:rPr lang="en-US" sz="2000" b="1" dirty="0"/>
              <a:t> </a:t>
            </a:r>
            <a:r>
              <a:rPr lang="en-US" sz="2000" b="1" dirty="0" err="1"/>
              <a:t>Motivații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Detectare</a:t>
            </a:r>
            <a:r>
              <a:rPr lang="en-US" sz="2000" b="1" dirty="0"/>
              <a:t> </a:t>
            </a:r>
            <a:r>
              <a:rPr lang="en-US" sz="2000" b="1" dirty="0" err="1"/>
              <a:t>timpurie</a:t>
            </a:r>
            <a:r>
              <a:rPr lang="en-US" sz="2000" b="1" dirty="0"/>
              <a:t>:</a:t>
            </a:r>
            <a:r>
              <a:rPr lang="en-US" sz="2000" dirty="0"/>
              <a:t> O </a:t>
            </a:r>
            <a:r>
              <a:rPr lang="en-US" sz="2000" dirty="0" err="1"/>
              <a:t>soluție</a:t>
            </a:r>
            <a:r>
              <a:rPr lang="en-US" sz="2000" dirty="0"/>
              <a:t> care </a:t>
            </a:r>
            <a:r>
              <a:rPr lang="en-US" sz="2000" dirty="0" err="1"/>
              <a:t>să</a:t>
            </a:r>
            <a:r>
              <a:rPr lang="en-US" sz="2000" dirty="0"/>
              <a:t>-l </a:t>
            </a:r>
            <a:r>
              <a:rPr lang="en-US" sz="2000" dirty="0" err="1"/>
              <a:t>avertizeze</a:t>
            </a:r>
            <a:r>
              <a:rPr lang="en-US" sz="2000" dirty="0"/>
              <a:t> </a:t>
            </a:r>
            <a:r>
              <a:rPr lang="en-US" sz="2000" dirty="0" err="1"/>
              <a:t>când</a:t>
            </a:r>
            <a:r>
              <a:rPr lang="en-US" sz="2000" dirty="0"/>
              <a:t> </a:t>
            </a:r>
            <a:r>
              <a:rPr lang="en-US" sz="2000" dirty="0" err="1"/>
              <a:t>nivelul</a:t>
            </a:r>
            <a:r>
              <a:rPr lang="en-US" sz="2000" dirty="0"/>
              <a:t> de </a:t>
            </a:r>
            <a:r>
              <a:rPr lang="en-US" sz="2000" dirty="0" err="1"/>
              <a:t>stres</a:t>
            </a:r>
            <a:r>
              <a:rPr lang="en-US" sz="2000" dirty="0"/>
              <a:t> </a:t>
            </a:r>
            <a:r>
              <a:rPr lang="en-US" sz="2000" dirty="0" err="1"/>
              <a:t>crește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Recomandări</a:t>
            </a:r>
            <a:r>
              <a:rPr lang="en-US" sz="2000" b="1" dirty="0"/>
              <a:t> practice:</a:t>
            </a:r>
            <a:r>
              <a:rPr lang="en-US" sz="2000" dirty="0"/>
              <a:t> </a:t>
            </a:r>
            <a:r>
              <a:rPr lang="en-US" sz="2000" dirty="0" err="1"/>
              <a:t>Sfaturi</a:t>
            </a:r>
            <a:r>
              <a:rPr lang="en-US" sz="2000" dirty="0"/>
              <a:t> </a:t>
            </a:r>
            <a:r>
              <a:rPr lang="en-US" sz="2000" dirty="0" err="1"/>
              <a:t>rapide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relaxare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Confort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Acces</a:t>
            </a:r>
            <a:r>
              <a:rPr lang="en-US" sz="2000" dirty="0"/>
              <a:t> </a:t>
            </a:r>
            <a:r>
              <a:rPr lang="en-US" sz="2000" dirty="0" err="1"/>
              <a:t>facil</a:t>
            </a:r>
            <a:r>
              <a:rPr lang="en-US" sz="2000" dirty="0"/>
              <a:t> la </a:t>
            </a:r>
            <a:r>
              <a:rPr lang="en-US" sz="2000" dirty="0" err="1"/>
              <a:t>psihologi</a:t>
            </a:r>
            <a:r>
              <a:rPr lang="en-US" sz="2000" dirty="0"/>
              <a:t>, </a:t>
            </a:r>
            <a:r>
              <a:rPr lang="en-US" sz="2000" dirty="0" err="1"/>
              <a:t>fără</a:t>
            </a:r>
            <a:r>
              <a:rPr lang="en-US" sz="2000" dirty="0"/>
              <a:t> a-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schimba</a:t>
            </a:r>
            <a:r>
              <a:rPr lang="en-US" sz="2000" dirty="0"/>
              <a:t> </a:t>
            </a:r>
            <a:r>
              <a:rPr lang="en-US" sz="2000" dirty="0" err="1"/>
              <a:t>rutina</a:t>
            </a:r>
            <a:r>
              <a:rPr lang="en-US" sz="2000" dirty="0"/>
              <a:t> </a:t>
            </a:r>
            <a:r>
              <a:rPr lang="en-US" sz="2000" dirty="0" err="1"/>
              <a:t>zilnică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54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B2B- </a:t>
            </a:r>
            <a:r>
              <a:rPr lang="en-US" sz="1600" dirty="0" err="1"/>
              <a:t>Colaborare</a:t>
            </a:r>
            <a:r>
              <a:rPr lang="en-US" sz="1600" dirty="0"/>
              <a:t> cu </a:t>
            </a:r>
            <a:r>
              <a:rPr lang="en-US" sz="1600" dirty="0" err="1"/>
              <a:t>cabinetele</a:t>
            </a:r>
            <a:r>
              <a:rPr lang="en-US" sz="1600" dirty="0"/>
              <a:t> </a:t>
            </a:r>
            <a:r>
              <a:rPr lang="en-US" sz="1600" dirty="0" err="1"/>
              <a:t>psihologilor</a:t>
            </a:r>
            <a:endParaRPr lang="en-US" sz="16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 err="1"/>
              <a:t>Problema</a:t>
            </a:r>
            <a:r>
              <a:rPr lang="en-US" sz="1600" b="1" dirty="0"/>
              <a:t> </a:t>
            </a:r>
            <a:r>
              <a:rPr lang="en-US" sz="1600" b="1" dirty="0" err="1"/>
              <a:t>identificată</a:t>
            </a:r>
            <a:r>
              <a:rPr lang="en-US" sz="1600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Lipsa</a:t>
            </a:r>
            <a:r>
              <a:rPr lang="en-US" sz="1600" b="1" dirty="0"/>
              <a:t> </a:t>
            </a:r>
            <a:r>
              <a:rPr lang="en-US" sz="1600" b="1" dirty="0" err="1"/>
              <a:t>pacienților</a:t>
            </a:r>
            <a:r>
              <a:rPr lang="en-US" sz="1600" b="1" dirty="0"/>
              <a:t> </a:t>
            </a:r>
            <a:r>
              <a:rPr lang="en-US" sz="1600" b="1" dirty="0" err="1"/>
              <a:t>noi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Mulți</a:t>
            </a:r>
            <a:r>
              <a:rPr lang="en-US" sz="1600" dirty="0"/>
              <a:t> </a:t>
            </a:r>
            <a:r>
              <a:rPr lang="en-US" sz="1600" dirty="0" err="1"/>
              <a:t>psihologi</a:t>
            </a:r>
            <a:r>
              <a:rPr lang="en-US" sz="1600" dirty="0"/>
              <a:t> </a:t>
            </a:r>
            <a:r>
              <a:rPr lang="en-US" sz="1600" dirty="0" err="1"/>
              <a:t>independenți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cabinete</a:t>
            </a:r>
            <a:r>
              <a:rPr lang="en-US" sz="1600" dirty="0"/>
              <a:t> au </a:t>
            </a:r>
            <a:r>
              <a:rPr lang="en-US" sz="1600" dirty="0" err="1"/>
              <a:t>dificultăți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a </a:t>
            </a:r>
            <a:r>
              <a:rPr lang="en-US" sz="1600" dirty="0" err="1"/>
              <a:t>atrage</a:t>
            </a:r>
            <a:r>
              <a:rPr lang="en-US" sz="1600" dirty="0"/>
              <a:t> </a:t>
            </a:r>
            <a:r>
              <a:rPr lang="en-US" sz="1600" dirty="0" err="1"/>
              <a:t>clienți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Fragmentarea</a:t>
            </a:r>
            <a:r>
              <a:rPr lang="en-US" sz="1600" b="1" dirty="0"/>
              <a:t> </a:t>
            </a:r>
            <a:r>
              <a:rPr lang="en-US" sz="1600" b="1" dirty="0" err="1"/>
              <a:t>pieței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Publicul</a:t>
            </a:r>
            <a:r>
              <a:rPr lang="en-US" sz="1600" dirty="0"/>
              <a:t> </a:t>
            </a:r>
            <a:r>
              <a:rPr lang="en-US" sz="1600" dirty="0" err="1"/>
              <a:t>larg</a:t>
            </a:r>
            <a:r>
              <a:rPr lang="en-US" sz="1600" dirty="0"/>
              <a:t> nu </a:t>
            </a:r>
            <a:r>
              <a:rPr lang="en-US" sz="1600" dirty="0" err="1"/>
              <a:t>știe</a:t>
            </a:r>
            <a:r>
              <a:rPr lang="en-US" sz="1600" dirty="0"/>
              <a:t> </a:t>
            </a:r>
            <a:r>
              <a:rPr lang="en-US" sz="1600" dirty="0" err="1"/>
              <a:t>întotdeauna</a:t>
            </a:r>
            <a:r>
              <a:rPr lang="en-US" sz="1600" dirty="0"/>
              <a:t> </a:t>
            </a:r>
            <a:r>
              <a:rPr lang="en-US" sz="1600" dirty="0" err="1"/>
              <a:t>unde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găsească</a:t>
            </a:r>
            <a:r>
              <a:rPr lang="en-US" sz="1600" dirty="0"/>
              <a:t> un </a:t>
            </a:r>
            <a:r>
              <a:rPr lang="en-US" sz="1600" dirty="0" err="1"/>
              <a:t>psiholog</a:t>
            </a:r>
            <a:r>
              <a:rPr lang="en-US" sz="1600" dirty="0"/>
              <a:t> </a:t>
            </a:r>
            <a:r>
              <a:rPr lang="en-US" sz="1600" dirty="0" err="1"/>
              <a:t>potrivit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 err="1"/>
              <a:t>Soluția</a:t>
            </a:r>
            <a:r>
              <a:rPr lang="en-US" sz="1600" b="1" dirty="0"/>
              <a:t> </a:t>
            </a:r>
            <a:r>
              <a:rPr lang="en-US" sz="1600" b="1" dirty="0" err="1"/>
              <a:t>noastră</a:t>
            </a:r>
            <a:r>
              <a:rPr lang="en-US" sz="16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Generare</a:t>
            </a:r>
            <a:r>
              <a:rPr lang="en-US" sz="1600" b="1" dirty="0"/>
              <a:t> </a:t>
            </a:r>
            <a:r>
              <a:rPr lang="en-US" sz="1600" b="1" dirty="0" err="1"/>
              <a:t>constantă</a:t>
            </a:r>
            <a:r>
              <a:rPr lang="en-US" sz="1600" b="1" dirty="0"/>
              <a:t> de </a:t>
            </a:r>
            <a:r>
              <a:rPr lang="en-US" sz="1600" b="1" dirty="0" err="1"/>
              <a:t>clienți</a:t>
            </a:r>
            <a:r>
              <a:rPr lang="en-US" sz="1600" b="1" dirty="0"/>
              <a:t>:</a:t>
            </a:r>
            <a:endParaRPr lang="en-US" sz="16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Conectarea</a:t>
            </a:r>
            <a:r>
              <a:rPr lang="en-US" sz="1600" dirty="0"/>
              <a:t> </a:t>
            </a:r>
            <a:r>
              <a:rPr lang="en-US" sz="1600" dirty="0" err="1"/>
              <a:t>utilizatorilor</a:t>
            </a:r>
            <a:r>
              <a:rPr lang="en-US" sz="1600" dirty="0"/>
              <a:t> </a:t>
            </a:r>
            <a:r>
              <a:rPr lang="en-US" sz="1600" dirty="0" err="1"/>
              <a:t>aplicației</a:t>
            </a:r>
            <a:r>
              <a:rPr lang="en-US" sz="1600" dirty="0"/>
              <a:t> direct cu </a:t>
            </a:r>
            <a:r>
              <a:rPr lang="en-US" sz="1600" dirty="0" err="1"/>
              <a:t>psihologii</a:t>
            </a:r>
            <a:r>
              <a:rPr lang="en-US" sz="1600" dirty="0"/>
              <a:t> </a:t>
            </a:r>
            <a:r>
              <a:rPr lang="en-US" sz="1600" dirty="0" err="1"/>
              <a:t>parteneri</a:t>
            </a:r>
            <a:r>
              <a:rPr lang="en-US" sz="1600" dirty="0"/>
              <a:t> </a:t>
            </a:r>
            <a:r>
              <a:rPr lang="en-US" sz="1600" dirty="0" err="1"/>
              <a:t>atunci</a:t>
            </a:r>
            <a:r>
              <a:rPr lang="en-US" sz="1600" dirty="0"/>
              <a:t> </a:t>
            </a:r>
            <a:r>
              <a:rPr lang="en-US" sz="1600" dirty="0" err="1"/>
              <a:t>când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detectată</a:t>
            </a:r>
            <a:r>
              <a:rPr lang="en-US" sz="1600" dirty="0"/>
              <a:t> o </a:t>
            </a:r>
            <a:r>
              <a:rPr lang="en-US" sz="1600" dirty="0" err="1"/>
              <a:t>nevoie</a:t>
            </a:r>
            <a:r>
              <a:rPr lang="en-US" sz="1600" dirty="0"/>
              <a:t> </a:t>
            </a:r>
            <a:r>
              <a:rPr lang="en-US" sz="1600" dirty="0" err="1"/>
              <a:t>acută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Creșterea</a:t>
            </a:r>
            <a:r>
              <a:rPr lang="en-US" sz="1600" b="1" dirty="0"/>
              <a:t> </a:t>
            </a:r>
            <a:r>
              <a:rPr lang="en-US" sz="1600" b="1" dirty="0" err="1"/>
              <a:t>vizibilității</a:t>
            </a:r>
            <a:r>
              <a:rPr lang="en-US" sz="1600" b="1" dirty="0"/>
              <a:t>:</a:t>
            </a:r>
            <a:endParaRPr lang="en-US" sz="16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Cabinetele</a:t>
            </a:r>
            <a:r>
              <a:rPr lang="en-US" sz="1600" dirty="0"/>
              <a:t> </a:t>
            </a:r>
            <a:r>
              <a:rPr lang="en-US" sz="1600" dirty="0" err="1"/>
              <a:t>listate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aplicație</a:t>
            </a:r>
            <a:r>
              <a:rPr lang="en-US" sz="1600" dirty="0"/>
              <a:t> </a:t>
            </a:r>
            <a:r>
              <a:rPr lang="en-US" sz="1600" dirty="0" err="1"/>
              <a:t>primesc</a:t>
            </a:r>
            <a:r>
              <a:rPr lang="en-US" sz="1600" dirty="0"/>
              <a:t> </a:t>
            </a:r>
            <a:r>
              <a:rPr lang="en-US" sz="1600" dirty="0" err="1"/>
              <a:t>expunere</a:t>
            </a:r>
            <a:r>
              <a:rPr lang="en-US" sz="1600" dirty="0"/>
              <a:t> </a:t>
            </a:r>
            <a:r>
              <a:rPr lang="en-US" sz="1600" dirty="0" err="1"/>
              <a:t>targetată</a:t>
            </a:r>
            <a:r>
              <a:rPr lang="en-US" sz="1600" dirty="0"/>
              <a:t> </a:t>
            </a:r>
            <a:r>
              <a:rPr lang="en-US" sz="1600" dirty="0" err="1"/>
              <a:t>către</a:t>
            </a:r>
            <a:r>
              <a:rPr lang="en-US" sz="1600" dirty="0"/>
              <a:t> </a:t>
            </a:r>
            <a:r>
              <a:rPr lang="en-US" sz="1600" dirty="0" err="1"/>
              <a:t>utilizatori</a:t>
            </a:r>
            <a:r>
              <a:rPr lang="en-US" sz="1600" dirty="0"/>
              <a:t> </a:t>
            </a:r>
            <a:r>
              <a:rPr lang="en-US" sz="1600" dirty="0" err="1"/>
              <a:t>deja</a:t>
            </a:r>
            <a:r>
              <a:rPr lang="en-US" sz="1600" dirty="0"/>
              <a:t> </a:t>
            </a:r>
            <a:r>
              <a:rPr lang="en-US" sz="1600" dirty="0" err="1"/>
              <a:t>interesați</a:t>
            </a:r>
            <a:r>
              <a:rPr lang="en-US" sz="1600" dirty="0"/>
              <a:t> de </a:t>
            </a:r>
            <a:r>
              <a:rPr lang="en-US" sz="1600" dirty="0" err="1"/>
              <a:t>suport</a:t>
            </a:r>
            <a:r>
              <a:rPr lang="en-US" sz="1600" dirty="0"/>
              <a:t> </a:t>
            </a:r>
            <a:r>
              <a:rPr lang="en-US" sz="1600" dirty="0" err="1"/>
              <a:t>psihologic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58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200" b="1" dirty="0" err="1"/>
              <a:t>Problema</a:t>
            </a:r>
            <a:r>
              <a:rPr lang="en-GB" sz="1200" b="1" dirty="0"/>
              <a:t>:</a:t>
            </a:r>
            <a:r>
              <a:rPr lang="en-GB" sz="1200" dirty="0"/>
              <a:t> </a:t>
            </a:r>
            <a:r>
              <a:rPr lang="en-GB" sz="1200" dirty="0" err="1"/>
              <a:t>Stresul</a:t>
            </a:r>
            <a:r>
              <a:rPr lang="en-GB" sz="1200" dirty="0"/>
              <a:t> </a:t>
            </a:r>
            <a:r>
              <a:rPr lang="en-GB" sz="1200" dirty="0" err="1"/>
              <a:t>cronic</a:t>
            </a:r>
            <a:r>
              <a:rPr lang="en-GB" sz="1200" dirty="0"/>
              <a:t> </a:t>
            </a:r>
            <a:r>
              <a:rPr lang="en-GB" sz="1200" dirty="0" err="1"/>
              <a:t>afectează</a:t>
            </a:r>
            <a:r>
              <a:rPr lang="en-GB" sz="1200" dirty="0"/>
              <a:t> </a:t>
            </a:r>
            <a:r>
              <a:rPr lang="en-GB" sz="1200" dirty="0" err="1"/>
              <a:t>aproximativ</a:t>
            </a:r>
            <a:r>
              <a:rPr lang="en-GB" sz="1200" dirty="0"/>
              <a:t> 50% din </a:t>
            </a:r>
            <a:r>
              <a:rPr lang="en-GB" sz="1200" dirty="0" err="1"/>
              <a:t>populație</a:t>
            </a:r>
            <a:r>
              <a:rPr lang="en-GB" sz="1200" dirty="0"/>
              <a:t>, </a:t>
            </a:r>
            <a:r>
              <a:rPr lang="en-GB" sz="1200" dirty="0" err="1"/>
              <a:t>iar</a:t>
            </a:r>
            <a:r>
              <a:rPr lang="en-GB" sz="1200" dirty="0"/>
              <a:t> </a:t>
            </a:r>
            <a:r>
              <a:rPr lang="en-GB" sz="1200" dirty="0" err="1"/>
              <a:t>semnele</a:t>
            </a:r>
            <a:r>
              <a:rPr lang="en-GB" sz="1200" dirty="0"/>
              <a:t> </a:t>
            </a:r>
            <a:r>
              <a:rPr lang="en-GB" sz="1200" dirty="0" err="1"/>
              <a:t>timpurii</a:t>
            </a:r>
            <a:r>
              <a:rPr lang="en-GB" sz="1200" dirty="0"/>
              <a:t> sunt </a:t>
            </a:r>
            <a:r>
              <a:rPr lang="en-GB" sz="1200" dirty="0" err="1"/>
              <a:t>deseori</a:t>
            </a:r>
            <a:r>
              <a:rPr lang="en-GB" sz="1200" dirty="0"/>
              <a:t> </a:t>
            </a:r>
            <a:r>
              <a:rPr lang="en-GB" sz="1200" dirty="0" err="1"/>
              <a:t>ignorate</a:t>
            </a:r>
            <a:r>
              <a:rPr lang="en-GB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 err="1"/>
              <a:t>Provocare</a:t>
            </a:r>
            <a:r>
              <a:rPr lang="en-GB" sz="1200" b="1" dirty="0"/>
              <a:t>:</a:t>
            </a:r>
            <a:r>
              <a:rPr lang="en-GB" sz="1200" dirty="0"/>
              <a:t> </a:t>
            </a:r>
            <a:r>
              <a:rPr lang="en-GB" sz="1200" dirty="0" err="1"/>
              <a:t>Lipsa</a:t>
            </a:r>
            <a:r>
              <a:rPr lang="en-GB" sz="1200" dirty="0"/>
              <a:t> </a:t>
            </a:r>
            <a:r>
              <a:rPr lang="en-GB" sz="1200" dirty="0" err="1"/>
              <a:t>unor</a:t>
            </a:r>
            <a:r>
              <a:rPr lang="en-GB" sz="1200" dirty="0"/>
              <a:t> </a:t>
            </a:r>
            <a:r>
              <a:rPr lang="en-GB" sz="1200" dirty="0" err="1"/>
              <a:t>soluții</a:t>
            </a:r>
            <a:r>
              <a:rPr lang="en-GB" sz="1200" dirty="0"/>
              <a:t> </a:t>
            </a:r>
            <a:r>
              <a:rPr lang="en-GB" sz="1200" dirty="0" err="1"/>
              <a:t>accesibile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personalizate</a:t>
            </a:r>
            <a:r>
              <a:rPr lang="en-GB" sz="1200" dirty="0"/>
              <a:t> </a:t>
            </a:r>
            <a:r>
              <a:rPr lang="en-GB" sz="1200" dirty="0" err="1"/>
              <a:t>pentru</a:t>
            </a:r>
            <a:r>
              <a:rPr lang="en-GB" sz="1200" dirty="0"/>
              <a:t> </a:t>
            </a:r>
            <a:r>
              <a:rPr lang="en-GB" sz="1200" dirty="0" err="1"/>
              <a:t>gestionarea</a:t>
            </a:r>
            <a:r>
              <a:rPr lang="en-GB" sz="1200" dirty="0"/>
              <a:t> </a:t>
            </a:r>
            <a:r>
              <a:rPr lang="en-GB" sz="1200" dirty="0" err="1"/>
              <a:t>stresului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timp</a:t>
            </a:r>
            <a:r>
              <a:rPr lang="en-GB" sz="1200" dirty="0"/>
              <a:t> real.</a:t>
            </a:r>
          </a:p>
          <a:p>
            <a:endParaRPr lang="en-GB" sz="1200" dirty="0"/>
          </a:p>
          <a:p>
            <a:r>
              <a:rPr lang="en-GB" b="1" dirty="0" err="1"/>
              <a:t>Soluția</a:t>
            </a:r>
            <a:r>
              <a:rPr lang="en-GB" b="1" dirty="0"/>
              <a:t> </a:t>
            </a:r>
            <a:r>
              <a:rPr lang="en-GB" b="1" dirty="0" err="1"/>
              <a:t>Oferită</a:t>
            </a:r>
            <a:r>
              <a:rPr lang="en-GB" b="1" dirty="0"/>
              <a:t> de </a:t>
            </a:r>
            <a:r>
              <a:rPr lang="en-GB" b="1" dirty="0" err="1"/>
              <a:t>aplicația</a:t>
            </a:r>
            <a:r>
              <a:rPr lang="en-GB" b="1" dirty="0"/>
              <a:t> </a:t>
            </a:r>
            <a:r>
              <a:rPr lang="en-GB" b="1" dirty="0" err="1"/>
              <a:t>noastră</a:t>
            </a: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 err="1"/>
              <a:t>Detectare</a:t>
            </a:r>
            <a:r>
              <a:rPr lang="en-GB" b="1" dirty="0"/>
              <a:t> </a:t>
            </a:r>
            <a:r>
              <a:rPr lang="en-GB" b="1" dirty="0" err="1"/>
              <a:t>timpurie</a:t>
            </a:r>
            <a:r>
              <a:rPr lang="en-GB" b="1" dirty="0"/>
              <a:t> a </a:t>
            </a:r>
            <a:r>
              <a:rPr lang="en-GB" b="1" dirty="0" err="1"/>
              <a:t>stresului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Monitorizare</a:t>
            </a:r>
            <a:r>
              <a:rPr lang="en-GB" dirty="0"/>
              <a:t> </a:t>
            </a:r>
            <a:r>
              <a:rPr lang="en-GB" dirty="0" err="1"/>
              <a:t>continuă</a:t>
            </a:r>
            <a:r>
              <a:rPr lang="en-GB" dirty="0"/>
              <a:t> a </a:t>
            </a:r>
            <a:r>
              <a:rPr lang="en-GB" dirty="0" err="1"/>
              <a:t>semnelor</a:t>
            </a:r>
            <a:r>
              <a:rPr lang="en-GB" dirty="0"/>
              <a:t> de </a:t>
            </a:r>
            <a:r>
              <a:rPr lang="en-GB" dirty="0" err="1"/>
              <a:t>stres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dispozitivul</a:t>
            </a:r>
            <a:r>
              <a:rPr lang="en-GB" dirty="0"/>
              <a:t> </a:t>
            </a:r>
            <a:r>
              <a:rPr lang="en-GB" dirty="0" err="1"/>
              <a:t>purtabil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Utilizarea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AI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analiza</a:t>
            </a:r>
            <a:r>
              <a:rPr lang="en-GB" dirty="0"/>
              <a:t> </a:t>
            </a:r>
            <a:r>
              <a:rPr lang="en-GB" dirty="0" err="1"/>
              <a:t>datele</a:t>
            </a:r>
            <a:r>
              <a:rPr lang="en-GB" dirty="0"/>
              <a:t> </a:t>
            </a:r>
            <a:r>
              <a:rPr lang="en-GB" dirty="0" err="1"/>
              <a:t>biometrice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timp</a:t>
            </a:r>
            <a:r>
              <a:rPr lang="en-GB" dirty="0"/>
              <a:t> real.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Sfaturi</a:t>
            </a:r>
            <a:r>
              <a:rPr lang="en-GB" b="1" dirty="0"/>
              <a:t> </a:t>
            </a:r>
            <a:r>
              <a:rPr lang="en-GB" b="1" dirty="0" err="1"/>
              <a:t>personalizate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 </a:t>
            </a:r>
            <a:r>
              <a:rPr lang="en-GB" b="1" dirty="0" err="1"/>
              <a:t>relaxare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Recomandări</a:t>
            </a:r>
            <a:r>
              <a:rPr lang="en-GB" dirty="0"/>
              <a:t> </a:t>
            </a:r>
            <a:r>
              <a:rPr lang="en-GB" dirty="0" err="1"/>
              <a:t>imediate</a:t>
            </a:r>
            <a:r>
              <a:rPr lang="en-GB" dirty="0"/>
              <a:t>, cum </a:t>
            </a:r>
            <a:r>
              <a:rPr lang="en-GB" dirty="0" err="1"/>
              <a:t>ar</a:t>
            </a:r>
            <a:r>
              <a:rPr lang="en-GB" dirty="0"/>
              <a:t> fi </a:t>
            </a:r>
            <a:r>
              <a:rPr lang="en-GB" dirty="0" err="1"/>
              <a:t>exerciții</a:t>
            </a:r>
            <a:r>
              <a:rPr lang="en-GB" dirty="0"/>
              <a:t> de </a:t>
            </a:r>
            <a:r>
              <a:rPr lang="en-GB" dirty="0" err="1"/>
              <a:t>respirație</a:t>
            </a:r>
            <a:r>
              <a:rPr lang="en-GB" dirty="0"/>
              <a:t>, </a:t>
            </a:r>
            <a:r>
              <a:rPr lang="en-GB" dirty="0" err="1"/>
              <a:t>meditație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pauze</a:t>
            </a:r>
            <a:r>
              <a:rPr lang="en-GB" dirty="0"/>
              <a:t> </a:t>
            </a:r>
            <a:r>
              <a:rPr lang="en-GB" dirty="0" err="1"/>
              <a:t>planificate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Conectare</a:t>
            </a:r>
            <a:r>
              <a:rPr lang="en-GB" b="1" dirty="0"/>
              <a:t> cu un </a:t>
            </a:r>
            <a:r>
              <a:rPr lang="en-GB" b="1" dirty="0" err="1"/>
              <a:t>psiholog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Acces</a:t>
            </a:r>
            <a:r>
              <a:rPr lang="en-GB" dirty="0"/>
              <a:t> direct la </a:t>
            </a:r>
            <a:r>
              <a:rPr lang="en-GB" dirty="0" err="1"/>
              <a:t>specialiști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suport</a:t>
            </a:r>
            <a:r>
              <a:rPr lang="en-GB" dirty="0"/>
              <a:t> </a:t>
            </a:r>
            <a:r>
              <a:rPr lang="en-GB" dirty="0" err="1"/>
              <a:t>profesional</a:t>
            </a:r>
            <a:r>
              <a:rPr lang="en-GB" dirty="0"/>
              <a:t> </a:t>
            </a:r>
            <a:r>
              <a:rPr lang="en-GB" dirty="0" err="1"/>
              <a:t>atunci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utilizatorul</a:t>
            </a:r>
            <a:r>
              <a:rPr lang="en-GB" dirty="0"/>
              <a:t> are </a:t>
            </a:r>
            <a:r>
              <a:rPr lang="en-GB" dirty="0" err="1"/>
              <a:t>nevoie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49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B2C (business – to - consumer):</a:t>
            </a:r>
            <a:endParaRPr kumimoji="0" lang="ro-RO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5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Abonament lunar pentru utilizatori: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 complet la funcționalitățile aplicației (detecția stresului, sfaturi personalizate, istoricul datelor biometrice).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Planuri: Basic (gratuit), Premium (4,99 €/lună)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B2B (business – to – business):</a:t>
            </a:r>
            <a:endParaRPr kumimoji="0" lang="ro-RO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5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Comision per sesiune rezervată prin aplicație: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Cabinetele psihologilor plătesc un comision de 5-10% din valoarea sesiunii confirmate.</a:t>
            </a:r>
          </a:p>
          <a:p>
            <a:endParaRPr lang="en-GB" sz="15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0156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Detectarea stresului în timp real: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Integrare cu dispozitive purtabile pentru colectarea datelor biometrice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 AI dezvoltat pentru analizarea stresului pe baza datelor primite.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Sfaturi personalizate pentru relaxare: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Recomandări generate în timp real utilizând o integrare API cu GPT-4 pentru soluții adaptate fiecărui utilizator.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Interfață intuitivă și ușor de utilizat: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Dezvoltată în Expo React Native pentru compatibilitate pe Android.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952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In cele ce urmeaza vom discuta despre modul in care am construit modelul de AI care ajuta la detectarea starilor psihice ale utilizatorilor.</a:t>
            </a:r>
          </a:p>
          <a:p>
            <a:r>
              <a:rPr lang="ro-RO" dirty="0"/>
              <a:t>Am abordat problema in 3 etape, pe care le vom aborda individual in cele ce urmeaza.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94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Preluarea datelor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Fi</a:t>
            </a:r>
            <a:r>
              <a:rPr lang="ro-RO" sz="1200" dirty="0"/>
              <a:t>șierul public WESAD</a:t>
            </a:r>
            <a:endParaRPr lang="en-GB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o-RO" sz="1200" dirty="0"/>
              <a:t>Măsurători preluate din încheietură pentru niște subiecți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ro-RO" sz="1200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ro-RO" sz="1200" dirty="0"/>
              <a:t>Uniformizarea datelor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o-RO" sz="1200" dirty="0"/>
              <a:t>D</a:t>
            </a:r>
            <a:r>
              <a:rPr lang="en-GB" sz="1200" dirty="0" err="1"/>
              <a:t>ownsamplin</a:t>
            </a:r>
            <a:r>
              <a:rPr lang="ro-RO" sz="1200" dirty="0"/>
              <a:t>g</a:t>
            </a:r>
            <a:endParaRPr lang="en-GB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o-RO" sz="1200" dirty="0"/>
              <a:t>Reducerea datelor la o frecvență comună =</a:t>
            </a:r>
            <a:r>
              <a:rPr lang="en-GB" sz="1200" dirty="0"/>
              <a:t>&gt; </a:t>
            </a:r>
            <a:r>
              <a:rPr lang="ro-RO" sz="1200" dirty="0"/>
              <a:t>set de date cu dimensiune unitară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ro-RO" sz="1200" dirty="0"/>
              <a:t>Normalizarea datelor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o-RO" sz="1200" dirty="0"/>
              <a:t>Min-Max scalling</a:t>
            </a:r>
            <a:endParaRPr lang="en-GB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1200" dirty="0"/>
              <a:t>Normalizarea elimin</a:t>
            </a:r>
            <a:r>
              <a:rPr lang="ro-RO" sz="1200" dirty="0"/>
              <a:t>ă</a:t>
            </a:r>
            <a:r>
              <a:rPr lang="it-IT" sz="1200" dirty="0"/>
              <a:t> varia</a:t>
            </a:r>
            <a:r>
              <a:rPr lang="ro-RO" sz="1200" dirty="0"/>
              <a:t>ț</a:t>
            </a:r>
            <a:r>
              <a:rPr lang="it-IT" sz="1200" dirty="0"/>
              <a:t>iile extreme </a:t>
            </a:r>
            <a:r>
              <a:rPr lang="ro-RO" sz="1200" dirty="0"/>
              <a:t>ș</a:t>
            </a:r>
            <a:r>
              <a:rPr lang="it-IT" sz="1200" dirty="0"/>
              <a:t>i faciliteaz</a:t>
            </a:r>
            <a:r>
              <a:rPr lang="ro-RO" sz="1200" dirty="0"/>
              <a:t>ă</a:t>
            </a:r>
            <a:r>
              <a:rPr lang="it-IT" sz="1200" dirty="0"/>
              <a:t> </a:t>
            </a:r>
            <a:r>
              <a:rPr lang="ro-RO" sz="1200" dirty="0"/>
              <a:t>î</a:t>
            </a:r>
            <a:r>
              <a:rPr lang="it-IT" sz="1200" dirty="0"/>
              <a:t>nv</a:t>
            </a:r>
            <a:r>
              <a:rPr lang="ro-RO" sz="1200" dirty="0"/>
              <a:t>ăț</a:t>
            </a:r>
            <a:r>
              <a:rPr lang="it-IT" sz="1200" dirty="0"/>
              <a:t>area modelulu</a:t>
            </a:r>
            <a:r>
              <a:rPr lang="ro-RO" sz="1200" dirty="0"/>
              <a:t>i</a:t>
            </a:r>
            <a:endParaRPr lang="en-GB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0" lvl="0" indent="0">
              <a:buFont typeface="Arial" panose="020B0604020202020204" pitchFamily="34" charset="0"/>
              <a:buNone/>
            </a:pP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113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2400" dirty="0"/>
              <a:t>c</a:t>
            </a:r>
            <a:r>
              <a:rPr lang="en-GB" sz="2400" dirty="0"/>
              <a:t>ate un model LSTM de tip many-to-one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ro-RO" sz="2400" dirty="0"/>
              <a:t>fi</a:t>
            </a:r>
            <a:r>
              <a:rPr lang="en-GB" sz="2400" dirty="0" err="1"/>
              <a:t>ecare</a:t>
            </a:r>
            <a:r>
              <a:rPr lang="en-GB" sz="2400" dirty="0"/>
              <a:t> tip de date de </a:t>
            </a:r>
            <a:r>
              <a:rPr lang="en-GB" sz="2400" dirty="0" err="1"/>
              <a:t>intrar</a:t>
            </a:r>
            <a:r>
              <a:rPr lang="ro-RO" sz="2400" dirty="0"/>
              <a:t>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ACC</a:t>
            </a:r>
            <a:r>
              <a:rPr lang="ro-RO" sz="2400" dirty="0"/>
              <a:t>  = acceloremetrie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TEMP</a:t>
            </a:r>
            <a:r>
              <a:rPr lang="ro-RO" sz="2400" dirty="0"/>
              <a:t> = temperatura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BVP</a:t>
            </a:r>
            <a:r>
              <a:rPr lang="ro-RO" sz="2400" dirty="0"/>
              <a:t>  = volum puls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EDA </a:t>
            </a:r>
            <a:r>
              <a:rPr lang="ro-RO" sz="2400" dirty="0"/>
              <a:t> = răspuns galvanic al pielii</a:t>
            </a:r>
          </a:p>
          <a:p>
            <a:endParaRPr lang="ro-RO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2400" dirty="0"/>
              <a:t>a</a:t>
            </a:r>
            <a:r>
              <a:rPr lang="en-GB" sz="2400" dirty="0" err="1"/>
              <a:t>cest</a:t>
            </a:r>
            <a:r>
              <a:rPr lang="en-GB" sz="2400" dirty="0"/>
              <a:t> model </a:t>
            </a:r>
            <a:r>
              <a:rPr lang="en-GB" sz="2400" dirty="0" err="1"/>
              <a:t>prelucreaza</a:t>
            </a:r>
            <a:r>
              <a:rPr lang="en-GB" sz="2400" dirty="0"/>
              <a:t> </a:t>
            </a:r>
            <a:r>
              <a:rPr lang="en-GB" sz="2400" dirty="0" err="1"/>
              <a:t>secventele</a:t>
            </a:r>
            <a:r>
              <a:rPr lang="en-GB" sz="2400" dirty="0"/>
              <a:t> de date individual </a:t>
            </a:r>
            <a:r>
              <a:rPr lang="en-GB" sz="2400" dirty="0" err="1"/>
              <a:t>si</a:t>
            </a:r>
            <a:r>
              <a:rPr lang="en-GB" sz="2400" dirty="0"/>
              <a:t> </a:t>
            </a:r>
            <a:r>
              <a:rPr lang="en-GB" sz="2400" dirty="0" err="1"/>
              <a:t>capteaza</a:t>
            </a:r>
            <a:r>
              <a:rPr lang="en-GB" sz="2400" dirty="0"/>
              <a:t> </a:t>
            </a:r>
            <a:r>
              <a:rPr lang="en-GB" sz="2400" dirty="0" err="1"/>
              <a:t>evolutia</a:t>
            </a:r>
            <a:r>
              <a:rPr lang="en-GB" sz="2400" dirty="0"/>
              <a:t> </a:t>
            </a:r>
            <a:r>
              <a:rPr lang="ro-RO" sz="2400" dirty="0"/>
              <a:t>fi</a:t>
            </a:r>
            <a:r>
              <a:rPr lang="en-GB" sz="2400" dirty="0" err="1"/>
              <a:t>ecarui</a:t>
            </a:r>
            <a:r>
              <a:rPr lang="ro-RO" sz="2400" dirty="0"/>
              <a:t> </a:t>
            </a:r>
            <a:r>
              <a:rPr lang="en-GB" sz="2400" dirty="0"/>
              <a:t>tip de </a:t>
            </a:r>
            <a:r>
              <a:rPr lang="en-GB" sz="2400" dirty="0" err="1"/>
              <a:t>semnal</a:t>
            </a:r>
            <a:r>
              <a:rPr lang="en-GB" sz="2400" dirty="0"/>
              <a:t> in </a:t>
            </a:r>
            <a:r>
              <a:rPr lang="en-GB" sz="2400" dirty="0" err="1"/>
              <a:t>timp.</a:t>
            </a:r>
            <a:endParaRPr lang="en-GB" sz="24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27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200" dirty="0"/>
              <a:t>Ieșirile generate de fiecare LSTM sunt fuzionate într-un vector comun, introdus într-un 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200" dirty="0"/>
              <a:t>ANN va procesa datele agregate și va genera o clasificare (</a:t>
            </a:r>
            <a:r>
              <a:rPr lang="ro-RO" sz="1200" dirty="0">
                <a:solidFill>
                  <a:srgbClr val="00B050"/>
                </a:solidFill>
              </a:rPr>
              <a:t>baseline</a:t>
            </a:r>
            <a:r>
              <a:rPr lang="ro-RO" sz="1200" dirty="0"/>
              <a:t>, </a:t>
            </a:r>
            <a:r>
              <a:rPr lang="ro-RO" sz="1200" dirty="0">
                <a:solidFill>
                  <a:srgbClr val="FF0000"/>
                </a:solidFill>
              </a:rPr>
              <a:t>stress</a:t>
            </a:r>
            <a:r>
              <a:rPr lang="ro-RO" sz="1200" dirty="0"/>
              <a:t>, </a:t>
            </a:r>
            <a:r>
              <a:rPr lang="ro-RO" sz="1200" dirty="0">
                <a:solidFill>
                  <a:srgbClr val="FFC000"/>
                </a:solidFill>
              </a:rPr>
              <a:t>amusement</a:t>
            </a:r>
            <a:r>
              <a:rPr lang="ro-RO" sz="1200" dirty="0"/>
              <a:t>, </a:t>
            </a:r>
            <a:r>
              <a:rPr lang="ro-RO" sz="1200" dirty="0">
                <a:solidFill>
                  <a:srgbClr val="0070C0"/>
                </a:solidFill>
              </a:rPr>
              <a:t>meditation</a:t>
            </a:r>
            <a:r>
              <a:rPr lang="ro-RO" sz="1200" dirty="0"/>
              <a:t>)</a:t>
            </a:r>
            <a:endParaRPr lang="en-GB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112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Rezultatele relative la prezicerea stresului indica o acuratete de 89% (adica procentul de predictii corecte din totalul acestora) si o precizie de 96% (ceea ce indica numarul de predictii pozitive corecte)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916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3BC06-3BFA-46CF-9543-26295881BC69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01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C833-52CD-4C4B-A2D2-C3665263A6A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49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6EDD-75F1-5EFD-785C-F08979996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83BAB-36AB-A477-226D-48208D5CD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2CF6-B6FC-F0D0-194E-6108E949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5D24-F08E-8DFD-29EE-625468C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6329-0968-D84E-3DA5-E05D6CD9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00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626A-846C-BA68-011E-B52DC00F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9E84-6814-8128-81CB-11E0D79D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62D46-DF4B-9AAF-FFC3-795015F6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F736C-D603-798D-6D59-CBB66441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92B6D-011D-F50D-A61C-A80816AD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252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D781-8A0D-C85C-4DBF-7D860DBD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30E79-B9E3-DFC3-7CB7-F9276C921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416C2-7ADE-BE69-84A8-F6F3C80D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16FC-FA33-7437-70C7-215C9D01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EBA93-2A68-D7F2-89CC-970F1F1A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740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0A2F-CDD3-3B8F-F3DE-7F7F098C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054E-F5FD-DDED-A27B-07D680F79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F41FB-CB84-B3D3-DF38-CD168C557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6A2F7-A7FD-A6FB-AA69-308B6677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627E8-3DA8-E9C9-F933-9E6C3909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17C4B-EAEE-295B-23FE-146699DC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717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C1D8-FC86-BB86-4B40-EDA8BDD1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CC863-B981-64C2-EB65-7CE7282AD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2AF75-A6D9-81E5-CCE2-0CF35C572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2DFBD-5038-8663-5B99-44CB661D6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F3E04-7B36-261E-0EB7-1E620091D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30EA6-9EFC-920B-CD09-9F8A8FCD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88985-9ACB-2E9A-26F4-455F66E9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81F0C-4F40-6E08-D438-802692AF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24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4CE9-0808-836D-27DF-EE3F2BF2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C82AF-1E75-E989-7A57-A0EDDEA1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47587-B636-34B5-457E-F3525655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B5D8F-AC7D-90E3-9989-2DC6BF0F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44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B64DE-04D8-F3A6-2B55-A980C627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EF4B3-F629-C0C8-534B-95CC6D9F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2901-64DB-739F-2AE3-DCB489BD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32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F588-24BD-8FAE-564D-F78474E0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7F31-AD60-EA5D-DBCB-88C398B73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F957D-5A59-563C-B58D-6CE4D010A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64556-8CD1-7910-8531-2CE6A322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727AA-8B98-0BC0-012F-C149D94C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819B4-7C42-C090-B132-3DBD0A84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0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CC19-A9DC-70F4-378B-D8483D7A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1A45B-D8D0-7F96-4893-A99070189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ED79B-63BD-407A-5292-E5A1E2EDC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ECD43-D02C-4ACB-DC34-BB6BDAA2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D00A6-501F-AADF-3F5C-D89C6513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F65FE-0FD4-F5B5-311D-F9579D39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13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438F-66B3-EAC7-13C2-B0EE988B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84D49-53CE-4A30-F2B9-04A943C81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A68D6-0F27-6DB8-8759-00DD9890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F8038-C5FF-433E-3A8E-E77B2A98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E6351-3016-8ACD-A362-DF3E7692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800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B4C66-7AB5-24AC-6719-B71DC9B86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D5FB3-5B4F-9B62-1FC0-52DBBC1F8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C1CF-DEAD-5820-BAB3-C64E71B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8D8CF-9D2D-504B-4076-EBFBE03A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0225-D933-4057-F3D1-59B2C75B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97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1AAF0-3945-F439-EC04-9B440318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0AFB9-932A-2D25-FC6E-65D643AF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62AC9-2F26-6A23-E997-E6707141D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20869-5536-4912-AE66-3BDBBFEB5FEC}" type="datetimeFigureOut">
              <a:rPr lang="en-GB" smtClean="0"/>
              <a:t>12/01/2025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09E-B491-B462-C6BC-2F833CEDA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4C841-2734-1D56-6595-9C6BDAFE4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16B44-5393-4356-8338-614143F1035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332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7.png"/><Relationship Id="rId9" Type="http://schemas.microsoft.com/office/2007/relationships/diagramDrawing" Target="../diagrams/drawin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pattern&#10;&#10;Description automatically generated">
            <a:extLst>
              <a:ext uri="{FF2B5EF4-FFF2-40B4-BE49-F238E27FC236}">
                <a16:creationId xmlns:a16="http://schemas.microsoft.com/office/drawing/2014/main" id="{05F55C62-537B-2424-E5AC-FF1F4DAC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67" r="2" b="4965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B3E1-0045-1C01-7933-B8EB8FFDD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1254828"/>
            <a:ext cx="5373323" cy="3066706"/>
          </a:xfrm>
        </p:spPr>
        <p:txBody>
          <a:bodyPr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4800" dirty="0"/>
              <a:t>Predictive Mental Health Monitoring System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A2E9F-F776-1E69-1EE6-7836B167D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700016"/>
            <a:ext cx="4162357" cy="1289146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by Synergy Squad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65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0EC8-48FA-408E-1543-4B17F9FE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92" y="696579"/>
            <a:ext cx="5348189" cy="19535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o-RO" sz="6600" dirty="0"/>
              <a:t>Oportunitățile pe piață</a:t>
            </a:r>
          </a:p>
        </p:txBody>
      </p:sp>
      <p:pic>
        <p:nvPicPr>
          <p:cNvPr id="5" name="Content Placeholder 4" descr="A graph with a line going up&#10;&#10;Description automatically generated">
            <a:extLst>
              <a:ext uri="{FF2B5EF4-FFF2-40B4-BE49-F238E27FC236}">
                <a16:creationId xmlns:a16="http://schemas.microsoft.com/office/drawing/2014/main" id="{10F6D44C-2DBE-BCBD-C330-E81499EBA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3" y="3009754"/>
            <a:ext cx="5504271" cy="3770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1C9C3-C85C-D855-A1AC-46097C05A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381" y="249956"/>
            <a:ext cx="6528618" cy="36640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B25549E-2961-A2A8-DA6C-F2564543F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915" y="3513578"/>
            <a:ext cx="4946861" cy="322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F8780-F35B-C056-F945-90ADADFD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abordată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3D1D9-8DDC-E5FE-36FA-ACDD03EBCD8E}"/>
              </a:ext>
            </a:extLst>
          </p:cNvPr>
          <p:cNvSpPr txBox="1"/>
          <p:nvPr/>
        </p:nvSpPr>
        <p:spPr>
          <a:xfrm>
            <a:off x="793660" y="2367280"/>
            <a:ext cx="10143668" cy="3779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Nume</a:t>
            </a:r>
            <a:r>
              <a:rPr lang="en-US" sz="2000" b="1" dirty="0"/>
              <a:t>:</a:t>
            </a:r>
            <a:r>
              <a:rPr lang="en-US" sz="2000" dirty="0"/>
              <a:t> Andrei Popescu </a:t>
            </a:r>
            <a:r>
              <a:rPr lang="en-US" sz="2000" i="1" dirty="0"/>
              <a:t>(</a:t>
            </a:r>
            <a:r>
              <a:rPr lang="en-US" sz="2000" i="1" dirty="0" err="1"/>
              <a:t>Persoana</a:t>
            </a:r>
            <a:r>
              <a:rPr lang="en-US" sz="2000" i="1" dirty="0"/>
              <a:t> </a:t>
            </a:r>
            <a:r>
              <a:rPr lang="en-US" sz="2000" i="1" dirty="0" err="1"/>
              <a:t>ficțională</a:t>
            </a:r>
            <a:r>
              <a:rPr lang="en-US" sz="2000" i="1" dirty="0"/>
              <a:t>)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Vârstă</a:t>
            </a:r>
            <a:r>
              <a:rPr lang="en-US" sz="2000" b="1" dirty="0"/>
              <a:t>:</a:t>
            </a:r>
            <a:r>
              <a:rPr lang="en-US" sz="2000" dirty="0"/>
              <a:t> 28 ani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Tehnologie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Deține</a:t>
            </a:r>
            <a:r>
              <a:rPr lang="en-US" sz="2000" dirty="0"/>
              <a:t> un smartwatch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monitorizarea</a:t>
            </a:r>
            <a:r>
              <a:rPr lang="en-US" sz="2000" dirty="0"/>
              <a:t> </a:t>
            </a:r>
            <a:r>
              <a:rPr lang="en-US" sz="2000" dirty="0" err="1"/>
              <a:t>sănătății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Stil</a:t>
            </a:r>
            <a:r>
              <a:rPr lang="en-US" sz="2000" b="1" dirty="0"/>
              <a:t> de </a:t>
            </a:r>
            <a:r>
              <a:rPr lang="en-US" sz="2000" b="1" dirty="0" err="1"/>
              <a:t>viață</a:t>
            </a:r>
            <a:r>
              <a:rPr lang="en-US" sz="2000" b="1" dirty="0"/>
              <a:t>: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Petrece</a:t>
            </a:r>
            <a:r>
              <a:rPr lang="en-US" sz="2000" dirty="0"/>
              <a:t> 8-10 ore pe zi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fața</a:t>
            </a:r>
            <a:r>
              <a:rPr lang="en-US" sz="2000" dirty="0"/>
              <a:t> </a:t>
            </a:r>
            <a:r>
              <a:rPr lang="en-US" sz="2000" dirty="0" err="1"/>
              <a:t>ecranului</a:t>
            </a:r>
            <a:r>
              <a:rPr lang="en-US" sz="20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Practică</a:t>
            </a:r>
            <a:r>
              <a:rPr lang="en-US" sz="2000" dirty="0"/>
              <a:t> fitness </a:t>
            </a:r>
            <a:r>
              <a:rPr lang="en-US" sz="2000" dirty="0" err="1"/>
              <a:t>ocazional</a:t>
            </a:r>
            <a:r>
              <a:rPr lang="en-US" sz="2000" dirty="0"/>
              <a:t>, </a:t>
            </a:r>
            <a:r>
              <a:rPr lang="en-US" sz="2000" dirty="0" err="1"/>
              <a:t>dar</a:t>
            </a:r>
            <a:r>
              <a:rPr lang="en-US" sz="2000" dirty="0"/>
              <a:t> se </a:t>
            </a:r>
            <a:r>
              <a:rPr lang="en-US" sz="2000" dirty="0" err="1"/>
              <a:t>simte</a:t>
            </a:r>
            <a:r>
              <a:rPr lang="en-US" sz="2000" dirty="0"/>
              <a:t> </a:t>
            </a:r>
            <a:r>
              <a:rPr lang="en-US" sz="2000" dirty="0" err="1"/>
              <a:t>copleșit</a:t>
            </a:r>
            <a:r>
              <a:rPr lang="en-US" sz="2000" dirty="0"/>
              <a:t> de </a:t>
            </a:r>
            <a:r>
              <a:rPr lang="en-US" sz="2000" dirty="0" err="1"/>
              <a:t>muncă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Nevoi</a:t>
            </a:r>
            <a:r>
              <a:rPr lang="en-US" sz="2000" b="1" dirty="0"/>
              <a:t> </a:t>
            </a:r>
            <a:r>
              <a:rPr lang="en-US" sz="2000" b="1" dirty="0" err="1"/>
              <a:t>și</a:t>
            </a:r>
            <a:r>
              <a:rPr lang="en-US" sz="2000" b="1" dirty="0"/>
              <a:t> </a:t>
            </a:r>
            <a:r>
              <a:rPr lang="en-US" sz="2000" b="1" dirty="0" err="1"/>
              <a:t>Motivații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Detectare</a:t>
            </a:r>
            <a:r>
              <a:rPr lang="en-US" sz="2000" b="1" dirty="0"/>
              <a:t> </a:t>
            </a:r>
            <a:r>
              <a:rPr lang="en-US" sz="2000" b="1" dirty="0" err="1"/>
              <a:t>timpurie</a:t>
            </a:r>
            <a:r>
              <a:rPr lang="en-US" sz="2000" b="1" dirty="0"/>
              <a:t>:</a:t>
            </a:r>
            <a:r>
              <a:rPr lang="en-US" sz="2000" dirty="0"/>
              <a:t> O </a:t>
            </a:r>
            <a:r>
              <a:rPr lang="en-US" sz="2000" dirty="0" err="1"/>
              <a:t>soluție</a:t>
            </a:r>
            <a:r>
              <a:rPr lang="en-US" sz="2000" dirty="0"/>
              <a:t> care </a:t>
            </a:r>
            <a:r>
              <a:rPr lang="en-US" sz="2000" dirty="0" err="1"/>
              <a:t>să</a:t>
            </a:r>
            <a:r>
              <a:rPr lang="en-US" sz="2000" dirty="0"/>
              <a:t>-l </a:t>
            </a:r>
            <a:r>
              <a:rPr lang="en-US" sz="2000" dirty="0" err="1"/>
              <a:t>avertizeze</a:t>
            </a:r>
            <a:r>
              <a:rPr lang="en-US" sz="2000" dirty="0"/>
              <a:t> </a:t>
            </a:r>
            <a:r>
              <a:rPr lang="en-US" sz="2000" dirty="0" err="1"/>
              <a:t>când</a:t>
            </a:r>
            <a:r>
              <a:rPr lang="en-US" sz="2000" dirty="0"/>
              <a:t> </a:t>
            </a:r>
            <a:r>
              <a:rPr lang="en-US" sz="2000" dirty="0" err="1"/>
              <a:t>nivelul</a:t>
            </a:r>
            <a:r>
              <a:rPr lang="en-US" sz="2000" dirty="0"/>
              <a:t> de </a:t>
            </a:r>
            <a:r>
              <a:rPr lang="en-US" sz="2000" dirty="0" err="1"/>
              <a:t>stres</a:t>
            </a:r>
            <a:r>
              <a:rPr lang="en-US" sz="2000" dirty="0"/>
              <a:t> </a:t>
            </a:r>
            <a:r>
              <a:rPr lang="en-US" sz="2000" dirty="0" err="1"/>
              <a:t>crește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Recomandări</a:t>
            </a:r>
            <a:r>
              <a:rPr lang="en-US" sz="2000" b="1" dirty="0"/>
              <a:t> practice:</a:t>
            </a:r>
            <a:r>
              <a:rPr lang="en-US" sz="2000" dirty="0"/>
              <a:t> </a:t>
            </a:r>
            <a:r>
              <a:rPr lang="en-US" sz="2000" dirty="0" err="1"/>
              <a:t>Sfaturi</a:t>
            </a:r>
            <a:r>
              <a:rPr lang="en-US" sz="2000" dirty="0"/>
              <a:t> </a:t>
            </a:r>
            <a:r>
              <a:rPr lang="en-US" sz="2000" dirty="0" err="1"/>
              <a:t>rapide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relaxare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Confort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Acces</a:t>
            </a:r>
            <a:r>
              <a:rPr lang="en-US" sz="2000" dirty="0"/>
              <a:t> </a:t>
            </a:r>
            <a:r>
              <a:rPr lang="en-US" sz="2000" dirty="0" err="1"/>
              <a:t>facil</a:t>
            </a:r>
            <a:r>
              <a:rPr lang="en-US" sz="2000" dirty="0"/>
              <a:t> la </a:t>
            </a:r>
            <a:r>
              <a:rPr lang="en-US" sz="2000" dirty="0" err="1"/>
              <a:t>psihologi</a:t>
            </a:r>
            <a:r>
              <a:rPr lang="en-US" sz="2000" dirty="0"/>
              <a:t>, </a:t>
            </a:r>
            <a:r>
              <a:rPr lang="en-US" sz="2000" dirty="0" err="1"/>
              <a:t>fără</a:t>
            </a:r>
            <a:r>
              <a:rPr lang="en-US" sz="2000" dirty="0"/>
              <a:t> a-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schimba</a:t>
            </a:r>
            <a:r>
              <a:rPr lang="en-US" sz="2000" dirty="0"/>
              <a:t> </a:t>
            </a:r>
            <a:r>
              <a:rPr lang="en-US" sz="2000" dirty="0" err="1"/>
              <a:t>rutina</a:t>
            </a:r>
            <a:r>
              <a:rPr lang="en-US" sz="2000" dirty="0"/>
              <a:t> </a:t>
            </a:r>
            <a:r>
              <a:rPr lang="en-US" sz="2000" dirty="0" err="1"/>
              <a:t>zilnică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469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52C27-2C96-21F3-E772-5C74B206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5AE63-411B-2411-2E64-6B818212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486" y="378437"/>
            <a:ext cx="4174435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Problema</a:t>
            </a:r>
            <a:r>
              <a:rPr lang="ro-RO" sz="4000" dirty="0"/>
              <a:t> </a:t>
            </a:r>
            <a:r>
              <a:rPr lang="en-US" sz="4000" dirty="0" err="1"/>
              <a:t>abordată</a:t>
            </a:r>
            <a:endParaRPr lang="en-US" sz="4000" dirty="0"/>
          </a:p>
        </p:txBody>
      </p:sp>
      <p:pic>
        <p:nvPicPr>
          <p:cNvPr id="2054" name="Picture 6" descr="Problem Solving Skills: Meaning, Steps, Techniques (2023)">
            <a:extLst>
              <a:ext uri="{FF2B5EF4-FFF2-40B4-BE49-F238E27FC236}">
                <a16:creationId xmlns:a16="http://schemas.microsoft.com/office/drawing/2014/main" id="{B9652288-FDE0-5190-E166-1C9D7D3B3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3" r="11839" b="2"/>
          <a:stretch/>
        </p:blipFill>
        <p:spPr bwMode="auto">
          <a:xfrm>
            <a:off x="1" y="10"/>
            <a:ext cx="693639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F4D198-462B-1FC5-4598-9A1B00D1F84B}"/>
              </a:ext>
            </a:extLst>
          </p:cNvPr>
          <p:cNvSpPr txBox="1"/>
          <p:nvPr/>
        </p:nvSpPr>
        <p:spPr>
          <a:xfrm>
            <a:off x="7531610" y="2278349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B2B</a:t>
            </a:r>
            <a:r>
              <a:rPr lang="ro-RO" sz="2000" dirty="0"/>
              <a:t> </a:t>
            </a:r>
            <a:r>
              <a:rPr lang="en-US" sz="2000" dirty="0"/>
              <a:t>- </a:t>
            </a:r>
            <a:r>
              <a:rPr lang="en-US" sz="2000" dirty="0" err="1"/>
              <a:t>Colaborare</a:t>
            </a:r>
            <a:r>
              <a:rPr lang="en-US" sz="2000" dirty="0"/>
              <a:t> cu </a:t>
            </a:r>
            <a:r>
              <a:rPr lang="en-US" sz="2000" dirty="0" err="1"/>
              <a:t>cabinetele</a:t>
            </a:r>
            <a:r>
              <a:rPr lang="en-US" sz="2000" dirty="0"/>
              <a:t> </a:t>
            </a:r>
            <a:r>
              <a:rPr lang="en-US" sz="2000" dirty="0" err="1"/>
              <a:t>psihologilor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Problema</a:t>
            </a:r>
            <a:r>
              <a:rPr lang="en-US" sz="2000" b="1" dirty="0"/>
              <a:t> </a:t>
            </a:r>
            <a:r>
              <a:rPr lang="en-US" sz="2000" b="1" dirty="0" err="1"/>
              <a:t>identificată</a:t>
            </a:r>
            <a:r>
              <a:rPr lang="en-US" sz="2000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Lipsa</a:t>
            </a:r>
            <a:r>
              <a:rPr lang="en-US" sz="2000" dirty="0"/>
              <a:t> </a:t>
            </a:r>
            <a:r>
              <a:rPr lang="en-US" sz="2000" dirty="0" err="1"/>
              <a:t>pacienților</a:t>
            </a:r>
            <a:r>
              <a:rPr lang="en-US" sz="2000" dirty="0"/>
              <a:t> </a:t>
            </a:r>
            <a:r>
              <a:rPr lang="en-US" sz="2000" dirty="0" err="1"/>
              <a:t>noi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Fragmentarea</a:t>
            </a:r>
            <a:r>
              <a:rPr lang="en-US" sz="2000" dirty="0"/>
              <a:t> </a:t>
            </a:r>
            <a:r>
              <a:rPr lang="en-US" sz="2000" dirty="0" err="1"/>
              <a:t>pieței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Soluția</a:t>
            </a:r>
            <a:r>
              <a:rPr lang="en-US" sz="2000" b="1" dirty="0"/>
              <a:t> </a:t>
            </a:r>
            <a:r>
              <a:rPr lang="en-US" sz="2000" b="1" dirty="0" err="1"/>
              <a:t>noastră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Generare</a:t>
            </a:r>
            <a:r>
              <a:rPr lang="en-US" sz="2000" dirty="0"/>
              <a:t> </a:t>
            </a:r>
            <a:r>
              <a:rPr lang="en-US" sz="2000" dirty="0" err="1"/>
              <a:t>constantă</a:t>
            </a:r>
            <a:r>
              <a:rPr lang="en-US" sz="2000" dirty="0"/>
              <a:t> de </a:t>
            </a:r>
            <a:r>
              <a:rPr lang="en-US" sz="2000" dirty="0" err="1"/>
              <a:t>clienți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Creșterea</a:t>
            </a:r>
            <a:r>
              <a:rPr lang="en-US" sz="2000" dirty="0"/>
              <a:t> </a:t>
            </a:r>
            <a:r>
              <a:rPr lang="en-US" sz="2000" dirty="0" err="1"/>
              <a:t>vizibilității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0B759-54C1-E75E-CA33-770D6477BACE}"/>
              </a:ext>
            </a:extLst>
          </p:cNvPr>
          <p:cNvSpPr txBox="1"/>
          <p:nvPr/>
        </p:nvSpPr>
        <p:spPr>
          <a:xfrm>
            <a:off x="7531610" y="6488668"/>
            <a:ext cx="361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B2B = business – to – business 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35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5D7C-0FEB-EE91-B682-50E66E45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Soluția propusă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42105-398C-8650-C15C-8B43B4F7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Problema și provocarea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2AA4A-BE8D-30F9-FA07-0ADDD6B81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Soluția noastră</a:t>
            </a:r>
            <a:endParaRPr lang="en-GB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B2BB348-88F7-243D-DE63-366E725BD64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523791909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ircle: Hollow 6">
            <a:extLst>
              <a:ext uri="{FF2B5EF4-FFF2-40B4-BE49-F238E27FC236}">
                <a16:creationId xmlns:a16="http://schemas.microsoft.com/office/drawing/2014/main" id="{95EFCB49-E42A-6D0F-9B6F-C4EB31DB1327}"/>
              </a:ext>
            </a:extLst>
          </p:cNvPr>
          <p:cNvSpPr/>
          <p:nvPr/>
        </p:nvSpPr>
        <p:spPr>
          <a:xfrm>
            <a:off x="1405959" y="2683806"/>
            <a:ext cx="2070489" cy="2070489"/>
          </a:xfrm>
          <a:prstGeom prst="donut">
            <a:avLst>
              <a:gd name="adj" fmla="val 1264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6EE26-00A1-2503-C196-04502EB525F7}"/>
              </a:ext>
            </a:extLst>
          </p:cNvPr>
          <p:cNvSpPr txBox="1"/>
          <p:nvPr/>
        </p:nvSpPr>
        <p:spPr>
          <a:xfrm>
            <a:off x="1674006" y="3270151"/>
            <a:ext cx="1534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chemeClr val="accent1"/>
                </a:solidFill>
              </a:rPr>
              <a:t>~ 50%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2C827-29D5-446A-190E-EBD6A98A54AE}"/>
              </a:ext>
            </a:extLst>
          </p:cNvPr>
          <p:cNvSpPr txBox="1"/>
          <p:nvPr/>
        </p:nvSpPr>
        <p:spPr>
          <a:xfrm>
            <a:off x="1765986" y="3787436"/>
            <a:ext cx="1350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stres cronic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1E529-CD42-79DD-E9BA-7DA8D4BFE4AB}"/>
              </a:ext>
            </a:extLst>
          </p:cNvPr>
          <p:cNvSpPr txBox="1"/>
          <p:nvPr/>
        </p:nvSpPr>
        <p:spPr>
          <a:xfrm>
            <a:off x="976477" y="4933026"/>
            <a:ext cx="3103818" cy="1200329"/>
          </a:xfrm>
          <a:prstGeom prst="rect">
            <a:avLst/>
          </a:prstGeom>
          <a:noFill/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1800" b="1" dirty="0">
                <a:solidFill>
                  <a:schemeClr val="accent1"/>
                </a:solidFill>
              </a:rPr>
              <a:t>Provocarea</a:t>
            </a:r>
          </a:p>
          <a:p>
            <a:pPr algn="ctr"/>
            <a:r>
              <a:rPr lang="en-GB" sz="1800" dirty="0" err="1"/>
              <a:t>Lipsa</a:t>
            </a:r>
            <a:r>
              <a:rPr lang="en-GB" sz="1800" dirty="0"/>
              <a:t> </a:t>
            </a:r>
            <a:r>
              <a:rPr lang="en-GB" sz="1800" dirty="0" err="1"/>
              <a:t>unor</a:t>
            </a:r>
            <a:r>
              <a:rPr lang="en-GB" sz="1800" dirty="0"/>
              <a:t> </a:t>
            </a:r>
            <a:r>
              <a:rPr lang="en-GB" sz="1800" dirty="0" err="1"/>
              <a:t>soluții</a:t>
            </a:r>
            <a:r>
              <a:rPr lang="en-GB" sz="1800" dirty="0"/>
              <a:t> </a:t>
            </a:r>
            <a:r>
              <a:rPr lang="en-GB" sz="1800" dirty="0" err="1"/>
              <a:t>accesibile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personalizate</a:t>
            </a:r>
            <a:r>
              <a:rPr lang="en-GB" sz="1800" dirty="0"/>
              <a:t> </a:t>
            </a:r>
            <a:r>
              <a:rPr lang="en-GB" sz="1800" dirty="0" err="1"/>
              <a:t>pentru</a:t>
            </a:r>
            <a:r>
              <a:rPr lang="en-GB" sz="1800" dirty="0"/>
              <a:t> </a:t>
            </a:r>
            <a:r>
              <a:rPr lang="en-GB" sz="1800" dirty="0" err="1"/>
              <a:t>gestionarea</a:t>
            </a:r>
            <a:r>
              <a:rPr lang="en-GB" sz="1800" dirty="0"/>
              <a:t> </a:t>
            </a:r>
            <a:r>
              <a:rPr lang="en-GB" sz="1800" dirty="0" err="1"/>
              <a:t>stresului</a:t>
            </a:r>
            <a:r>
              <a:rPr lang="en-GB" sz="18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616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89B31-F4F7-B1E1-C5CB-2AF22010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ro-RO" sz="3600" dirty="0"/>
              <a:t>Modelul de Business și Monetizarea</a:t>
            </a:r>
            <a:endParaRPr lang="en-GB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39993-D202-F4AE-3BF8-5016F84C6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33" y="2111008"/>
            <a:ext cx="4282984" cy="3511943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B2C (business – to - consumer):</a:t>
            </a:r>
            <a:endParaRPr kumimoji="0" lang="ro-RO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6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Abonament lunar pentru utilizatori: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 complet la funcționalitățile aplicației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Planuri: Basic (gratuit), Premium (4,99 €/lună)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B2B (business – to – business):</a:t>
            </a:r>
            <a:endParaRPr kumimoji="0" lang="ro-RO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6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Comision per sesiune rezervată prin aplicație: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Cabinetele psihologilor plătesc un comision de 5-10% din valoarea sesiunii confirmate.</a:t>
            </a:r>
          </a:p>
          <a:p>
            <a:endParaRPr lang="en-GB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D70D0A1-84D3-994D-411D-892D61D03E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296205"/>
              </p:ext>
            </p:extLst>
          </p:nvPr>
        </p:nvGraphicFramePr>
        <p:xfrm>
          <a:off x="5987738" y="650494"/>
          <a:ext cx="5628018" cy="532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1401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EB05-E637-8C86-2AD8-01DF17E34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Funcționalitățile</a:t>
            </a:r>
            <a:r>
              <a:rPr lang="en-GB" dirty="0"/>
              <a:t> </a:t>
            </a:r>
            <a:r>
              <a:rPr lang="en-GB" dirty="0" err="1"/>
              <a:t>Minime</a:t>
            </a:r>
            <a:r>
              <a:rPr lang="en-GB" dirty="0"/>
              <a:t> </a:t>
            </a:r>
            <a:r>
              <a:rPr lang="en-GB" dirty="0" err="1"/>
              <a:t>Dezvoltate</a:t>
            </a:r>
            <a:r>
              <a:rPr lang="en-GB" dirty="0"/>
              <a:t> (MVP)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C5F27E9-878B-8C84-7E20-3344F76DD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710914"/>
              </p:ext>
            </p:extLst>
          </p:nvPr>
        </p:nvGraphicFramePr>
        <p:xfrm>
          <a:off x="1402271" y="1440611"/>
          <a:ext cx="9536023" cy="5161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374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E54E-21A9-630C-A17E-D79158FD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69181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ro-RO" dirty="0"/>
              <a:t>Construirea modelului inteligent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9D4C3F-740F-C946-50DD-672FAF65B69F}"/>
              </a:ext>
            </a:extLst>
          </p:cNvPr>
          <p:cNvGrpSpPr/>
          <p:nvPr/>
        </p:nvGrpSpPr>
        <p:grpSpPr>
          <a:xfrm>
            <a:off x="263308" y="2035248"/>
            <a:ext cx="11726556" cy="4643541"/>
            <a:chOff x="263308" y="2035248"/>
            <a:chExt cx="11726556" cy="4643541"/>
          </a:xfrm>
        </p:grpSpPr>
        <p:pic>
          <p:nvPicPr>
            <p:cNvPr id="2052" name="Picture 4" descr="Folder free icons designed by Freepik">
              <a:extLst>
                <a:ext uri="{FF2B5EF4-FFF2-40B4-BE49-F238E27FC236}">
                  <a16:creationId xmlns:a16="http://schemas.microsoft.com/office/drawing/2014/main" id="{672DB734-1EA5-DE33-5FAE-A1F6550B99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308" y="3092299"/>
              <a:ext cx="1617785" cy="1617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258744C4-1C4C-9BFB-EDE9-91F209028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8865" y="3092299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417024-4B9E-5CBF-3773-B37B6A7388CB}"/>
                </a:ext>
              </a:extLst>
            </p:cNvPr>
            <p:cNvGrpSpPr/>
            <p:nvPr/>
          </p:nvGrpSpPr>
          <p:grpSpPr>
            <a:xfrm>
              <a:off x="5332344" y="2035248"/>
              <a:ext cx="2333835" cy="4643541"/>
              <a:chOff x="5663814" y="1690688"/>
              <a:chExt cx="2333835" cy="4643541"/>
            </a:xfrm>
          </p:grpSpPr>
          <p:pic>
            <p:nvPicPr>
              <p:cNvPr id="2058" name="Picture 10">
                <a:extLst>
                  <a:ext uri="{FF2B5EF4-FFF2-40B4-BE49-F238E27FC236}">
                    <a16:creationId xmlns:a16="http://schemas.microsoft.com/office/drawing/2014/main" id="{9B45C978-E761-9F22-C128-87A2048F20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3814" y="4000394"/>
                <a:ext cx="2333835" cy="23338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2" name="Picture 14">
                <a:extLst>
                  <a:ext uri="{FF2B5EF4-FFF2-40B4-BE49-F238E27FC236}">
                    <a16:creationId xmlns:a16="http://schemas.microsoft.com/office/drawing/2014/main" id="{2685A644-3AFC-69DB-4F18-B64611010C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85467" y="1690688"/>
                <a:ext cx="1738312" cy="17383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4" name="Picture 16">
                <a:extLst>
                  <a:ext uri="{FF2B5EF4-FFF2-40B4-BE49-F238E27FC236}">
                    <a16:creationId xmlns:a16="http://schemas.microsoft.com/office/drawing/2014/main" id="{5AD17B38-A19F-1354-49C2-B5652142E9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11723" y="3503602"/>
                <a:ext cx="685800" cy="11049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84" name="Group 2083">
              <a:extLst>
                <a:ext uri="{FF2B5EF4-FFF2-40B4-BE49-F238E27FC236}">
                  <a16:creationId xmlns:a16="http://schemas.microsoft.com/office/drawing/2014/main" id="{1A946E4C-BC06-FF85-6748-1E0FC8FDE829}"/>
                </a:ext>
              </a:extLst>
            </p:cNvPr>
            <p:cNvGrpSpPr/>
            <p:nvPr/>
          </p:nvGrpSpPr>
          <p:grpSpPr>
            <a:xfrm>
              <a:off x="8191997" y="2343836"/>
              <a:ext cx="3797867" cy="3305813"/>
              <a:chOff x="8272007" y="1999276"/>
              <a:chExt cx="3797867" cy="330581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0F298D6-2F99-A4D5-126A-55AF3AF998D1}"/>
                  </a:ext>
                </a:extLst>
              </p:cNvPr>
              <p:cNvSpPr/>
              <p:nvPr/>
            </p:nvSpPr>
            <p:spPr>
              <a:xfrm>
                <a:off x="8361922" y="3101607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EDCBE20-07F3-F560-F0CE-E39DD5D92576}"/>
                  </a:ext>
                </a:extLst>
              </p:cNvPr>
              <p:cNvSpPr/>
              <p:nvPr/>
            </p:nvSpPr>
            <p:spPr>
              <a:xfrm>
                <a:off x="8361922" y="3758784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C3684E9-EE52-9A8A-CC18-30E07E4A55B7}"/>
                  </a:ext>
                </a:extLst>
              </p:cNvPr>
              <p:cNvSpPr/>
              <p:nvPr/>
            </p:nvSpPr>
            <p:spPr>
              <a:xfrm>
                <a:off x="8361922" y="4415961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6D71506-BCA2-2C3E-86D1-33F580393A85}"/>
                  </a:ext>
                </a:extLst>
              </p:cNvPr>
              <p:cNvSpPr/>
              <p:nvPr/>
            </p:nvSpPr>
            <p:spPr>
              <a:xfrm>
                <a:off x="9425003" y="2435587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99EBC91-48CA-9F75-FAA3-80F03536B188}"/>
                  </a:ext>
                </a:extLst>
              </p:cNvPr>
              <p:cNvSpPr/>
              <p:nvPr/>
            </p:nvSpPr>
            <p:spPr>
              <a:xfrm>
                <a:off x="9425003" y="3178919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96FAC0F-4C5A-0987-5515-197931BDB053}"/>
                  </a:ext>
                </a:extLst>
              </p:cNvPr>
              <p:cNvSpPr/>
              <p:nvPr/>
            </p:nvSpPr>
            <p:spPr>
              <a:xfrm>
                <a:off x="9425003" y="4000394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E121D3F-855B-82F7-1526-54AD36E97220}"/>
                  </a:ext>
                </a:extLst>
              </p:cNvPr>
              <p:cNvSpPr/>
              <p:nvPr/>
            </p:nvSpPr>
            <p:spPr>
              <a:xfrm>
                <a:off x="9425003" y="4821869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E1CFCB9-F61A-923B-CB0B-F9DE4DD00AB8}"/>
                  </a:ext>
                </a:extLst>
              </p:cNvPr>
              <p:cNvSpPr/>
              <p:nvPr/>
            </p:nvSpPr>
            <p:spPr>
              <a:xfrm>
                <a:off x="10469134" y="2435587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700F077-B0B7-B96C-FEB9-5466E1E0F3BE}"/>
                  </a:ext>
                </a:extLst>
              </p:cNvPr>
              <p:cNvSpPr/>
              <p:nvPr/>
            </p:nvSpPr>
            <p:spPr>
              <a:xfrm>
                <a:off x="10487719" y="3178919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2879351-DA45-6CC1-0BCA-7C86F0E9D0DE}"/>
                  </a:ext>
                </a:extLst>
              </p:cNvPr>
              <p:cNvSpPr/>
              <p:nvPr/>
            </p:nvSpPr>
            <p:spPr>
              <a:xfrm>
                <a:off x="10466739" y="3998990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DCB08DE-A1D1-6015-E338-A696BB44FB9A}"/>
                  </a:ext>
                </a:extLst>
              </p:cNvPr>
              <p:cNvSpPr/>
              <p:nvPr/>
            </p:nvSpPr>
            <p:spPr>
              <a:xfrm>
                <a:off x="10485324" y="4821869"/>
                <a:ext cx="483220" cy="4832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F7B3BCB-AB29-A916-6648-5A387A2807F4}"/>
                  </a:ext>
                </a:extLst>
              </p:cNvPr>
              <p:cNvCxnSpPr>
                <a:stCxn id="8" idx="6"/>
                <a:endCxn id="11" idx="2"/>
              </p:cNvCxnSpPr>
              <p:nvPr/>
            </p:nvCxnSpPr>
            <p:spPr>
              <a:xfrm flipV="1">
                <a:off x="8845142" y="2677197"/>
                <a:ext cx="579861" cy="6660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B9940C9-3E3F-C1DA-9411-79375BD99DD3}"/>
                  </a:ext>
                </a:extLst>
              </p:cNvPr>
              <p:cNvCxnSpPr>
                <a:stCxn id="8" idx="6"/>
                <a:endCxn id="12" idx="2"/>
              </p:cNvCxnSpPr>
              <p:nvPr/>
            </p:nvCxnSpPr>
            <p:spPr>
              <a:xfrm>
                <a:off x="8845142" y="3343217"/>
                <a:ext cx="579861" cy="773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D460934-E3B4-CAA0-8E99-67706814882A}"/>
                  </a:ext>
                </a:extLst>
              </p:cNvPr>
              <p:cNvCxnSpPr>
                <a:stCxn id="8" idx="6"/>
                <a:endCxn id="13" idx="2"/>
              </p:cNvCxnSpPr>
              <p:nvPr/>
            </p:nvCxnSpPr>
            <p:spPr>
              <a:xfrm>
                <a:off x="8845142" y="3343217"/>
                <a:ext cx="579861" cy="8987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707EF0D-9BA2-DE7A-6E2D-EBD570B5FA78}"/>
                  </a:ext>
                </a:extLst>
              </p:cNvPr>
              <p:cNvCxnSpPr>
                <a:stCxn id="8" idx="6"/>
                <a:endCxn id="14" idx="2"/>
              </p:cNvCxnSpPr>
              <p:nvPr/>
            </p:nvCxnSpPr>
            <p:spPr>
              <a:xfrm>
                <a:off x="8845142" y="3343217"/>
                <a:ext cx="579861" cy="17202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4D38A4B-4F6C-A18D-5D3A-01C6E133A27A}"/>
                  </a:ext>
                </a:extLst>
              </p:cNvPr>
              <p:cNvCxnSpPr>
                <a:stCxn id="9" idx="6"/>
                <a:endCxn id="11" idx="2"/>
              </p:cNvCxnSpPr>
              <p:nvPr/>
            </p:nvCxnSpPr>
            <p:spPr>
              <a:xfrm flipV="1">
                <a:off x="8845142" y="2677197"/>
                <a:ext cx="579861" cy="13231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0E1D77F-BCA6-735C-06CF-B262280AEDE6}"/>
                  </a:ext>
                </a:extLst>
              </p:cNvPr>
              <p:cNvCxnSpPr>
                <a:stCxn id="9" idx="6"/>
                <a:endCxn id="12" idx="2"/>
              </p:cNvCxnSpPr>
              <p:nvPr/>
            </p:nvCxnSpPr>
            <p:spPr>
              <a:xfrm flipV="1">
                <a:off x="8845142" y="3420529"/>
                <a:ext cx="579861" cy="5798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FABB64FA-A910-469C-B87F-3AB955D5C700}"/>
                  </a:ext>
                </a:extLst>
              </p:cNvPr>
              <p:cNvCxnSpPr>
                <a:stCxn id="9" idx="6"/>
                <a:endCxn id="13" idx="2"/>
              </p:cNvCxnSpPr>
              <p:nvPr/>
            </p:nvCxnSpPr>
            <p:spPr>
              <a:xfrm>
                <a:off x="8845142" y="4000394"/>
                <a:ext cx="579861" cy="2416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6E6F158A-FD14-1367-633C-4DA7C8D0C381}"/>
                  </a:ext>
                </a:extLst>
              </p:cNvPr>
              <p:cNvCxnSpPr>
                <a:stCxn id="9" idx="6"/>
                <a:endCxn id="14" idx="2"/>
              </p:cNvCxnSpPr>
              <p:nvPr/>
            </p:nvCxnSpPr>
            <p:spPr>
              <a:xfrm>
                <a:off x="8845142" y="4000394"/>
                <a:ext cx="579861" cy="1063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3C0E0EE-F29C-FE85-A06C-11A1EAD5F9EB}"/>
                  </a:ext>
                </a:extLst>
              </p:cNvPr>
              <p:cNvCxnSpPr>
                <a:stCxn id="10" idx="6"/>
                <a:endCxn id="12" idx="2"/>
              </p:cNvCxnSpPr>
              <p:nvPr/>
            </p:nvCxnSpPr>
            <p:spPr>
              <a:xfrm flipV="1">
                <a:off x="8845142" y="3420529"/>
                <a:ext cx="579861" cy="12370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C7EA2AA-591E-1D78-EFA2-33AA1A6FD086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 flipV="1">
                <a:off x="8845142" y="2677197"/>
                <a:ext cx="579861" cy="19803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E859FFA-19E2-334F-02D9-677A2BE532DE}"/>
                  </a:ext>
                </a:extLst>
              </p:cNvPr>
              <p:cNvCxnSpPr>
                <a:stCxn id="10" idx="6"/>
                <a:endCxn id="13" idx="2"/>
              </p:cNvCxnSpPr>
              <p:nvPr/>
            </p:nvCxnSpPr>
            <p:spPr>
              <a:xfrm flipV="1">
                <a:off x="8845142" y="4242004"/>
                <a:ext cx="579861" cy="4155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72B9C39-8093-6A1E-10B6-2A64000D5374}"/>
                  </a:ext>
                </a:extLst>
              </p:cNvPr>
              <p:cNvCxnSpPr>
                <a:stCxn id="10" idx="6"/>
                <a:endCxn id="14" idx="2"/>
              </p:cNvCxnSpPr>
              <p:nvPr/>
            </p:nvCxnSpPr>
            <p:spPr>
              <a:xfrm>
                <a:off x="8845142" y="4657571"/>
                <a:ext cx="579861" cy="4059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974ACED-238F-0425-C5E1-0AD989C8CE3A}"/>
                  </a:ext>
                </a:extLst>
              </p:cNvPr>
              <p:cNvCxnSpPr>
                <a:stCxn id="11" idx="6"/>
                <a:endCxn id="15" idx="2"/>
              </p:cNvCxnSpPr>
              <p:nvPr/>
            </p:nvCxnSpPr>
            <p:spPr>
              <a:xfrm>
                <a:off x="9908223" y="2677197"/>
                <a:ext cx="5609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C62F1A14-84C7-9A0D-AB25-604CC0AD1164}"/>
                  </a:ext>
                </a:extLst>
              </p:cNvPr>
              <p:cNvCxnSpPr>
                <a:stCxn id="11" idx="6"/>
                <a:endCxn id="16" idx="2"/>
              </p:cNvCxnSpPr>
              <p:nvPr/>
            </p:nvCxnSpPr>
            <p:spPr>
              <a:xfrm>
                <a:off x="9908223" y="2677197"/>
                <a:ext cx="579496" cy="743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B909DE5-5617-2D33-4FF9-6AF055838830}"/>
                  </a:ext>
                </a:extLst>
              </p:cNvPr>
              <p:cNvCxnSpPr>
                <a:stCxn id="11" idx="6"/>
                <a:endCxn id="17" idx="2"/>
              </p:cNvCxnSpPr>
              <p:nvPr/>
            </p:nvCxnSpPr>
            <p:spPr>
              <a:xfrm>
                <a:off x="9908223" y="2677197"/>
                <a:ext cx="558516" cy="15634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CB007A0-6E30-50BD-AE97-492417A75CD7}"/>
                  </a:ext>
                </a:extLst>
              </p:cNvPr>
              <p:cNvCxnSpPr>
                <a:stCxn id="11" idx="6"/>
                <a:endCxn id="18" idx="2"/>
              </p:cNvCxnSpPr>
              <p:nvPr/>
            </p:nvCxnSpPr>
            <p:spPr>
              <a:xfrm>
                <a:off x="9908223" y="2677197"/>
                <a:ext cx="577101" cy="23862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798A20C4-71D4-2739-EE31-744FD889BE2A}"/>
                  </a:ext>
                </a:extLst>
              </p:cNvPr>
              <p:cNvCxnSpPr>
                <a:stCxn id="12" idx="6"/>
                <a:endCxn id="15" idx="2"/>
              </p:cNvCxnSpPr>
              <p:nvPr/>
            </p:nvCxnSpPr>
            <p:spPr>
              <a:xfrm flipV="1">
                <a:off x="9908223" y="2677197"/>
                <a:ext cx="560911" cy="743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EBBDB865-2F60-817C-EE67-9389F2DCFD5C}"/>
                  </a:ext>
                </a:extLst>
              </p:cNvPr>
              <p:cNvCxnSpPr>
                <a:stCxn id="12" idx="6"/>
                <a:endCxn id="16" idx="2"/>
              </p:cNvCxnSpPr>
              <p:nvPr/>
            </p:nvCxnSpPr>
            <p:spPr>
              <a:xfrm>
                <a:off x="9908223" y="3420529"/>
                <a:ext cx="57949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0CC71F78-BB77-9F69-F8FE-D29786CEAC5F}"/>
                  </a:ext>
                </a:extLst>
              </p:cNvPr>
              <p:cNvCxnSpPr>
                <a:stCxn id="12" idx="6"/>
                <a:endCxn id="17" idx="2"/>
              </p:cNvCxnSpPr>
              <p:nvPr/>
            </p:nvCxnSpPr>
            <p:spPr>
              <a:xfrm>
                <a:off x="9908223" y="3420529"/>
                <a:ext cx="558516" cy="820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9B0801C-FCC7-0A23-0B95-176F43146ED1}"/>
                  </a:ext>
                </a:extLst>
              </p:cNvPr>
              <p:cNvCxnSpPr>
                <a:stCxn id="12" idx="6"/>
                <a:endCxn id="18" idx="2"/>
              </p:cNvCxnSpPr>
              <p:nvPr/>
            </p:nvCxnSpPr>
            <p:spPr>
              <a:xfrm>
                <a:off x="9908223" y="3420529"/>
                <a:ext cx="577101" cy="16429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76497036-BDC7-7EFC-84DE-CAA44A85FFF9}"/>
                  </a:ext>
                </a:extLst>
              </p:cNvPr>
              <p:cNvCxnSpPr>
                <a:stCxn id="13" idx="6"/>
                <a:endCxn id="15" idx="2"/>
              </p:cNvCxnSpPr>
              <p:nvPr/>
            </p:nvCxnSpPr>
            <p:spPr>
              <a:xfrm flipV="1">
                <a:off x="9908223" y="2677197"/>
                <a:ext cx="560911" cy="15648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" name="Straight Arrow Connector 2047">
                <a:extLst>
                  <a:ext uri="{FF2B5EF4-FFF2-40B4-BE49-F238E27FC236}">
                    <a16:creationId xmlns:a16="http://schemas.microsoft.com/office/drawing/2014/main" id="{0BF326EF-D8FD-5A86-2E06-663BF9CFD81D}"/>
                  </a:ext>
                </a:extLst>
              </p:cNvPr>
              <p:cNvCxnSpPr>
                <a:stCxn id="13" idx="6"/>
                <a:endCxn id="16" idx="2"/>
              </p:cNvCxnSpPr>
              <p:nvPr/>
            </p:nvCxnSpPr>
            <p:spPr>
              <a:xfrm flipV="1">
                <a:off x="9908223" y="3420529"/>
                <a:ext cx="579496" cy="8214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" name="Straight Arrow Connector 2050">
                <a:extLst>
                  <a:ext uri="{FF2B5EF4-FFF2-40B4-BE49-F238E27FC236}">
                    <a16:creationId xmlns:a16="http://schemas.microsoft.com/office/drawing/2014/main" id="{388E5AEE-7E6E-B67C-601D-86B7E9DB40CF}"/>
                  </a:ext>
                </a:extLst>
              </p:cNvPr>
              <p:cNvCxnSpPr>
                <a:stCxn id="13" idx="6"/>
                <a:endCxn id="17" idx="2"/>
              </p:cNvCxnSpPr>
              <p:nvPr/>
            </p:nvCxnSpPr>
            <p:spPr>
              <a:xfrm flipV="1">
                <a:off x="9908223" y="4240600"/>
                <a:ext cx="558516" cy="14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5" name="Straight Arrow Connector 2054">
                <a:extLst>
                  <a:ext uri="{FF2B5EF4-FFF2-40B4-BE49-F238E27FC236}">
                    <a16:creationId xmlns:a16="http://schemas.microsoft.com/office/drawing/2014/main" id="{BE4CB0FF-E7D5-7E9D-0D4B-EE676F192B3D}"/>
                  </a:ext>
                </a:extLst>
              </p:cNvPr>
              <p:cNvCxnSpPr>
                <a:stCxn id="13" idx="6"/>
                <a:endCxn id="18" idx="2"/>
              </p:cNvCxnSpPr>
              <p:nvPr/>
            </p:nvCxnSpPr>
            <p:spPr>
              <a:xfrm>
                <a:off x="9908223" y="4242004"/>
                <a:ext cx="577101" cy="8214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9" name="Straight Arrow Connector 2058">
                <a:extLst>
                  <a:ext uri="{FF2B5EF4-FFF2-40B4-BE49-F238E27FC236}">
                    <a16:creationId xmlns:a16="http://schemas.microsoft.com/office/drawing/2014/main" id="{A73A16CF-F8F3-ECE0-9120-9EA11FD748FB}"/>
                  </a:ext>
                </a:extLst>
              </p:cNvPr>
              <p:cNvCxnSpPr>
                <a:stCxn id="14" idx="6"/>
                <a:endCxn id="15" idx="2"/>
              </p:cNvCxnSpPr>
              <p:nvPr/>
            </p:nvCxnSpPr>
            <p:spPr>
              <a:xfrm flipV="1">
                <a:off x="9908223" y="2677197"/>
                <a:ext cx="560911" cy="23862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3" name="Straight Arrow Connector 2062">
                <a:extLst>
                  <a:ext uri="{FF2B5EF4-FFF2-40B4-BE49-F238E27FC236}">
                    <a16:creationId xmlns:a16="http://schemas.microsoft.com/office/drawing/2014/main" id="{8D4F2865-FC9F-621E-6955-17328D322FD5}"/>
                  </a:ext>
                </a:extLst>
              </p:cNvPr>
              <p:cNvCxnSpPr>
                <a:stCxn id="14" idx="6"/>
                <a:endCxn id="16" idx="2"/>
              </p:cNvCxnSpPr>
              <p:nvPr/>
            </p:nvCxnSpPr>
            <p:spPr>
              <a:xfrm flipV="1">
                <a:off x="9908223" y="3420529"/>
                <a:ext cx="579496" cy="16429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7" name="Straight Arrow Connector 2066">
                <a:extLst>
                  <a:ext uri="{FF2B5EF4-FFF2-40B4-BE49-F238E27FC236}">
                    <a16:creationId xmlns:a16="http://schemas.microsoft.com/office/drawing/2014/main" id="{0AB0A3C7-6316-C1E6-C753-A8400622A8A4}"/>
                  </a:ext>
                </a:extLst>
              </p:cNvPr>
              <p:cNvCxnSpPr>
                <a:stCxn id="14" idx="6"/>
                <a:endCxn id="17" idx="2"/>
              </p:cNvCxnSpPr>
              <p:nvPr/>
            </p:nvCxnSpPr>
            <p:spPr>
              <a:xfrm flipV="1">
                <a:off x="9908223" y="4240600"/>
                <a:ext cx="558516" cy="8228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9" name="Straight Arrow Connector 2068">
                <a:extLst>
                  <a:ext uri="{FF2B5EF4-FFF2-40B4-BE49-F238E27FC236}">
                    <a16:creationId xmlns:a16="http://schemas.microsoft.com/office/drawing/2014/main" id="{260C7BF1-1347-456E-2838-765AFF9C2923}"/>
                  </a:ext>
                </a:extLst>
              </p:cNvPr>
              <p:cNvCxnSpPr>
                <a:stCxn id="14" idx="6"/>
                <a:endCxn id="18" idx="2"/>
              </p:cNvCxnSpPr>
              <p:nvPr/>
            </p:nvCxnSpPr>
            <p:spPr>
              <a:xfrm>
                <a:off x="9908223" y="5063479"/>
                <a:ext cx="5771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0" name="TextBox 2069">
                <a:extLst>
                  <a:ext uri="{FF2B5EF4-FFF2-40B4-BE49-F238E27FC236}">
                    <a16:creationId xmlns:a16="http://schemas.microsoft.com/office/drawing/2014/main" id="{E2820929-3F96-7315-CA91-F984FF1EF6F2}"/>
                  </a:ext>
                </a:extLst>
              </p:cNvPr>
              <p:cNvSpPr txBox="1"/>
              <p:nvPr/>
            </p:nvSpPr>
            <p:spPr>
              <a:xfrm>
                <a:off x="8272007" y="2693619"/>
                <a:ext cx="7678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Input</a:t>
                </a:r>
                <a:endParaRPr lang="en-GB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071" name="TextBox 2070">
                <a:extLst>
                  <a:ext uri="{FF2B5EF4-FFF2-40B4-BE49-F238E27FC236}">
                    <a16:creationId xmlns:a16="http://schemas.microsoft.com/office/drawing/2014/main" id="{938F3C0E-3838-6D12-2A15-D030ECADA0AE}"/>
                  </a:ext>
                </a:extLst>
              </p:cNvPr>
              <p:cNvSpPr txBox="1"/>
              <p:nvPr/>
            </p:nvSpPr>
            <p:spPr>
              <a:xfrm>
                <a:off x="9215563" y="1999276"/>
                <a:ext cx="902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Hidden</a:t>
                </a:r>
                <a:endParaRPr lang="en-GB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072" name="TextBox 2071">
                <a:extLst>
                  <a:ext uri="{FF2B5EF4-FFF2-40B4-BE49-F238E27FC236}">
                    <a16:creationId xmlns:a16="http://schemas.microsoft.com/office/drawing/2014/main" id="{BCB4E883-6AD2-5D1B-F640-99BC75BA5EE4}"/>
                  </a:ext>
                </a:extLst>
              </p:cNvPr>
              <p:cNvSpPr txBox="1"/>
              <p:nvPr/>
            </p:nvSpPr>
            <p:spPr>
              <a:xfrm>
                <a:off x="10233615" y="2045056"/>
                <a:ext cx="9866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Output</a:t>
                </a:r>
                <a:endParaRPr lang="en-GB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073" name="TextBox 2072">
                <a:extLst>
                  <a:ext uri="{FF2B5EF4-FFF2-40B4-BE49-F238E27FC236}">
                    <a16:creationId xmlns:a16="http://schemas.microsoft.com/office/drawing/2014/main" id="{A4201E01-D6E5-FE66-81F2-71B29FF0F746}"/>
                  </a:ext>
                </a:extLst>
              </p:cNvPr>
              <p:cNvSpPr txBox="1"/>
              <p:nvPr/>
            </p:nvSpPr>
            <p:spPr>
              <a:xfrm>
                <a:off x="11025255" y="2538697"/>
                <a:ext cx="7678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200" dirty="0">
                    <a:solidFill>
                      <a:schemeClr val="accent6"/>
                    </a:solidFill>
                  </a:rPr>
                  <a:t>baseline</a:t>
                </a:r>
                <a:endParaRPr lang="en-GB" sz="1200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074" name="TextBox 2073">
                <a:extLst>
                  <a:ext uri="{FF2B5EF4-FFF2-40B4-BE49-F238E27FC236}">
                    <a16:creationId xmlns:a16="http://schemas.microsoft.com/office/drawing/2014/main" id="{9B69625A-2DC0-D3F5-922D-5AE17B47E185}"/>
                  </a:ext>
                </a:extLst>
              </p:cNvPr>
              <p:cNvSpPr txBox="1"/>
              <p:nvPr/>
            </p:nvSpPr>
            <p:spPr>
              <a:xfrm>
                <a:off x="11025255" y="3296485"/>
                <a:ext cx="7678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200" dirty="0">
                    <a:solidFill>
                      <a:srgbClr val="FF0000"/>
                    </a:solidFill>
                  </a:rPr>
                  <a:t>stress</a:t>
                </a:r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75" name="TextBox 2074">
                <a:extLst>
                  <a:ext uri="{FF2B5EF4-FFF2-40B4-BE49-F238E27FC236}">
                    <a16:creationId xmlns:a16="http://schemas.microsoft.com/office/drawing/2014/main" id="{19114330-7942-58E0-5992-E79448D2ACCD}"/>
                  </a:ext>
                </a:extLst>
              </p:cNvPr>
              <p:cNvSpPr txBox="1"/>
              <p:nvPr/>
            </p:nvSpPr>
            <p:spPr>
              <a:xfrm>
                <a:off x="11043840" y="4138611"/>
                <a:ext cx="1026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200" dirty="0">
                    <a:solidFill>
                      <a:srgbClr val="FFC000"/>
                    </a:solidFill>
                  </a:rPr>
                  <a:t>amusement</a:t>
                </a:r>
                <a:endParaRPr lang="en-GB" sz="1200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2076" name="TextBox 2075">
                <a:extLst>
                  <a:ext uri="{FF2B5EF4-FFF2-40B4-BE49-F238E27FC236}">
                    <a16:creationId xmlns:a16="http://schemas.microsoft.com/office/drawing/2014/main" id="{557F3DA2-DCD6-332A-6565-70AFF4C5E073}"/>
                  </a:ext>
                </a:extLst>
              </p:cNvPr>
              <p:cNvSpPr txBox="1"/>
              <p:nvPr/>
            </p:nvSpPr>
            <p:spPr>
              <a:xfrm>
                <a:off x="11053839" y="4924979"/>
                <a:ext cx="907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200" dirty="0">
                    <a:solidFill>
                      <a:srgbClr val="0070C0"/>
                    </a:solidFill>
                  </a:rPr>
                  <a:t>meditation</a:t>
                </a:r>
                <a:endParaRPr lang="en-GB" sz="1200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077" name="Arrow: Right 2076">
              <a:extLst>
                <a:ext uri="{FF2B5EF4-FFF2-40B4-BE49-F238E27FC236}">
                  <a16:creationId xmlns:a16="http://schemas.microsoft.com/office/drawing/2014/main" id="{17E4D9E1-B73A-8781-592D-3D6E5638234C}"/>
                </a:ext>
              </a:extLst>
            </p:cNvPr>
            <p:cNvSpPr/>
            <p:nvPr/>
          </p:nvSpPr>
          <p:spPr>
            <a:xfrm>
              <a:off x="1987032" y="3967756"/>
              <a:ext cx="805894" cy="247142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78" name="Arrow: Right 2077">
              <a:extLst>
                <a:ext uri="{FF2B5EF4-FFF2-40B4-BE49-F238E27FC236}">
                  <a16:creationId xmlns:a16="http://schemas.microsoft.com/office/drawing/2014/main" id="{B98E523B-0CE6-0147-83A5-481D898858E0}"/>
                </a:ext>
              </a:extLst>
            </p:cNvPr>
            <p:cNvSpPr/>
            <p:nvPr/>
          </p:nvSpPr>
          <p:spPr>
            <a:xfrm>
              <a:off x="4891139" y="3967756"/>
              <a:ext cx="805894" cy="247142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9" name="Arrow: Right 2078">
              <a:extLst>
                <a:ext uri="{FF2B5EF4-FFF2-40B4-BE49-F238E27FC236}">
                  <a16:creationId xmlns:a16="http://schemas.microsoft.com/office/drawing/2014/main" id="{4391565C-35F8-B42A-4946-F766ED42E1F6}"/>
                </a:ext>
              </a:extLst>
            </p:cNvPr>
            <p:cNvSpPr/>
            <p:nvPr/>
          </p:nvSpPr>
          <p:spPr>
            <a:xfrm>
              <a:off x="7349273" y="3967756"/>
              <a:ext cx="805894" cy="247142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0" name="TextBox 2079">
              <a:extLst>
                <a:ext uri="{FF2B5EF4-FFF2-40B4-BE49-F238E27FC236}">
                  <a16:creationId xmlns:a16="http://schemas.microsoft.com/office/drawing/2014/main" id="{4F350F3C-78FB-005E-D4ED-9E6D43C2FA9D}"/>
                </a:ext>
              </a:extLst>
            </p:cNvPr>
            <p:cNvSpPr txBox="1"/>
            <p:nvPr/>
          </p:nvSpPr>
          <p:spPr>
            <a:xfrm>
              <a:off x="2126141" y="3194643"/>
              <a:ext cx="5143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40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lang="en-GB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081" name="TextBox 2080">
              <a:extLst>
                <a:ext uri="{FF2B5EF4-FFF2-40B4-BE49-F238E27FC236}">
                  <a16:creationId xmlns:a16="http://schemas.microsoft.com/office/drawing/2014/main" id="{252D6C64-3E2D-356D-E131-B705ABD92983}"/>
                </a:ext>
              </a:extLst>
            </p:cNvPr>
            <p:cNvSpPr txBox="1"/>
            <p:nvPr/>
          </p:nvSpPr>
          <p:spPr>
            <a:xfrm>
              <a:off x="5036910" y="3267126"/>
              <a:ext cx="5143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400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lang="en-GB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082" name="TextBox 2081">
              <a:extLst>
                <a:ext uri="{FF2B5EF4-FFF2-40B4-BE49-F238E27FC236}">
                  <a16:creationId xmlns:a16="http://schemas.microsoft.com/office/drawing/2014/main" id="{8B35CF53-5104-CC72-E7F0-446441195436}"/>
                </a:ext>
              </a:extLst>
            </p:cNvPr>
            <p:cNvSpPr txBox="1"/>
            <p:nvPr/>
          </p:nvSpPr>
          <p:spPr>
            <a:xfrm>
              <a:off x="7456446" y="3278556"/>
              <a:ext cx="5143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400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lang="en-GB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81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4084-F5D9-D91C-6492-5863405A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179"/>
            <a:ext cx="10515600" cy="1325563"/>
          </a:xfrm>
        </p:spPr>
        <p:txBody>
          <a:bodyPr/>
          <a:lstStyle/>
          <a:p>
            <a:pPr algn="ctr"/>
            <a:r>
              <a:rPr lang="ro-RO" dirty="0"/>
              <a:t>Analiza și normalizarea datelor de intrare</a:t>
            </a:r>
            <a:endParaRPr lang="en-GB" dirty="0"/>
          </a:p>
        </p:txBody>
      </p:sp>
      <p:pic>
        <p:nvPicPr>
          <p:cNvPr id="4" name="Picture 4" descr="Folder free icons designed by Freepik">
            <a:extLst>
              <a:ext uri="{FF2B5EF4-FFF2-40B4-BE49-F238E27FC236}">
                <a16:creationId xmlns:a16="http://schemas.microsoft.com/office/drawing/2014/main" id="{3D58F94E-FDC7-839E-72A2-78E966668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982" y="1505044"/>
            <a:ext cx="1122599" cy="1122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A90EF601-82F1-53F9-5B59-68F64E61F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596" y="1444816"/>
            <a:ext cx="1369741" cy="136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D5E2314-1E96-E44C-D5C5-D61566F16D12}"/>
              </a:ext>
            </a:extLst>
          </p:cNvPr>
          <p:cNvSpPr/>
          <p:nvPr/>
        </p:nvSpPr>
        <p:spPr>
          <a:xfrm>
            <a:off x="5490655" y="2133359"/>
            <a:ext cx="805894" cy="247142"/>
          </a:xfrm>
          <a:prstGeom prst="right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21890-A7C0-1FB7-9A5B-9C3020C278AF}"/>
              </a:ext>
            </a:extLst>
          </p:cNvPr>
          <p:cNvSpPr txBox="1"/>
          <p:nvPr/>
        </p:nvSpPr>
        <p:spPr>
          <a:xfrm>
            <a:off x="5629764" y="1360246"/>
            <a:ext cx="514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bg1">
                    <a:lumMod val="75000"/>
                  </a:schemeClr>
                </a:solidFill>
              </a:rPr>
              <a:t>1</a:t>
            </a:r>
            <a:endParaRPr lang="en-GB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8B39C68-039A-643D-4D5B-B169107D4F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71292"/>
              </p:ext>
            </p:extLst>
          </p:nvPr>
        </p:nvGraphicFramePr>
        <p:xfrm>
          <a:off x="697034" y="2066794"/>
          <a:ext cx="1089416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3851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0284-7F58-1663-25D2-E29663C88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1286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it-IT" b="0" i="0" dirty="0">
                <a:solidFill>
                  <a:srgbClr val="1F2328"/>
                </a:solidFill>
                <a:effectLst/>
                <a:latin typeface="-apple-system"/>
              </a:rPr>
              <a:t>Formarea si antrenarea unor LSTM-uri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ACBF6-D56D-B804-C02B-90CE153D9AEF}"/>
              </a:ext>
            </a:extLst>
          </p:cNvPr>
          <p:cNvSpPr txBox="1"/>
          <p:nvPr/>
        </p:nvSpPr>
        <p:spPr>
          <a:xfrm>
            <a:off x="350637" y="6342790"/>
            <a:ext cx="6585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>
                    <a:lumMod val="65000"/>
                  </a:schemeClr>
                </a:solidFill>
              </a:rPr>
              <a:t>LSTM = Long Short-Term Memory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F0093-AC58-39C4-1C95-6C357F5237ED}"/>
              </a:ext>
            </a:extLst>
          </p:cNvPr>
          <p:cNvSpPr txBox="1"/>
          <p:nvPr/>
        </p:nvSpPr>
        <p:spPr>
          <a:xfrm>
            <a:off x="5296125" y="2258165"/>
            <a:ext cx="59922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2400" dirty="0"/>
              <a:t>c</a:t>
            </a:r>
            <a:r>
              <a:rPr lang="en-GB" sz="2400" dirty="0"/>
              <a:t>ate un model LSTM de tip many-to-one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ro-RO" sz="2400" dirty="0"/>
              <a:t>fi</a:t>
            </a:r>
            <a:r>
              <a:rPr lang="en-GB" sz="2400" dirty="0" err="1"/>
              <a:t>ecare</a:t>
            </a:r>
            <a:r>
              <a:rPr lang="en-GB" sz="2400" dirty="0"/>
              <a:t> tip de date de </a:t>
            </a:r>
            <a:r>
              <a:rPr lang="en-GB" sz="2400" dirty="0" err="1"/>
              <a:t>intrar</a:t>
            </a:r>
            <a:r>
              <a:rPr lang="ro-RO" sz="2400" dirty="0"/>
              <a:t>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ACC</a:t>
            </a:r>
            <a:r>
              <a:rPr lang="ro-RO" sz="2400" dirty="0"/>
              <a:t>  = acceloremetrie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TEMP</a:t>
            </a:r>
            <a:r>
              <a:rPr lang="ro-RO" sz="2400" dirty="0"/>
              <a:t> = temperatura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BVP</a:t>
            </a:r>
            <a:r>
              <a:rPr lang="ro-RO" sz="2400" dirty="0"/>
              <a:t>  = volum puls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/>
              <a:t>EDA </a:t>
            </a:r>
            <a:r>
              <a:rPr lang="ro-RO" sz="2400" dirty="0"/>
              <a:t> = răspuns galvanic al pielii</a:t>
            </a:r>
          </a:p>
          <a:p>
            <a:endParaRPr lang="ro-RO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2400" dirty="0"/>
              <a:t>a</a:t>
            </a:r>
            <a:r>
              <a:rPr lang="en-GB" sz="2400" dirty="0" err="1"/>
              <a:t>cest</a:t>
            </a:r>
            <a:r>
              <a:rPr lang="en-GB" sz="2400" dirty="0"/>
              <a:t> model </a:t>
            </a:r>
            <a:r>
              <a:rPr lang="en-GB" sz="2400" dirty="0" err="1"/>
              <a:t>prelucreaza</a:t>
            </a:r>
            <a:r>
              <a:rPr lang="en-GB" sz="2400" dirty="0"/>
              <a:t> </a:t>
            </a:r>
            <a:r>
              <a:rPr lang="en-GB" sz="2400" dirty="0" err="1"/>
              <a:t>secventele</a:t>
            </a:r>
            <a:r>
              <a:rPr lang="en-GB" sz="2400" dirty="0"/>
              <a:t> de date individual </a:t>
            </a:r>
            <a:r>
              <a:rPr lang="en-GB" sz="2400" dirty="0" err="1"/>
              <a:t>si</a:t>
            </a:r>
            <a:r>
              <a:rPr lang="en-GB" sz="2400" dirty="0"/>
              <a:t> </a:t>
            </a:r>
            <a:r>
              <a:rPr lang="en-GB" sz="2400" dirty="0" err="1"/>
              <a:t>capteaza</a:t>
            </a:r>
            <a:r>
              <a:rPr lang="en-GB" sz="2400" dirty="0"/>
              <a:t> </a:t>
            </a:r>
            <a:r>
              <a:rPr lang="en-GB" sz="2400" dirty="0" err="1"/>
              <a:t>evolutia</a:t>
            </a:r>
            <a:r>
              <a:rPr lang="en-GB" sz="2400" dirty="0"/>
              <a:t> </a:t>
            </a:r>
            <a:r>
              <a:rPr lang="ro-RO" sz="2400" dirty="0"/>
              <a:t>fi</a:t>
            </a:r>
            <a:r>
              <a:rPr lang="en-GB" sz="2400" dirty="0" err="1"/>
              <a:t>ecarui</a:t>
            </a:r>
            <a:r>
              <a:rPr lang="ro-RO" sz="2400" dirty="0"/>
              <a:t> </a:t>
            </a:r>
            <a:r>
              <a:rPr lang="en-GB" sz="2400" dirty="0"/>
              <a:t>tip de </a:t>
            </a:r>
            <a:r>
              <a:rPr lang="en-GB" sz="2400" dirty="0" err="1"/>
              <a:t>semnal</a:t>
            </a:r>
            <a:r>
              <a:rPr lang="en-GB" sz="2400" dirty="0"/>
              <a:t> in </a:t>
            </a:r>
            <a:r>
              <a:rPr lang="en-GB" sz="2400" dirty="0" err="1"/>
              <a:t>timp.</a:t>
            </a:r>
            <a:endParaRPr lang="en-GB" sz="2400" dirty="0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415E2DE-EE6D-4789-25DB-115F6F450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67" y="3252213"/>
            <a:ext cx="1451228" cy="145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CBB21231-324E-5784-B1B6-EFEA5DFFF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725" y="4507974"/>
            <a:ext cx="1847451" cy="183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9732435B-3317-5E96-9AE0-8A30FAD4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401" y="2103545"/>
            <a:ext cx="1344135" cy="134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D775DE21-C0E8-35D5-A45E-1DE3DF0C7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510" y="3598541"/>
            <a:ext cx="6858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CF1298B2-7EE4-F617-BBD3-5E948EEC04E5}"/>
              </a:ext>
            </a:extLst>
          </p:cNvPr>
          <p:cNvSpPr/>
          <p:nvPr/>
        </p:nvSpPr>
        <p:spPr>
          <a:xfrm>
            <a:off x="2059608" y="3840586"/>
            <a:ext cx="805894" cy="247142"/>
          </a:xfrm>
          <a:prstGeom prst="right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6FBF4-E4C4-82C3-4AAB-813FD0462F7D}"/>
              </a:ext>
            </a:extLst>
          </p:cNvPr>
          <p:cNvSpPr txBox="1"/>
          <p:nvPr/>
        </p:nvSpPr>
        <p:spPr>
          <a:xfrm>
            <a:off x="2205374" y="3139956"/>
            <a:ext cx="514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bg1">
                    <a:lumMod val="75000"/>
                  </a:schemeClr>
                </a:solidFill>
              </a:rPr>
              <a:t>2</a:t>
            </a:r>
            <a:endParaRPr lang="en-GB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80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E5FE-B26B-8F29-A448-0DDABCEA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Formarea unui ANN cu evolutia fiecarei masuratori</a:t>
            </a:r>
            <a:endParaRPr lang="en-GB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D2C604-E9A4-60EE-8B1B-3C8E57B56533}"/>
              </a:ext>
            </a:extLst>
          </p:cNvPr>
          <p:cNvGrpSpPr/>
          <p:nvPr/>
        </p:nvGrpSpPr>
        <p:grpSpPr>
          <a:xfrm>
            <a:off x="964625" y="1690688"/>
            <a:ext cx="2333835" cy="4643541"/>
            <a:chOff x="5663814" y="1690688"/>
            <a:chExt cx="2333835" cy="4643541"/>
          </a:xfrm>
        </p:grpSpPr>
        <p:pic>
          <p:nvPicPr>
            <p:cNvPr id="58" name="Picture 10">
              <a:extLst>
                <a:ext uri="{FF2B5EF4-FFF2-40B4-BE49-F238E27FC236}">
                  <a16:creationId xmlns:a16="http://schemas.microsoft.com/office/drawing/2014/main" id="{80A5EE8D-DBF6-AA2D-CB38-30BA3BE218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3814" y="4000394"/>
              <a:ext cx="2333835" cy="2333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4">
              <a:extLst>
                <a:ext uri="{FF2B5EF4-FFF2-40B4-BE49-F238E27FC236}">
                  <a16:creationId xmlns:a16="http://schemas.microsoft.com/office/drawing/2014/main" id="{3DF0B1DE-B767-2C6F-2BE8-D06DA8A387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5467" y="1690688"/>
              <a:ext cx="1738312" cy="1738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16">
              <a:extLst>
                <a:ext uri="{FF2B5EF4-FFF2-40B4-BE49-F238E27FC236}">
                  <a16:creationId xmlns:a16="http://schemas.microsoft.com/office/drawing/2014/main" id="{0BD09B4E-B559-A919-3197-E5AAF1D2E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723" y="3503602"/>
              <a:ext cx="685800" cy="110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9EFFFDB-C22B-0E14-77B3-F2C20137692C}"/>
              </a:ext>
            </a:extLst>
          </p:cNvPr>
          <p:cNvGrpSpPr/>
          <p:nvPr/>
        </p:nvGrpSpPr>
        <p:grpSpPr>
          <a:xfrm>
            <a:off x="3824278" y="1999276"/>
            <a:ext cx="3797867" cy="3305813"/>
            <a:chOff x="8272007" y="1999276"/>
            <a:chExt cx="3797867" cy="3305813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7C78855-561F-9CA0-353C-11E72610EEA7}"/>
                </a:ext>
              </a:extLst>
            </p:cNvPr>
            <p:cNvSpPr/>
            <p:nvPr/>
          </p:nvSpPr>
          <p:spPr>
            <a:xfrm>
              <a:off x="8361922" y="3101607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8737C5A-88A3-C07A-A8DC-752BB2D5C7D1}"/>
                </a:ext>
              </a:extLst>
            </p:cNvPr>
            <p:cNvSpPr/>
            <p:nvPr/>
          </p:nvSpPr>
          <p:spPr>
            <a:xfrm>
              <a:off x="8361922" y="3758784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82B6A7D-2A47-CB8C-7BDA-3A33781E3A31}"/>
                </a:ext>
              </a:extLst>
            </p:cNvPr>
            <p:cNvSpPr/>
            <p:nvPr/>
          </p:nvSpPr>
          <p:spPr>
            <a:xfrm>
              <a:off x="8361922" y="4415961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060642D-3CF3-6B6C-6137-E7793ABA83FA}"/>
                </a:ext>
              </a:extLst>
            </p:cNvPr>
            <p:cNvSpPr/>
            <p:nvPr/>
          </p:nvSpPr>
          <p:spPr>
            <a:xfrm>
              <a:off x="9425003" y="2435587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EBC1201-770F-8471-2ADB-912158FA3D69}"/>
                </a:ext>
              </a:extLst>
            </p:cNvPr>
            <p:cNvSpPr/>
            <p:nvPr/>
          </p:nvSpPr>
          <p:spPr>
            <a:xfrm>
              <a:off x="9425003" y="3178919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723465E-B66E-A999-FEE8-AB163F86800D}"/>
                </a:ext>
              </a:extLst>
            </p:cNvPr>
            <p:cNvSpPr/>
            <p:nvPr/>
          </p:nvSpPr>
          <p:spPr>
            <a:xfrm>
              <a:off x="9425003" y="4000394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8929D77-13BD-A027-A0AD-666FAC73DECE}"/>
                </a:ext>
              </a:extLst>
            </p:cNvPr>
            <p:cNvSpPr/>
            <p:nvPr/>
          </p:nvSpPr>
          <p:spPr>
            <a:xfrm>
              <a:off x="9425003" y="4821869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BA5BE61-2459-D377-AF4C-D93DEC775F88}"/>
                </a:ext>
              </a:extLst>
            </p:cNvPr>
            <p:cNvSpPr/>
            <p:nvPr/>
          </p:nvSpPr>
          <p:spPr>
            <a:xfrm>
              <a:off x="10469134" y="2435587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0455325-5207-53BE-FEC8-0A64D358DA70}"/>
                </a:ext>
              </a:extLst>
            </p:cNvPr>
            <p:cNvSpPr/>
            <p:nvPr/>
          </p:nvSpPr>
          <p:spPr>
            <a:xfrm>
              <a:off x="10487719" y="3178919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FABE1FA-05A0-4A4D-7D04-C725618D3F4B}"/>
                </a:ext>
              </a:extLst>
            </p:cNvPr>
            <p:cNvSpPr/>
            <p:nvPr/>
          </p:nvSpPr>
          <p:spPr>
            <a:xfrm>
              <a:off x="10466739" y="3998990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D35AC65-077F-03E2-CAA2-0328672F180F}"/>
                </a:ext>
              </a:extLst>
            </p:cNvPr>
            <p:cNvSpPr/>
            <p:nvPr/>
          </p:nvSpPr>
          <p:spPr>
            <a:xfrm>
              <a:off x="10485324" y="4821869"/>
              <a:ext cx="483220" cy="4832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1279762-9B13-98F8-07B9-5E8A077F6652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 flipV="1">
              <a:off x="8845142" y="2677197"/>
              <a:ext cx="579861" cy="6660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061DB7E5-E9DD-1A9B-C286-2A8ABE49DBB3}"/>
                </a:ext>
              </a:extLst>
            </p:cNvPr>
            <p:cNvCxnSpPr>
              <a:stCxn id="62" idx="6"/>
              <a:endCxn id="66" idx="2"/>
            </p:cNvCxnSpPr>
            <p:nvPr/>
          </p:nvCxnSpPr>
          <p:spPr>
            <a:xfrm>
              <a:off x="8845142" y="3343217"/>
              <a:ext cx="579861" cy="773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684F956-565B-B663-89ED-ED56A00CF848}"/>
                </a:ext>
              </a:extLst>
            </p:cNvPr>
            <p:cNvCxnSpPr>
              <a:stCxn id="62" idx="6"/>
              <a:endCxn id="67" idx="2"/>
            </p:cNvCxnSpPr>
            <p:nvPr/>
          </p:nvCxnSpPr>
          <p:spPr>
            <a:xfrm>
              <a:off x="8845142" y="3343217"/>
              <a:ext cx="579861" cy="8987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B09688A-D8A0-B78B-4583-46C65B5EDE22}"/>
                </a:ext>
              </a:extLst>
            </p:cNvPr>
            <p:cNvCxnSpPr>
              <a:stCxn id="62" idx="6"/>
              <a:endCxn id="68" idx="2"/>
            </p:cNvCxnSpPr>
            <p:nvPr/>
          </p:nvCxnSpPr>
          <p:spPr>
            <a:xfrm>
              <a:off x="8845142" y="3343217"/>
              <a:ext cx="579861" cy="17202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16D845C-D077-6E1D-6BCF-8A1EF3E477EF}"/>
                </a:ext>
              </a:extLst>
            </p:cNvPr>
            <p:cNvCxnSpPr>
              <a:stCxn id="63" idx="6"/>
              <a:endCxn id="65" idx="2"/>
            </p:cNvCxnSpPr>
            <p:nvPr/>
          </p:nvCxnSpPr>
          <p:spPr>
            <a:xfrm flipV="1">
              <a:off x="8845142" y="2677197"/>
              <a:ext cx="579861" cy="13231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CEBB2BD-C599-4873-953C-F7A2F10A44F9}"/>
                </a:ext>
              </a:extLst>
            </p:cNvPr>
            <p:cNvCxnSpPr>
              <a:stCxn id="63" idx="6"/>
              <a:endCxn id="66" idx="2"/>
            </p:cNvCxnSpPr>
            <p:nvPr/>
          </p:nvCxnSpPr>
          <p:spPr>
            <a:xfrm flipV="1">
              <a:off x="8845142" y="3420529"/>
              <a:ext cx="579861" cy="5798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122ECA8-5494-30B0-A679-7C0571490926}"/>
                </a:ext>
              </a:extLst>
            </p:cNvPr>
            <p:cNvCxnSpPr>
              <a:stCxn id="63" idx="6"/>
              <a:endCxn id="67" idx="2"/>
            </p:cNvCxnSpPr>
            <p:nvPr/>
          </p:nvCxnSpPr>
          <p:spPr>
            <a:xfrm>
              <a:off x="8845142" y="4000394"/>
              <a:ext cx="579861" cy="24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181DA98-2611-13DB-2F44-210DAA3523C3}"/>
                </a:ext>
              </a:extLst>
            </p:cNvPr>
            <p:cNvCxnSpPr>
              <a:stCxn id="63" idx="6"/>
              <a:endCxn id="68" idx="2"/>
            </p:cNvCxnSpPr>
            <p:nvPr/>
          </p:nvCxnSpPr>
          <p:spPr>
            <a:xfrm>
              <a:off x="8845142" y="4000394"/>
              <a:ext cx="579861" cy="10630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02BE254-4601-BFE9-8AD6-465868F74C06}"/>
                </a:ext>
              </a:extLst>
            </p:cNvPr>
            <p:cNvCxnSpPr>
              <a:stCxn id="64" idx="6"/>
              <a:endCxn id="66" idx="2"/>
            </p:cNvCxnSpPr>
            <p:nvPr/>
          </p:nvCxnSpPr>
          <p:spPr>
            <a:xfrm flipV="1">
              <a:off x="8845142" y="3420529"/>
              <a:ext cx="579861" cy="1237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56EE6EB-07CA-384E-A8E6-BEE2E0C1BBC8}"/>
                </a:ext>
              </a:extLst>
            </p:cNvPr>
            <p:cNvCxnSpPr>
              <a:stCxn id="64" idx="6"/>
              <a:endCxn id="65" idx="2"/>
            </p:cNvCxnSpPr>
            <p:nvPr/>
          </p:nvCxnSpPr>
          <p:spPr>
            <a:xfrm flipV="1">
              <a:off x="8845142" y="2677197"/>
              <a:ext cx="579861" cy="19803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FF56B85-E019-29AB-59F1-C93473226839}"/>
                </a:ext>
              </a:extLst>
            </p:cNvPr>
            <p:cNvCxnSpPr>
              <a:stCxn id="64" idx="6"/>
              <a:endCxn id="67" idx="2"/>
            </p:cNvCxnSpPr>
            <p:nvPr/>
          </p:nvCxnSpPr>
          <p:spPr>
            <a:xfrm flipV="1">
              <a:off x="8845142" y="4242004"/>
              <a:ext cx="579861" cy="415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4116FAD-58D1-D69C-8D3E-E9A8091B73E0}"/>
                </a:ext>
              </a:extLst>
            </p:cNvPr>
            <p:cNvCxnSpPr>
              <a:stCxn id="64" idx="6"/>
              <a:endCxn id="68" idx="2"/>
            </p:cNvCxnSpPr>
            <p:nvPr/>
          </p:nvCxnSpPr>
          <p:spPr>
            <a:xfrm>
              <a:off x="8845142" y="4657571"/>
              <a:ext cx="579861" cy="405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90AC5CA-9A93-230F-0127-0593110EAD69}"/>
                </a:ext>
              </a:extLst>
            </p:cNvPr>
            <p:cNvCxnSpPr>
              <a:stCxn id="65" idx="6"/>
              <a:endCxn id="69" idx="2"/>
            </p:cNvCxnSpPr>
            <p:nvPr/>
          </p:nvCxnSpPr>
          <p:spPr>
            <a:xfrm>
              <a:off x="9908223" y="2677197"/>
              <a:ext cx="560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53071EA-64A8-7F8A-C56F-2F1F874B5109}"/>
                </a:ext>
              </a:extLst>
            </p:cNvPr>
            <p:cNvCxnSpPr>
              <a:stCxn id="65" idx="6"/>
              <a:endCxn id="70" idx="2"/>
            </p:cNvCxnSpPr>
            <p:nvPr/>
          </p:nvCxnSpPr>
          <p:spPr>
            <a:xfrm>
              <a:off x="9908223" y="2677197"/>
              <a:ext cx="579496" cy="743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57149B8-D387-7EBE-7DCE-55AA48C48CC3}"/>
                </a:ext>
              </a:extLst>
            </p:cNvPr>
            <p:cNvCxnSpPr>
              <a:stCxn id="65" idx="6"/>
              <a:endCxn id="71" idx="2"/>
            </p:cNvCxnSpPr>
            <p:nvPr/>
          </p:nvCxnSpPr>
          <p:spPr>
            <a:xfrm>
              <a:off x="9908223" y="2677197"/>
              <a:ext cx="558516" cy="15634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74303F-233E-25E7-1227-EF24AF92D60A}"/>
                </a:ext>
              </a:extLst>
            </p:cNvPr>
            <p:cNvCxnSpPr>
              <a:stCxn id="65" idx="6"/>
              <a:endCxn id="72" idx="2"/>
            </p:cNvCxnSpPr>
            <p:nvPr/>
          </p:nvCxnSpPr>
          <p:spPr>
            <a:xfrm>
              <a:off x="9908223" y="2677197"/>
              <a:ext cx="577101" cy="23862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0747B71-B4B7-2484-B4A2-E21059C4A955}"/>
                </a:ext>
              </a:extLst>
            </p:cNvPr>
            <p:cNvCxnSpPr>
              <a:stCxn id="66" idx="6"/>
              <a:endCxn id="69" idx="2"/>
            </p:cNvCxnSpPr>
            <p:nvPr/>
          </p:nvCxnSpPr>
          <p:spPr>
            <a:xfrm flipV="1">
              <a:off x="9908223" y="2677197"/>
              <a:ext cx="560911" cy="743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4831554-495D-4635-36C7-96117A7EC390}"/>
                </a:ext>
              </a:extLst>
            </p:cNvPr>
            <p:cNvCxnSpPr>
              <a:stCxn id="66" idx="6"/>
              <a:endCxn id="70" idx="2"/>
            </p:cNvCxnSpPr>
            <p:nvPr/>
          </p:nvCxnSpPr>
          <p:spPr>
            <a:xfrm>
              <a:off x="9908223" y="3420529"/>
              <a:ext cx="579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73DA336-6831-1698-332B-14FD0728AA45}"/>
                </a:ext>
              </a:extLst>
            </p:cNvPr>
            <p:cNvCxnSpPr>
              <a:stCxn id="66" idx="6"/>
              <a:endCxn id="71" idx="2"/>
            </p:cNvCxnSpPr>
            <p:nvPr/>
          </p:nvCxnSpPr>
          <p:spPr>
            <a:xfrm>
              <a:off x="9908223" y="3420529"/>
              <a:ext cx="558516" cy="820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2AF9023-424E-3D6A-31FB-74F0C732BD36}"/>
                </a:ext>
              </a:extLst>
            </p:cNvPr>
            <p:cNvCxnSpPr>
              <a:stCxn id="66" idx="6"/>
              <a:endCxn id="72" idx="2"/>
            </p:cNvCxnSpPr>
            <p:nvPr/>
          </p:nvCxnSpPr>
          <p:spPr>
            <a:xfrm>
              <a:off x="9908223" y="3420529"/>
              <a:ext cx="577101" cy="16429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25A3905-8507-1819-C782-98084002FACF}"/>
                </a:ext>
              </a:extLst>
            </p:cNvPr>
            <p:cNvCxnSpPr>
              <a:stCxn id="67" idx="6"/>
              <a:endCxn id="69" idx="2"/>
            </p:cNvCxnSpPr>
            <p:nvPr/>
          </p:nvCxnSpPr>
          <p:spPr>
            <a:xfrm flipV="1">
              <a:off x="9908223" y="2677197"/>
              <a:ext cx="560911" cy="15648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81787BF-7A44-0414-96E8-01360CF38386}"/>
                </a:ext>
              </a:extLst>
            </p:cNvPr>
            <p:cNvCxnSpPr>
              <a:stCxn id="67" idx="6"/>
              <a:endCxn id="70" idx="2"/>
            </p:cNvCxnSpPr>
            <p:nvPr/>
          </p:nvCxnSpPr>
          <p:spPr>
            <a:xfrm flipV="1">
              <a:off x="9908223" y="3420529"/>
              <a:ext cx="579496" cy="8214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9B4CC64A-DEF3-1680-A944-325D33011E98}"/>
                </a:ext>
              </a:extLst>
            </p:cNvPr>
            <p:cNvCxnSpPr>
              <a:stCxn id="67" idx="6"/>
              <a:endCxn id="71" idx="2"/>
            </p:cNvCxnSpPr>
            <p:nvPr/>
          </p:nvCxnSpPr>
          <p:spPr>
            <a:xfrm flipV="1">
              <a:off x="9908223" y="4240600"/>
              <a:ext cx="558516" cy="14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D9FD69A-673A-EBF3-297A-6CB79CD0732C}"/>
                </a:ext>
              </a:extLst>
            </p:cNvPr>
            <p:cNvCxnSpPr>
              <a:stCxn id="67" idx="6"/>
              <a:endCxn id="72" idx="2"/>
            </p:cNvCxnSpPr>
            <p:nvPr/>
          </p:nvCxnSpPr>
          <p:spPr>
            <a:xfrm>
              <a:off x="9908223" y="4242004"/>
              <a:ext cx="577101" cy="8214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53688ED-94E4-CE58-7CF7-DB6D16909396}"/>
                </a:ext>
              </a:extLst>
            </p:cNvPr>
            <p:cNvCxnSpPr>
              <a:stCxn id="68" idx="6"/>
              <a:endCxn id="69" idx="2"/>
            </p:cNvCxnSpPr>
            <p:nvPr/>
          </p:nvCxnSpPr>
          <p:spPr>
            <a:xfrm flipV="1">
              <a:off x="9908223" y="2677197"/>
              <a:ext cx="560911" cy="23862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A2CE3259-4160-1065-AF2C-019901457F7A}"/>
                </a:ext>
              </a:extLst>
            </p:cNvPr>
            <p:cNvCxnSpPr>
              <a:stCxn id="68" idx="6"/>
              <a:endCxn id="70" idx="2"/>
            </p:cNvCxnSpPr>
            <p:nvPr/>
          </p:nvCxnSpPr>
          <p:spPr>
            <a:xfrm flipV="1">
              <a:off x="9908223" y="3420529"/>
              <a:ext cx="579496" cy="16429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34D7F345-53D0-8F79-6579-6025C1098558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 flipV="1">
              <a:off x="9908223" y="4240600"/>
              <a:ext cx="558516" cy="822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1BE32D9-AD0E-FB20-335C-754583649C09}"/>
                </a:ext>
              </a:extLst>
            </p:cNvPr>
            <p:cNvCxnSpPr>
              <a:stCxn id="68" idx="6"/>
              <a:endCxn id="72" idx="2"/>
            </p:cNvCxnSpPr>
            <p:nvPr/>
          </p:nvCxnSpPr>
          <p:spPr>
            <a:xfrm>
              <a:off x="9908223" y="5063479"/>
              <a:ext cx="577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E145312-52F9-E97E-1C00-B4B8A9C0106B}"/>
                </a:ext>
              </a:extLst>
            </p:cNvPr>
            <p:cNvSpPr txBox="1"/>
            <p:nvPr/>
          </p:nvSpPr>
          <p:spPr>
            <a:xfrm>
              <a:off x="8272007" y="2693619"/>
              <a:ext cx="767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Input</a:t>
              </a:r>
              <a:endParaRPr lang="en-GB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51E44A6-8D60-3C0F-5475-CB1062112D0E}"/>
                </a:ext>
              </a:extLst>
            </p:cNvPr>
            <p:cNvSpPr txBox="1"/>
            <p:nvPr/>
          </p:nvSpPr>
          <p:spPr>
            <a:xfrm>
              <a:off x="9215563" y="1999276"/>
              <a:ext cx="902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Hidden</a:t>
              </a:r>
              <a:endParaRPr lang="en-GB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87D6B4D-A821-E0FD-5569-F6E30EB8E2B1}"/>
                </a:ext>
              </a:extLst>
            </p:cNvPr>
            <p:cNvSpPr txBox="1"/>
            <p:nvPr/>
          </p:nvSpPr>
          <p:spPr>
            <a:xfrm>
              <a:off x="10233615" y="2045056"/>
              <a:ext cx="986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Output</a:t>
              </a:r>
              <a:endParaRPr lang="en-GB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141BECB-C038-5C45-9BDE-DA8E3538ED82}"/>
                </a:ext>
              </a:extLst>
            </p:cNvPr>
            <p:cNvSpPr txBox="1"/>
            <p:nvPr/>
          </p:nvSpPr>
          <p:spPr>
            <a:xfrm>
              <a:off x="11025255" y="2538697"/>
              <a:ext cx="7678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200" dirty="0">
                  <a:solidFill>
                    <a:schemeClr val="accent6"/>
                  </a:solidFill>
                </a:rPr>
                <a:t>baseline</a:t>
              </a:r>
              <a:endParaRPr lang="en-GB" sz="1200" dirty="0">
                <a:solidFill>
                  <a:schemeClr val="accent6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A512B9A-A692-4876-0E78-F460BABC1484}"/>
                </a:ext>
              </a:extLst>
            </p:cNvPr>
            <p:cNvSpPr txBox="1"/>
            <p:nvPr/>
          </p:nvSpPr>
          <p:spPr>
            <a:xfrm>
              <a:off x="11025255" y="3296485"/>
              <a:ext cx="7678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200" dirty="0">
                  <a:solidFill>
                    <a:srgbClr val="FF0000"/>
                  </a:solidFill>
                </a:rPr>
                <a:t>stress</a:t>
              </a:r>
              <a:endParaRPr lang="en-GB" sz="1200" dirty="0">
                <a:solidFill>
                  <a:srgbClr val="FF000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386E238-6036-DDAD-6EE2-4461ADFC3750}"/>
                </a:ext>
              </a:extLst>
            </p:cNvPr>
            <p:cNvSpPr txBox="1"/>
            <p:nvPr/>
          </p:nvSpPr>
          <p:spPr>
            <a:xfrm>
              <a:off x="11043840" y="4138611"/>
              <a:ext cx="102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200" dirty="0">
                  <a:solidFill>
                    <a:srgbClr val="FFC000"/>
                  </a:solidFill>
                </a:rPr>
                <a:t>amusement</a:t>
              </a:r>
              <a:endParaRPr lang="en-GB" sz="1200" dirty="0">
                <a:solidFill>
                  <a:srgbClr val="FFC000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2CA7C5A-6344-8176-D7B5-F0BC7DEDB311}"/>
                </a:ext>
              </a:extLst>
            </p:cNvPr>
            <p:cNvSpPr txBox="1"/>
            <p:nvPr/>
          </p:nvSpPr>
          <p:spPr>
            <a:xfrm>
              <a:off x="11053839" y="4924979"/>
              <a:ext cx="9077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200" dirty="0">
                  <a:solidFill>
                    <a:srgbClr val="0070C0"/>
                  </a:solidFill>
                </a:rPr>
                <a:t>meditation</a:t>
              </a:r>
              <a:endParaRPr lang="en-GB" sz="1200" dirty="0">
                <a:solidFill>
                  <a:srgbClr val="0070C0"/>
                </a:solidFill>
              </a:endParaRPr>
            </a:p>
          </p:txBody>
        </p:sp>
      </p:grp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D62A3471-C032-FA75-E5BC-5DAD3D4AE420}"/>
              </a:ext>
            </a:extLst>
          </p:cNvPr>
          <p:cNvSpPr/>
          <p:nvPr/>
        </p:nvSpPr>
        <p:spPr>
          <a:xfrm>
            <a:off x="2981554" y="3623196"/>
            <a:ext cx="805894" cy="247142"/>
          </a:xfrm>
          <a:prstGeom prst="right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C733806-A0BB-CEEF-5BB9-C3D66144B317}"/>
              </a:ext>
            </a:extLst>
          </p:cNvPr>
          <p:cNvSpPr txBox="1"/>
          <p:nvPr/>
        </p:nvSpPr>
        <p:spPr>
          <a:xfrm>
            <a:off x="3088727" y="2933996"/>
            <a:ext cx="514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bg1">
                    <a:lumMod val="75000"/>
                  </a:schemeClr>
                </a:solidFill>
              </a:rPr>
              <a:t>3</a:t>
            </a:r>
            <a:endParaRPr lang="en-GB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0EDCCE-BC7F-C32F-B698-DD3E14F02BA2}"/>
              </a:ext>
            </a:extLst>
          </p:cNvPr>
          <p:cNvSpPr txBox="1"/>
          <p:nvPr/>
        </p:nvSpPr>
        <p:spPr>
          <a:xfrm>
            <a:off x="7738570" y="2368608"/>
            <a:ext cx="37743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Ieșirile generate de fiecare LSTM sunt fuzionate într-un vector comun, introdus într-un 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ANN va procesa datele agregate și va genera o clasificare (</a:t>
            </a:r>
            <a:r>
              <a:rPr lang="ro-RO" sz="2000" dirty="0">
                <a:solidFill>
                  <a:srgbClr val="00B050"/>
                </a:solidFill>
              </a:rPr>
              <a:t>baseline</a:t>
            </a:r>
            <a:r>
              <a:rPr lang="ro-RO" sz="2000" dirty="0"/>
              <a:t>, </a:t>
            </a:r>
            <a:r>
              <a:rPr lang="ro-RO" sz="2000" dirty="0">
                <a:solidFill>
                  <a:srgbClr val="FF0000"/>
                </a:solidFill>
              </a:rPr>
              <a:t>stress</a:t>
            </a:r>
            <a:r>
              <a:rPr lang="ro-RO" sz="2000" dirty="0"/>
              <a:t>, </a:t>
            </a:r>
            <a:r>
              <a:rPr lang="ro-RO" sz="2000" dirty="0">
                <a:solidFill>
                  <a:srgbClr val="FFC000"/>
                </a:solidFill>
              </a:rPr>
              <a:t>amusement</a:t>
            </a:r>
            <a:r>
              <a:rPr lang="ro-RO" sz="2000" dirty="0"/>
              <a:t>, </a:t>
            </a:r>
            <a:r>
              <a:rPr lang="ro-RO" sz="2000" dirty="0">
                <a:solidFill>
                  <a:srgbClr val="0070C0"/>
                </a:solidFill>
              </a:rPr>
              <a:t>meditation</a:t>
            </a:r>
            <a:r>
              <a:rPr lang="ro-RO" sz="2000" dirty="0"/>
              <a:t>)</a:t>
            </a:r>
            <a:endParaRPr lang="en-GB" sz="2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5B50A38-54BE-4B15-EF1E-81212922BC52}"/>
              </a:ext>
            </a:extLst>
          </p:cNvPr>
          <p:cNvSpPr txBox="1"/>
          <p:nvPr/>
        </p:nvSpPr>
        <p:spPr>
          <a:xfrm>
            <a:off x="1286278" y="6297155"/>
            <a:ext cx="470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ANN = Artificial Neural Network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51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4EC8-9215-4E7A-3B3C-CD507924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339"/>
            <a:ext cx="10515600" cy="1325563"/>
          </a:xfrm>
        </p:spPr>
        <p:txBody>
          <a:bodyPr/>
          <a:lstStyle/>
          <a:p>
            <a:pPr algn="ctr"/>
            <a:r>
              <a:rPr lang="ro-RO" dirty="0"/>
              <a:t>Rezultate pentru prezicerea stresului</a:t>
            </a:r>
            <a:endParaRPr lang="en-GB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0A98C1D-1E47-B185-BD50-E2A635ECEA9E}"/>
              </a:ext>
            </a:extLst>
          </p:cNvPr>
          <p:cNvSpPr/>
          <p:nvPr/>
        </p:nvSpPr>
        <p:spPr>
          <a:xfrm>
            <a:off x="536448" y="2264664"/>
            <a:ext cx="3026664" cy="3026664"/>
          </a:xfrm>
          <a:prstGeom prst="donu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36C81-1C98-3906-86AE-57E8EA628C35}"/>
              </a:ext>
            </a:extLst>
          </p:cNvPr>
          <p:cNvSpPr txBox="1"/>
          <p:nvPr/>
        </p:nvSpPr>
        <p:spPr>
          <a:xfrm>
            <a:off x="1143000" y="1566672"/>
            <a:ext cx="1993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Accuracy</a:t>
            </a:r>
            <a:endParaRPr lang="en-GB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A2D33-3F28-210B-CA0F-BD14A9F76F6C}"/>
              </a:ext>
            </a:extLst>
          </p:cNvPr>
          <p:cNvSpPr txBox="1"/>
          <p:nvPr/>
        </p:nvSpPr>
        <p:spPr>
          <a:xfrm>
            <a:off x="5163312" y="1566671"/>
            <a:ext cx="1993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Precision</a:t>
            </a:r>
            <a:endParaRPr lang="en-GB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6C2BD-580F-1C4A-DD28-0E5AC82B3777}"/>
              </a:ext>
            </a:extLst>
          </p:cNvPr>
          <p:cNvSpPr txBox="1"/>
          <p:nvPr/>
        </p:nvSpPr>
        <p:spPr>
          <a:xfrm>
            <a:off x="9488424" y="1566670"/>
            <a:ext cx="1993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Recall</a:t>
            </a:r>
            <a:endParaRPr lang="en-GB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EE2DCB-03EF-409D-7434-5E6E447A05C3}"/>
                  </a:ext>
                </a:extLst>
              </p:cNvPr>
              <p:cNvSpPr txBox="1"/>
              <p:nvPr/>
            </p:nvSpPr>
            <p:spPr>
              <a:xfrm>
                <a:off x="647922" y="5718810"/>
                <a:ext cx="2803716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𝑛𝑢𝑚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ă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𝑝𝑟𝑒𝑑𝑖𝑐𝑡𝑖𝑖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𝑐𝑜𝑟𝑒𝑐𝑡𝑒</m:t>
                          </m:r>
                        </m:num>
                        <m:den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𝑛𝑢𝑚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ă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𝑝𝑟𝑒𝑑𝑖𝑐𝑡𝑖𝑖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EE2DCB-03EF-409D-7434-5E6E447A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22" y="5718810"/>
                <a:ext cx="2803716" cy="572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59580B-27BE-E965-1F55-B067237201E2}"/>
                  </a:ext>
                </a:extLst>
              </p:cNvPr>
              <p:cNvSpPr txBox="1"/>
              <p:nvPr/>
            </p:nvSpPr>
            <p:spPr>
              <a:xfrm>
                <a:off x="3048762" y="5672643"/>
                <a:ext cx="6094476" cy="664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𝑝𝑟𝑒𝑑𝑖𝑐𝑡𝑖𝑖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𝑝𝑜𝑧𝑖𝑡𝑖𝑣𝑒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𝑐𝑜𝑟𝑒𝑐𝑡𝑒</m:t>
                          </m:r>
                        </m:num>
                        <m:den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𝑝𝑟𝑒𝑑𝑖𝑐𝑡𝑖𝑖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𝑝𝑜𝑧𝑖𝑡𝑖𝑣𝑒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59580B-27BE-E965-1F55-B06723720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62" y="5672643"/>
                <a:ext cx="6094476" cy="6649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074BE1-7AF8-0D3C-9489-DDF7C0D45420}"/>
                  </a:ext>
                </a:extLst>
              </p:cNvPr>
              <p:cNvSpPr txBox="1"/>
              <p:nvPr/>
            </p:nvSpPr>
            <p:spPr>
              <a:xfrm>
                <a:off x="7156704" y="5672643"/>
                <a:ext cx="6094476" cy="664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𝑝𝑟𝑒𝑑𝑖𝑐𝑡𝑖𝑖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𝑝𝑜𝑧𝑖𝑡𝑖𝑣𝑒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𝑐𝑜𝑟𝑒𝑐𝑡𝑒</m:t>
                          </m:r>
                        </m:num>
                        <m:den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𝑐𝑎𝑧𝑢𝑟𝑖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𝑝𝑜𝑧𝑖𝑡𝑖𝑣𝑒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𝑟𝑒𝑎𝑙𝑒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074BE1-7AF8-0D3C-9489-DDF7C0D4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704" y="5672643"/>
                <a:ext cx="6094476" cy="6649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Block Arc 16">
            <a:extLst>
              <a:ext uri="{FF2B5EF4-FFF2-40B4-BE49-F238E27FC236}">
                <a16:creationId xmlns:a16="http://schemas.microsoft.com/office/drawing/2014/main" id="{E8D2E8E1-A669-F694-64A3-12F905911459}"/>
              </a:ext>
            </a:extLst>
          </p:cNvPr>
          <p:cNvSpPr/>
          <p:nvPr/>
        </p:nvSpPr>
        <p:spPr>
          <a:xfrm rot="5400000">
            <a:off x="542778" y="2264664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Block Arc 18">
            <a:extLst>
              <a:ext uri="{FF2B5EF4-FFF2-40B4-BE49-F238E27FC236}">
                <a16:creationId xmlns:a16="http://schemas.microsoft.com/office/drawing/2014/main" id="{2CE3B4F4-6CC6-A7C4-C188-575120A13A84}"/>
              </a:ext>
            </a:extLst>
          </p:cNvPr>
          <p:cNvSpPr/>
          <p:nvPr/>
        </p:nvSpPr>
        <p:spPr>
          <a:xfrm rot="18308605">
            <a:off x="533502" y="2268248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8646428C-D7AB-4254-0848-C0F7FD41C357}"/>
              </a:ext>
            </a:extLst>
          </p:cNvPr>
          <p:cNvSpPr/>
          <p:nvPr/>
        </p:nvSpPr>
        <p:spPr>
          <a:xfrm>
            <a:off x="4576338" y="2264664"/>
            <a:ext cx="3026664" cy="3026664"/>
          </a:xfrm>
          <a:prstGeom prst="donu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Block Arc 20">
            <a:extLst>
              <a:ext uri="{FF2B5EF4-FFF2-40B4-BE49-F238E27FC236}">
                <a16:creationId xmlns:a16="http://schemas.microsoft.com/office/drawing/2014/main" id="{D4B0B0D8-8947-B4D7-9856-2562BD1CB3FB}"/>
              </a:ext>
            </a:extLst>
          </p:cNvPr>
          <p:cNvSpPr/>
          <p:nvPr/>
        </p:nvSpPr>
        <p:spPr>
          <a:xfrm rot="5400000">
            <a:off x="4580449" y="2264664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8369EA4C-77E1-22CF-3203-3BABBC299558}"/>
              </a:ext>
            </a:extLst>
          </p:cNvPr>
          <p:cNvSpPr/>
          <p:nvPr/>
        </p:nvSpPr>
        <p:spPr>
          <a:xfrm>
            <a:off x="8619861" y="2264664"/>
            <a:ext cx="3026664" cy="3026664"/>
          </a:xfrm>
          <a:prstGeom prst="donu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BA53519-8ED8-C14D-C3DB-1C91158FC973}"/>
              </a:ext>
            </a:extLst>
          </p:cNvPr>
          <p:cNvSpPr/>
          <p:nvPr/>
        </p:nvSpPr>
        <p:spPr>
          <a:xfrm rot="5400000">
            <a:off x="8628888" y="2264664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06005052-5D74-0160-522C-98833A3E56C0}"/>
              </a:ext>
            </a:extLst>
          </p:cNvPr>
          <p:cNvSpPr/>
          <p:nvPr/>
        </p:nvSpPr>
        <p:spPr>
          <a:xfrm rot="17565643">
            <a:off x="4576338" y="2263812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Block Arc 24">
            <a:extLst>
              <a:ext uri="{FF2B5EF4-FFF2-40B4-BE49-F238E27FC236}">
                <a16:creationId xmlns:a16="http://schemas.microsoft.com/office/drawing/2014/main" id="{44C76C36-9DF3-3AD7-F309-06E4AC523D17}"/>
              </a:ext>
            </a:extLst>
          </p:cNvPr>
          <p:cNvSpPr/>
          <p:nvPr/>
        </p:nvSpPr>
        <p:spPr>
          <a:xfrm rot="17716447">
            <a:off x="8622034" y="2268604"/>
            <a:ext cx="3026664" cy="3026664"/>
          </a:xfrm>
          <a:prstGeom prst="blockArc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3A16EF-E311-52A9-EAA5-F213913F04DC}"/>
              </a:ext>
            </a:extLst>
          </p:cNvPr>
          <p:cNvSpPr txBox="1"/>
          <p:nvPr/>
        </p:nvSpPr>
        <p:spPr>
          <a:xfrm>
            <a:off x="1327466" y="3315479"/>
            <a:ext cx="1507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89%</a:t>
            </a:r>
            <a:endParaRPr lang="en-GB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9EAFB3-882C-B99A-57A5-35623574F611}"/>
              </a:ext>
            </a:extLst>
          </p:cNvPr>
          <p:cNvSpPr txBox="1"/>
          <p:nvPr/>
        </p:nvSpPr>
        <p:spPr>
          <a:xfrm>
            <a:off x="5336098" y="3315479"/>
            <a:ext cx="1507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96%</a:t>
            </a:r>
            <a:endParaRPr lang="en-GB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48C8A4-F217-B00E-75E5-95B2C845082E}"/>
              </a:ext>
            </a:extLst>
          </p:cNvPr>
          <p:cNvSpPr txBox="1"/>
          <p:nvPr/>
        </p:nvSpPr>
        <p:spPr>
          <a:xfrm>
            <a:off x="9388648" y="3315479"/>
            <a:ext cx="1507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97%</a:t>
            </a:r>
            <a:endParaRPr lang="en-GB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815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B8911D-2E9F-D58A-5C73-6381AFD5E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4839"/>
            <a:ext cx="9144000" cy="2428323"/>
          </a:xfrm>
        </p:spPr>
        <p:txBody>
          <a:bodyPr>
            <a:noAutofit/>
          </a:bodyPr>
          <a:lstStyle/>
          <a:p>
            <a:r>
              <a:rPr lang="ro-RO" sz="14900" dirty="0"/>
              <a:t>DEMO</a:t>
            </a:r>
            <a:endParaRPr lang="en-GB" sz="14900" dirty="0"/>
          </a:p>
        </p:txBody>
      </p:sp>
    </p:spTree>
    <p:extLst>
      <p:ext uri="{BB962C8B-B14F-4D97-AF65-F5344CB8AC3E}">
        <p14:creationId xmlns:p14="http://schemas.microsoft.com/office/powerpoint/2010/main" val="242207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14D6D-4B15-94E4-91C9-4CEE8B176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130041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MULȚUMIM !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Smart watch touch screen blue color, vector design and isolated background.  23541262 Vector Art at Vecteezy">
            <a:extLst>
              <a:ext uri="{FF2B5EF4-FFF2-40B4-BE49-F238E27FC236}">
                <a16:creationId xmlns:a16="http://schemas.microsoft.com/office/drawing/2014/main" id="{B936CBBB-88D3-2158-E19F-ABA0AEE6F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8"/>
          <a:stretch/>
        </p:blipFill>
        <p:spPr bwMode="auto">
          <a:xfrm>
            <a:off x="5922492" y="666728"/>
            <a:ext cx="5536001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9DAB6-A71F-2D8A-473F-A55106D56F53}"/>
              </a:ext>
            </a:extLst>
          </p:cNvPr>
          <p:cNvSpPr txBox="1"/>
          <p:nvPr/>
        </p:nvSpPr>
        <p:spPr>
          <a:xfrm>
            <a:off x="1113809" y="4779295"/>
            <a:ext cx="1784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4"/>
                </a:solidFill>
              </a:rPr>
              <a:t>Synergy Squad:</a:t>
            </a:r>
          </a:p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Irimieș Vasile</a:t>
            </a:r>
          </a:p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Kentsch Karina</a:t>
            </a:r>
          </a:p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Iosub Lucian</a:t>
            </a:r>
          </a:p>
          <a:p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Lechea Daniel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80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CD11230B6D248891328E9EA86E3FD" ma:contentTypeVersion="13" ma:contentTypeDescription="Create a new document." ma:contentTypeScope="" ma:versionID="967a42ea26a1170e388e78604e4be4a0">
  <xsd:schema xmlns:xsd="http://www.w3.org/2001/XMLSchema" xmlns:xs="http://www.w3.org/2001/XMLSchema" xmlns:p="http://schemas.microsoft.com/office/2006/metadata/properties" xmlns:ns2="6bfd097c-de7f-452a-9f51-d492e24fd8cf" xmlns:ns3="efb1789d-98cc-491e-820a-b5f4c63bbcf8" targetNamespace="http://schemas.microsoft.com/office/2006/metadata/properties" ma:root="true" ma:fieldsID="8dd754ca8372045a85587c933c344e61" ns2:_="" ns3:_="">
    <xsd:import namespace="6bfd097c-de7f-452a-9f51-d492e24fd8c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097c-de7f-452a-9f51-d492e24fd8c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4120566-7fc5-44e3-b5b6-364880437d5c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bfd097c-de7f-452a-9f51-d492e24fd8cf" xsi:nil="true"/>
    <TaxCatchAll xmlns="efb1789d-98cc-491e-820a-b5f4c63bbcf8" xsi:nil="true"/>
    <lcf76f155ced4ddcb4097134ff3c332f xmlns="6bfd097c-de7f-452a-9f51-d492e24fd8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092E7C1-E28F-4C33-90F7-B98C62619AEE}"/>
</file>

<file path=customXml/itemProps2.xml><?xml version="1.0" encoding="utf-8"?>
<ds:datastoreItem xmlns:ds="http://schemas.openxmlformats.org/officeDocument/2006/customXml" ds:itemID="{22CDCE8D-51D4-4337-A6A0-2BE279139143}"/>
</file>

<file path=customXml/itemProps3.xml><?xml version="1.0" encoding="utf-8"?>
<ds:datastoreItem xmlns:ds="http://schemas.openxmlformats.org/officeDocument/2006/customXml" ds:itemID="{05E20B6D-570B-43F5-824D-CF39562A024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1186</Words>
  <Application>Microsoft Office PowerPoint</Application>
  <PresentationFormat>Widescreen</PresentationFormat>
  <Paragraphs>204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-apple-system</vt:lpstr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Predictive Mental Health Monitoring System</vt:lpstr>
      <vt:lpstr>Oportunitățile pe piață</vt:lpstr>
      <vt:lpstr>Problema abordată</vt:lpstr>
      <vt:lpstr>Problema abordată</vt:lpstr>
      <vt:lpstr>Soluția propusă</vt:lpstr>
      <vt:lpstr>Modelul de Business și Monetizarea</vt:lpstr>
      <vt:lpstr>Funcționalitățile Minime Dezvoltate (MVP)</vt:lpstr>
      <vt:lpstr>Construirea modelului inteligent</vt:lpstr>
      <vt:lpstr>Analiza și normalizarea datelor de intrare</vt:lpstr>
      <vt:lpstr>Formarea si antrenarea unor LSTM-uri</vt:lpstr>
      <vt:lpstr>Formarea unui ANN cu evolutia fiecarei masuratori</vt:lpstr>
      <vt:lpstr>Rezultate pentru prezicerea stresului</vt:lpstr>
      <vt:lpstr>DEMO</vt:lpstr>
      <vt:lpstr>MULȚUMIM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LUCIAN-MIHAI IOSUB</dc:creator>
  <cp:lastModifiedBy>Karina Kentsch</cp:lastModifiedBy>
  <cp:revision>7</cp:revision>
  <dcterms:created xsi:type="dcterms:W3CDTF">2025-01-12T12:22:18Z</dcterms:created>
  <dcterms:modified xsi:type="dcterms:W3CDTF">2025-01-12T17:14:19Z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0x010100508CD11230B6D248891328E9EA86E3FD</vt:lpwstr>
  </property>
</Properties>
</file>