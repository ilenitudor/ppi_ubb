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8" r:id="rId6"/>
    <p:sldId id="257" r:id="rId7"/>
    <p:sldId id="259" r:id="rId8"/>
    <p:sldId id="261" r:id="rId9"/>
    <p:sldId id="262" r:id="rId10"/>
    <p:sldId id="263" r:id="rId11"/>
    <p:sldId id="264" r:id="rId12"/>
    <p:sldId id="265" r:id="rId13"/>
    <p:sldId id="269" r:id="rId14"/>
    <p:sldId id="270" r:id="rId15"/>
    <p:sldId id="267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BBC918-8B2C-4C13-B6E4-978BCB0C53FB}" v="541" dt="2024-12-29T13:12:41.2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9B9915-D11E-AB97-92B1-4233C0C641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92" t="1170" r="-7" b="22214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/>
          </a:bodyPr>
          <a:lstStyle/>
          <a:p>
            <a:pPr algn="l"/>
            <a:r>
              <a:rPr lang="en-US" sz="6600">
                <a:solidFill>
                  <a:schemeClr val="bg1"/>
                </a:solidFill>
                <a:ea typeface="+mj-lt"/>
                <a:cs typeface="+mj-lt"/>
              </a:rPr>
              <a:t>Habit forming products</a:t>
            </a:r>
            <a:endParaRPr lang="en-US" sz="6600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553" y="5624945"/>
            <a:ext cx="9078562" cy="5929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Tech seminary 7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8AD310-647A-D99D-37A7-D0090C91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GB" sz="4000">
                <a:ea typeface="Calibri Light"/>
                <a:cs typeface="Calibri Light"/>
              </a:rPr>
              <a:t>Content</a:t>
            </a:r>
            <a:endParaRPr lang="en-GB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CBB7A-DB4A-8756-8EDF-71CE3B205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>
                <a:ea typeface="Calibri"/>
                <a:cs typeface="Calibri"/>
              </a:rPr>
              <a:t>Hooked model</a:t>
            </a:r>
          </a:p>
          <a:p>
            <a:r>
              <a:rPr lang="en-GB" dirty="0">
                <a:ea typeface="Calibri"/>
                <a:cs typeface="Calibri"/>
              </a:rPr>
              <a:t>How to Create a Pitch Deck</a:t>
            </a:r>
          </a:p>
        </p:txBody>
      </p:sp>
      <p:pic>
        <p:nvPicPr>
          <p:cNvPr id="5" name="Picture 4" descr="Colourful pins linked with threads">
            <a:extLst>
              <a:ext uri="{FF2B5EF4-FFF2-40B4-BE49-F238E27FC236}">
                <a16:creationId xmlns:a16="http://schemas.microsoft.com/office/drawing/2014/main" id="{826C9831-2586-6A37-4084-259381D342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826" r="20608" b="7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084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1E9DE8-B1FA-FF66-BD32-A4EB68D86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 dirty="0">
                <a:ea typeface="Calibri Light"/>
                <a:cs typeface="Calibri Light"/>
              </a:rPr>
              <a:t>Hooked</a:t>
            </a:r>
            <a:endParaRPr lang="en-US" sz="54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86FE9D-C637-777B-EEEE-93BD8F8942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3" b="4132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646087F-F5CF-BFBC-BFBC-AC8AA7854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713696" cy="88290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ea typeface="+mn-lt"/>
                <a:cs typeface="+mn-lt"/>
              </a:rPr>
              <a:t>NIR EYAL creates, builds, and successfully sells 2 startups</a:t>
            </a:r>
          </a:p>
          <a:p>
            <a:r>
              <a:rPr lang="en-US" sz="2400" b="1" dirty="0">
                <a:cs typeface="Calibri"/>
              </a:rPr>
              <a:t>Hook Model</a:t>
            </a:r>
            <a:endParaRPr lang="en-US" sz="2400" b="1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800" dirty="0">
              <a:ea typeface="+mn-lt"/>
              <a:cs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487BD3-C806-AF8D-FD9D-215005C82342}"/>
              </a:ext>
            </a:extLst>
          </p:cNvPr>
          <p:cNvSpPr txBox="1"/>
          <p:nvPr/>
        </p:nvSpPr>
        <p:spPr>
          <a:xfrm>
            <a:off x="5953760" y="3972560"/>
            <a:ext cx="559816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1" indent="-228600">
              <a:buFont typeface="Courier New,monospace"/>
              <a:buChar char="o"/>
            </a:pPr>
            <a:r>
              <a:rPr lang="en-US" dirty="0">
                <a:cs typeface="Arial"/>
              </a:rPr>
              <a:t>Building User Engagement​</a:t>
            </a:r>
            <a:endParaRPr lang="en-US" dirty="0">
              <a:ea typeface="Calibri"/>
              <a:cs typeface="Arial"/>
            </a:endParaRPr>
          </a:p>
          <a:p>
            <a:pPr marL="228600" lvl="1" indent="-228600">
              <a:buFont typeface="Courier New,monospace"/>
              <a:buChar char="o"/>
            </a:pPr>
            <a:r>
              <a:rPr lang="en-US">
                <a:cs typeface="Arial"/>
              </a:rPr>
              <a:t>Creating Habit-Forming Products (</a:t>
            </a:r>
            <a:r>
              <a:rPr lang="en-US" sz="1400">
                <a:solidFill>
                  <a:srgbClr val="374151"/>
                </a:solidFill>
                <a:cs typeface="Arial"/>
              </a:rPr>
              <a:t>designing features that encourage regular use</a:t>
            </a:r>
            <a:r>
              <a:rPr lang="en-US">
                <a:cs typeface="Arial"/>
              </a:rPr>
              <a:t>)​</a:t>
            </a:r>
            <a:endParaRPr lang="en-US">
              <a:ea typeface="Calibri"/>
              <a:cs typeface="Arial"/>
            </a:endParaRPr>
          </a:p>
          <a:p>
            <a:pPr marL="228600" lvl="1" indent="-228600">
              <a:buFont typeface="Courier New,monospace"/>
              <a:buChar char="o"/>
            </a:pPr>
            <a:r>
              <a:rPr lang="en-US" dirty="0">
                <a:cs typeface="Arial"/>
              </a:rPr>
              <a:t>Enhancing Customer Retention​</a:t>
            </a:r>
            <a:endParaRPr lang="en-US" dirty="0">
              <a:ea typeface="Calibri"/>
              <a:cs typeface="Arial"/>
            </a:endParaRPr>
          </a:p>
          <a:p>
            <a:pPr marL="228600" lvl="1" indent="-228600">
              <a:buFont typeface="Courier New,monospace"/>
              <a:buChar char="o"/>
            </a:pPr>
            <a:r>
              <a:rPr lang="en-US" dirty="0">
                <a:cs typeface="Arial"/>
              </a:rPr>
              <a:t>When Offering Value to Users​</a:t>
            </a:r>
            <a:endParaRPr lang="en-US" dirty="0">
              <a:ea typeface="Calibri"/>
              <a:cs typeface="Arial"/>
            </a:endParaRPr>
          </a:p>
          <a:p>
            <a:pPr marL="228600" lvl="1" indent="-228600">
              <a:buFont typeface="Courier New,monospace"/>
              <a:buChar char="o"/>
            </a:pPr>
            <a:r>
              <a:rPr lang="en-US" dirty="0">
                <a:cs typeface="Arial"/>
              </a:rPr>
              <a:t>In Competitive Markets​</a:t>
            </a:r>
            <a:endParaRPr lang="en-US" dirty="0">
              <a:ea typeface="Calibri"/>
              <a:cs typeface="Arial"/>
            </a:endParaRPr>
          </a:p>
          <a:p>
            <a:pPr marL="228600" lvl="1" indent="-228600">
              <a:buFont typeface="Courier New,monospace"/>
              <a:buChar char="o"/>
            </a:pPr>
            <a:r>
              <a:rPr lang="en-US" dirty="0">
                <a:cs typeface="Arial"/>
              </a:rPr>
              <a:t>When Building Brand Loyalty</a:t>
            </a:r>
            <a:endParaRPr lang="en-US" dirty="0"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7911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8C4C9A-A10D-C0B2-C6A2-97B2F1F9D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>
                <a:cs typeface="Calibri Light"/>
              </a:rPr>
              <a:t>Ethics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FB037-AA95-AECD-B617-84CD54B7A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405317" cy="376983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b="1" dirty="0">
                <a:cs typeface="Calibri"/>
              </a:rPr>
              <a:t>Responsibility in design:</a:t>
            </a:r>
            <a:endParaRPr lang="en-US" sz="2000" b="1">
              <a:ea typeface="Calibri"/>
              <a:cs typeface="Calibri"/>
            </a:endParaRPr>
          </a:p>
          <a:p>
            <a:pPr marL="457200" lvl="1" indent="0">
              <a:buNone/>
            </a:pPr>
            <a:r>
              <a:rPr lang="en-US" sz="2000" dirty="0">
                <a:cs typeface="Calibri"/>
              </a:rPr>
              <a:t>+  fitness App</a:t>
            </a:r>
            <a:r>
              <a:rPr lang="en-US" sz="2000" b="1" dirty="0">
                <a:cs typeface="Calibri"/>
              </a:rPr>
              <a:t> </a:t>
            </a:r>
            <a:r>
              <a:rPr lang="en-US" sz="2000" dirty="0">
                <a:cs typeface="Calibri"/>
              </a:rPr>
              <a:t>encourage healthier lifestyle</a:t>
            </a:r>
            <a:endParaRPr lang="en-US" sz="2000" dirty="0">
              <a:ea typeface="Calibri"/>
              <a:cs typeface="Calibri"/>
            </a:endParaRPr>
          </a:p>
          <a:p>
            <a:pPr lvl="1">
              <a:buFont typeface="Calibri" panose="020B0604020202020204" pitchFamily="34" charset="0"/>
              <a:buChar char="-"/>
            </a:pPr>
            <a:r>
              <a:rPr lang="en-US" sz="2000" dirty="0">
                <a:cs typeface="Calibri"/>
              </a:rPr>
              <a:t>make user obsessively check their progress and compare (negatively) with others</a:t>
            </a:r>
            <a:endParaRPr lang="en-US" sz="2000">
              <a:ea typeface="Calibri" panose="020F0502020204030204"/>
              <a:cs typeface="Calibri"/>
            </a:endParaRPr>
          </a:p>
          <a:p>
            <a:r>
              <a:rPr lang="en-US" sz="2000" b="1" dirty="0">
                <a:cs typeface="Calibri"/>
              </a:rPr>
              <a:t>Avoid manipulation:</a:t>
            </a:r>
            <a:endParaRPr lang="en-US" sz="2000" b="1">
              <a:ea typeface="Calibri"/>
              <a:cs typeface="Calibri"/>
            </a:endParaRPr>
          </a:p>
          <a:p>
            <a:pPr marL="457200" lvl="1" indent="0">
              <a:buNone/>
            </a:pPr>
            <a:r>
              <a:rPr lang="en-US" sz="2000" dirty="0">
                <a:cs typeface="Calibri"/>
              </a:rPr>
              <a:t>+    build engaging products</a:t>
            </a:r>
            <a:endParaRPr lang="en-US" sz="2000" dirty="0">
              <a:ea typeface="Calibri"/>
              <a:cs typeface="Calibri"/>
            </a:endParaRPr>
          </a:p>
          <a:p>
            <a:pPr marL="800100" lvl="1" indent="-342900">
              <a:buFont typeface="Calibri"/>
              <a:buChar char="-"/>
            </a:pPr>
            <a:r>
              <a:rPr lang="en-US" sz="2000" dirty="0">
                <a:cs typeface="Calibri"/>
              </a:rPr>
              <a:t>a social media platform where users spend excessive time, ignoring real-life relationships and responsibilities</a:t>
            </a:r>
            <a:endParaRPr lang="en-US" sz="2000" dirty="0">
              <a:ea typeface="Calibri"/>
              <a:cs typeface="Calibri"/>
            </a:endParaRPr>
          </a:p>
          <a:p>
            <a:pPr marL="342900">
              <a:buFont typeface="Arial"/>
              <a:buChar char="•"/>
            </a:pPr>
            <a:r>
              <a:rPr lang="en-US" sz="2000" b="1" dirty="0">
                <a:cs typeface="Calibri"/>
              </a:rPr>
              <a:t>Create positive habits:</a:t>
            </a:r>
            <a:endParaRPr lang="en-US" sz="2000" b="1">
              <a:ea typeface="Calibri"/>
              <a:cs typeface="Calibri"/>
            </a:endParaRPr>
          </a:p>
          <a:p>
            <a:pPr marL="457200" lvl="1" indent="0">
              <a:buNone/>
            </a:pPr>
            <a:r>
              <a:rPr lang="en-US" sz="2000" dirty="0">
                <a:cs typeface="Calibri"/>
              </a:rPr>
              <a:t>+ learning app that encourage users for regular practice</a:t>
            </a:r>
            <a:endParaRPr lang="en-US" sz="2000" dirty="0">
              <a:ea typeface="Calibri"/>
              <a:cs typeface="Calibri"/>
            </a:endParaRPr>
          </a:p>
          <a:p>
            <a:endParaRPr lang="en-US" sz="2000" dirty="0">
              <a:ea typeface="Calibri"/>
              <a:cs typeface="Calibri"/>
            </a:endParaRPr>
          </a:p>
        </p:txBody>
      </p:sp>
      <p:pic>
        <p:nvPicPr>
          <p:cNvPr id="5" name="Picture 4" descr="Person watching empty phone">
            <a:extLst>
              <a:ext uri="{FF2B5EF4-FFF2-40B4-BE49-F238E27FC236}">
                <a16:creationId xmlns:a16="http://schemas.microsoft.com/office/drawing/2014/main" id="{8BB28A71-C5BC-B71F-1A65-CE296C695A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806" r="7392" b="-9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6359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8F2A10-1E2B-958F-F6C9-4D908DAD3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>
                <a:cs typeface="Calibri Light"/>
              </a:rPr>
              <a:t>Hook Model</a:t>
            </a:r>
            <a:endParaRPr lang="en-US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9E41AF3F-D66D-89FD-4F73-5A67BFFB8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6600" y="1266825"/>
            <a:ext cx="6807200" cy="49609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rgbClr val="444444"/>
                </a:solidFill>
                <a:ea typeface="Calibri"/>
                <a:cs typeface="Calibri"/>
              </a:rPr>
              <a:t>The goal should always be to </a:t>
            </a:r>
            <a:r>
              <a:rPr lang="en-US" sz="2400" b="1" dirty="0">
                <a:solidFill>
                  <a:srgbClr val="444444"/>
                </a:solidFill>
                <a:ea typeface="Calibri"/>
                <a:cs typeface="Calibri"/>
              </a:rPr>
              <a:t>enhance the user's life</a:t>
            </a:r>
            <a:r>
              <a:rPr lang="en-US" sz="2400" dirty="0">
                <a:solidFill>
                  <a:srgbClr val="444444"/>
                </a:solidFill>
                <a:ea typeface="Calibri"/>
                <a:cs typeface="Calibri"/>
              </a:rPr>
              <a:t> and provide value, </a:t>
            </a:r>
            <a:r>
              <a:rPr lang="en-US" sz="2400" b="1" dirty="0">
                <a:solidFill>
                  <a:srgbClr val="444444"/>
                </a:solidFill>
                <a:ea typeface="Calibri"/>
                <a:cs typeface="Calibri"/>
              </a:rPr>
              <a:t>rather than exploiting</a:t>
            </a:r>
            <a:r>
              <a:rPr lang="en-US" sz="2400" dirty="0">
                <a:solidFill>
                  <a:srgbClr val="444444"/>
                </a:solidFill>
                <a:ea typeface="Calibri"/>
                <a:cs typeface="Calibri"/>
              </a:rPr>
              <a:t> psychological vulnerabilities for profit.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444444"/>
                </a:solidFill>
                <a:ea typeface="Calibri"/>
                <a:cs typeface="Calibri"/>
              </a:rPr>
              <a:t>Hook Model: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444444"/>
                </a:solidFill>
                <a:ea typeface="Calibri"/>
                <a:cs typeface="Calibri"/>
              </a:rPr>
              <a:t>Trigger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444444"/>
                </a:solidFill>
                <a:ea typeface="Calibri"/>
                <a:cs typeface="Calibri"/>
              </a:rPr>
              <a:t>Action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444444"/>
                </a:solidFill>
                <a:ea typeface="Calibri"/>
                <a:cs typeface="Calibri"/>
              </a:rPr>
              <a:t>Variable Rewards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444444"/>
                </a:solidFill>
                <a:ea typeface="Calibri"/>
                <a:cs typeface="Calibri"/>
              </a:rPr>
              <a:t>Investment</a:t>
            </a:r>
          </a:p>
          <a:p>
            <a:endParaRPr lang="en-GB" sz="5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707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0F91EB-BCF8-3618-29F8-94A838331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Trigger</a:t>
            </a:r>
            <a:endParaRPr lang="en-US" sz="540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6F73A-D621-0394-E66C-89C0A38F9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 b="1">
                <a:ea typeface="+mn-lt"/>
                <a:cs typeface="+mn-lt"/>
              </a:rPr>
              <a:t>Externs </a:t>
            </a:r>
            <a:r>
              <a:rPr lang="en-US" sz="1700">
                <a:ea typeface="+mn-lt"/>
                <a:cs typeface="+mn-lt"/>
              </a:rPr>
              <a:t>(what makes the user getting the product):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cs typeface="Calibri"/>
              </a:rPr>
              <a:t>Marketing, press releases, videos, newsletters, shares, …</a:t>
            </a:r>
          </a:p>
          <a:p>
            <a:r>
              <a:rPr lang="en-US" sz="1700" b="1">
                <a:cs typeface="Calibri"/>
              </a:rPr>
              <a:t>Interns </a:t>
            </a:r>
            <a:r>
              <a:rPr lang="en-US" sz="1700">
                <a:ea typeface="+mn-lt"/>
                <a:cs typeface="+mn-lt"/>
              </a:rPr>
              <a:t>(what does the user really want)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cs typeface="Calibri"/>
              </a:rPr>
              <a:t>Fear of losing precious moments (Instagram)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cs typeface="Calibri"/>
              </a:rPr>
              <a:t>Social connection (email app, WhatsApp, Facebook)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cs typeface="Calibri"/>
              </a:rPr>
              <a:t>Boredom: Twitter, TikTok</a:t>
            </a:r>
          </a:p>
        </p:txBody>
      </p:sp>
      <p:pic>
        <p:nvPicPr>
          <p:cNvPr id="5" name="Picture 4" descr="Exclamation mark on a yellow background">
            <a:extLst>
              <a:ext uri="{FF2B5EF4-FFF2-40B4-BE49-F238E27FC236}">
                <a16:creationId xmlns:a16="http://schemas.microsoft.com/office/drawing/2014/main" id="{D00DB8F8-FD93-35F2-5D3C-2F97C839F3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922" r="5854" b="4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9388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EB5296-2178-4CF7-845C-7A1D3465E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>
                <a:cs typeface="Calibri Light"/>
              </a:rPr>
              <a:t>Action</a:t>
            </a:r>
            <a:endParaRPr lang="en-US" sz="540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C551A-943E-364A-9AF4-839321214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cs typeface="Calibri"/>
              </a:rPr>
              <a:t>For a behavior to be adopted, 3 elements are needed:</a:t>
            </a:r>
            <a:endParaRPr lang="en-US"/>
          </a:p>
          <a:p>
            <a:r>
              <a:rPr lang="en-US" sz="1900" b="1" dirty="0">
                <a:cs typeface="Calibri"/>
              </a:rPr>
              <a:t>Trigger</a:t>
            </a:r>
            <a:endParaRPr lang="en-US" sz="1900" b="1">
              <a:ea typeface="Calibri"/>
              <a:cs typeface="Calibri"/>
            </a:endParaRPr>
          </a:p>
          <a:p>
            <a:r>
              <a:rPr lang="en-US" sz="1900" b="1" dirty="0">
                <a:cs typeface="Calibri"/>
              </a:rPr>
              <a:t>Motivation</a:t>
            </a:r>
            <a:r>
              <a:rPr lang="en-US" sz="1900" dirty="0">
                <a:cs typeface="Calibri"/>
              </a:rPr>
              <a:t>: pleasure-seeking, hope, pain avoidance, social acceptance</a:t>
            </a:r>
            <a:endParaRPr lang="en-US" sz="1900">
              <a:ea typeface="Calibri"/>
              <a:cs typeface="Calibri"/>
            </a:endParaRPr>
          </a:p>
          <a:p>
            <a:r>
              <a:rPr lang="en-US" sz="1900" b="1" dirty="0">
                <a:cs typeface="Calibri"/>
              </a:rPr>
              <a:t>Possibility </a:t>
            </a:r>
            <a:r>
              <a:rPr lang="en-US" sz="1900" dirty="0">
                <a:cs typeface="Calibri"/>
              </a:rPr>
              <a:t>of acting: </a:t>
            </a:r>
            <a:endParaRPr lang="en-US" sz="1900">
              <a:ea typeface="Calibri"/>
              <a:cs typeface="Calibri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500" dirty="0">
                <a:cs typeface="Calibri"/>
              </a:rPr>
              <a:t>Time</a:t>
            </a:r>
            <a:endParaRPr lang="en-US" sz="1500" dirty="0">
              <a:ea typeface="Calibri" panose="020F0502020204030204"/>
              <a:cs typeface="Calibri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500" dirty="0">
                <a:cs typeface="Calibri"/>
              </a:rPr>
              <a:t>Money</a:t>
            </a:r>
            <a:endParaRPr lang="en-US" sz="1500" dirty="0">
              <a:ea typeface="Calibri" panose="020F0502020204030204"/>
              <a:cs typeface="Calibri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500" dirty="0">
                <a:cs typeface="Calibri"/>
              </a:rPr>
              <a:t>physical effort</a:t>
            </a:r>
            <a:endParaRPr lang="en-US" sz="1500" dirty="0">
              <a:ea typeface="Calibri" panose="020F0502020204030204"/>
              <a:cs typeface="Calibri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500" dirty="0">
                <a:cs typeface="Calibri"/>
              </a:rPr>
              <a:t>intellectual effort</a:t>
            </a:r>
            <a:endParaRPr lang="en-US" sz="1500" dirty="0">
              <a:ea typeface="Calibri" panose="020F0502020204030204"/>
              <a:cs typeface="Calibri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500" dirty="0">
                <a:cs typeface="Calibri"/>
              </a:rPr>
              <a:t>deviation from the social norm</a:t>
            </a:r>
            <a:endParaRPr lang="en-US" sz="1500" dirty="0">
              <a:ea typeface="Calibri" panose="020F0502020204030204"/>
              <a:cs typeface="Calibri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500" dirty="0">
                <a:cs typeface="Calibri"/>
              </a:rPr>
              <a:t>lack of routine</a:t>
            </a:r>
            <a:endParaRPr lang="en-US" sz="1500" dirty="0">
              <a:ea typeface="Calibri" panose="020F0502020204030204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500">
              <a:cs typeface="Calibri"/>
            </a:endParaRPr>
          </a:p>
        </p:txBody>
      </p:sp>
      <p:pic>
        <p:nvPicPr>
          <p:cNvPr id="5" name="Picture 4" descr="One in a crowd">
            <a:extLst>
              <a:ext uri="{FF2B5EF4-FFF2-40B4-BE49-F238E27FC236}">
                <a16:creationId xmlns:a16="http://schemas.microsoft.com/office/drawing/2014/main" id="{DE5319F2-1833-FA86-7B1B-AB704068DF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025" r="8751" b="4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65140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D88562-283E-4797-3C58-A7F1AB5C3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cs typeface="Calibri Light"/>
              </a:rPr>
              <a:t>(Variables) reward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36AF7-84A7-C7F9-5647-65C646F17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000" dirty="0">
                <a:ea typeface="+mn-lt"/>
                <a:cs typeface="+mn-lt"/>
              </a:rPr>
              <a:t>The reward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</a:rPr>
              <a:t>from </a:t>
            </a:r>
            <a:r>
              <a:rPr lang="en-US" sz="2000" b="1" dirty="0">
                <a:ea typeface="+mn-lt"/>
                <a:cs typeface="+mn-lt"/>
              </a:rPr>
              <a:t>the tribe</a:t>
            </a:r>
            <a:r>
              <a:rPr lang="en-US" sz="2000" dirty="0">
                <a:ea typeface="+mn-lt"/>
                <a:cs typeface="+mn-lt"/>
              </a:rPr>
              <a:t>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cs typeface="Calibri"/>
              </a:rPr>
              <a:t>Our behavior is influenced by the</a:t>
            </a:r>
            <a:r>
              <a:rPr lang="en-US" sz="2000" b="1" dirty="0">
                <a:cs typeface="Calibri"/>
              </a:rPr>
              <a:t> people we admire</a:t>
            </a:r>
            <a:endParaRPr lang="en-US" sz="2000" b="1" dirty="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cs typeface="Calibri"/>
              </a:rPr>
              <a:t>Facebook, League of Legends, Stack Overflow</a:t>
            </a:r>
          </a:p>
          <a:p>
            <a:r>
              <a:rPr lang="en-US" sz="2000" dirty="0">
                <a:ea typeface="+mn-lt"/>
                <a:cs typeface="+mn-lt"/>
              </a:rPr>
              <a:t>Reward from </a:t>
            </a:r>
            <a:r>
              <a:rPr lang="en-US" sz="2000" b="1" dirty="0">
                <a:ea typeface="+mn-lt"/>
                <a:cs typeface="+mn-lt"/>
              </a:rPr>
              <a:t>hunting</a:t>
            </a:r>
            <a:r>
              <a:rPr lang="en-US" sz="2000" dirty="0">
                <a:ea typeface="+mn-lt"/>
                <a:cs typeface="+mn-lt"/>
              </a:rPr>
              <a:t>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cs typeface="Calibri"/>
              </a:rPr>
              <a:t>The outcome is important but let's not forget about the process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This </a:t>
            </a:r>
            <a:r>
              <a:rPr lang="en-US" sz="2000" b="1" dirty="0">
                <a:ea typeface="+mn-lt"/>
                <a:cs typeface="+mn-lt"/>
              </a:rPr>
              <a:t>unpredictability </a:t>
            </a:r>
            <a:r>
              <a:rPr lang="en-US" sz="2000" dirty="0">
                <a:ea typeface="+mn-lt"/>
                <a:cs typeface="+mn-lt"/>
              </a:rPr>
              <a:t>stimulates continued usage.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600" dirty="0">
                <a:ea typeface="+mn-lt"/>
                <a:cs typeface="+mn-lt"/>
              </a:rPr>
              <a:t>online shopping, searching for information on the internet</a:t>
            </a:r>
            <a:endParaRPr lang="en-US" sz="1600">
              <a:ea typeface="Calibri"/>
              <a:cs typeface="Calibri"/>
            </a:endParaRPr>
          </a:p>
          <a:p>
            <a:pPr>
              <a:spcBef>
                <a:spcPts val="500"/>
              </a:spcBef>
              <a:buFont typeface="Courier New" panose="020B0604020202020204" pitchFamily="34" charset="0"/>
            </a:pPr>
            <a:r>
              <a:rPr lang="en-US" sz="2000" dirty="0">
                <a:ea typeface="+mn-lt"/>
                <a:cs typeface="+mn-lt"/>
              </a:rPr>
              <a:t>The reward </a:t>
            </a:r>
            <a:r>
              <a:rPr lang="en-US" sz="2000" b="1" dirty="0">
                <a:ea typeface="+mn-lt"/>
                <a:cs typeface="+mn-lt"/>
              </a:rPr>
              <a:t>for ourselves:</a:t>
            </a:r>
            <a:endParaRPr lang="en-US" sz="2000" b="1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cs typeface="Calibri"/>
              </a:rPr>
              <a:t>Self-progress</a:t>
            </a:r>
            <a:endParaRPr lang="en-US" sz="2000" dirty="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cs typeface="Calibri"/>
              </a:rPr>
              <a:t>Ex: games, Mailbox (acquired by Dropbox for $100Mil)</a:t>
            </a:r>
          </a:p>
          <a:p>
            <a:pPr marL="0" indent="0">
              <a:buNone/>
            </a:pPr>
            <a:endParaRPr lang="en-US" sz="18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Bad example for variability. </a:t>
            </a:r>
            <a:r>
              <a:rPr lang="en-US" sz="1800" i="1" dirty="0">
                <a:ea typeface="+mn-lt"/>
                <a:cs typeface="+mn-lt"/>
              </a:rPr>
              <a:t>FarmVille </a:t>
            </a:r>
            <a:r>
              <a:rPr lang="en-US" sz="1800" dirty="0">
                <a:ea typeface="+mn-lt"/>
                <a:cs typeface="+mn-lt"/>
              </a:rPr>
              <a:t>which was very popular, but the next versions (City, Chief) kept </a:t>
            </a:r>
            <a:r>
              <a:rPr lang="en-US" sz="1800" b="1" dirty="0">
                <a:ea typeface="+mn-lt"/>
                <a:cs typeface="+mn-lt"/>
              </a:rPr>
              <a:t>the same suspense elements</a:t>
            </a:r>
            <a:r>
              <a:rPr lang="en-US" sz="1800" dirty="0">
                <a:ea typeface="+mn-lt"/>
                <a:cs typeface="+mn-lt"/>
              </a:rPr>
              <a:t> and consequently lost 80% of the users.</a:t>
            </a:r>
            <a:endParaRPr lang="en-US" sz="1800">
              <a:ea typeface="Calibri" panose="020F0502020204030204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20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6459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D3DE0F89-3B1C-EFC4-1EAD-7BC33E6E13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1053" y="953955"/>
            <a:ext cx="4777381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14" name="Arc 13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D50F1F-9048-E93B-415B-60AB2C98A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Investment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E7049-97C3-3938-B25A-C8934CC08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298" y="1938540"/>
            <a:ext cx="6377848" cy="43026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Psychological, we are</a:t>
            </a:r>
            <a:r>
              <a:rPr lang="en-US" sz="2000" b="1" dirty="0">
                <a:ea typeface="+mn-lt"/>
                <a:cs typeface="+mn-lt"/>
              </a:rPr>
              <a:t> over-evaluating our work</a:t>
            </a:r>
          </a:p>
          <a:p>
            <a:r>
              <a:rPr lang="en-US" sz="2000" b="1" dirty="0">
                <a:ea typeface="+mn-lt"/>
                <a:cs typeface="+mn-lt"/>
              </a:rPr>
              <a:t>user </a:t>
            </a:r>
            <a:r>
              <a:rPr lang="en-US" sz="2000" dirty="0">
                <a:ea typeface="+mn-lt"/>
                <a:cs typeface="+mn-lt"/>
              </a:rPr>
              <a:t>puts something into the </a:t>
            </a:r>
            <a:r>
              <a:rPr lang="en-US" sz="2000" b="1" dirty="0">
                <a:ea typeface="+mn-lt"/>
                <a:cs typeface="+mn-lt"/>
              </a:rPr>
              <a:t>product </a:t>
            </a:r>
            <a:r>
              <a:rPr lang="en-US" sz="2000" dirty="0">
                <a:ea typeface="+mn-lt"/>
                <a:cs typeface="+mn-lt"/>
              </a:rPr>
              <a:t>(time, data, effort, social capital, or money)</a:t>
            </a:r>
          </a:p>
          <a:p>
            <a:r>
              <a:rPr lang="en-US" sz="2000" dirty="0">
                <a:ea typeface="+mn-lt"/>
                <a:cs typeface="+mn-lt"/>
              </a:rPr>
              <a:t>likelihood of returning due to a </a:t>
            </a:r>
            <a:r>
              <a:rPr lang="en-US" sz="2000" b="1" dirty="0">
                <a:ea typeface="+mn-lt"/>
                <a:cs typeface="+mn-lt"/>
              </a:rPr>
              <a:t>sense of ownership</a:t>
            </a:r>
            <a:r>
              <a:rPr lang="en-US" sz="2000" dirty="0">
                <a:ea typeface="+mn-lt"/>
                <a:cs typeface="+mn-lt"/>
              </a:rPr>
              <a:t> </a:t>
            </a:r>
          </a:p>
          <a:p>
            <a:r>
              <a:rPr lang="en-US" sz="2000" dirty="0">
                <a:ea typeface="+mn-lt"/>
                <a:cs typeface="+mn-lt"/>
              </a:rPr>
              <a:t>Examples: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IKEA, you have no problem ensemble it, and you care more about it because you “build” it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Instagram/Facebook account where you “acquire” a lot of followers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Photoshop (as you grow your competences)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Stack Overflow (as you grow your reputation)</a:t>
            </a:r>
          </a:p>
          <a:p>
            <a:endParaRPr lang="en-US" sz="20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09930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DFE382-5525-6331-0AFF-207690170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dirty="0">
                <a:ea typeface="Calibri Light"/>
                <a:cs typeface="Calibri Light"/>
              </a:rPr>
              <a:t>Create a Pitch Deck</a:t>
            </a:r>
            <a:endParaRPr lang="en-GB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76BF4-EEA1-EC04-57C7-0D03188BB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040" y="1929384"/>
            <a:ext cx="6055360" cy="49276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2200" dirty="0">
                <a:ea typeface="+mn-lt"/>
                <a:cs typeface="+mn-lt"/>
              </a:rPr>
              <a:t>  Pitch decks typically contain about </a:t>
            </a:r>
            <a:r>
              <a:rPr lang="en-GB" sz="2200" b="1" dirty="0">
                <a:ea typeface="+mn-lt"/>
                <a:cs typeface="+mn-lt"/>
              </a:rPr>
              <a:t>10-12 slides</a:t>
            </a:r>
            <a:endParaRPr lang="en-US" sz="2200">
              <a:ea typeface="Calibri" panose="020F0502020204030204"/>
              <a:cs typeface="Calibri" panose="020F0502020204030204"/>
            </a:endParaRPr>
          </a:p>
          <a:p>
            <a:endParaRPr lang="en-GB" sz="2200" dirty="0">
              <a:ea typeface="+mn-lt"/>
              <a:cs typeface="+mn-lt"/>
            </a:endParaRPr>
          </a:p>
          <a:p>
            <a:endParaRPr lang="en-GB" sz="2200" dirty="0">
              <a:ea typeface="Calibri"/>
              <a:cs typeface="Calibri"/>
            </a:endParaRPr>
          </a:p>
          <a:p>
            <a:endParaRPr lang="en-GB" sz="2200" dirty="0">
              <a:ea typeface="Calibri"/>
              <a:cs typeface="Calibri"/>
            </a:endParaRPr>
          </a:p>
          <a:p>
            <a:endParaRPr lang="en-GB" sz="2200" dirty="0">
              <a:ea typeface="Calibri"/>
              <a:cs typeface="Calibri"/>
            </a:endParaRPr>
          </a:p>
          <a:p>
            <a:endParaRPr lang="en-GB" sz="2200" dirty="0">
              <a:ea typeface="Calibri"/>
              <a:cs typeface="Calibri"/>
            </a:endParaRPr>
          </a:p>
        </p:txBody>
      </p:sp>
      <p:pic>
        <p:nvPicPr>
          <p:cNvPr id="4" name="Picture 3" descr="A graph of pain points and a pie chart&#10;&#10;Description automatically generated">
            <a:extLst>
              <a:ext uri="{FF2B5EF4-FFF2-40B4-BE49-F238E27FC236}">
                <a16:creationId xmlns:a16="http://schemas.microsoft.com/office/drawing/2014/main" id="{D6F99CEE-CB51-ECB6-AB89-4EAF52340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209" y="2312718"/>
            <a:ext cx="5836607" cy="3477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242930-264F-79DC-6C48-B77583A9A664}"/>
              </a:ext>
            </a:extLst>
          </p:cNvPr>
          <p:cNvSpPr txBox="1"/>
          <p:nvPr/>
        </p:nvSpPr>
        <p:spPr>
          <a:xfrm>
            <a:off x="843280" y="2316480"/>
            <a:ext cx="583184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GB" sz="2200" dirty="0"/>
              <a:t>Keep the slides simple, concise</a:t>
            </a:r>
            <a:endParaRPr lang="en-GB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96B046-4126-4D3E-DC73-1DC4C2074206}"/>
              </a:ext>
            </a:extLst>
          </p:cNvPr>
          <p:cNvSpPr txBox="1"/>
          <p:nvPr/>
        </p:nvSpPr>
        <p:spPr>
          <a:xfrm>
            <a:off x="833120" y="2743200"/>
            <a:ext cx="580136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GB" sz="2200" dirty="0">
                <a:ea typeface="+mn-lt"/>
                <a:cs typeface="+mn-lt"/>
              </a:rPr>
              <a:t>Reduce and simplify text with icons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4DA893-3451-C1FC-3ECE-CD14D884F4C4}"/>
              </a:ext>
            </a:extLst>
          </p:cNvPr>
          <p:cNvSpPr txBox="1"/>
          <p:nvPr/>
        </p:nvSpPr>
        <p:spPr>
          <a:xfrm>
            <a:off x="843280" y="3210560"/>
            <a:ext cx="4775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GB" sz="2200" dirty="0"/>
              <a:t>Accentuate numbers with charts</a:t>
            </a:r>
            <a:endParaRPr lang="en-GB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9" name="Picture 8" descr="A blue background with text and icons&#10;&#10;Description automatically generated">
            <a:extLst>
              <a:ext uri="{FF2B5EF4-FFF2-40B4-BE49-F238E27FC236}">
                <a16:creationId xmlns:a16="http://schemas.microsoft.com/office/drawing/2014/main" id="{611434C5-A949-A022-2883-B1F10831C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682" y="2961005"/>
            <a:ext cx="6086475" cy="33337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2E22C6-7712-4814-9AF5-D06DD91C47F0}"/>
              </a:ext>
            </a:extLst>
          </p:cNvPr>
          <p:cNvSpPr txBox="1"/>
          <p:nvPr/>
        </p:nvSpPr>
        <p:spPr>
          <a:xfrm>
            <a:off x="851908" y="3633521"/>
            <a:ext cx="502405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200" dirty="0"/>
              <a:t>Compare competitors with an XY graph</a:t>
            </a:r>
            <a:endParaRPr lang="en-US" sz="2200">
              <a:ea typeface="Calibri"/>
              <a:cs typeface="Calibri"/>
            </a:endParaRPr>
          </a:p>
        </p:txBody>
      </p:sp>
      <p:pic>
        <p:nvPicPr>
          <p:cNvPr id="12" name="Picture 11" descr="Several logos on a white background&#10;&#10;Description automatically generated">
            <a:extLst>
              <a:ext uri="{FF2B5EF4-FFF2-40B4-BE49-F238E27FC236}">
                <a16:creationId xmlns:a16="http://schemas.microsoft.com/office/drawing/2014/main" id="{181576C4-150A-E566-92CA-46E843CD5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127" y="989013"/>
            <a:ext cx="6087745" cy="39350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9B3BA8C-9171-3431-8532-005F7032DC97}"/>
              </a:ext>
            </a:extLst>
          </p:cNvPr>
          <p:cNvSpPr txBox="1"/>
          <p:nvPr/>
        </p:nvSpPr>
        <p:spPr>
          <a:xfrm>
            <a:off x="833120" y="4064000"/>
            <a:ext cx="53848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GB" sz="2200" dirty="0">
                <a:solidFill>
                  <a:srgbClr val="0D1216"/>
                </a:solidFill>
                <a:ea typeface="Calibri" panose="020F0502020204030204"/>
                <a:cs typeface="Calibri" panose="020F0502020204030204"/>
              </a:rPr>
              <a:t>Show off the team with professional photographs</a:t>
            </a:r>
            <a:endParaRPr lang="en-US" sz="2200" dirty="0">
              <a:ea typeface="Calibri"/>
              <a:cs typeface="Calibri"/>
            </a:endParaRPr>
          </a:p>
        </p:txBody>
      </p:sp>
      <p:pic>
        <p:nvPicPr>
          <p:cNvPr id="14" name="Picture 13" descr="A group of people in a circle&#10;&#10;Description automatically generated">
            <a:extLst>
              <a:ext uri="{FF2B5EF4-FFF2-40B4-BE49-F238E27FC236}">
                <a16:creationId xmlns:a16="http://schemas.microsoft.com/office/drawing/2014/main" id="{F8E2895E-81AC-9FD1-2F84-831DCFC964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5973" y="3306445"/>
            <a:ext cx="5743575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45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  <p:bldP spid="11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5AEF49-37A7-C548-998A-B84243972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GB" sz="4000">
                <a:ea typeface="Calibri Light"/>
                <a:cs typeface="Calibri Light"/>
              </a:rPr>
              <a:t>Pitch Deck Slides</a:t>
            </a:r>
            <a:endParaRPr lang="en-GB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E244E-D6EE-238B-528A-E68C56A44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000" dirty="0">
                <a:ea typeface="Calibri"/>
                <a:cs typeface="Calibri"/>
              </a:rPr>
              <a:t>The problem</a:t>
            </a:r>
          </a:p>
          <a:p>
            <a:r>
              <a:rPr lang="en-GB" sz="2000" dirty="0">
                <a:ea typeface="Calibri"/>
                <a:cs typeface="Calibri"/>
              </a:rPr>
              <a:t>Primary Target Market</a:t>
            </a:r>
          </a:p>
          <a:p>
            <a:r>
              <a:rPr lang="en-GB" sz="2000" dirty="0">
                <a:ea typeface="Calibri"/>
                <a:cs typeface="Calibri"/>
              </a:rPr>
              <a:t>Your Solution</a:t>
            </a:r>
          </a:p>
          <a:p>
            <a:r>
              <a:rPr lang="en-GB" sz="2000" dirty="0">
                <a:ea typeface="Calibri"/>
                <a:cs typeface="Calibri"/>
              </a:rPr>
              <a:t>Numerical results </a:t>
            </a:r>
          </a:p>
          <a:p>
            <a:r>
              <a:rPr lang="en-GB" sz="2000" dirty="0">
                <a:ea typeface="Calibri"/>
                <a:cs typeface="Calibri"/>
              </a:rPr>
              <a:t>Competition</a:t>
            </a:r>
          </a:p>
          <a:p>
            <a:r>
              <a:rPr lang="en-GB" sz="2000" dirty="0">
                <a:ea typeface="Calibri"/>
                <a:cs typeface="Calibri"/>
              </a:rPr>
              <a:t>Business Model: how to generate revenue</a:t>
            </a:r>
          </a:p>
          <a:p>
            <a:r>
              <a:rPr lang="en-GB" sz="2000" dirty="0">
                <a:ea typeface="Calibri"/>
                <a:cs typeface="Calibri"/>
              </a:rPr>
              <a:t>Demo (code, self-made components, AI models)</a:t>
            </a:r>
          </a:p>
          <a:p>
            <a:endParaRPr lang="en-GB" sz="2000">
              <a:ea typeface="Calibri"/>
              <a:cs typeface="Calibri"/>
            </a:endParaRPr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81B94783-75B0-2A96-29ED-D1DFDCE7DB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314" r="15926" b="-3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4963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1C324E-F05B-D42D-AE9C-22D802A98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Conclusions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86429-7FF1-E72C-1B5D-C5398BEDF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The main purpose is </a:t>
            </a:r>
            <a:r>
              <a:rPr lang="en-US" sz="2000" b="1" dirty="0">
                <a:ea typeface="+mn-lt"/>
                <a:cs typeface="+mn-lt"/>
              </a:rPr>
              <a:t>NOT </a:t>
            </a:r>
            <a:r>
              <a:rPr lang="en-US" sz="2000" dirty="0">
                <a:ea typeface="+mn-lt"/>
                <a:cs typeface="+mn-lt"/>
              </a:rPr>
              <a:t>to create </a:t>
            </a:r>
            <a:r>
              <a:rPr lang="en-US" sz="2000" b="1" dirty="0">
                <a:ea typeface="+mn-lt"/>
                <a:cs typeface="+mn-lt"/>
              </a:rPr>
              <a:t>manipulative </a:t>
            </a:r>
            <a:r>
              <a:rPr lang="en-US" sz="2000" dirty="0">
                <a:ea typeface="+mn-lt"/>
                <a:cs typeface="+mn-lt"/>
              </a:rPr>
              <a:t>or </a:t>
            </a:r>
            <a:r>
              <a:rPr lang="en-US" sz="2000" b="1" dirty="0">
                <a:ea typeface="+mn-lt"/>
                <a:cs typeface="+mn-lt"/>
              </a:rPr>
              <a:t>destructive </a:t>
            </a:r>
            <a:r>
              <a:rPr lang="en-US" sz="2000" dirty="0">
                <a:ea typeface="+mn-lt"/>
                <a:cs typeface="+mn-lt"/>
              </a:rPr>
              <a:t>prod</a:t>
            </a:r>
            <a:r>
              <a:rPr lang="en-US" sz="2000">
                <a:ea typeface="+mn-lt"/>
                <a:cs typeface="+mn-lt"/>
              </a:rPr>
              <a:t>ucts, but tools that frequently connect </a:t>
            </a:r>
            <a:r>
              <a:rPr lang="en-US" sz="2000" dirty="0">
                <a:ea typeface="+mn-lt"/>
                <a:cs typeface="+mn-lt"/>
              </a:rPr>
              <a:t>users’ </a:t>
            </a:r>
            <a:r>
              <a:rPr lang="en-US" sz="2000" b="1" dirty="0">
                <a:ea typeface="+mn-lt"/>
                <a:cs typeface="+mn-lt"/>
              </a:rPr>
              <a:t>problems </a:t>
            </a:r>
            <a:r>
              <a:rPr lang="en-US" sz="2000" dirty="0">
                <a:ea typeface="+mn-lt"/>
                <a:cs typeface="+mn-lt"/>
              </a:rPr>
              <a:t>to </a:t>
            </a:r>
            <a:r>
              <a:rPr lang="en-US" sz="2000" b="1" dirty="0">
                <a:ea typeface="+mn-lt"/>
                <a:cs typeface="+mn-lt"/>
              </a:rPr>
              <a:t>solutions </a:t>
            </a:r>
            <a:r>
              <a:rPr lang="en-US" sz="2000" dirty="0">
                <a:ea typeface="+mn-lt"/>
                <a:cs typeface="+mn-lt"/>
              </a:rPr>
              <a:t>and create </a:t>
            </a:r>
            <a:r>
              <a:rPr lang="en-US" sz="2000" b="1" dirty="0">
                <a:ea typeface="+mn-lt"/>
                <a:cs typeface="+mn-lt"/>
              </a:rPr>
              <a:t>habits.</a:t>
            </a:r>
          </a:p>
          <a:p>
            <a:r>
              <a:rPr lang="en-US" sz="2000">
                <a:ea typeface="+mn-lt"/>
                <a:cs typeface="+mn-lt"/>
              </a:rPr>
              <a:t> </a:t>
            </a:r>
            <a:r>
              <a:rPr lang="en-US" sz="2000" b="1">
                <a:ea typeface="+mn-lt"/>
                <a:cs typeface="+mn-lt"/>
              </a:rPr>
              <a:t>“Hook Model”</a:t>
            </a:r>
            <a:r>
              <a:rPr lang="en-US" sz="2000">
                <a:ea typeface="+mn-lt"/>
                <a:cs typeface="+mn-lt"/>
              </a:rPr>
              <a:t> includes the following elements: “</a:t>
            </a:r>
            <a:r>
              <a:rPr lang="en-US" sz="2000" b="1">
                <a:ea typeface="+mn-lt"/>
                <a:cs typeface="+mn-lt"/>
              </a:rPr>
              <a:t>Trigger</a:t>
            </a:r>
            <a:r>
              <a:rPr lang="en-US" sz="2000">
                <a:ea typeface="+mn-lt"/>
                <a:cs typeface="+mn-lt"/>
              </a:rPr>
              <a:t>”, “</a:t>
            </a:r>
            <a:r>
              <a:rPr lang="en-US" sz="2000" b="1">
                <a:ea typeface="+mn-lt"/>
                <a:cs typeface="+mn-lt"/>
              </a:rPr>
              <a:t>Actions</a:t>
            </a:r>
            <a:r>
              <a:rPr lang="en-US" sz="2000">
                <a:ea typeface="+mn-lt"/>
                <a:cs typeface="+mn-lt"/>
              </a:rPr>
              <a:t>”, “</a:t>
            </a:r>
            <a:r>
              <a:rPr lang="en-US" sz="2000" b="1">
                <a:ea typeface="+mn-lt"/>
                <a:cs typeface="+mn-lt"/>
              </a:rPr>
              <a:t>Variable Reward</a:t>
            </a:r>
            <a:r>
              <a:rPr lang="en-US" sz="2000">
                <a:ea typeface="+mn-lt"/>
                <a:cs typeface="+mn-lt"/>
              </a:rPr>
              <a:t>”, “</a:t>
            </a:r>
            <a:r>
              <a:rPr lang="en-US" sz="2000" b="1">
                <a:ea typeface="+mn-lt"/>
                <a:cs typeface="+mn-lt"/>
              </a:rPr>
              <a:t>Investment</a:t>
            </a:r>
            <a:r>
              <a:rPr lang="en-US" sz="2000">
                <a:ea typeface="+mn-lt"/>
                <a:cs typeface="+mn-lt"/>
              </a:rPr>
              <a:t>”</a:t>
            </a:r>
          </a:p>
          <a:p>
            <a:r>
              <a:rPr lang="en-US" sz="2000">
                <a:ea typeface="+mn-lt"/>
                <a:cs typeface="+mn-lt"/>
              </a:rPr>
              <a:t> I hope the "hooked model" will shine a spotlight on your </a:t>
            </a:r>
            <a:r>
              <a:rPr lang="en-US" sz="2000" b="1">
                <a:ea typeface="+mn-lt"/>
                <a:cs typeface="+mn-lt"/>
              </a:rPr>
              <a:t>success</a:t>
            </a:r>
            <a:endParaRPr lang="en-US" sz="2000">
              <a:ea typeface="Calibri"/>
              <a:cs typeface="Calibri"/>
            </a:endParaRPr>
          </a:p>
        </p:txBody>
      </p:sp>
      <p:pic>
        <p:nvPicPr>
          <p:cNvPr id="5" name="Picture 4" descr="Metal paperclips art">
            <a:extLst>
              <a:ext uri="{FF2B5EF4-FFF2-40B4-BE49-F238E27FC236}">
                <a16:creationId xmlns:a16="http://schemas.microsoft.com/office/drawing/2014/main" id="{F25AE335-035A-BE7C-E27A-C4046D091D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492" r="22282" b="8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153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790D0-D472-C626-2EA0-1BA68CD78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1236-923D-E2EB-0FA7-35BA8E27F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800" b="1" dirty="0">
                <a:solidFill>
                  <a:srgbClr val="353535"/>
                </a:solidFill>
              </a:rPr>
              <a:t>“Hooked. How To Build Habit-Forming Products” – Nir Eyal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5484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211102ECA25F45B4CC6E5CADA83611" ma:contentTypeVersion="4" ma:contentTypeDescription="Create a new document." ma:contentTypeScope="" ma:versionID="384ce5f27ff29a2723045399f45ddb08">
  <xsd:schema xmlns:xsd="http://www.w3.org/2001/XMLSchema" xmlns:xs="http://www.w3.org/2001/XMLSchema" xmlns:p="http://schemas.microsoft.com/office/2006/metadata/properties" xmlns:ns2="5cec7390-26ef-4ab5-8180-cc59cef227f5" targetNamespace="http://schemas.microsoft.com/office/2006/metadata/properties" ma:root="true" ma:fieldsID="727dbd1c6138e23346201c9062225aeb" ns2:_="">
    <xsd:import namespace="5cec7390-26ef-4ab5-8180-cc59cef227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ec7390-26ef-4ab5-8180-cc59cef227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C3EE013-EF32-4563-B9ED-CF1E7A44992E}">
  <ds:schemaRefs>
    <ds:schemaRef ds:uri="http://schemas.microsoft.com/office/2006/metadata/properties"/>
    <ds:schemaRef ds:uri="http://schemas.microsoft.com/office/infopath/2007/PartnerControls"/>
    <ds:schemaRef ds:uri="2d8c896a-2c7a-453c-a372-c5a9d996764a"/>
  </ds:schemaRefs>
</ds:datastoreItem>
</file>

<file path=customXml/itemProps2.xml><?xml version="1.0" encoding="utf-8"?>
<ds:datastoreItem xmlns:ds="http://schemas.openxmlformats.org/officeDocument/2006/customXml" ds:itemID="{E3393DBC-66A7-4D09-9FF0-E6483975A1F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C7E75EC-E1F1-4FE5-B53E-C7CB108821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ec7390-26ef-4ab5-8180-cc59cef227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Habit forming products</vt:lpstr>
      <vt:lpstr>Content</vt:lpstr>
      <vt:lpstr>Hooked</vt:lpstr>
      <vt:lpstr>Ethics</vt:lpstr>
      <vt:lpstr>Hook Model</vt:lpstr>
      <vt:lpstr>Trigger</vt:lpstr>
      <vt:lpstr>Action</vt:lpstr>
      <vt:lpstr>(Variables) reward</vt:lpstr>
      <vt:lpstr>Investment</vt:lpstr>
      <vt:lpstr>Create a Pitch Deck</vt:lpstr>
      <vt:lpstr>Pitch Deck Slides</vt:lpstr>
      <vt:lpstr>Conclusions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473</cp:revision>
  <dcterms:created xsi:type="dcterms:W3CDTF">2023-12-29T06:40:04Z</dcterms:created>
  <dcterms:modified xsi:type="dcterms:W3CDTF">2024-12-29T13:12:54Z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0x010100F3211102ECA25F45B4CC6E5CADA83611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