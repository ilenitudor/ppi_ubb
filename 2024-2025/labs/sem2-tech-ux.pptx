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262" r:id="rId6"/>
    <p:sldId id="263" r:id="rId7"/>
    <p:sldId id="278" r:id="rId8"/>
    <p:sldId id="264" r:id="rId9"/>
    <p:sldId id="259" r:id="rId10"/>
    <p:sldId id="260" r:id="rId11"/>
    <p:sldId id="261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9" r:id="rId21"/>
    <p:sldId id="274" r:id="rId22"/>
    <p:sldId id="275" r:id="rId23"/>
    <p:sldId id="276" r:id="rId24"/>
    <p:sldId id="283" r:id="rId25"/>
    <p:sldId id="273" r:id="rId26"/>
    <p:sldId id="25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4DCFD-C841-81DB-3F08-F365964297A0}" v="213" dt="2024-10-23T07:24:40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D85AA-D1C7-4CB4-8DCC-81CFE0D759E4}" type="datetimeFigureOut"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DC0CC-B77C-42B5-B3F9-34A45E538A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6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Students: think how you may implement one on this in your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DC0CC-B77C-42B5-B3F9-34A45E538AD6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66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templates/low-fidelity-prototype/" TargetMode="External"/><Relationship Id="rId2" Type="http://schemas.openxmlformats.org/officeDocument/2006/relationships/hyperlink" Target="https://www.nngroup.com/articles/draw-wireframe-even-if-you-cant-draw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ngroup.com/videos/you-are-not-user-slogan/" TargetMode="External"/><Relationship Id="rId2" Type="http://schemas.openxmlformats.org/officeDocument/2006/relationships/hyperlink" Target="https://www.nngroup.com/articles/ten-usability-heuristic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1jtQ0uIIs94" TargetMode="External"/><Relationship Id="rId4" Type="http://schemas.openxmlformats.org/officeDocument/2006/relationships/hyperlink" Target="https://careerfoundry.com/en/blog/ux-design/the-difference-between-ux-and-ui-design-a-laymans-gui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>
                <a:cs typeface="Calibri Light"/>
              </a:rPr>
              <a:t>Innovation in UX/UI</a:t>
            </a:r>
            <a:endParaRPr lang="en-US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>
                <a:cs typeface="Calibri"/>
              </a:rPr>
              <a:t>Tech Seminary 2</a:t>
            </a:r>
            <a:endParaRPr lang="en-US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1830-18B5-B072-D6F2-C9445062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19" y="572569"/>
            <a:ext cx="3380527" cy="1642956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2"/>
                </a:solidFill>
                <a:cs typeface="Calibri Light"/>
              </a:rPr>
              <a:t>UX vs UI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8C23-5E3E-0971-E581-F333C5973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218" y="2596242"/>
            <a:ext cx="3926157" cy="36521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  <a:cs typeface="Calibri"/>
              </a:rPr>
              <a:t>UX (user experience designer) focuses on all aspects of the USER's interaction with the company, its services, and its products.</a:t>
            </a:r>
          </a:p>
          <a:p>
            <a:r>
              <a:rPr lang="en-US" sz="2000" dirty="0">
                <a:solidFill>
                  <a:schemeClr val="tx2"/>
                </a:solidFill>
                <a:cs typeface="Calibri"/>
              </a:rPr>
              <a:t>UI (</a:t>
            </a:r>
            <a:r>
              <a:rPr lang="en-US" sz="2000" dirty="0">
                <a:solidFill>
                  <a:schemeClr val="tx2"/>
                </a:solidFill>
                <a:ea typeface="+mn-lt"/>
                <a:cs typeface="+mn-lt"/>
              </a:rPr>
              <a:t>user interface designer</a:t>
            </a:r>
            <a:r>
              <a:rPr lang="en-US" sz="2000" dirty="0">
                <a:solidFill>
                  <a:schemeClr val="tx2"/>
                </a:solidFill>
                <a:cs typeface="Calibri"/>
              </a:rPr>
              <a:t>) is a specialized UX</a:t>
            </a:r>
            <a:endParaRPr lang="en-US" sz="2000" dirty="0">
              <a:solidFill>
                <a:schemeClr val="tx2"/>
              </a:solidFill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chemeClr val="tx2"/>
                </a:solidFill>
                <a:cs typeface="Calibri"/>
              </a:rPr>
              <a:t>UI focus: visuals interaction</a:t>
            </a:r>
            <a:endParaRPr lang="en-US" sz="1600" dirty="0">
              <a:solidFill>
                <a:schemeClr val="tx2"/>
              </a:solidFill>
              <a:ea typeface="Calibri"/>
              <a:cs typeface="Calibri"/>
            </a:endParaRPr>
          </a:p>
          <a:p>
            <a:endParaRPr lang="en-US" sz="2000">
              <a:solidFill>
                <a:schemeClr val="tx2"/>
              </a:solidFill>
              <a:cs typeface="Calibri"/>
            </a:endParaRPr>
          </a:p>
        </p:txBody>
      </p:sp>
      <p:pic>
        <p:nvPicPr>
          <p:cNvPr id="4" name="Picture 3" descr="A diagram of a brain&#10;&#10;Description automatically generated">
            <a:extLst>
              <a:ext uri="{FF2B5EF4-FFF2-40B4-BE49-F238E27FC236}">
                <a16:creationId xmlns:a16="http://schemas.microsoft.com/office/drawing/2014/main" id="{A72D3361-1B70-BF5B-34EE-EEF0808DB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31" y="815003"/>
            <a:ext cx="7115183" cy="4870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89C2C-C2E9-F7E6-3002-8CA7A34D5A42}"/>
              </a:ext>
            </a:extLst>
          </p:cNvPr>
          <p:cNvSpPr txBox="1"/>
          <p:nvPr/>
        </p:nvSpPr>
        <p:spPr>
          <a:xfrm>
            <a:off x="7055554" y="6547555"/>
            <a:ext cx="50517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ea typeface="+mn-lt"/>
                <a:cs typeface="+mn-lt"/>
              </a:rPr>
              <a:t>*https://miro.medium.com/v2/resize:fit:1050/1*hp-yfKsmzsj711iLbM8eEw.jpeg</a:t>
            </a:r>
            <a:endParaRPr lang="en-US" sz="1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11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752E9-B684-87BC-C99E-997F84F4A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UX</a:t>
            </a:r>
            <a:endParaRPr lang="en-US" sz="54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00B13-8EB2-B8C0-45D6-010A09BD4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69" y="2807208"/>
            <a:ext cx="4670777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cs typeface="Calibri"/>
              </a:rPr>
              <a:t>Task and responsibilities:</a:t>
            </a:r>
          </a:p>
          <a:p>
            <a:pPr lvl="1">
              <a:lnSpc>
                <a:spcPct val="150000"/>
              </a:lnSpc>
            </a:pPr>
            <a:r>
              <a:rPr lang="en-US">
                <a:cs typeface="Calibri"/>
              </a:rPr>
              <a:t>Strategy and content</a:t>
            </a:r>
          </a:p>
          <a:p>
            <a:pPr lvl="1">
              <a:lnSpc>
                <a:spcPct val="150000"/>
              </a:lnSpc>
            </a:pPr>
            <a:r>
              <a:rPr lang="en-US">
                <a:cs typeface="Calibri"/>
              </a:rPr>
              <a:t>Wireframing and prototyping</a:t>
            </a:r>
          </a:p>
          <a:p>
            <a:pPr lvl="1">
              <a:lnSpc>
                <a:spcPct val="150000"/>
              </a:lnSpc>
            </a:pPr>
            <a:r>
              <a:rPr lang="en-US">
                <a:cs typeface="Calibri"/>
              </a:rPr>
              <a:t>Execution and analysis</a:t>
            </a:r>
          </a:p>
          <a:p>
            <a:pPr lvl="1">
              <a:lnSpc>
                <a:spcPct val="150000"/>
              </a:lnSpc>
            </a:pPr>
            <a:endParaRPr lang="en-US">
              <a:cs typeface="Calibri"/>
            </a:endParaRPr>
          </a:p>
        </p:txBody>
      </p:sp>
      <p:pic>
        <p:nvPicPr>
          <p:cNvPr id="4" name="Picture 3" descr="A diagram of a ux design&#10;&#10;Description automatically generated">
            <a:extLst>
              <a:ext uri="{FF2B5EF4-FFF2-40B4-BE49-F238E27FC236}">
                <a16:creationId xmlns:a16="http://schemas.microsoft.com/office/drawing/2014/main" id="{ACCA9F85-9A9B-E42D-11C7-A6777C30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592" y="944438"/>
            <a:ext cx="7044831" cy="5091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135CE2-AD33-3716-FBDD-93F7B75A9C4D}"/>
              </a:ext>
            </a:extLst>
          </p:cNvPr>
          <p:cNvSpPr txBox="1"/>
          <p:nvPr/>
        </p:nvSpPr>
        <p:spPr>
          <a:xfrm>
            <a:off x="5823185" y="6538147"/>
            <a:ext cx="63217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*https://www.keenesystems.com/hs-fs/hubfs/blog-images/ux-design.jpg?width=900&amp;name=ux-design.jpg</a:t>
            </a:r>
            <a:endParaRPr lang="en-US" sz="1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387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CB782-B812-EB5C-F0AB-19BEB862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124" y="1788513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Understanding Good UX: An Important Truth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 descr="Design Jokes | UX is like a joke. If you have to explain it, it's not good.  | Jokes, User experience design, Ironic">
            <a:extLst>
              <a:ext uri="{FF2B5EF4-FFF2-40B4-BE49-F238E27FC236}">
                <a16:creationId xmlns:a16="http://schemas.microsoft.com/office/drawing/2014/main" id="{B39F0A12-E3DF-5876-7015-553622539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881" y="909081"/>
            <a:ext cx="3372701" cy="50717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D20BDC-7077-7D12-035E-5A2ECD780E38}"/>
              </a:ext>
            </a:extLst>
          </p:cNvPr>
          <p:cNvSpPr txBox="1"/>
          <p:nvPr/>
        </p:nvSpPr>
        <p:spPr>
          <a:xfrm>
            <a:off x="3612078" y="6531428"/>
            <a:ext cx="496982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cs typeface="Calibri"/>
              </a:rPr>
              <a:t>Image: </a:t>
            </a:r>
            <a:r>
              <a:rPr lang="en-US" sz="1100" dirty="0">
                <a:ea typeface="+mn-lt"/>
                <a:cs typeface="+mn-lt"/>
              </a:rPr>
              <a:t>https://webdesignledger.com/35-design-jokes-will-make-you-laugh/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3" name="Picture 2" descr="Meet the man behind the 'white guy blinking' meme | Internet | The Guardian">
            <a:extLst>
              <a:ext uri="{FF2B5EF4-FFF2-40B4-BE49-F238E27FC236}">
                <a16:creationId xmlns:a16="http://schemas.microsoft.com/office/drawing/2014/main" id="{D9F8D616-B9FE-151E-41FD-F77449729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8991600" y="5003800"/>
            <a:ext cx="274320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3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752E9-B684-87BC-C99E-997F84F4A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UI</a:t>
            </a:r>
            <a:endParaRPr lang="en-US" sz="54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00B13-8EB2-B8C0-45D6-010A09BD4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69" y="2807208"/>
            <a:ext cx="4887147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cs typeface="Calibri"/>
              </a:rPr>
              <a:t>Task and responsibilities:</a:t>
            </a:r>
          </a:p>
          <a:p>
            <a:pPr lvl="1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The look and feel of the product</a:t>
            </a:r>
            <a:endParaRPr lang="en-US"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Responsiveness and interactivity</a:t>
            </a:r>
            <a:endParaRPr lang="en-US">
              <a:latin typeface="Calibri"/>
              <a:cs typeface="Calibri"/>
            </a:endParaRPr>
          </a:p>
          <a:p>
            <a:pPr lvl="1">
              <a:lnSpc>
                <a:spcPct val="150000"/>
              </a:lnSpc>
            </a:pPr>
            <a:endParaRPr lang="en-US">
              <a:cs typeface="Calibri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>
              <a:cs typeface="Calibri"/>
            </a:endParaRPr>
          </a:p>
          <a:p>
            <a:pPr lvl="1">
              <a:lnSpc>
                <a:spcPct val="150000"/>
              </a:lnSpc>
            </a:pPr>
            <a:endParaRPr lang="en-US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35CE2-AD33-3716-FBDD-93F7B75A9C4D}"/>
              </a:ext>
            </a:extLst>
          </p:cNvPr>
          <p:cNvSpPr txBox="1"/>
          <p:nvPr/>
        </p:nvSpPr>
        <p:spPr>
          <a:xfrm>
            <a:off x="6444074" y="6566369"/>
            <a:ext cx="566326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https://www.netsolutions.com/insights/wp-content/uploads/2022/02/neumorphism.webp</a:t>
            </a:r>
            <a:endParaRPr lang="en-US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33868C96-3BEB-249C-6FE5-34633EB00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622" y="1309659"/>
            <a:ext cx="6788384" cy="43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8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5E24-FCDE-2B84-60F6-450C56A0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9" y="382524"/>
            <a:ext cx="6316576" cy="55017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kern="1200">
                <a:latin typeface="+mj-lt"/>
                <a:ea typeface="+mj-ea"/>
                <a:cs typeface="+mj-cs"/>
              </a:rPr>
              <a:t>10 Usability Heuristics for User Interface Design</a:t>
            </a:r>
            <a:br>
              <a:rPr lang="en-US" sz="6000" b="1">
                <a:cs typeface="Calibri Light"/>
              </a:rPr>
            </a:br>
            <a:br>
              <a:rPr lang="en-US" sz="6000" b="1">
                <a:cs typeface="Calibri Light"/>
              </a:rPr>
            </a:br>
            <a:br>
              <a:rPr lang="en-US" sz="6000" b="1">
                <a:cs typeface="+mj-lt"/>
              </a:rPr>
            </a:br>
            <a:r>
              <a:rPr lang="en-US" sz="1400">
                <a:ea typeface="+mj-lt"/>
                <a:cs typeface="+mj-lt"/>
              </a:rPr>
              <a:t>Nielsen Norman Group</a:t>
            </a:r>
            <a:br>
              <a:rPr lang="en-US" sz="1400">
                <a:ea typeface="+mj-lt"/>
                <a:cs typeface="+mj-lt"/>
              </a:rPr>
            </a:br>
            <a:r>
              <a:rPr lang="en-US" sz="1400" err="1">
                <a:ea typeface="+mj-lt"/>
                <a:cs typeface="+mj-lt"/>
              </a:rPr>
              <a:t>Ph.D</a:t>
            </a:r>
            <a:r>
              <a:rPr lang="en-US" sz="1400">
                <a:ea typeface="+mj-lt"/>
                <a:cs typeface="+mj-lt"/>
              </a:rPr>
              <a:t> Donald Norman - former VP of research @ Apple</a:t>
            </a:r>
            <a:br>
              <a:rPr lang="en-US" sz="1400">
                <a:ea typeface="+mj-lt"/>
                <a:cs typeface="+mj-lt"/>
              </a:rPr>
            </a:br>
            <a:r>
              <a:rPr lang="en-US" sz="1400">
                <a:cs typeface="Calibri Light"/>
              </a:rPr>
              <a:t> </a:t>
            </a:r>
            <a:r>
              <a:rPr lang="en-US" sz="1400" err="1">
                <a:cs typeface="Calibri Light"/>
              </a:rPr>
              <a:t>Ph.D</a:t>
            </a:r>
            <a:r>
              <a:rPr lang="en-US" sz="1400">
                <a:cs typeface="Calibri Light"/>
              </a:rPr>
              <a:t> Jakob Neilsen – 79 US patents, making the internet easier to use</a:t>
            </a:r>
            <a:endParaRPr lang="en-US" sz="6000" b="1" kern="1200">
              <a:latin typeface="+mj-lt"/>
              <a:cs typeface="Calibri Light"/>
            </a:endParaRPr>
          </a:p>
          <a:p>
            <a:pPr algn="ctr"/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36F39F-4817-494C-A33A-C936CB02D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8" y="643464"/>
            <a:ext cx="4010958" cy="5571072"/>
          </a:xfrm>
          <a:prstGeom prst="rect">
            <a:avLst/>
          </a:prstGeom>
          <a:solidFill>
            <a:srgbClr val="FFFFFF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CC1C3A8B-5483-0BC5-671D-FE97062D8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749" y="1741932"/>
            <a:ext cx="3374136" cy="3374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3136D8-A76A-E9CE-8C47-915870B90796}"/>
              </a:ext>
            </a:extLst>
          </p:cNvPr>
          <p:cNvSpPr txBox="1"/>
          <p:nvPr/>
        </p:nvSpPr>
        <p:spPr>
          <a:xfrm>
            <a:off x="7529286" y="6495143"/>
            <a:ext cx="46355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ea typeface="+mn-lt"/>
                <a:cs typeface="+mn-lt"/>
              </a:rPr>
              <a:t>*https://www.nngroup.com/articles/ten-usability-heuristics/</a:t>
            </a:r>
            <a:endParaRPr lang="en-US" sz="1400" i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8295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92217-5974-CBC5-6B6F-6E45D167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b="1"/>
              <a:t>#1: Visibility of system status</a:t>
            </a:r>
            <a:endParaRPr lang="en-US" sz="4200"/>
          </a:p>
          <a:p>
            <a:endParaRPr lang="en-US" sz="4200">
              <a:cs typeface="Calibri Ligh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313C-C2B3-2F97-F368-7509D141A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latin typeface="Arial"/>
                <a:cs typeface="Arial"/>
              </a:rPr>
              <a:t>keep users </a:t>
            </a:r>
            <a:r>
              <a:rPr lang="en-US" sz="2200" b="1">
                <a:latin typeface="Arial"/>
                <a:cs typeface="Arial"/>
              </a:rPr>
              <a:t>informed </a:t>
            </a:r>
            <a:r>
              <a:rPr lang="en-US" sz="2200">
                <a:latin typeface="Arial"/>
                <a:cs typeface="Arial"/>
              </a:rPr>
              <a:t>about what is going on</a:t>
            </a:r>
          </a:p>
          <a:p>
            <a:r>
              <a:rPr lang="en-US" sz="2200">
                <a:latin typeface="Arial"/>
                <a:cs typeface="Arial"/>
              </a:rPr>
              <a:t>appropriate </a:t>
            </a:r>
            <a:r>
              <a:rPr lang="en-US" sz="2200" b="1">
                <a:latin typeface="Arial"/>
                <a:cs typeface="Arial"/>
              </a:rPr>
              <a:t>feedback </a:t>
            </a:r>
            <a:r>
              <a:rPr lang="en-US" sz="2200">
                <a:latin typeface="Arial"/>
                <a:cs typeface="Arial"/>
              </a:rPr>
              <a:t>within a </a:t>
            </a:r>
            <a:r>
              <a:rPr lang="en-US" sz="2200" b="1">
                <a:latin typeface="Arial"/>
                <a:cs typeface="Arial"/>
              </a:rPr>
              <a:t>reasonable </a:t>
            </a:r>
            <a:r>
              <a:rPr lang="en-US" sz="2200">
                <a:latin typeface="Arial"/>
                <a:cs typeface="Arial"/>
              </a:rPr>
              <a:t>amount of time</a:t>
            </a:r>
          </a:p>
          <a:p>
            <a:r>
              <a:rPr lang="en-US" sz="2200" b="1">
                <a:latin typeface="Arial"/>
                <a:cs typeface="Arial"/>
              </a:rPr>
              <a:t>predictable </a:t>
            </a:r>
            <a:r>
              <a:rPr lang="en-US" sz="2200">
                <a:latin typeface="Arial"/>
                <a:cs typeface="Arial"/>
              </a:rPr>
              <a:t>interactions create </a:t>
            </a:r>
            <a:r>
              <a:rPr lang="en-US" sz="2200" b="1">
                <a:latin typeface="Arial"/>
                <a:cs typeface="Arial"/>
              </a:rPr>
              <a:t>trust</a:t>
            </a:r>
          </a:p>
          <a:p>
            <a:endParaRPr lang="en-US" sz="2200">
              <a:latin typeface="Arial"/>
              <a:cs typeface="Arial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9F64711-2551-54DA-B6A9-116F5D78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072" y="3201536"/>
            <a:ext cx="6422935" cy="32069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7F146F-13A5-D1D4-57EB-B1B75FA2372C}"/>
              </a:ext>
            </a:extLst>
          </p:cNvPr>
          <p:cNvSpPr txBox="1"/>
          <p:nvPr/>
        </p:nvSpPr>
        <p:spPr>
          <a:xfrm>
            <a:off x="7565570" y="6476999"/>
            <a:ext cx="459921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ea typeface="+mn-lt"/>
                <a:cs typeface="+mn-lt"/>
              </a:rPr>
              <a:t>*https://www.nngroup.com/articles/visibility-system-status/</a:t>
            </a:r>
            <a:endParaRPr lang="en-US" sz="1400" i="1">
              <a:cs typeface="Calibri"/>
            </a:endParaRPr>
          </a:p>
        </p:txBody>
      </p:sp>
      <p:pic>
        <p:nvPicPr>
          <p:cNvPr id="6" name="Picture 5" descr="A person standing next to a blue board&#10;&#10;Description automatically generated">
            <a:extLst>
              <a:ext uri="{FF2B5EF4-FFF2-40B4-BE49-F238E27FC236}">
                <a16:creationId xmlns:a16="http://schemas.microsoft.com/office/drawing/2014/main" id="{EC763877-13F5-55C5-649C-CA869FDBC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57" y="2564"/>
            <a:ext cx="2743200" cy="320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1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7038B-40A9-F0DB-189D-4F285AD6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b="1"/>
              <a:t>#2: Match between system and the real world</a:t>
            </a:r>
            <a:endParaRPr lang="en-US"/>
          </a:p>
          <a:p>
            <a:endParaRPr lang="en-US">
              <a:cs typeface="Calibri Light"/>
            </a:endParaRP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40B66-3951-0F07-3D27-3A06F11B7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132806"/>
            <a:ext cx="6133155" cy="50625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never assume that your own interpretations of words match those of the users</a:t>
            </a:r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4" name="Picture 3" descr="A cartoon of a stove&#10;&#10;Description automatically generated">
            <a:extLst>
              <a:ext uri="{FF2B5EF4-FFF2-40B4-BE49-F238E27FC236}">
                <a16:creationId xmlns:a16="http://schemas.microsoft.com/office/drawing/2014/main" id="{FD451CF3-5A55-3DAB-A9D6-B87A0F4E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43" y="3435321"/>
            <a:ext cx="2924678" cy="26817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7BBFAF-96E9-972E-AE86-33B34167D08A}"/>
              </a:ext>
            </a:extLst>
          </p:cNvPr>
          <p:cNvSpPr txBox="1"/>
          <p:nvPr/>
        </p:nvSpPr>
        <p:spPr>
          <a:xfrm>
            <a:off x="8466666" y="6575778"/>
            <a:ext cx="372533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ea typeface="+mn-lt"/>
                <a:cs typeface="+mn-lt"/>
              </a:rPr>
              <a:t>*https://www.nngroup.com/articles/match-system-real-world/</a:t>
            </a:r>
            <a:endParaRPr lang="en-US" sz="100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D0C66-A84D-EE62-59BF-B00D8D95972E}"/>
              </a:ext>
            </a:extLst>
          </p:cNvPr>
          <p:cNvSpPr txBox="1"/>
          <p:nvPr/>
        </p:nvSpPr>
        <p:spPr>
          <a:xfrm>
            <a:off x="5537200" y="1717040"/>
            <a:ext cx="65125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0" lvl="2" indent="-228600">
              <a:buFont typeface="Wingdings"/>
              <a:buChar char="§"/>
            </a:pPr>
            <a:r>
              <a:rPr lang="en-US" sz="1600" dirty="0">
                <a:solidFill>
                  <a:srgbClr val="333333"/>
                </a:solidFill>
                <a:latin typeface="Arial"/>
                <a:cs typeface="Arial"/>
              </a:rPr>
              <a:t>conceptual or metaphorical similarity (up is more, green is go)</a:t>
            </a:r>
            <a:r>
              <a:rPr lang="en-US" sz="1600" dirty="0">
                <a:latin typeface="Arial"/>
                <a:cs typeface="Arial"/>
              </a:rPr>
              <a:t>​</a:t>
            </a:r>
            <a:endParaRPr lang="en-US"/>
          </a:p>
          <a:p>
            <a:pPr marL="685800" lvl="2" indent="-228600">
              <a:buFont typeface="Wingdings"/>
              <a:buChar char="§"/>
            </a:pPr>
            <a:r>
              <a:rPr lang="en-US" sz="1600" dirty="0">
                <a:solidFill>
                  <a:srgbClr val="333333"/>
                </a:solidFill>
                <a:latin typeface="Arial"/>
                <a:cs typeface="Arial"/>
              </a:rPr>
              <a:t>behavioral similarity ("</a:t>
            </a:r>
            <a:r>
              <a:rPr lang="en-US" sz="1600" dirty="0">
                <a:solidFill>
                  <a:srgbClr val="333333"/>
                </a:solidFill>
                <a:cs typeface="Arial"/>
              </a:rPr>
              <a:t>raise to wake” gesture)</a:t>
            </a:r>
            <a:endParaRPr lang="en-US" sz="1600" dirty="0">
              <a:solidFill>
                <a:srgbClr val="333333"/>
              </a:solidFill>
              <a:ea typeface="Calibri"/>
              <a:cs typeface="Arial"/>
            </a:endParaRPr>
          </a:p>
        </p:txBody>
      </p:sp>
      <p:pic>
        <p:nvPicPr>
          <p:cNvPr id="9" name="Picture 8" descr="A screenshot of a mobile phone&#10;&#10;Description automatically generated">
            <a:extLst>
              <a:ext uri="{FF2B5EF4-FFF2-40B4-BE49-F238E27FC236}">
                <a16:creationId xmlns:a16="http://schemas.microsoft.com/office/drawing/2014/main" id="{9A141B05-9F8F-9F48-D25F-4A5232026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050" y="3050858"/>
            <a:ext cx="2095500" cy="3438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51C03A-4CA0-6E31-EC6A-60103D6404ED}"/>
              </a:ext>
            </a:extLst>
          </p:cNvPr>
          <p:cNvSpPr txBox="1"/>
          <p:nvPr/>
        </p:nvSpPr>
        <p:spPr>
          <a:xfrm>
            <a:off x="5537200" y="1066800"/>
            <a:ext cx="6228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use real-world conventions ​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spatial similarity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3E79F-9DD9-41AD-9526-AD3F7F062B69}"/>
              </a:ext>
            </a:extLst>
          </p:cNvPr>
          <p:cNvSpPr txBox="1"/>
          <p:nvPr/>
        </p:nvSpPr>
        <p:spPr>
          <a:xfrm>
            <a:off x="5537200" y="640080"/>
            <a:ext cx="54051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/>
              <a:t>speak the users' language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1" name="Picture 10" descr="5 Ways to Increase Contact Form Conversion Rate">
            <a:extLst>
              <a:ext uri="{FF2B5EF4-FFF2-40B4-BE49-F238E27FC236}">
                <a16:creationId xmlns:a16="http://schemas.microsoft.com/office/drawing/2014/main" id="{6F5394CB-C872-062D-1F4F-D59EE5501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" y="3338354"/>
            <a:ext cx="4450079" cy="248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0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B37FE-9A76-0CB5-FCD7-62EB3BFD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b="1"/>
              <a:t>#3: User control and freedom</a:t>
            </a:r>
            <a:endParaRPr lang="en-US" sz="3800"/>
          </a:p>
          <a:p>
            <a:endParaRPr lang="en-US" sz="3800">
              <a:cs typeface="Calibri Ligh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8FEB6-6EA5-1E1D-1FF7-0AB510508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latin typeface="Arial"/>
                <a:cs typeface="Arial"/>
              </a:rPr>
              <a:t>Support </a:t>
            </a:r>
            <a:r>
              <a:rPr lang="en-US" sz="2200" i="1">
                <a:latin typeface="Arial"/>
                <a:cs typeface="Arial"/>
              </a:rPr>
              <a:t>Undo</a:t>
            </a:r>
            <a:r>
              <a:rPr lang="en-US" sz="2200">
                <a:latin typeface="Arial"/>
                <a:cs typeface="Arial"/>
              </a:rPr>
              <a:t> and </a:t>
            </a:r>
            <a:r>
              <a:rPr lang="en-US" sz="2200" i="1">
                <a:latin typeface="Arial"/>
                <a:cs typeface="Arial"/>
              </a:rPr>
              <a:t>Redo</a:t>
            </a:r>
            <a:endParaRPr lang="en-US" sz="2200">
              <a:latin typeface="Arial"/>
              <a:ea typeface="+mn-lt"/>
              <a:cs typeface="Arial"/>
            </a:endParaRPr>
          </a:p>
          <a:p>
            <a:endParaRPr lang="en-US" sz="2200">
              <a:latin typeface="Arial"/>
              <a:ea typeface="+mn-lt"/>
              <a:cs typeface="Arial"/>
            </a:endParaRPr>
          </a:p>
          <a:p>
            <a:r>
              <a:rPr lang="en-US" sz="2200">
                <a:latin typeface="Arial"/>
                <a:ea typeface="+mn-lt"/>
                <a:cs typeface="+mn-lt"/>
              </a:rPr>
              <a:t>Allow Users to Easily Cancel an Action</a:t>
            </a:r>
            <a:endParaRPr lang="en-US" sz="2200">
              <a:latin typeface="Arial"/>
              <a:cs typeface="Arial"/>
            </a:endParaRPr>
          </a:p>
          <a:p>
            <a:endParaRPr lang="en-US" sz="2200">
              <a:latin typeface="Arial"/>
              <a:cs typeface="Arial"/>
            </a:endParaRPr>
          </a:p>
          <a:p>
            <a:r>
              <a:rPr lang="en-US" sz="2200">
                <a:latin typeface="Arial"/>
                <a:cs typeface="Arial"/>
              </a:rPr>
              <a:t>Show a clear way to exit the current interaction, like a Cancel Button</a:t>
            </a:r>
          </a:p>
        </p:txBody>
      </p:sp>
      <p:pic>
        <p:nvPicPr>
          <p:cNvPr id="4" name="Picture 3" descr="A computer screen with a keyboard and a phone&#10;&#10;Description automatically generated">
            <a:extLst>
              <a:ext uri="{FF2B5EF4-FFF2-40B4-BE49-F238E27FC236}">
                <a16:creationId xmlns:a16="http://schemas.microsoft.com/office/drawing/2014/main" id="{B1A6310B-E581-03A6-2C34-0AE36F6C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407" y="1826145"/>
            <a:ext cx="6903720" cy="3469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BA6AFD-F76B-BA53-2EFA-D6FFAA2CE77F}"/>
              </a:ext>
            </a:extLst>
          </p:cNvPr>
          <p:cNvSpPr txBox="1"/>
          <p:nvPr/>
        </p:nvSpPr>
        <p:spPr>
          <a:xfrm>
            <a:off x="8306741" y="6556962"/>
            <a:ext cx="388526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*https://www.nngroup.com/articles/user-control-and-freedom/</a:t>
            </a:r>
            <a:endParaRPr lang="en-US" sz="1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343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B5BB6-5D47-FFA6-4AC3-3ED4D458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#4: Consistency and standards</a:t>
            </a:r>
            <a:endParaRPr lang="en-US" sz="3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17067-6D3C-A0BE-A48B-45C2F633C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96" y="2031101"/>
            <a:ext cx="5289576" cy="351194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600" dirty="0">
                <a:latin typeface="Arial"/>
                <a:cs typeface="Arial"/>
              </a:rPr>
              <a:t>Internal Consistency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within a product or a family of products</a:t>
            </a:r>
            <a:endParaRPr lang="en-US" sz="1600">
              <a:latin typeface="Arial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200" dirty="0">
                <a:ea typeface="+mn-lt"/>
                <a:cs typeface="+mn-lt"/>
              </a:rPr>
              <a:t>Button Styles, Navigation Patterns, Icons</a:t>
            </a:r>
            <a:endParaRPr lang="en-US" sz="1200" dirty="0">
              <a:latin typeface="Arial"/>
              <a:cs typeface="Arial"/>
            </a:endParaRPr>
          </a:p>
          <a:p>
            <a:r>
              <a:rPr lang="en-US" sz="1600" dirty="0">
                <a:latin typeface="Arial"/>
                <a:cs typeface="Arial"/>
              </a:rPr>
              <a:t>External Consistency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conventions in an industry</a:t>
            </a:r>
            <a:endParaRPr lang="en-US" sz="1600">
              <a:latin typeface="Arial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200" dirty="0">
                <a:latin typeface="Arial"/>
                <a:cs typeface="Arial"/>
              </a:rPr>
              <a:t>Colors: </a:t>
            </a:r>
            <a:r>
              <a:rPr lang="en-US" sz="1200" dirty="0">
                <a:solidFill>
                  <a:schemeClr val="accent6"/>
                </a:solidFill>
                <a:latin typeface="Arial"/>
                <a:cs typeface="Arial"/>
              </a:rPr>
              <a:t>green </a:t>
            </a:r>
            <a:r>
              <a:rPr lang="en-US" sz="1200" dirty="0">
                <a:latin typeface="Arial"/>
                <a:cs typeface="Arial"/>
              </a:rPr>
              <a:t>for environment, </a:t>
            </a:r>
            <a:r>
              <a:rPr lang="en-US" sz="1200" dirty="0">
                <a:solidFill>
                  <a:schemeClr val="accent1"/>
                </a:solidFill>
                <a:latin typeface="Arial"/>
                <a:cs typeface="Arial"/>
              </a:rPr>
              <a:t>blue </a:t>
            </a:r>
            <a:r>
              <a:rPr lang="en-US" sz="1200" dirty="0">
                <a:latin typeface="Arial"/>
                <a:cs typeface="Arial"/>
              </a:rPr>
              <a:t>for airplane</a:t>
            </a:r>
          </a:p>
          <a:p>
            <a:r>
              <a:rPr lang="en-US" sz="1600" dirty="0">
                <a:latin typeface="Arial"/>
                <a:cs typeface="Calibri"/>
              </a:rPr>
              <a:t>Layers of consistency:</a:t>
            </a:r>
          </a:p>
          <a:p>
            <a:pPr lvl="1"/>
            <a:r>
              <a:rPr lang="en-US" sz="1600" dirty="0">
                <a:latin typeface="Arial"/>
                <a:cs typeface="Calibri"/>
              </a:rPr>
              <a:t>Visual (icons, symbols, imagery)</a:t>
            </a:r>
          </a:p>
          <a:p>
            <a:pPr lvl="1"/>
            <a:r>
              <a:rPr lang="en-US" sz="1600" dirty="0">
                <a:latin typeface="Arial"/>
                <a:cs typeface="Calibri"/>
              </a:rPr>
              <a:t>Layout (reuse buttons, headings, navigation)</a:t>
            </a:r>
          </a:p>
          <a:p>
            <a:pPr lvl="1"/>
            <a:r>
              <a:rPr lang="en-US" sz="1600" dirty="0">
                <a:latin typeface="Arial"/>
                <a:ea typeface="+mn-lt"/>
                <a:cs typeface="+mn-lt"/>
              </a:rPr>
              <a:t>User-Entered Data (dates, phone number, location)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Content (e.g. same style on marketing and site)</a:t>
            </a:r>
          </a:p>
          <a:p>
            <a:pPr lvl="1"/>
            <a:endParaRPr lang="en-US" sz="1600">
              <a:latin typeface="Arial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phone&#10;&#10;Description automatically generated">
            <a:extLst>
              <a:ext uri="{FF2B5EF4-FFF2-40B4-BE49-F238E27FC236}">
                <a16:creationId xmlns:a16="http://schemas.microsoft.com/office/drawing/2014/main" id="{529FFE16-0694-E6C6-A5CE-0802DBFE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813" y="1902860"/>
            <a:ext cx="5919647" cy="2715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0B501A-EDAC-002B-66D2-CABAA10E8C1C}"/>
              </a:ext>
            </a:extLst>
          </p:cNvPr>
          <p:cNvSpPr txBox="1"/>
          <p:nvPr/>
        </p:nvSpPr>
        <p:spPr>
          <a:xfrm>
            <a:off x="8043333" y="6594592"/>
            <a:ext cx="469429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*https://www.nngroup.com/articles/consistency-and-standards/</a:t>
            </a:r>
            <a:endParaRPr lang="en-US" sz="1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908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5E0E8-04AC-911C-ED65-D31B0BF02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 b="1"/>
              <a:t>#5: Error prevention</a:t>
            </a:r>
            <a:endParaRPr lang="en-US" sz="3600"/>
          </a:p>
          <a:p>
            <a:endParaRPr lang="en-US" sz="360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FFC8F-0DB5-F806-AA3E-E84BF2AD3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latin typeface="Arial"/>
                <a:cs typeface="Arial"/>
              </a:rPr>
              <a:t>Include Helpful Constraints</a:t>
            </a:r>
          </a:p>
          <a:p>
            <a:pPr lvl="1"/>
            <a:r>
              <a:rPr lang="en-US">
                <a:latin typeface="Arial"/>
                <a:cs typeface="Calibri" panose="020F0502020204030204"/>
              </a:rPr>
              <a:t>e.g. date picker</a:t>
            </a:r>
          </a:p>
          <a:p>
            <a:r>
              <a:rPr lang="en-US" sz="2400">
                <a:latin typeface="Arial"/>
                <a:cs typeface="Arial"/>
              </a:rPr>
              <a:t>Offer Suggestions</a:t>
            </a:r>
          </a:p>
          <a:p>
            <a:pPr lvl="1"/>
            <a:r>
              <a:rPr lang="en-US">
                <a:latin typeface="Arial"/>
                <a:cs typeface="Calibri"/>
              </a:rPr>
              <a:t>e.g. on search</a:t>
            </a:r>
          </a:p>
          <a:p>
            <a:r>
              <a:rPr lang="en-US" sz="2400">
                <a:latin typeface="Arial"/>
                <a:cs typeface="Arial"/>
              </a:rPr>
              <a:t>Choose Good Defaults</a:t>
            </a:r>
          </a:p>
          <a:p>
            <a:pPr lvl="1"/>
            <a:r>
              <a:rPr lang="en-US">
                <a:latin typeface="Arial"/>
                <a:cs typeface="Calibri"/>
              </a:rPr>
              <a:t>e.g. location, today date</a:t>
            </a:r>
          </a:p>
          <a:p>
            <a:r>
              <a:rPr lang="en-US" sz="2400">
                <a:latin typeface="Arial"/>
                <a:cs typeface="Arial"/>
              </a:rPr>
              <a:t>Use Forgiving Formatting</a:t>
            </a:r>
          </a:p>
          <a:p>
            <a:pPr lvl="1"/>
            <a:r>
              <a:rPr lang="en-US">
                <a:latin typeface="Arial"/>
                <a:cs typeface="Arial"/>
              </a:rPr>
              <a:t>e.g. phone number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0D43F37-A73B-44EF-BE78-A85A8FC3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397" y="2343907"/>
            <a:ext cx="5459385" cy="269293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446A7AB-BEF5-DBA9-B3D9-671403CD9E08}"/>
              </a:ext>
            </a:extLst>
          </p:cNvPr>
          <p:cNvSpPr txBox="1"/>
          <p:nvPr/>
        </p:nvSpPr>
        <p:spPr>
          <a:xfrm>
            <a:off x="9426221" y="6566369"/>
            <a:ext cx="272814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ea typeface="+mn-lt"/>
                <a:cs typeface="+mn-lt"/>
              </a:rPr>
              <a:t>*https://www.nngroup.com/articles/slips/</a:t>
            </a:r>
            <a:endParaRPr lang="en-US" sz="1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863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B03CB-4ED7-07CB-E534-3954A2C25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b="1"/>
              <a:t>#6: Recognition rather than recall</a:t>
            </a:r>
            <a:endParaRPr lang="en-US" sz="3800"/>
          </a:p>
          <a:p>
            <a:endParaRPr lang="en-US" sz="3800">
              <a:cs typeface="Calibri Ligh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063D-A261-22BE-C1B8-0DD8DD9D3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343" y="2807208"/>
            <a:ext cx="411574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latin typeface="Arial"/>
                <a:cs typeface="Arial"/>
              </a:rPr>
              <a:t>Reduce the information that users have to remember.</a:t>
            </a:r>
            <a:endParaRPr lang="en-US" sz="1700" dirty="0">
              <a:cs typeface="Calibri" panose="020F0502020204030204"/>
            </a:endParaRPr>
          </a:p>
          <a:p>
            <a:r>
              <a:rPr lang="en-US" sz="1700" dirty="0">
                <a:latin typeface="Arial"/>
                <a:cs typeface="Arial"/>
              </a:rPr>
              <a:t>Let people </a:t>
            </a:r>
            <a:r>
              <a:rPr lang="en-US" sz="1700" b="1" dirty="0">
                <a:latin typeface="Arial"/>
                <a:cs typeface="Arial"/>
              </a:rPr>
              <a:t>recognize </a:t>
            </a:r>
            <a:r>
              <a:rPr lang="en-US" sz="1700" dirty="0">
                <a:latin typeface="Arial"/>
                <a:cs typeface="Arial"/>
              </a:rPr>
              <a:t>information in the interface, rather than forcing them to remember (“</a:t>
            </a:r>
            <a:r>
              <a:rPr lang="en-US" sz="1700" b="1" dirty="0">
                <a:latin typeface="Arial"/>
                <a:cs typeface="Arial"/>
              </a:rPr>
              <a:t>recall</a:t>
            </a:r>
            <a:r>
              <a:rPr lang="en-US" sz="1700" dirty="0">
                <a:latin typeface="Arial"/>
                <a:cs typeface="Arial"/>
              </a:rPr>
              <a:t>”) it.</a:t>
            </a:r>
            <a:endParaRPr lang="en-US" sz="1700" dirty="0">
              <a:cs typeface="Calibri" panose="020F0502020204030204"/>
            </a:endParaRPr>
          </a:p>
          <a:p>
            <a:r>
              <a:rPr lang="en-US" sz="1700" dirty="0">
                <a:latin typeface="Arial"/>
                <a:cs typeface="Arial"/>
              </a:rPr>
              <a:t>Offer help in context, instead of giving users a long tutorial to memorize.</a:t>
            </a:r>
            <a:br>
              <a:rPr lang="en-US" sz="1700" dirty="0"/>
            </a:br>
            <a:endParaRPr lang="en-US" sz="1700">
              <a:cs typeface="Calibri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634A42A-7CE9-82AF-152B-DB6BE78A0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1" y="1714033"/>
            <a:ext cx="6903720" cy="34863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87B7E0-A20A-8EA8-C8E6-1E798814BC00}"/>
              </a:ext>
            </a:extLst>
          </p:cNvPr>
          <p:cNvSpPr txBox="1"/>
          <p:nvPr/>
        </p:nvSpPr>
        <p:spPr>
          <a:xfrm>
            <a:off x="8400815" y="6594592"/>
            <a:ext cx="379118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ea typeface="+mn-lt"/>
                <a:cs typeface="+mn-lt"/>
              </a:rPr>
              <a:t>*https://www.nngroup.com/articles/recognition-and-recall/</a:t>
            </a:r>
            <a:endParaRPr lang="en-US" sz="1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632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1113C-1ED8-123C-936C-3AD8FEED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3000" b="1"/>
              <a:t>#7: Flexibility and efficiency of use</a:t>
            </a:r>
            <a:endParaRPr lang="en-US" sz="3000"/>
          </a:p>
          <a:p>
            <a:br>
              <a:rPr lang="en-US" sz="3000"/>
            </a:br>
            <a:endParaRPr lang="en-US" sz="30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BD7EA-6743-B635-1C72-19E77C24F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523" y="457200"/>
            <a:ext cx="6694348" cy="26819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latin typeface="Arial"/>
                <a:cs typeface="Arial"/>
              </a:rPr>
              <a:t>Multiple methods</a:t>
            </a:r>
            <a:r>
              <a:rPr lang="en-US" sz="1800">
                <a:latin typeface="Arial"/>
                <a:cs typeface="Arial"/>
              </a:rPr>
              <a:t> to accomplish the same task according to one’s preferences</a:t>
            </a:r>
            <a:endParaRPr lang="en-US" sz="1800">
              <a:cs typeface="Calibri" panose="020F0502020204030204"/>
            </a:endParaRPr>
          </a:p>
          <a:p>
            <a:r>
              <a:rPr lang="en-US" sz="1800" b="1">
                <a:latin typeface="Arial"/>
                <a:cs typeface="Arial"/>
              </a:rPr>
              <a:t>Accelerators</a:t>
            </a:r>
            <a:r>
              <a:rPr lang="en-US" sz="1800">
                <a:latin typeface="Arial"/>
                <a:cs typeface="Arial"/>
              </a:rPr>
              <a:t> that don’t slow down inexperienced users, but speed up advanced users</a:t>
            </a:r>
            <a:endParaRPr lang="en-US" sz="1800">
              <a:cs typeface="Calibri"/>
            </a:endParaRPr>
          </a:p>
          <a:p>
            <a:pPr lvl="1"/>
            <a:r>
              <a:rPr lang="en-US" sz="1800">
                <a:latin typeface="Arial"/>
                <a:cs typeface="Arial"/>
              </a:rPr>
              <a:t>Keyboard swipe</a:t>
            </a:r>
          </a:p>
          <a:p>
            <a:pPr lvl="1"/>
            <a:r>
              <a:rPr lang="en-US" sz="1800">
                <a:latin typeface="Arial"/>
                <a:cs typeface="Arial"/>
              </a:rPr>
              <a:t>Macros (e.g. excel procedures)</a:t>
            </a:r>
          </a:p>
          <a:p>
            <a:r>
              <a:rPr lang="en-US" sz="1800">
                <a:latin typeface="Arial"/>
                <a:cs typeface="Arial"/>
              </a:rPr>
              <a:t>Enable expert users to </a:t>
            </a:r>
            <a:r>
              <a:rPr lang="en-US" sz="1800" b="1">
                <a:latin typeface="Arial"/>
                <a:cs typeface="Arial"/>
              </a:rPr>
              <a:t>customize</a:t>
            </a:r>
            <a:r>
              <a:rPr lang="en-US" sz="1800">
                <a:latin typeface="Arial"/>
                <a:cs typeface="Arial"/>
              </a:rPr>
              <a:t> the interface to suit their needs</a:t>
            </a:r>
          </a:p>
          <a:p>
            <a:endParaRPr lang="en-US" sz="1800">
              <a:cs typeface="Calibri"/>
            </a:endParaRPr>
          </a:p>
        </p:txBody>
      </p:sp>
      <p:pic>
        <p:nvPicPr>
          <p:cNvPr id="4" name="Picture 3" descr="A map with a red line&#10;&#10;Description automatically generated">
            <a:extLst>
              <a:ext uri="{FF2B5EF4-FFF2-40B4-BE49-F238E27FC236}">
                <a16:creationId xmlns:a16="http://schemas.microsoft.com/office/drawing/2014/main" id="{1EB0B03C-A2AE-FA10-8F30-EC1A29257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35" y="2569464"/>
            <a:ext cx="3782730" cy="3678936"/>
          </a:xfrm>
          <a:prstGeom prst="rect">
            <a:avLst/>
          </a:prstGeom>
        </p:spPr>
      </p:pic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289BB89B-A543-B25A-62AF-BA1D8EC0E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015" y="3485597"/>
            <a:ext cx="5468112" cy="2392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040991-6AD6-808A-0CF4-C2C2EE1DA55A}"/>
              </a:ext>
            </a:extLst>
          </p:cNvPr>
          <p:cNvSpPr txBox="1"/>
          <p:nvPr/>
        </p:nvSpPr>
        <p:spPr>
          <a:xfrm>
            <a:off x="8071556" y="6594593"/>
            <a:ext cx="412044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ea typeface="+mn-lt"/>
                <a:cs typeface="+mn-lt"/>
              </a:rPr>
              <a:t>*https://www.nngroup.com/articles/flexibility-efficiency-heuristic/</a:t>
            </a:r>
            <a:endParaRPr lang="en-US" sz="1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635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5D33C-2C36-223C-1C0C-4E266C548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95792"/>
            <a:ext cx="10515599" cy="1325563"/>
          </a:xfrm>
        </p:spPr>
        <p:txBody>
          <a:bodyPr>
            <a:normAutofit/>
          </a:bodyPr>
          <a:lstStyle/>
          <a:p>
            <a:r>
              <a:rPr lang="en-US" sz="2800" b="1"/>
              <a:t>#8: Aesthetic and minimalist design</a:t>
            </a:r>
            <a:endParaRPr lang="en-US" sz="2800"/>
          </a:p>
          <a:p>
            <a:br>
              <a:rPr lang="en-US" sz="2800"/>
            </a:b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1B31E-7C6A-1CF8-0881-0D28C07E9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7" y="1082440"/>
            <a:ext cx="5423841" cy="2268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/>
                <a:cs typeface="Arial"/>
              </a:rPr>
              <a:t>Keep the content and visual design of UI focused on the </a:t>
            </a:r>
            <a:r>
              <a:rPr lang="en-US" sz="2000" b="1" dirty="0">
                <a:latin typeface="Arial"/>
                <a:cs typeface="Arial"/>
              </a:rPr>
              <a:t>essentials</a:t>
            </a:r>
            <a:r>
              <a:rPr lang="en-US" sz="2000" dirty="0">
                <a:latin typeface="Arial"/>
                <a:cs typeface="Arial"/>
              </a:rPr>
              <a:t>.</a:t>
            </a:r>
            <a:endParaRPr lang="en-US" sz="2000">
              <a:latin typeface="Arial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000" dirty="0">
                <a:latin typeface="Arial"/>
                <a:cs typeface="Arial"/>
              </a:rPr>
              <a:t>Principles for visual communication:</a:t>
            </a:r>
          </a:p>
          <a:p>
            <a:r>
              <a:rPr lang="en-US" sz="1800" b="1" dirty="0">
                <a:latin typeface="Arial"/>
                <a:cs typeface="Arial"/>
              </a:rPr>
              <a:t>gestalt principles </a:t>
            </a:r>
            <a:r>
              <a:rPr lang="en-US" sz="1800" dirty="0">
                <a:latin typeface="Arial"/>
                <a:cs typeface="Arial"/>
              </a:rPr>
              <a:t>tendency to perceive the whole as opposed to the individual: </a:t>
            </a:r>
          </a:p>
          <a:p>
            <a:pPr lvl="1"/>
            <a:r>
              <a:rPr lang="en-US" sz="1800" dirty="0">
                <a:latin typeface="Arial"/>
                <a:cs typeface="Arial"/>
              </a:rPr>
              <a:t>grouping is important</a:t>
            </a:r>
          </a:p>
          <a:p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Gestalt principles in UI design.. How to become a master manipulator of… |  by Eleana Gkogka | Muzli - Design Inspiration">
            <a:extLst>
              <a:ext uri="{FF2B5EF4-FFF2-40B4-BE49-F238E27FC236}">
                <a16:creationId xmlns:a16="http://schemas.microsoft.com/office/drawing/2014/main" id="{5B9FC6D5-391A-CDCE-6C99-E92A9B32F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461917"/>
            <a:ext cx="3728719" cy="4460965"/>
          </a:xfrm>
          <a:prstGeom prst="rect">
            <a:avLst/>
          </a:prstGeom>
        </p:spPr>
      </p:pic>
      <p:pic>
        <p:nvPicPr>
          <p:cNvPr id="7" name="Picture 6" descr="Clouds in the sky and clouds&#10;&#10;Description automatically generated">
            <a:extLst>
              <a:ext uri="{FF2B5EF4-FFF2-40B4-BE49-F238E27FC236}">
                <a16:creationId xmlns:a16="http://schemas.microsoft.com/office/drawing/2014/main" id="{EAE400C5-8899-B6C8-1AC7-293921A6A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21906"/>
            <a:ext cx="5801359" cy="21372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BC624A-1C34-A084-3FD2-79ECFFA66E70}"/>
              </a:ext>
            </a:extLst>
          </p:cNvPr>
          <p:cNvSpPr txBox="1"/>
          <p:nvPr/>
        </p:nvSpPr>
        <p:spPr>
          <a:xfrm>
            <a:off x="416560" y="3139440"/>
            <a:ext cx="4795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>
                <a:latin typeface="Arial"/>
                <a:cs typeface="Arial"/>
              </a:rPr>
              <a:t>scale: </a:t>
            </a:r>
            <a:r>
              <a:rPr lang="en-US">
                <a:latin typeface="Arial"/>
                <a:cs typeface="Arial"/>
              </a:rPr>
              <a:t>use relative size to signal importance​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Arial"/>
                <a:cs typeface="Arial"/>
              </a:rPr>
              <a:t>visual hierarchy: </a:t>
            </a:r>
            <a:r>
              <a:rPr lang="en-US">
                <a:latin typeface="Arial"/>
                <a:cs typeface="Arial"/>
              </a:rPr>
              <a:t>color, spacing, placement​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Arial"/>
                <a:cs typeface="Arial"/>
              </a:rPr>
              <a:t>balance</a:t>
            </a:r>
            <a:r>
              <a:rPr lang="en-US">
                <a:latin typeface="Arial"/>
                <a:cs typeface="Arial"/>
              </a:rPr>
              <a:t>: elements distributed on both side of an imaginary axis​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Arial"/>
                <a:cs typeface="Arial"/>
              </a:rPr>
              <a:t>contrast: </a:t>
            </a:r>
            <a:r>
              <a:rPr lang="en-US">
                <a:latin typeface="Arial"/>
                <a:cs typeface="Arial"/>
              </a:rPr>
              <a:t>emphasize the elements are distinct</a:t>
            </a:r>
          </a:p>
        </p:txBody>
      </p:sp>
    </p:spTree>
    <p:extLst>
      <p:ext uri="{BB962C8B-B14F-4D97-AF65-F5344CB8AC3E}">
        <p14:creationId xmlns:p14="http://schemas.microsoft.com/office/powerpoint/2010/main" val="125272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DC717-B0A1-169B-AD19-16CBACE5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600" b="1"/>
              <a:t>#9: Help users recognize, diagnose, and recover from errors</a:t>
            </a:r>
            <a:endParaRPr lang="en-US" sz="2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A789-64CF-1AB6-3993-86741B7D2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79" y="2718054"/>
            <a:ext cx="4219491" cy="36440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Use traditional error-messages visuals, like bold, red text</a:t>
            </a:r>
            <a:endParaRPr lang="en-US" sz="2000">
              <a:cs typeface="Calibri" panose="020F0502020204030204"/>
            </a:endParaRPr>
          </a:p>
          <a:p>
            <a:r>
              <a:rPr lang="en-US" sz="2000">
                <a:latin typeface="Arial"/>
                <a:cs typeface="Arial"/>
              </a:rPr>
              <a:t>Tell users what went wrong in language they understand </a:t>
            </a:r>
            <a:endParaRPr lang="en-US" sz="2000"/>
          </a:p>
          <a:p>
            <a:r>
              <a:rPr lang="en-US" sz="2000">
                <a:latin typeface="Arial"/>
                <a:cs typeface="Arial"/>
              </a:rPr>
              <a:t>Offer users a solution, like a shortcut that can solve the error immediately.</a:t>
            </a:r>
            <a:endParaRPr lang="en-US" sz="2000"/>
          </a:p>
          <a:p>
            <a:endParaRPr lang="en-US" sz="2000">
              <a:cs typeface="Calibri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AC3D0A3-D350-269E-C3D2-370EF5378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00705"/>
            <a:ext cx="6922008" cy="335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3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0687E-EBC7-7CA7-7D73-A8494210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 b="1"/>
              <a:t>#10: Help and documentation</a:t>
            </a:r>
            <a:endParaRPr lang="en-US" sz="4000"/>
          </a:p>
        </p:txBody>
      </p:sp>
      <p:pic>
        <p:nvPicPr>
          <p:cNvPr id="5" name="Picture 4" descr="Exclamation mark on a yellow background">
            <a:extLst>
              <a:ext uri="{FF2B5EF4-FFF2-40B4-BE49-F238E27FC236}">
                <a16:creationId xmlns:a16="http://schemas.microsoft.com/office/drawing/2014/main" id="{167A1F06-33AC-0275-4B2D-4391044493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02" r="10134" b="3"/>
          <a:stretch/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D9CE6-3CEA-1707-8F91-6307CB06D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latin typeface="Arial"/>
                <a:cs typeface="Arial"/>
              </a:rPr>
              <a:t>Best systems don't require documentation</a:t>
            </a:r>
          </a:p>
          <a:p>
            <a:r>
              <a:rPr lang="en-US" sz="1700">
                <a:latin typeface="Arial"/>
                <a:cs typeface="Arial"/>
              </a:rPr>
              <a:t>Ensure that the help documentation is easy to search</a:t>
            </a:r>
          </a:p>
          <a:p>
            <a:r>
              <a:rPr lang="en-US" sz="1700">
                <a:latin typeface="Arial"/>
                <a:cs typeface="Arial"/>
              </a:rPr>
              <a:t>Whenever possible, present the documentation in context right at the moment that the user requires it.</a:t>
            </a:r>
          </a:p>
          <a:p>
            <a:r>
              <a:rPr lang="en-US" sz="1700">
                <a:latin typeface="Arial"/>
                <a:cs typeface="Arial"/>
              </a:rPr>
              <a:t>Proactive help:</a:t>
            </a:r>
          </a:p>
          <a:p>
            <a:pPr lvl="1"/>
            <a:r>
              <a:rPr lang="en-US" sz="1700">
                <a:latin typeface="Arial"/>
                <a:cs typeface="Arial"/>
              </a:rPr>
              <a:t>tutorials</a:t>
            </a:r>
          </a:p>
          <a:p>
            <a:pPr lvl="1"/>
            <a:r>
              <a:rPr lang="en-US" sz="1700">
                <a:latin typeface="Arial"/>
                <a:cs typeface="Arial"/>
              </a:rPr>
              <a:t>instruction overlays</a:t>
            </a:r>
          </a:p>
          <a:p>
            <a:pPr lvl="1"/>
            <a:r>
              <a:rPr lang="en-US" sz="1700">
                <a:latin typeface="Arial"/>
                <a:cs typeface="Arial"/>
              </a:rPr>
              <a:t>tooltips</a:t>
            </a:r>
          </a:p>
          <a:p>
            <a:pPr lvl="1"/>
            <a:r>
              <a:rPr lang="en-US" sz="1700">
                <a:latin typeface="Arial"/>
                <a:cs typeface="Arial"/>
              </a:rPr>
              <a:t>wizards</a:t>
            </a:r>
          </a:p>
          <a:p>
            <a:endParaRPr lang="en-US" sz="1700">
              <a:latin typeface="Arial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508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C71254-6EC4-5430-6C9F-6FCAB3F10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Relevance when buying something</a:t>
            </a:r>
            <a:endParaRPr lang="en-US" dirty="0"/>
          </a:p>
        </p:txBody>
      </p:sp>
      <p:pic>
        <p:nvPicPr>
          <p:cNvPr id="4" name="Content Placeholder 3" descr="A pie chart with text&#10;&#10;Description automatically generated">
            <a:extLst>
              <a:ext uri="{FF2B5EF4-FFF2-40B4-BE49-F238E27FC236}">
                <a16:creationId xmlns:a16="http://schemas.microsoft.com/office/drawing/2014/main" id="{7B5F058E-AEBC-A7D5-8700-887BF9EAF2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0"/>
          <a:stretch/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AB4A8F-34B9-7605-3657-07D0BC51D2A9}"/>
              </a:ext>
            </a:extLst>
          </p:cNvPr>
          <p:cNvSpPr txBox="1">
            <a:spLocks/>
          </p:cNvSpPr>
          <p:nvPr/>
        </p:nvSpPr>
        <p:spPr>
          <a:xfrm>
            <a:off x="7531610" y="41243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cs typeface="Calibri Light"/>
              </a:rPr>
              <a:t>maybe for all of us...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E6733-724C-CC19-709D-86E5FC27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>
                <a:ea typeface="Calibri Light"/>
                <a:cs typeface="Calibri Light"/>
              </a:rPr>
              <a:t>Wireframing</a:t>
            </a:r>
            <a:endParaRPr lang="en-US" b="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9F9A25-B90C-D9E7-1B93-556FE03BD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040" y="1983324"/>
            <a:ext cx="6159404" cy="269099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394D2C-8E02-CB65-534A-CDC7D9661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1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Arial"/>
                <a:cs typeface="Calibri"/>
              </a:rPr>
              <a:t>Test an idea and get feedback quickly</a:t>
            </a:r>
          </a:p>
          <a:p>
            <a:r>
              <a:rPr lang="en-US" sz="1800">
                <a:solidFill>
                  <a:srgbClr val="333333"/>
                </a:solidFill>
                <a:latin typeface="Arial"/>
                <a:cs typeface="Arial"/>
              </a:rPr>
              <a:t>Wireframes visualize a user </a:t>
            </a:r>
            <a:r>
              <a:rPr lang="en-US" sz="1800" b="1">
                <a:solidFill>
                  <a:srgbClr val="333333"/>
                </a:solidFill>
                <a:latin typeface="Arial"/>
                <a:cs typeface="Arial"/>
              </a:rPr>
              <a:t>path </a:t>
            </a:r>
            <a:r>
              <a:rPr lang="en-US" sz="1800">
                <a:solidFill>
                  <a:srgbClr val="333333"/>
                </a:solidFill>
                <a:latin typeface="Arial"/>
                <a:cs typeface="Arial"/>
              </a:rPr>
              <a:t>or </a:t>
            </a:r>
            <a:r>
              <a:rPr lang="en-US" sz="1800" b="1">
                <a:solidFill>
                  <a:srgbClr val="333333"/>
                </a:solidFill>
                <a:latin typeface="Arial"/>
                <a:cs typeface="Arial"/>
              </a:rPr>
              <a:t>flow</a:t>
            </a:r>
            <a:r>
              <a:rPr lang="en-US" sz="1800">
                <a:solidFill>
                  <a:srgbClr val="333333"/>
                </a:solidFill>
                <a:latin typeface="Arial"/>
                <a:cs typeface="Arial"/>
              </a:rPr>
              <a:t>, as well as </a:t>
            </a:r>
            <a:r>
              <a:rPr lang="en-US" sz="1800" b="1">
                <a:solidFill>
                  <a:srgbClr val="333333"/>
                </a:solidFill>
                <a:latin typeface="Arial"/>
                <a:cs typeface="Arial"/>
              </a:rPr>
              <a:t>page layouts</a:t>
            </a:r>
            <a:r>
              <a:rPr lang="en-US" sz="1800">
                <a:solidFill>
                  <a:srgbClr val="333333"/>
                </a:solidFill>
                <a:latin typeface="Arial"/>
                <a:cs typeface="Arial"/>
              </a:rPr>
              <a:t>, information </a:t>
            </a:r>
            <a:r>
              <a:rPr lang="en-US" sz="1800" b="1">
                <a:solidFill>
                  <a:srgbClr val="333333"/>
                </a:solidFill>
                <a:latin typeface="Arial"/>
                <a:cs typeface="Arial"/>
              </a:rPr>
              <a:t>hierarchy</a:t>
            </a:r>
            <a:r>
              <a:rPr lang="en-US" sz="1800">
                <a:solidFill>
                  <a:srgbClr val="333333"/>
                </a:solidFill>
                <a:latin typeface="Arial"/>
                <a:cs typeface="Arial"/>
              </a:rPr>
              <a:t>, and even </a:t>
            </a:r>
            <a:r>
              <a:rPr lang="en-US" sz="1800" b="1">
                <a:solidFill>
                  <a:srgbClr val="333333"/>
                </a:solidFill>
                <a:latin typeface="Arial"/>
                <a:cs typeface="Arial"/>
              </a:rPr>
              <a:t>interactions</a:t>
            </a:r>
            <a:r>
              <a:rPr lang="en-US" sz="1800">
                <a:solidFill>
                  <a:srgbClr val="333333"/>
                </a:solidFill>
                <a:latin typeface="Arial"/>
                <a:cs typeface="Arial"/>
              </a:rPr>
              <a:t>. </a:t>
            </a:r>
            <a:endParaRPr lang="en-US" sz="1800">
              <a:solidFill>
                <a:srgbClr val="000000"/>
              </a:solidFill>
              <a:latin typeface="Arial"/>
              <a:cs typeface="Calibri"/>
            </a:endParaRPr>
          </a:p>
          <a:p>
            <a:r>
              <a:rPr lang="en-US" sz="1800">
                <a:solidFill>
                  <a:srgbClr val="333333"/>
                </a:solidFill>
                <a:latin typeface="Arial"/>
                <a:cs typeface="Arial"/>
              </a:rPr>
              <a:t>Depending on their purpose, they can vary in fidelity — from quick sketches to detailed representations </a:t>
            </a:r>
            <a:br>
              <a:rPr lang="en-US" sz="1800">
                <a:latin typeface="Arial"/>
                <a:cs typeface="Calibri"/>
              </a:rPr>
            </a:br>
            <a:endParaRPr lang="en-US" sz="1800">
              <a:latin typeface="Arial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405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5E17A-9AA0-1810-8FEF-BF14930D8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US" sz="5000" b="1">
                <a:cs typeface="Calibri Light"/>
              </a:rPr>
              <a:t>Wireframing </a:t>
            </a:r>
            <a:r>
              <a:rPr lang="en-US" sz="5000">
                <a:cs typeface="Calibri Light"/>
              </a:rPr>
              <a:t>| questions to ask</a:t>
            </a:r>
            <a:endParaRPr lang="en-US" sz="50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31DAB-D866-C9CE-85A8-9E7728AE6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cs typeface="Calibri"/>
              </a:rPr>
              <a:t>What should user do on this page?</a:t>
            </a:r>
          </a:p>
          <a:p>
            <a:r>
              <a:rPr lang="en-US" sz="2200">
                <a:cs typeface="Calibri"/>
              </a:rPr>
              <a:t>What information need?</a:t>
            </a:r>
          </a:p>
          <a:p>
            <a:r>
              <a:rPr lang="en-US" sz="2200">
                <a:cs typeface="Calibri"/>
              </a:rPr>
              <a:t>What should users expect?</a:t>
            </a:r>
          </a:p>
          <a:p>
            <a:r>
              <a:rPr lang="en-US" sz="2200">
                <a:cs typeface="Calibri"/>
              </a:rPr>
              <a:t>How does this page fil in the flow?</a:t>
            </a:r>
          </a:p>
          <a:p>
            <a:endParaRPr lang="en-US" sz="2200">
              <a:cs typeface="Calibri"/>
            </a:endParaRPr>
          </a:p>
        </p:txBody>
      </p:sp>
      <p:pic>
        <p:nvPicPr>
          <p:cNvPr id="5" name="Picture 4" descr="Exclamation mark on a yellow background">
            <a:extLst>
              <a:ext uri="{FF2B5EF4-FFF2-40B4-BE49-F238E27FC236}">
                <a16:creationId xmlns:a16="http://schemas.microsoft.com/office/drawing/2014/main" id="{D8008FFC-14D9-1A3A-5D31-DE2490BAF8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2" r="5854" b="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2498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21155-F2AC-0722-AF01-3C12DAF6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Wireframing| how to?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7947-9DB2-20AA-B05C-882A19689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  <a:hlinkClick r:id="rId2"/>
              </a:rPr>
              <a:t>https://www.nngroup.com/articles/draw-wireframe-even-if-you-cant-draw/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Template </a:t>
            </a:r>
            <a:r>
              <a:rPr lang="en-US" sz="2000">
                <a:latin typeface="Arial"/>
                <a:ea typeface="+mn-lt"/>
                <a:cs typeface="Arial"/>
                <a:hlinkClick r:id="rId3"/>
              </a:rPr>
              <a:t>https://miro.com/templates</a:t>
            </a:r>
          </a:p>
          <a:p>
            <a:pPr lvl="1"/>
            <a:r>
              <a:rPr lang="en-US" sz="2000"/>
              <a:t>iPhone App Template</a:t>
            </a:r>
            <a:endParaRPr lang="en-US" sz="2000">
              <a:ea typeface="+mn-lt"/>
              <a:cs typeface="+mn-lt"/>
            </a:endParaRPr>
          </a:p>
          <a:p>
            <a:pPr lvl="1"/>
            <a:r>
              <a:rPr lang="en-US" sz="2000">
                <a:ea typeface="+mn-lt"/>
                <a:cs typeface="+mn-lt"/>
              </a:rPr>
              <a:t>Low fidelity prototype</a:t>
            </a:r>
          </a:p>
          <a:p>
            <a:pPr lvl="1"/>
            <a:r>
              <a:rPr lang="en-US" sz="2000">
                <a:ea typeface="+mn-lt"/>
                <a:cs typeface="+mn-lt"/>
              </a:rPr>
              <a:t>Website Wireframing Template</a:t>
            </a:r>
            <a:endParaRPr lang="en-US" sz="2000">
              <a:cs typeface="Calibri"/>
            </a:endParaRPr>
          </a:p>
          <a:p>
            <a:pPr lvl="1"/>
            <a:r>
              <a:rPr lang="en-US" sz="2000">
                <a:ea typeface="+mn-lt"/>
                <a:cs typeface="+mn-lt"/>
              </a:rPr>
              <a:t>App Wireframe Template</a:t>
            </a:r>
            <a:endParaRPr lang="en-US" sz="2000">
              <a:cs typeface="Calibri"/>
            </a:endParaRPr>
          </a:p>
          <a:p>
            <a:pPr lvl="1"/>
            <a:endParaRPr lang="en-US" sz="2000">
              <a:cs typeface="Calibri"/>
            </a:endParaRPr>
          </a:p>
        </p:txBody>
      </p:sp>
      <p:pic>
        <p:nvPicPr>
          <p:cNvPr id="16" name="Picture 15" descr="Person watching empty phone">
            <a:extLst>
              <a:ext uri="{FF2B5EF4-FFF2-40B4-BE49-F238E27FC236}">
                <a16:creationId xmlns:a16="http://schemas.microsoft.com/office/drawing/2014/main" id="{906AA80E-1B0E-E665-C17F-4C05B04120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06" r="7392" b="-9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1293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97E8C-3E88-7641-136C-C54CB295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Wrap-Up</a:t>
            </a: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​</a:t>
            </a:r>
            <a:b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Innovation in UI</a:t>
            </a: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​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1E0BF-985B-78E3-717B-9ACEB3A14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7308" y="591344"/>
            <a:ext cx="742465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Voice user interface (VUI)</a:t>
            </a:r>
          </a:p>
          <a:p>
            <a:r>
              <a:rPr lang="en-US" dirty="0"/>
              <a:t>Gesture-Based interface</a:t>
            </a:r>
            <a:endParaRPr lang="en-US" dirty="0">
              <a:cs typeface="Calibri"/>
            </a:endParaRPr>
          </a:p>
          <a:p>
            <a:r>
              <a:rPr lang="en-US" dirty="0"/>
              <a:t>AR / VR</a:t>
            </a:r>
            <a:endParaRPr lang="en-US" dirty="0">
              <a:cs typeface="Calibri"/>
            </a:endParaRPr>
          </a:p>
          <a:p>
            <a:r>
              <a:rPr lang="en-US" dirty="0"/>
              <a:t>Micro-interaction (single purpose interaction)</a:t>
            </a:r>
            <a:endParaRPr lang="en-US" dirty="0">
              <a:cs typeface="Calibri"/>
            </a:endParaRPr>
          </a:p>
          <a:p>
            <a:r>
              <a:rPr lang="en-US" dirty="0"/>
              <a:t>Simple/Flat design</a:t>
            </a:r>
            <a:endParaRPr lang="en-US" dirty="0">
              <a:cs typeface="Calibri"/>
            </a:endParaRPr>
          </a:p>
          <a:p>
            <a:r>
              <a:rPr lang="en-US" dirty="0"/>
              <a:t>Dark Mode </a:t>
            </a:r>
          </a:p>
          <a:p>
            <a:r>
              <a:rPr lang="en-US" dirty="0"/>
              <a:t>AI-Driven Personalization </a:t>
            </a:r>
            <a:endParaRPr lang="en-US" dirty="0">
              <a:cs typeface="Calibri"/>
            </a:endParaRPr>
          </a:p>
          <a:p>
            <a:r>
              <a:rPr lang="en-US" dirty="0"/>
              <a:t>Gamification </a:t>
            </a:r>
            <a:endParaRPr lang="en-US" dirty="0">
              <a:cs typeface="Calibri"/>
            </a:endParaRPr>
          </a:p>
          <a:p>
            <a:r>
              <a:rPr lang="en-US" dirty="0"/>
              <a:t>Biometrics identification </a:t>
            </a:r>
          </a:p>
        </p:txBody>
      </p:sp>
    </p:spTree>
    <p:extLst>
      <p:ext uri="{BB962C8B-B14F-4D97-AF65-F5344CB8AC3E}">
        <p14:creationId xmlns:p14="http://schemas.microsoft.com/office/powerpoint/2010/main" val="4180169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DFFED-19F0-9E07-3C43-318F50461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Milestones (week 5,6):</a:t>
            </a:r>
            <a:endParaRPr lang="en-US" sz="540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90843-5441-63EE-0803-B807C42D3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5485366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Calibri"/>
              </a:rPr>
              <a:t>Wireframing </a:t>
            </a:r>
            <a:r>
              <a:rPr lang="en-US" sz="2200" b="1">
                <a:cs typeface="Calibri"/>
              </a:rPr>
              <a:t>(7p)</a:t>
            </a:r>
          </a:p>
          <a:p>
            <a:pPr lvl="1"/>
            <a:r>
              <a:rPr lang="en-US" sz="2200">
                <a:cs typeface="Calibri"/>
              </a:rPr>
              <a:t>Low fidelity wireframing</a:t>
            </a:r>
            <a:endParaRPr lang="en-US" sz="2200">
              <a:ea typeface="Calibri"/>
              <a:cs typeface="Calibri"/>
            </a:endParaRPr>
          </a:p>
          <a:p>
            <a:r>
              <a:rPr lang="en-US" sz="2200" dirty="0">
                <a:cs typeface="Calibri"/>
              </a:rPr>
              <a:t>Establish color theme </a:t>
            </a:r>
            <a:r>
              <a:rPr lang="en-US" sz="2200" b="1">
                <a:cs typeface="Calibri"/>
              </a:rPr>
              <a:t>(2p)</a:t>
            </a:r>
          </a:p>
          <a:p>
            <a:r>
              <a:rPr lang="en-US" sz="2200" dirty="0">
                <a:cs typeface="Calibri"/>
              </a:rPr>
              <a:t>Create a logo</a:t>
            </a:r>
            <a:r>
              <a:rPr lang="en-US" sz="2200" b="1">
                <a:cs typeface="Calibri"/>
              </a:rPr>
              <a:t> (optional)</a:t>
            </a:r>
            <a:endParaRPr lang="en-US" sz="2200" b="1">
              <a:ea typeface="Calibri"/>
              <a:cs typeface="Calibri"/>
            </a:endParaRPr>
          </a:p>
        </p:txBody>
      </p:sp>
      <p:pic>
        <p:nvPicPr>
          <p:cNvPr id="15" name="Picture 14" descr="White puzzle with one red piece">
            <a:extLst>
              <a:ext uri="{FF2B5EF4-FFF2-40B4-BE49-F238E27FC236}">
                <a16:creationId xmlns:a16="http://schemas.microsoft.com/office/drawing/2014/main" id="{C9F92AEE-6FEE-7B14-941C-37B0C5F31D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12" r="20966" b="-2"/>
          <a:stretch/>
        </p:blipFill>
        <p:spPr>
          <a:xfrm>
            <a:off x="6384146" y="-28212"/>
            <a:ext cx="6549516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92945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D629-3820-1F50-B502-8BC9A96A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EE97-AD48-994F-022D-39F5528D2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https://www.nngroup.com/articles/ten-usability-heuristics/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3"/>
              </a:rPr>
              <a:t>https://www.nngroup.com/videos/you-are-not-user-slogan/</a:t>
            </a:r>
          </a:p>
          <a:p>
            <a:r>
              <a:rPr lang="en-US">
                <a:ea typeface="+mn-lt"/>
                <a:cs typeface="+mn-lt"/>
                <a:hlinkClick r:id="rId4"/>
              </a:rPr>
              <a:t>https://careerfoundry.com/en/blog/ux-design/the-difference-between-ux-and-ui-design-a-laymans-guide/</a:t>
            </a:r>
          </a:p>
          <a:p>
            <a:r>
              <a:rPr lang="en-US">
                <a:ea typeface="+mn-lt"/>
                <a:cs typeface="+mn-lt"/>
                <a:hlinkClick r:id="rId5"/>
              </a:rPr>
              <a:t>https://www.youtube.com/watch?v=1jtQ0uIIs94</a:t>
            </a: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0345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211102ECA25F45B4CC6E5CADA83611" ma:contentTypeVersion="4" ma:contentTypeDescription="Create a new document." ma:contentTypeScope="" ma:versionID="384ce5f27ff29a2723045399f45ddb08">
  <xsd:schema xmlns:xsd="http://www.w3.org/2001/XMLSchema" xmlns:xs="http://www.w3.org/2001/XMLSchema" xmlns:p="http://schemas.microsoft.com/office/2006/metadata/properties" xmlns:ns2="5cec7390-26ef-4ab5-8180-cc59cef227f5" targetNamespace="http://schemas.microsoft.com/office/2006/metadata/properties" ma:root="true" ma:fieldsID="727dbd1c6138e23346201c9062225aeb" ns2:_="">
    <xsd:import namespace="5cec7390-26ef-4ab5-8180-cc59cef227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c7390-26ef-4ab5-8180-cc59cef22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FC2DA9-C5D0-4588-A202-5E86AC1B97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C0D431-037A-4C47-9664-2CEC583CB5C5}">
  <ds:schemaRefs>
    <ds:schemaRef ds:uri="2d8c896a-2c7a-453c-a372-c5a9d996764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2FDF7AA-1A02-4A24-99EF-BCF750A3D5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ec7390-26ef-4ab5-8180-cc59cef22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Innovation in UX/UI</vt:lpstr>
      <vt:lpstr>UX vs UI</vt:lpstr>
      <vt:lpstr>UX</vt:lpstr>
      <vt:lpstr>Understanding Good UX: An Important Truth</vt:lpstr>
      <vt:lpstr>UI</vt:lpstr>
      <vt:lpstr>10 Usability Heuristics for User Interface Design   Nielsen Norman Group Ph.D Donald Norman - former VP of research @ Apple  Ph.D Jakob Neilsen – 79 US patents, making the internet easier to use </vt:lpstr>
      <vt:lpstr>#1: Visibility of system status </vt:lpstr>
      <vt:lpstr>#2: Match between system and the real world </vt:lpstr>
      <vt:lpstr>#3: User control and freedom </vt:lpstr>
      <vt:lpstr>#4: Consistency and standards</vt:lpstr>
      <vt:lpstr>#5: Error prevention </vt:lpstr>
      <vt:lpstr>#6: Recognition rather than recall </vt:lpstr>
      <vt:lpstr>#7: Flexibility and efficiency of use  </vt:lpstr>
      <vt:lpstr>#8: Aesthetic and minimalist design  </vt:lpstr>
      <vt:lpstr>#9: Help users recognize, diagnose, and recover from errors</vt:lpstr>
      <vt:lpstr>#10: Help and documentation</vt:lpstr>
      <vt:lpstr>Relevance when buying something</vt:lpstr>
      <vt:lpstr>Wireframing</vt:lpstr>
      <vt:lpstr>Wireframing | questions to ask</vt:lpstr>
      <vt:lpstr>Wireframing| how to?</vt:lpstr>
      <vt:lpstr>Wrap-Up​ Innovation in UI​</vt:lpstr>
      <vt:lpstr>Milestones (week 5,6):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297</cp:revision>
  <dcterms:created xsi:type="dcterms:W3CDTF">2023-08-22T05:14:59Z</dcterms:created>
  <dcterms:modified xsi:type="dcterms:W3CDTF">2024-10-23T07:25:00Z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0x010100F3211102ECA25F45B4CC6E5CADA83611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