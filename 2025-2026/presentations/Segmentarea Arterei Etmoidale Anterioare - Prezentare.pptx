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ssistant" pitchFamily="2" charset="-79"/>
      <p:regular r:id="rId16"/>
      <p:bold r:id="rId17"/>
    </p:embeddedFont>
    <p:embeddedFont>
      <p:font typeface="Assistant SemiBold" pitchFamily="2" charset="-79"/>
      <p:regular r:id="rId18"/>
      <p:bold r:id="rId19"/>
    </p:embeddedFont>
    <p:embeddedFont>
      <p:font typeface="Gilda Display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3E8E1C-10AD-4869-A473-EEB17E37A79D}">
  <a:tblStyle styleId="{993E8E1C-10AD-4869-A473-EEB17E37A7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946" y="1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customXml" Target="../customXml/item2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6f17e980c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b6f17e980c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6f17e980c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3b6f17e980c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b6f17e980c_3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3b6f17e980c_3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713aca664_4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g3b713aca664_4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b6f17e980c_1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b6f17e980c_1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46350" y="451100"/>
            <a:ext cx="14107961" cy="9384798"/>
            <a:chOff x="0" y="-38100"/>
            <a:chExt cx="2922900" cy="2471700"/>
          </a:xfrm>
        </p:grpSpPr>
        <p:sp>
          <p:nvSpPr>
            <p:cNvPr id="85" name="Google Shape;85;p13"/>
            <p:cNvSpPr/>
            <p:nvPr/>
          </p:nvSpPr>
          <p:spPr>
            <a:xfrm>
              <a:off x="0" y="0"/>
              <a:ext cx="2922759" cy="2433533"/>
            </a:xfrm>
            <a:custGeom>
              <a:avLst/>
              <a:gdLst/>
              <a:ahLst/>
              <a:cxnLst/>
              <a:rect l="l" t="t" r="r" b="b"/>
              <a:pathLst>
                <a:path w="2922759" h="2433533" extrusionOk="0">
                  <a:moveTo>
                    <a:pt x="2922759" y="13953"/>
                  </a:moveTo>
                  <a:lnTo>
                    <a:pt x="2922759" y="2419581"/>
                  </a:lnTo>
                  <a:cubicBezTo>
                    <a:pt x="2922759" y="2427287"/>
                    <a:pt x="2916512" y="2433533"/>
                    <a:pt x="2908807" y="2433533"/>
                  </a:cubicBezTo>
                  <a:lnTo>
                    <a:pt x="13953" y="2433533"/>
                  </a:lnTo>
                  <a:cubicBezTo>
                    <a:pt x="6247" y="2433533"/>
                    <a:pt x="0" y="2427287"/>
                    <a:pt x="0" y="2419581"/>
                  </a:cubicBezTo>
                  <a:lnTo>
                    <a:pt x="0" y="13953"/>
                  </a:lnTo>
                  <a:cubicBezTo>
                    <a:pt x="0" y="6247"/>
                    <a:pt x="6247" y="0"/>
                    <a:pt x="13953" y="0"/>
                  </a:cubicBezTo>
                  <a:lnTo>
                    <a:pt x="2908807" y="0"/>
                  </a:lnTo>
                  <a:cubicBezTo>
                    <a:pt x="2912507" y="0"/>
                    <a:pt x="2916056" y="1470"/>
                    <a:pt x="2918673" y="4087"/>
                  </a:cubicBezTo>
                  <a:cubicBezTo>
                    <a:pt x="2921289" y="6703"/>
                    <a:pt x="2922759" y="10252"/>
                    <a:pt x="2922759" y="13953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3"/>
            <p:cNvSpPr txBox="1"/>
            <p:nvPr/>
          </p:nvSpPr>
          <p:spPr>
            <a:xfrm>
              <a:off x="0" y="-38100"/>
              <a:ext cx="2922900" cy="24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3"/>
          <p:cNvSpPr/>
          <p:nvPr/>
        </p:nvSpPr>
        <p:spPr>
          <a:xfrm>
            <a:off x="7285300" y="5945351"/>
            <a:ext cx="6890700" cy="3496500"/>
          </a:xfrm>
          <a:prstGeom prst="roundRect">
            <a:avLst>
              <a:gd name="adj" fmla="val 50000"/>
            </a:avLst>
          </a:prstGeom>
          <a:solidFill>
            <a:srgbClr val="8C9C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24214" y="1766690"/>
            <a:ext cx="13552200" cy="3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Segmentarea arterei etmoidale anterioare </a:t>
            </a:r>
            <a:endParaRPr sz="80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 pe CBCT</a:t>
            </a:r>
            <a:endParaRPr sz="80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7513550" y="6308350"/>
            <a:ext cx="61632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Echipa Segminions: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Oproi Denisa-Florina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Negru Diana-Maria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chemeClr val="lt1"/>
                </a:solidFill>
                <a:latin typeface="Assistant SemiBold"/>
                <a:ea typeface="Assistant SemiBold"/>
                <a:cs typeface="Assistant SemiBold"/>
                <a:sym typeface="Assistant SemiBold"/>
              </a:rPr>
              <a:t>Ordean Anamaria</a:t>
            </a:r>
            <a:endParaRPr sz="4500">
              <a:solidFill>
                <a:schemeClr val="lt1"/>
              </a:solidFill>
              <a:latin typeface="Assistant SemiBold"/>
              <a:ea typeface="Assistant SemiBold"/>
              <a:cs typeface="Assistant SemiBold"/>
              <a:sym typeface="Assistant SemiBold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r="13457"/>
          <a:stretch/>
        </p:blipFill>
        <p:spPr>
          <a:xfrm>
            <a:off x="14669900" y="636400"/>
            <a:ext cx="3324600" cy="9199500"/>
          </a:xfrm>
          <a:prstGeom prst="roundRect">
            <a:avLst>
              <a:gd name="adj" fmla="val 669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4"/>
          <p:cNvGrpSpPr/>
          <p:nvPr/>
        </p:nvGrpSpPr>
        <p:grpSpPr>
          <a:xfrm>
            <a:off x="451600" y="2"/>
            <a:ext cx="8890949" cy="9763050"/>
            <a:chOff x="0" y="-38100"/>
            <a:chExt cx="4578715" cy="1156828"/>
          </a:xfrm>
        </p:grpSpPr>
        <p:sp>
          <p:nvSpPr>
            <p:cNvPr id="96" name="Google Shape;96;p14"/>
            <p:cNvSpPr/>
            <p:nvPr/>
          </p:nvSpPr>
          <p:spPr>
            <a:xfrm>
              <a:off x="0" y="0"/>
              <a:ext cx="4578715" cy="1118728"/>
            </a:xfrm>
            <a:custGeom>
              <a:avLst/>
              <a:gdLst/>
              <a:ahLst/>
              <a:cxnLst/>
              <a:rect l="l" t="t" r="r" b="b"/>
              <a:pathLst>
                <a:path w="4578715" h="1118728" extrusionOk="0">
                  <a:moveTo>
                    <a:pt x="4578715" y="8907"/>
                  </a:moveTo>
                  <a:lnTo>
                    <a:pt x="4578715" y="1109822"/>
                  </a:lnTo>
                  <a:cubicBezTo>
                    <a:pt x="4578715" y="1114741"/>
                    <a:pt x="4574727" y="1118728"/>
                    <a:pt x="4569808" y="1118728"/>
                  </a:cubicBezTo>
                  <a:lnTo>
                    <a:pt x="8907" y="1118728"/>
                  </a:lnTo>
                  <a:cubicBezTo>
                    <a:pt x="3988" y="1118728"/>
                    <a:pt x="0" y="1114741"/>
                    <a:pt x="0" y="1109822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14"/>
            <p:cNvSpPr txBox="1"/>
            <p:nvPr/>
          </p:nvSpPr>
          <p:spPr>
            <a:xfrm>
              <a:off x="0" y="-38100"/>
              <a:ext cx="4578715" cy="11568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14"/>
          <p:cNvSpPr txBox="1"/>
          <p:nvPr/>
        </p:nvSpPr>
        <p:spPr>
          <a:xfrm>
            <a:off x="977425" y="884325"/>
            <a:ext cx="7839300" cy="15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 b="0" i="0" u="none" strike="noStrike" cap="none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In</a:t>
            </a:r>
            <a:r>
              <a:rPr lang="en-US" sz="11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troducere</a:t>
            </a:r>
            <a:endParaRPr sz="11500">
              <a:solidFill>
                <a:srgbClr val="292929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1149625" y="2745325"/>
            <a:ext cx="7494900" cy="58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Imaginați-vă că sunteți medici în sala de operație…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arteră de 0,5 mm poate transforma o operație de rutină într-o urgență,  iar AI-ul nostru o identifică înainte ca riscul să apară.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70100" y="-56149"/>
            <a:ext cx="7675849" cy="10399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15"/>
          <p:cNvGrpSpPr/>
          <p:nvPr/>
        </p:nvGrpSpPr>
        <p:grpSpPr>
          <a:xfrm>
            <a:off x="442964" y="285001"/>
            <a:ext cx="17402073" cy="4571768"/>
            <a:chOff x="0" y="-38100"/>
            <a:chExt cx="1488298" cy="1204079"/>
          </a:xfrm>
        </p:grpSpPr>
        <p:sp>
          <p:nvSpPr>
            <p:cNvPr id="106" name="Google Shape;106;p15"/>
            <p:cNvSpPr/>
            <p:nvPr/>
          </p:nvSpPr>
          <p:spPr>
            <a:xfrm>
              <a:off x="0" y="0"/>
              <a:ext cx="1488298" cy="1165979"/>
            </a:xfrm>
            <a:custGeom>
              <a:avLst/>
              <a:gdLst/>
              <a:ahLst/>
              <a:cxnLst/>
              <a:rect l="l" t="t" r="r" b="b"/>
              <a:pathLst>
                <a:path w="1488298" h="1165979" extrusionOk="0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5"/>
            <p:cNvSpPr txBox="1"/>
            <p:nvPr/>
          </p:nvSpPr>
          <p:spPr>
            <a:xfrm>
              <a:off x="0" y="-38100"/>
              <a:ext cx="1488298" cy="120407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5"/>
          <p:cNvSpPr txBox="1"/>
          <p:nvPr/>
        </p:nvSpPr>
        <p:spPr>
          <a:xfrm>
            <a:off x="999313" y="2404300"/>
            <a:ext cx="16351200" cy="15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200" b="1">
                <a:solidFill>
                  <a:schemeClr val="dk1"/>
                </a:solidFill>
              </a:rPr>
              <a:t>Sursa:</a:t>
            </a:r>
            <a:r>
              <a:rPr lang="en-US" sz="4200">
                <a:solidFill>
                  <a:schemeClr val="dk1"/>
                </a:solidFill>
              </a:rPr>
              <a:t> Volum 3D compus din mii de „felii” digitale.</a:t>
            </a:r>
            <a:endParaRPr sz="4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4200" b="1">
                <a:solidFill>
                  <a:schemeClr val="dk1"/>
                </a:solidFill>
              </a:rPr>
              <a:t>Perspectiva:</a:t>
            </a:r>
            <a:r>
              <a:rPr lang="en-US" sz="4200">
                <a:solidFill>
                  <a:schemeClr val="dk1"/>
                </a:solidFill>
              </a:rPr>
              <a:t> Analiză simultană din 3 direcții (axial, sagital, coronal).</a:t>
            </a:r>
            <a:endParaRPr sz="5599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6746379" y="822425"/>
            <a:ext cx="5103300" cy="923100"/>
          </a:xfrm>
          <a:prstGeom prst="roundRect">
            <a:avLst>
              <a:gd name="adj" fmla="val 50000"/>
            </a:avLst>
          </a:prstGeom>
          <a:solidFill>
            <a:srgbClr val="8C9C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128575" y="999275"/>
            <a:ext cx="4515738" cy="569400"/>
          </a:xfrm>
          <a:prstGeom prst="rect">
            <a:avLst/>
          </a:prstGeom>
          <a:noFill/>
          <a:ln w="9525" cap="flat" cmpd="sng">
            <a:solidFill>
              <a:srgbClr val="8C9C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dirty="0" err="1">
                <a:solidFill>
                  <a:srgbClr val="FFFFFF"/>
                </a:solidFill>
              </a:rPr>
              <a:t>Labirintul</a:t>
            </a:r>
            <a:r>
              <a:rPr lang="en-US" sz="3700" dirty="0">
                <a:solidFill>
                  <a:srgbClr val="FFFFFF"/>
                </a:solidFill>
              </a:rPr>
              <a:t> de date 3D</a:t>
            </a:r>
            <a:endParaRPr sz="3700" dirty="0">
              <a:solidFill>
                <a:srgbClr val="FFFFFF"/>
              </a:solidFill>
            </a:endParaRPr>
          </a:p>
        </p:txBody>
      </p:sp>
      <p:pic>
        <p:nvPicPr>
          <p:cNvPr id="111" name="Google Shape;11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000" y="5123906"/>
            <a:ext cx="5591100" cy="4840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79362" y="5103781"/>
            <a:ext cx="5591100" cy="4881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191725" y="5103781"/>
            <a:ext cx="5437430" cy="48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oogle Shape;118;p16"/>
          <p:cNvGrpSpPr/>
          <p:nvPr/>
        </p:nvGrpSpPr>
        <p:grpSpPr>
          <a:xfrm>
            <a:off x="463954" y="5188412"/>
            <a:ext cx="17360127" cy="4764730"/>
            <a:chOff x="0" y="-38100"/>
            <a:chExt cx="1488300" cy="1254900"/>
          </a:xfrm>
        </p:grpSpPr>
        <p:sp>
          <p:nvSpPr>
            <p:cNvPr id="119" name="Google Shape;119;p16"/>
            <p:cNvSpPr/>
            <p:nvPr/>
          </p:nvSpPr>
          <p:spPr>
            <a:xfrm>
              <a:off x="0" y="0"/>
              <a:ext cx="1488298" cy="1216679"/>
            </a:xfrm>
            <a:custGeom>
              <a:avLst/>
              <a:gdLst/>
              <a:ahLst/>
              <a:cxnLst/>
              <a:rect l="l" t="t" r="r" b="b"/>
              <a:pathLst>
                <a:path w="1488298" h="1216679" extrusionOk="0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6"/>
          <p:cNvSpPr txBox="1"/>
          <p:nvPr/>
        </p:nvSpPr>
        <p:spPr>
          <a:xfrm>
            <a:off x="1275300" y="7127875"/>
            <a:ext cx="15187200" cy="22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chemeClr val="dk1"/>
                </a:solidFill>
              </a:rPr>
              <a:t>Segmentare:</a:t>
            </a:r>
            <a:r>
              <a:rPr lang="en-US" sz="3800">
                <a:solidFill>
                  <a:schemeClr val="dk1"/>
                </a:solidFill>
              </a:rPr>
              <a:t> AI-ul „colorează” digital conturul și traseul arterei.</a:t>
            </a:r>
            <a:endParaRPr sz="3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solidFill>
                  <a:schemeClr val="dk1"/>
                </a:solidFill>
              </a:rPr>
              <a:t>Rezultat:</a:t>
            </a:r>
            <a:r>
              <a:rPr lang="en-US" sz="3800">
                <a:solidFill>
                  <a:schemeClr val="dk1"/>
                </a:solidFill>
              </a:rPr>
              <a:t> O reconstrucție 3D exactă peste anatomia pacientului.</a:t>
            </a:r>
            <a:endParaRPr sz="38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00" b="1">
                <a:solidFill>
                  <a:schemeClr val="dk1"/>
                </a:solidFill>
              </a:rPr>
              <a:t>Impact:</a:t>
            </a:r>
            <a:r>
              <a:rPr lang="en-US" sz="3800">
                <a:solidFill>
                  <a:schemeClr val="dk1"/>
                </a:solidFill>
              </a:rPr>
              <a:t> Medicul vede „capcana” înainte de prima incizie.</a:t>
            </a:r>
            <a:endParaRPr sz="51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5385574" y="5557625"/>
            <a:ext cx="6772200" cy="11757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6178050" y="5896188"/>
            <a:ext cx="5381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Harta digitală de precizie</a:t>
            </a:r>
            <a:endParaRPr sz="2800"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l="37408" t="10406" r="1834" b="7397"/>
          <a:stretch/>
        </p:blipFill>
        <p:spPr>
          <a:xfrm>
            <a:off x="166825" y="412475"/>
            <a:ext cx="6085749" cy="43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4">
            <a:alphaModFix/>
          </a:blip>
          <a:srcRect l="40982" t="12208" r="2938" b="7048"/>
          <a:stretch/>
        </p:blipFill>
        <p:spPr>
          <a:xfrm>
            <a:off x="12406700" y="463250"/>
            <a:ext cx="5718428" cy="43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0950" y="463250"/>
            <a:ext cx="5989187" cy="436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9715500" y="4763550"/>
            <a:ext cx="8409625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Segmentare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manuala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efectuata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catre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</a:t>
            </a: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515275" y="395350"/>
            <a:ext cx="8496975" cy="4959511"/>
            <a:chOff x="0" y="-38100"/>
            <a:chExt cx="2906837" cy="1306200"/>
          </a:xfrm>
        </p:grpSpPr>
        <p:sp>
          <p:nvSpPr>
            <p:cNvPr id="133" name="Google Shape;133;p17"/>
            <p:cNvSpPr/>
            <p:nvPr/>
          </p:nvSpPr>
          <p:spPr>
            <a:xfrm>
              <a:off x="0" y="0"/>
              <a:ext cx="2906837" cy="1268025"/>
            </a:xfrm>
            <a:custGeom>
              <a:avLst/>
              <a:gdLst/>
              <a:ahLst/>
              <a:cxnLst/>
              <a:rect l="l" t="t" r="r" b="b"/>
              <a:pathLst>
                <a:path w="2906837" h="1268025" extrusionOk="0">
                  <a:moveTo>
                    <a:pt x="2906837" y="14029"/>
                  </a:moveTo>
                  <a:lnTo>
                    <a:pt x="2906837" y="1253996"/>
                  </a:lnTo>
                  <a:cubicBezTo>
                    <a:pt x="2906837" y="1261744"/>
                    <a:pt x="2900556" y="1268025"/>
                    <a:pt x="2892808" y="1268025"/>
                  </a:cubicBezTo>
                  <a:lnTo>
                    <a:pt x="14029" y="1268025"/>
                  </a:lnTo>
                  <a:cubicBezTo>
                    <a:pt x="6281" y="1268025"/>
                    <a:pt x="0" y="1261744"/>
                    <a:pt x="0" y="1253996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 txBox="1"/>
            <p:nvPr/>
          </p:nvSpPr>
          <p:spPr>
            <a:xfrm>
              <a:off x="0" y="-38100"/>
              <a:ext cx="2906700" cy="130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" name="Google Shape;135;p17"/>
          <p:cNvGrpSpPr/>
          <p:nvPr/>
        </p:nvGrpSpPr>
        <p:grpSpPr>
          <a:xfrm>
            <a:off x="9012250" y="5646750"/>
            <a:ext cx="9079505" cy="4117028"/>
            <a:chOff x="0" y="-38100"/>
            <a:chExt cx="2906837" cy="1084313"/>
          </a:xfrm>
        </p:grpSpPr>
        <p:sp>
          <p:nvSpPr>
            <p:cNvPr id="136" name="Google Shape;136;p17"/>
            <p:cNvSpPr/>
            <p:nvPr/>
          </p:nvSpPr>
          <p:spPr>
            <a:xfrm>
              <a:off x="0" y="0"/>
              <a:ext cx="2906837" cy="1046213"/>
            </a:xfrm>
            <a:custGeom>
              <a:avLst/>
              <a:gdLst/>
              <a:ahLst/>
              <a:cxnLst/>
              <a:rect l="l" t="t" r="r" b="b"/>
              <a:pathLst>
                <a:path w="2906837" h="1046213" extrusionOk="0">
                  <a:moveTo>
                    <a:pt x="2906837" y="14029"/>
                  </a:moveTo>
                  <a:lnTo>
                    <a:pt x="2906837" y="1032184"/>
                  </a:lnTo>
                  <a:cubicBezTo>
                    <a:pt x="2906837" y="1039932"/>
                    <a:pt x="2900556" y="1046213"/>
                    <a:pt x="2892808" y="1046213"/>
                  </a:cubicBezTo>
                  <a:lnTo>
                    <a:pt x="14029" y="1046213"/>
                  </a:lnTo>
                  <a:cubicBezTo>
                    <a:pt x="6281" y="1046213"/>
                    <a:pt x="0" y="1039932"/>
                    <a:pt x="0" y="1032184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7"/>
            <p:cNvSpPr txBox="1"/>
            <p:nvPr/>
          </p:nvSpPr>
          <p:spPr>
            <a:xfrm>
              <a:off x="0" y="-38100"/>
              <a:ext cx="2906700" cy="108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8" name="Google Shape;138;p17"/>
          <p:cNvSpPr txBox="1"/>
          <p:nvPr/>
        </p:nvSpPr>
        <p:spPr>
          <a:xfrm>
            <a:off x="901200" y="947250"/>
            <a:ext cx="7693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Provocarea: „Acul în carul cu fân”</a:t>
            </a:r>
            <a:endParaRPr sz="5000"/>
          </a:p>
        </p:txBody>
      </p:sp>
      <p:sp>
        <p:nvSpPr>
          <p:cNvPr id="139" name="Google Shape;139;p17"/>
          <p:cNvSpPr txBox="1"/>
          <p:nvPr/>
        </p:nvSpPr>
        <p:spPr>
          <a:xfrm>
            <a:off x="901209" y="2562775"/>
            <a:ext cx="76932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lang="en-US" sz="30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Date limitate: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Doar 130 de pacienți.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lang="en-US" sz="30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Complexitate: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Contrast scăzut (CBCT) și anatomie unică.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lang="en-US" sz="30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Zgomot vizual: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Artefacte și „umbre” în imagini.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10979956" y="6128525"/>
            <a:ext cx="5144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Soluția: nnU-Net</a:t>
            </a:r>
            <a:endParaRPr sz="5000"/>
          </a:p>
        </p:txBody>
      </p:sp>
      <p:sp>
        <p:nvSpPr>
          <p:cNvPr id="141" name="Google Shape;141;p17"/>
          <p:cNvSpPr txBox="1"/>
          <p:nvPr/>
        </p:nvSpPr>
        <p:spPr>
          <a:xfrm>
            <a:off x="9363200" y="7265175"/>
            <a:ext cx="84969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lang="en-US" sz="30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Auto-adaptare: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Își configurează singur arhitectura după date.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3000"/>
              <a:buFont typeface="Assistant"/>
              <a:buChar char="●"/>
            </a:pPr>
            <a:r>
              <a:rPr lang="en-US" sz="30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Augmentare: </a:t>
            </a:r>
            <a:r>
              <a:rPr lang="en-US" sz="3000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Generează automat variații pentru a învăța mai bine.</a:t>
            </a:r>
            <a:endParaRPr sz="30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142" name="Google Shape;14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3188" y="536050"/>
            <a:ext cx="8728437" cy="4818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275" y="5736975"/>
            <a:ext cx="8206250" cy="40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8"/>
          <p:cNvGrpSpPr/>
          <p:nvPr/>
        </p:nvGrpSpPr>
        <p:grpSpPr>
          <a:xfrm>
            <a:off x="0" y="1"/>
            <a:ext cx="18288001" cy="2593802"/>
            <a:chOff x="0" y="-38100"/>
            <a:chExt cx="2922900" cy="2471700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922759" cy="2433533"/>
            </a:xfrm>
            <a:custGeom>
              <a:avLst/>
              <a:gdLst/>
              <a:ahLst/>
              <a:cxnLst/>
              <a:rect l="l" t="t" r="r" b="b"/>
              <a:pathLst>
                <a:path w="2922759" h="2433533" extrusionOk="0">
                  <a:moveTo>
                    <a:pt x="2922759" y="13953"/>
                  </a:moveTo>
                  <a:lnTo>
                    <a:pt x="2922759" y="2419581"/>
                  </a:lnTo>
                  <a:cubicBezTo>
                    <a:pt x="2922759" y="2427287"/>
                    <a:pt x="2916512" y="2433533"/>
                    <a:pt x="2908807" y="2433533"/>
                  </a:cubicBezTo>
                  <a:lnTo>
                    <a:pt x="13953" y="2433533"/>
                  </a:lnTo>
                  <a:cubicBezTo>
                    <a:pt x="6247" y="2433533"/>
                    <a:pt x="0" y="2427287"/>
                    <a:pt x="0" y="2419581"/>
                  </a:cubicBezTo>
                  <a:lnTo>
                    <a:pt x="0" y="13953"/>
                  </a:lnTo>
                  <a:cubicBezTo>
                    <a:pt x="0" y="6247"/>
                    <a:pt x="6247" y="0"/>
                    <a:pt x="13953" y="0"/>
                  </a:cubicBezTo>
                  <a:lnTo>
                    <a:pt x="2908807" y="0"/>
                  </a:lnTo>
                  <a:cubicBezTo>
                    <a:pt x="2912507" y="0"/>
                    <a:pt x="2916056" y="1470"/>
                    <a:pt x="2918673" y="4087"/>
                  </a:cubicBezTo>
                  <a:cubicBezTo>
                    <a:pt x="2921289" y="6703"/>
                    <a:pt x="2922759" y="10252"/>
                    <a:pt x="2922759" y="13953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0" y="-38100"/>
              <a:ext cx="2922900" cy="247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p18"/>
          <p:cNvSpPr txBox="1"/>
          <p:nvPr/>
        </p:nvSpPr>
        <p:spPr>
          <a:xfrm>
            <a:off x="3930900" y="633425"/>
            <a:ext cx="104262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Decupajul perfect</a:t>
            </a:r>
            <a:endParaRPr sz="10000"/>
          </a:p>
        </p:txBody>
      </p:sp>
      <p:pic>
        <p:nvPicPr>
          <p:cNvPr id="152" name="Google Shape;15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50" y="2775463"/>
            <a:ext cx="6990475" cy="59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67475" y="2775475"/>
            <a:ext cx="7046215" cy="5979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7959838" y="5183100"/>
            <a:ext cx="2367300" cy="13854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4A7D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B4A7D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529050" y="9059325"/>
            <a:ext cx="77895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Fisierele DCM: de la  10,256 KB la 461 KB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10327150" y="9059325"/>
            <a:ext cx="7486500" cy="7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Masca (fisierul NRRD): de la 33KB la 1 KB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9"/>
          <p:cNvGrpSpPr/>
          <p:nvPr/>
        </p:nvGrpSpPr>
        <p:grpSpPr>
          <a:xfrm>
            <a:off x="7804844" y="451235"/>
            <a:ext cx="10240471" cy="9384547"/>
            <a:chOff x="0" y="-38100"/>
            <a:chExt cx="2697061" cy="2471634"/>
          </a:xfrm>
        </p:grpSpPr>
        <p:sp>
          <p:nvSpPr>
            <p:cNvPr id="162" name="Google Shape;162;p19"/>
            <p:cNvSpPr/>
            <p:nvPr/>
          </p:nvSpPr>
          <p:spPr>
            <a:xfrm>
              <a:off x="0" y="0"/>
              <a:ext cx="2697061" cy="2433533"/>
            </a:xfrm>
            <a:custGeom>
              <a:avLst/>
              <a:gdLst/>
              <a:ahLst/>
              <a:cxnLst/>
              <a:rect l="l" t="t" r="r" b="b"/>
              <a:pathLst>
                <a:path w="2697061" h="2433533" extrusionOk="0">
                  <a:moveTo>
                    <a:pt x="2697061" y="15120"/>
                  </a:moveTo>
                  <a:lnTo>
                    <a:pt x="2697061" y="2418413"/>
                  </a:lnTo>
                  <a:cubicBezTo>
                    <a:pt x="2697061" y="2422423"/>
                    <a:pt x="2695468" y="2426269"/>
                    <a:pt x="2692633" y="2429105"/>
                  </a:cubicBezTo>
                  <a:cubicBezTo>
                    <a:pt x="2689797" y="2431940"/>
                    <a:pt x="2685951" y="2433533"/>
                    <a:pt x="2681941" y="2433533"/>
                  </a:cubicBezTo>
                  <a:lnTo>
                    <a:pt x="15120" y="2433533"/>
                  </a:lnTo>
                  <a:cubicBezTo>
                    <a:pt x="11110" y="2433533"/>
                    <a:pt x="7264" y="2431940"/>
                    <a:pt x="4429" y="2429105"/>
                  </a:cubicBezTo>
                  <a:cubicBezTo>
                    <a:pt x="1593" y="2426269"/>
                    <a:pt x="0" y="2422423"/>
                    <a:pt x="0" y="2418413"/>
                  </a:cubicBezTo>
                  <a:lnTo>
                    <a:pt x="0" y="15120"/>
                  </a:lnTo>
                  <a:cubicBezTo>
                    <a:pt x="0" y="11110"/>
                    <a:pt x="1593" y="7264"/>
                    <a:pt x="4429" y="4429"/>
                  </a:cubicBezTo>
                  <a:cubicBezTo>
                    <a:pt x="7264" y="1593"/>
                    <a:pt x="11110" y="0"/>
                    <a:pt x="15120" y="0"/>
                  </a:cubicBezTo>
                  <a:lnTo>
                    <a:pt x="2681941" y="0"/>
                  </a:lnTo>
                  <a:cubicBezTo>
                    <a:pt x="2690292" y="0"/>
                    <a:pt x="2697061" y="6770"/>
                    <a:pt x="2697061" y="15120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9"/>
            <p:cNvSpPr txBox="1"/>
            <p:nvPr/>
          </p:nvSpPr>
          <p:spPr>
            <a:xfrm>
              <a:off x="0" y="-38100"/>
              <a:ext cx="2697061" cy="2471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4" name="Google Shape;164;p19"/>
          <p:cNvSpPr/>
          <p:nvPr/>
        </p:nvSpPr>
        <p:spPr>
          <a:xfrm>
            <a:off x="8258463" y="5907763"/>
            <a:ext cx="4268100" cy="722700"/>
          </a:xfrm>
          <a:prstGeom prst="roundRect">
            <a:avLst>
              <a:gd name="adj" fmla="val 50000"/>
            </a:avLst>
          </a:prstGeom>
          <a:solidFill>
            <a:srgbClr val="8DB0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8239537" y="4001625"/>
            <a:ext cx="4268100" cy="722700"/>
          </a:xfrm>
          <a:prstGeom prst="roundRect">
            <a:avLst>
              <a:gd name="adj" fmla="val 50000"/>
            </a:avLst>
          </a:prstGeom>
          <a:solidFill>
            <a:srgbClr val="8DB0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8239525" y="862975"/>
            <a:ext cx="9371100" cy="20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Dincolo de cifre, spre precizie clinică</a:t>
            </a:r>
            <a:endParaRPr sz="7400"/>
          </a:p>
        </p:txBody>
      </p:sp>
      <p:sp>
        <p:nvSpPr>
          <p:cNvPr id="167" name="Google Shape;167;p19"/>
          <p:cNvSpPr txBox="1"/>
          <p:nvPr/>
        </p:nvSpPr>
        <p:spPr>
          <a:xfrm>
            <a:off x="8230826" y="3838550"/>
            <a:ext cx="4268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Rezultat</a:t>
            </a:r>
            <a:r>
              <a:rPr lang="en-US" sz="310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Final:</a:t>
            </a:r>
            <a:r>
              <a:rPr lang="en-US" sz="33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 </a:t>
            </a:r>
            <a:r>
              <a:rPr lang="en-US" sz="45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60%</a:t>
            </a:r>
            <a:endParaRPr sz="3600"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8359237" y="5921312"/>
            <a:ext cx="4148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99" dirty="0" err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Rezultate</a:t>
            </a:r>
            <a:r>
              <a:rPr lang="en-US" sz="2799" dirty="0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799" dirty="0" err="1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rPr>
              <a:t>numerice</a:t>
            </a:r>
            <a:endParaRPr sz="1700" dirty="0">
              <a:solidFill>
                <a:schemeClr val="lt1"/>
              </a:solidFill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8359237" y="7813901"/>
            <a:ext cx="4148400" cy="722700"/>
          </a:xfrm>
          <a:prstGeom prst="roundRect">
            <a:avLst>
              <a:gd name="adj" fmla="val 50000"/>
            </a:avLst>
          </a:prstGeom>
          <a:solidFill>
            <a:srgbClr val="8DB0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 dirty="0">
                <a:solidFill>
                  <a:schemeClr val="lt1"/>
                </a:solidFill>
              </a:rPr>
              <a:t> Analogia </a:t>
            </a:r>
            <a:r>
              <a:rPr lang="en-US" sz="2300" dirty="0" err="1">
                <a:solidFill>
                  <a:schemeClr val="lt1"/>
                </a:solidFill>
              </a:rPr>
              <a:t>Lanternelor</a:t>
            </a:r>
            <a:endParaRPr sz="26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2782426" y="3976513"/>
            <a:ext cx="5271600" cy="9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O suprapunere excelentă pentru o arteră de 0,5 mm.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171" name="Google Shape;1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75" y="620078"/>
            <a:ext cx="7446075" cy="260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786" y="3429000"/>
            <a:ext cx="7446064" cy="6522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3" name="Google Shape;173;p19"/>
          <p:cNvGraphicFramePr/>
          <p:nvPr/>
        </p:nvGraphicFramePr>
        <p:xfrm>
          <a:off x="12782425" y="5428725"/>
          <a:ext cx="4828200" cy="2242956"/>
        </p:xfrm>
        <a:graphic>
          <a:graphicData uri="http://schemas.openxmlformats.org/drawingml/2006/table">
            <a:tbl>
              <a:tblPr>
                <a:noFill/>
                <a:tableStyleId>{993E8E1C-10AD-4869-A473-EEB17E37A79D}</a:tableStyleId>
              </a:tblPr>
              <a:tblGrid>
                <a:gridCol w="241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4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Pseudo Dice 0.60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TP 79.76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IoU 0.37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TN 406775.92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>
                          <a:solidFill>
                            <a:schemeClr val="dk1"/>
                          </a:solidFill>
                        </a:rPr>
                        <a:t>FP 40.53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8DB0B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2000" dirty="0">
                          <a:solidFill>
                            <a:schemeClr val="dk1"/>
                          </a:solidFill>
                        </a:rPr>
                        <a:t>FN 105.65</a:t>
                      </a:r>
                      <a:endParaRPr dirty="0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434000" y="2417879"/>
            <a:ext cx="5650926" cy="7345934"/>
            <a:chOff x="0" y="-38100"/>
            <a:chExt cx="1488300" cy="1254900"/>
          </a:xfrm>
        </p:grpSpPr>
        <p:sp>
          <p:nvSpPr>
            <p:cNvPr id="179" name="Google Shape;179;p20"/>
            <p:cNvSpPr/>
            <p:nvPr/>
          </p:nvSpPr>
          <p:spPr>
            <a:xfrm>
              <a:off x="0" y="0"/>
              <a:ext cx="1488298" cy="1216679"/>
            </a:xfrm>
            <a:custGeom>
              <a:avLst/>
              <a:gdLst/>
              <a:ahLst/>
              <a:cxnLst/>
              <a:rect l="l" t="t" r="r" b="b"/>
              <a:pathLst>
                <a:path w="1488298" h="1216679" extrusionOk="0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6318550" y="2417998"/>
            <a:ext cx="5650926" cy="7345981"/>
            <a:chOff x="0" y="-38100"/>
            <a:chExt cx="1488300" cy="1204200"/>
          </a:xfrm>
        </p:grpSpPr>
        <p:sp>
          <p:nvSpPr>
            <p:cNvPr id="182" name="Google Shape;182;p20"/>
            <p:cNvSpPr/>
            <p:nvPr/>
          </p:nvSpPr>
          <p:spPr>
            <a:xfrm>
              <a:off x="0" y="0"/>
              <a:ext cx="1488298" cy="1165979"/>
            </a:xfrm>
            <a:custGeom>
              <a:avLst/>
              <a:gdLst/>
              <a:ahLst/>
              <a:cxnLst/>
              <a:rect l="l" t="t" r="r" b="b"/>
              <a:pathLst>
                <a:path w="1488298" h="1165979" extrusionOk="0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0" y="-38100"/>
              <a:ext cx="1488300" cy="12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20"/>
          <p:cNvGrpSpPr/>
          <p:nvPr/>
        </p:nvGrpSpPr>
        <p:grpSpPr>
          <a:xfrm>
            <a:off x="12203125" y="2417974"/>
            <a:ext cx="5650926" cy="7345934"/>
            <a:chOff x="0" y="-38100"/>
            <a:chExt cx="1488300" cy="1254900"/>
          </a:xfrm>
        </p:grpSpPr>
        <p:sp>
          <p:nvSpPr>
            <p:cNvPr id="185" name="Google Shape;185;p20"/>
            <p:cNvSpPr/>
            <p:nvPr/>
          </p:nvSpPr>
          <p:spPr>
            <a:xfrm>
              <a:off x="0" y="0"/>
              <a:ext cx="1488298" cy="1216679"/>
            </a:xfrm>
            <a:custGeom>
              <a:avLst/>
              <a:gdLst/>
              <a:ahLst/>
              <a:cxnLst/>
              <a:rect l="l" t="t" r="r" b="b"/>
              <a:pathLst>
                <a:path w="1488298" h="1216679" extrusionOk="0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0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20"/>
          <p:cNvSpPr txBox="1"/>
          <p:nvPr/>
        </p:nvSpPr>
        <p:spPr>
          <a:xfrm>
            <a:off x="720713" y="4967650"/>
            <a:ext cx="5077500" cy="3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8728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lang="en-US" sz="2499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Organe mari (Ficat/Plămâni):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~90% succes (standard).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8728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lang="en-US" sz="2499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Micro-structuri pe CBCT: </a:t>
            </a:r>
            <a:endParaRPr sz="2499" b="1" i="1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40-60% este pragul maxim global.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8728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lang="en-US" sz="2499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Lipsa competiției: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Un subiect atât de dificil încât puțini îl abordează.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6605275" y="2973825"/>
            <a:ext cx="5077500" cy="1527300"/>
          </a:xfrm>
          <a:prstGeom prst="roundRect">
            <a:avLst>
              <a:gd name="adj" fmla="val 50000"/>
            </a:avLst>
          </a:prstGeom>
          <a:solidFill>
            <a:srgbClr val="8C9C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12463175" y="2973825"/>
            <a:ext cx="5077500" cy="1527300"/>
          </a:xfrm>
          <a:prstGeom prst="roundRect">
            <a:avLst>
              <a:gd name="adj" fmla="val 50000"/>
            </a:avLst>
          </a:prstGeom>
          <a:solidFill>
            <a:srgbClr val="8DB0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47350" y="2967300"/>
            <a:ext cx="5077500" cy="15273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096550" y="3176850"/>
            <a:ext cx="4379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Contextul pieței: </a:t>
            </a:r>
            <a:endParaRPr sz="3000" b="1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Un munte greu de urcat</a:t>
            </a:r>
            <a:endParaRPr sz="3000"/>
          </a:p>
        </p:txBody>
      </p:sp>
      <p:sp>
        <p:nvSpPr>
          <p:cNvPr id="192" name="Google Shape;192;p20"/>
          <p:cNvSpPr/>
          <p:nvPr/>
        </p:nvSpPr>
        <p:spPr>
          <a:xfrm>
            <a:off x="434000" y="515175"/>
            <a:ext cx="17420100" cy="12654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898550" y="315442"/>
            <a:ext cx="144909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60% - E </a:t>
            </a:r>
            <a:r>
              <a:rPr lang="en-US" sz="7000" b="1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mult</a:t>
            </a:r>
            <a:r>
              <a:rPr lang="en-US" sz="70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, e </a:t>
            </a:r>
            <a:r>
              <a:rPr lang="en-US" sz="7000" b="1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puțin</a:t>
            </a:r>
            <a:r>
              <a:rPr lang="en-US" sz="70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? Cum </a:t>
            </a:r>
            <a:r>
              <a:rPr lang="en-US" sz="7000" b="1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stau</a:t>
            </a:r>
            <a:r>
              <a:rPr lang="en-US" sz="70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7000" b="1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alții</a:t>
            </a:r>
            <a:r>
              <a:rPr lang="en-US" sz="7000" b="1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?</a:t>
            </a:r>
            <a:endParaRPr sz="7000" dirty="0"/>
          </a:p>
        </p:txBody>
      </p:sp>
      <p:sp>
        <p:nvSpPr>
          <p:cNvPr id="194" name="Google Shape;194;p20"/>
          <p:cNvSpPr txBox="1"/>
          <p:nvPr/>
        </p:nvSpPr>
        <p:spPr>
          <a:xfrm>
            <a:off x="6954475" y="3176850"/>
            <a:ext cx="4379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De ce este 60% un </a:t>
            </a:r>
            <a:endParaRPr sz="3000" b="1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scor de top?</a:t>
            </a:r>
            <a:endParaRPr sz="3000"/>
          </a:p>
        </p:txBody>
      </p:sp>
      <p:sp>
        <p:nvSpPr>
          <p:cNvPr id="195" name="Google Shape;195;p20"/>
          <p:cNvSpPr txBox="1"/>
          <p:nvPr/>
        </p:nvSpPr>
        <p:spPr>
          <a:xfrm>
            <a:off x="6605263" y="4967650"/>
            <a:ext cx="5077500" cy="3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8728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lang="en-US" sz="2499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Date reale: </a:t>
            </a:r>
            <a:endParaRPr sz="2499" b="1" i="1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Testat pe imagini de spital, nu pe date perfecte de laborator.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-387286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929"/>
              </a:buClr>
              <a:buSzPts val="2499"/>
              <a:buFont typeface="Assistant"/>
              <a:buChar char="●"/>
            </a:pPr>
            <a:r>
              <a:rPr lang="en-US" sz="2499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Pionierat: </a:t>
            </a:r>
            <a:endParaRPr sz="2499" b="1" i="1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Suntem</a:t>
            </a:r>
            <a:r>
              <a:rPr lang="en-US" sz="2499" b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 printre primii </a:t>
            </a:r>
            <a:r>
              <a:rPr lang="en-US" sz="2499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care reușesc segmentarea acestei artere.</a:t>
            </a:r>
            <a:endParaRPr sz="24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2839025" y="3461550"/>
            <a:ext cx="4379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Concluzia</a:t>
            </a:r>
            <a:endParaRPr sz="3500"/>
          </a:p>
        </p:txBody>
      </p:sp>
      <p:sp>
        <p:nvSpPr>
          <p:cNvPr id="197" name="Google Shape;197;p20"/>
          <p:cNvSpPr txBox="1"/>
          <p:nvPr/>
        </p:nvSpPr>
        <p:spPr>
          <a:xfrm>
            <a:off x="12489788" y="5473200"/>
            <a:ext cx="5077500" cy="24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i="1">
                <a:solidFill>
                  <a:srgbClr val="292929"/>
                </a:solidFill>
                <a:latin typeface="Assistant"/>
                <a:ea typeface="Assistant"/>
                <a:cs typeface="Assistant"/>
                <a:sym typeface="Assistant"/>
              </a:rPr>
              <a:t>„Nu am terminat cursa pe locul doi, ci am urcat un munte pe care mulți nu îl îndrăznesc să îl escaladeze.”</a:t>
            </a:r>
            <a:endParaRPr sz="2900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1"/>
          <p:cNvGrpSpPr/>
          <p:nvPr/>
        </p:nvGrpSpPr>
        <p:grpSpPr>
          <a:xfrm>
            <a:off x="6735850" y="417353"/>
            <a:ext cx="11036969" cy="3329182"/>
            <a:chOff x="0" y="-38100"/>
            <a:chExt cx="2906837" cy="1306125"/>
          </a:xfrm>
        </p:grpSpPr>
        <p:sp>
          <p:nvSpPr>
            <p:cNvPr id="203" name="Google Shape;203;p21"/>
            <p:cNvSpPr/>
            <p:nvPr/>
          </p:nvSpPr>
          <p:spPr>
            <a:xfrm>
              <a:off x="0" y="0"/>
              <a:ext cx="2906837" cy="1268025"/>
            </a:xfrm>
            <a:custGeom>
              <a:avLst/>
              <a:gdLst/>
              <a:ahLst/>
              <a:cxnLst/>
              <a:rect l="l" t="t" r="r" b="b"/>
              <a:pathLst>
                <a:path w="2906837" h="1268025" extrusionOk="0">
                  <a:moveTo>
                    <a:pt x="2906837" y="14029"/>
                  </a:moveTo>
                  <a:lnTo>
                    <a:pt x="2906837" y="1253996"/>
                  </a:lnTo>
                  <a:cubicBezTo>
                    <a:pt x="2906837" y="1261744"/>
                    <a:pt x="2900556" y="1268025"/>
                    <a:pt x="2892808" y="1268025"/>
                  </a:cubicBezTo>
                  <a:lnTo>
                    <a:pt x="14029" y="1268025"/>
                  </a:lnTo>
                  <a:cubicBezTo>
                    <a:pt x="6281" y="1268025"/>
                    <a:pt x="0" y="1261744"/>
                    <a:pt x="0" y="1253996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1"/>
            <p:cNvSpPr txBox="1"/>
            <p:nvPr/>
          </p:nvSpPr>
          <p:spPr>
            <a:xfrm>
              <a:off x="0" y="-38100"/>
              <a:ext cx="2906837" cy="1306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21"/>
          <p:cNvGrpSpPr/>
          <p:nvPr/>
        </p:nvGrpSpPr>
        <p:grpSpPr>
          <a:xfrm>
            <a:off x="6735850" y="4058704"/>
            <a:ext cx="11036969" cy="5705004"/>
            <a:chOff x="0" y="-38100"/>
            <a:chExt cx="2906837" cy="1084313"/>
          </a:xfrm>
        </p:grpSpPr>
        <p:sp>
          <p:nvSpPr>
            <p:cNvPr id="206" name="Google Shape;206;p21"/>
            <p:cNvSpPr/>
            <p:nvPr/>
          </p:nvSpPr>
          <p:spPr>
            <a:xfrm>
              <a:off x="0" y="0"/>
              <a:ext cx="2906837" cy="1046213"/>
            </a:xfrm>
            <a:custGeom>
              <a:avLst/>
              <a:gdLst/>
              <a:ahLst/>
              <a:cxnLst/>
              <a:rect l="l" t="t" r="r" b="b"/>
              <a:pathLst>
                <a:path w="2906837" h="1046213" extrusionOk="0">
                  <a:moveTo>
                    <a:pt x="2906837" y="14029"/>
                  </a:moveTo>
                  <a:lnTo>
                    <a:pt x="2906837" y="1032184"/>
                  </a:lnTo>
                  <a:cubicBezTo>
                    <a:pt x="2906837" y="1039932"/>
                    <a:pt x="2900556" y="1046213"/>
                    <a:pt x="2892808" y="1046213"/>
                  </a:cubicBezTo>
                  <a:lnTo>
                    <a:pt x="14029" y="1046213"/>
                  </a:lnTo>
                  <a:cubicBezTo>
                    <a:pt x="6281" y="1046213"/>
                    <a:pt x="0" y="1039932"/>
                    <a:pt x="0" y="1032184"/>
                  </a:cubicBezTo>
                  <a:lnTo>
                    <a:pt x="0" y="14029"/>
                  </a:lnTo>
                  <a:cubicBezTo>
                    <a:pt x="0" y="6281"/>
                    <a:pt x="6281" y="0"/>
                    <a:pt x="14029" y="0"/>
                  </a:cubicBezTo>
                  <a:lnTo>
                    <a:pt x="2892808" y="0"/>
                  </a:lnTo>
                  <a:cubicBezTo>
                    <a:pt x="2900556" y="0"/>
                    <a:pt x="2906837" y="6281"/>
                    <a:pt x="2906837" y="14029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0" y="-38100"/>
              <a:ext cx="2906837" cy="10843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21"/>
          <p:cNvSpPr txBox="1"/>
          <p:nvPr/>
        </p:nvSpPr>
        <p:spPr>
          <a:xfrm>
            <a:off x="7384175" y="1109025"/>
            <a:ext cx="9533400" cy="21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9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Descrierea pieței și analiza industriei</a:t>
            </a:r>
            <a:endParaRPr sz="7900"/>
          </a:p>
        </p:txBody>
      </p:sp>
      <p:sp>
        <p:nvSpPr>
          <p:cNvPr id="209" name="Google Shape;209;p21"/>
          <p:cNvSpPr txBox="1"/>
          <p:nvPr/>
        </p:nvSpPr>
        <p:spPr>
          <a:xfrm>
            <a:off x="6916200" y="4349750"/>
            <a:ext cx="10345200" cy="53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1"/>
                </a:solidFill>
              </a:rPr>
              <a:t>Piața Globală:</a:t>
            </a:r>
            <a:r>
              <a:rPr lang="en-US" sz="2700">
                <a:solidFill>
                  <a:schemeClr val="dk1"/>
                </a:solidFill>
              </a:rPr>
              <a:t> Software Medical de Navigație, </a:t>
            </a:r>
            <a:r>
              <a:rPr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industrie de miliarde de euro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700">
                <a:solidFill>
                  <a:schemeClr val="dk1"/>
                </a:solidFill>
              </a:rPr>
              <a:t> (creștere anuală de </a:t>
            </a:r>
            <a:r>
              <a:rPr lang="en-US" sz="2700" b="1">
                <a:solidFill>
                  <a:schemeClr val="dk1"/>
                </a:solidFill>
              </a:rPr>
              <a:t>15%</a:t>
            </a:r>
            <a:r>
              <a:rPr lang="en-US" sz="2700">
                <a:solidFill>
                  <a:schemeClr val="dk1"/>
                </a:solidFill>
              </a:rPr>
              <a:t>).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1"/>
                </a:solidFill>
              </a:rPr>
              <a:t>Nevoia:</a:t>
            </a:r>
            <a:r>
              <a:rPr lang="en-US" sz="2700">
                <a:solidFill>
                  <a:schemeClr val="dk1"/>
                </a:solidFill>
              </a:rPr>
              <a:t> Reducerea erorilor medicale și scăderea costurilor de asigurare.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1"/>
                </a:solidFill>
              </a:rPr>
              <a:t>Competiția:</a:t>
            </a:r>
            <a:r>
              <a:rPr lang="en-US" sz="2700">
                <a:solidFill>
                  <a:schemeClr val="dk1"/>
                </a:solidFill>
              </a:rPr>
              <a:t> Giganții (Medtronic, Stryker) se axează pe structuri mari (oase, tumori).</a:t>
            </a: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1"/>
                </a:solidFill>
              </a:rPr>
              <a:t>Avantajul Nostru:</a:t>
            </a:r>
            <a:r>
              <a:rPr lang="en-US" sz="2700">
                <a:solidFill>
                  <a:schemeClr val="dk1"/>
                </a:solidFill>
              </a:rPr>
              <a:t> Pionieri în </a:t>
            </a:r>
            <a:r>
              <a:rPr lang="en-US" sz="2700" b="1">
                <a:solidFill>
                  <a:schemeClr val="dk1"/>
                </a:solidFill>
              </a:rPr>
              <a:t>micro-vascularizație pe CBCT</a:t>
            </a:r>
            <a:r>
              <a:rPr lang="en-US" sz="2700">
                <a:solidFill>
                  <a:schemeClr val="dk1"/>
                </a:solidFill>
              </a:rPr>
              <a:t>,  acoperim nișa pe care ceilalți o ignoră.</a:t>
            </a:r>
            <a:endParaRPr sz="4099">
              <a:solidFill>
                <a:srgbClr val="292929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800" y="417350"/>
            <a:ext cx="6236750" cy="92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22"/>
          <p:cNvGrpSpPr/>
          <p:nvPr/>
        </p:nvGrpSpPr>
        <p:grpSpPr>
          <a:xfrm>
            <a:off x="434000" y="6088675"/>
            <a:ext cx="5650926" cy="3675226"/>
            <a:chOff x="0" y="-38100"/>
            <a:chExt cx="1488300" cy="1254900"/>
          </a:xfrm>
        </p:grpSpPr>
        <p:sp>
          <p:nvSpPr>
            <p:cNvPr id="216" name="Google Shape;216;p22"/>
            <p:cNvSpPr/>
            <p:nvPr/>
          </p:nvSpPr>
          <p:spPr>
            <a:xfrm>
              <a:off x="0" y="0"/>
              <a:ext cx="1488298" cy="1216679"/>
            </a:xfrm>
            <a:custGeom>
              <a:avLst/>
              <a:gdLst/>
              <a:ahLst/>
              <a:cxnLst/>
              <a:rect l="l" t="t" r="r" b="b"/>
              <a:pathLst>
                <a:path w="1488298" h="1216679" extrusionOk="0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8" name="Google Shape;218;p22"/>
          <p:cNvGrpSpPr/>
          <p:nvPr/>
        </p:nvGrpSpPr>
        <p:grpSpPr>
          <a:xfrm>
            <a:off x="6318538" y="2160698"/>
            <a:ext cx="5650926" cy="3675339"/>
            <a:chOff x="0" y="-38100"/>
            <a:chExt cx="1488300" cy="1204200"/>
          </a:xfrm>
        </p:grpSpPr>
        <p:sp>
          <p:nvSpPr>
            <p:cNvPr id="219" name="Google Shape;219;p22"/>
            <p:cNvSpPr/>
            <p:nvPr/>
          </p:nvSpPr>
          <p:spPr>
            <a:xfrm>
              <a:off x="0" y="0"/>
              <a:ext cx="1488298" cy="1165979"/>
            </a:xfrm>
            <a:custGeom>
              <a:avLst/>
              <a:gdLst/>
              <a:ahLst/>
              <a:cxnLst/>
              <a:rect l="l" t="t" r="r" b="b"/>
              <a:pathLst>
                <a:path w="1488298" h="1165979" extrusionOk="0">
                  <a:moveTo>
                    <a:pt x="1488298" y="27401"/>
                  </a:moveTo>
                  <a:lnTo>
                    <a:pt x="1488298" y="1138578"/>
                  </a:lnTo>
                  <a:cubicBezTo>
                    <a:pt x="1488298" y="1145845"/>
                    <a:pt x="1485412" y="1152815"/>
                    <a:pt x="1480273" y="1157953"/>
                  </a:cubicBezTo>
                  <a:cubicBezTo>
                    <a:pt x="1475134" y="1163092"/>
                    <a:pt x="1468165" y="1165979"/>
                    <a:pt x="1460898" y="1165979"/>
                  </a:cubicBezTo>
                  <a:lnTo>
                    <a:pt x="27401" y="1165979"/>
                  </a:lnTo>
                  <a:cubicBezTo>
                    <a:pt x="20134" y="1165979"/>
                    <a:pt x="13164" y="1163092"/>
                    <a:pt x="8025" y="1157953"/>
                  </a:cubicBezTo>
                  <a:cubicBezTo>
                    <a:pt x="2887" y="1152815"/>
                    <a:pt x="0" y="1145845"/>
                    <a:pt x="0" y="11385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CEDBB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2"/>
            <p:cNvSpPr txBox="1"/>
            <p:nvPr/>
          </p:nvSpPr>
          <p:spPr>
            <a:xfrm>
              <a:off x="0" y="-38100"/>
              <a:ext cx="1488300" cy="120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1" name="Google Shape;221;p22"/>
          <p:cNvGrpSpPr/>
          <p:nvPr/>
        </p:nvGrpSpPr>
        <p:grpSpPr>
          <a:xfrm>
            <a:off x="12203125" y="6088675"/>
            <a:ext cx="5650926" cy="3675226"/>
            <a:chOff x="0" y="-38100"/>
            <a:chExt cx="1488300" cy="1254900"/>
          </a:xfrm>
        </p:grpSpPr>
        <p:sp>
          <p:nvSpPr>
            <p:cNvPr id="222" name="Google Shape;222;p22"/>
            <p:cNvSpPr/>
            <p:nvPr/>
          </p:nvSpPr>
          <p:spPr>
            <a:xfrm>
              <a:off x="0" y="0"/>
              <a:ext cx="1488298" cy="1216679"/>
            </a:xfrm>
            <a:custGeom>
              <a:avLst/>
              <a:gdLst/>
              <a:ahLst/>
              <a:cxnLst/>
              <a:rect l="l" t="t" r="r" b="b"/>
              <a:pathLst>
                <a:path w="1488298" h="1216679" extrusionOk="0">
                  <a:moveTo>
                    <a:pt x="1488298" y="27401"/>
                  </a:moveTo>
                  <a:lnTo>
                    <a:pt x="1488298" y="1189278"/>
                  </a:lnTo>
                  <a:cubicBezTo>
                    <a:pt x="1488298" y="1196545"/>
                    <a:pt x="1485412" y="1203515"/>
                    <a:pt x="1480273" y="1208654"/>
                  </a:cubicBezTo>
                  <a:cubicBezTo>
                    <a:pt x="1475134" y="1213792"/>
                    <a:pt x="1468165" y="1216679"/>
                    <a:pt x="1460898" y="1216679"/>
                  </a:cubicBezTo>
                  <a:lnTo>
                    <a:pt x="27401" y="1216679"/>
                  </a:lnTo>
                  <a:cubicBezTo>
                    <a:pt x="20134" y="1216679"/>
                    <a:pt x="13164" y="1213792"/>
                    <a:pt x="8025" y="1208654"/>
                  </a:cubicBezTo>
                  <a:cubicBezTo>
                    <a:pt x="2887" y="1203515"/>
                    <a:pt x="0" y="1196545"/>
                    <a:pt x="0" y="1189278"/>
                  </a:cubicBezTo>
                  <a:lnTo>
                    <a:pt x="0" y="27401"/>
                  </a:lnTo>
                  <a:cubicBezTo>
                    <a:pt x="0" y="20134"/>
                    <a:pt x="2887" y="13164"/>
                    <a:pt x="8025" y="8025"/>
                  </a:cubicBezTo>
                  <a:cubicBezTo>
                    <a:pt x="13164" y="2887"/>
                    <a:pt x="20134" y="0"/>
                    <a:pt x="27401" y="0"/>
                  </a:cubicBezTo>
                  <a:lnTo>
                    <a:pt x="1460898" y="0"/>
                  </a:lnTo>
                  <a:cubicBezTo>
                    <a:pt x="1476031" y="0"/>
                    <a:pt x="1488298" y="12268"/>
                    <a:pt x="1488298" y="27401"/>
                  </a:cubicBezTo>
                  <a:close/>
                </a:path>
              </a:pathLst>
            </a:custGeom>
            <a:solidFill>
              <a:srgbClr val="B7D0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0" y="-38100"/>
              <a:ext cx="1488300" cy="125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22"/>
          <p:cNvSpPr/>
          <p:nvPr/>
        </p:nvSpPr>
        <p:spPr>
          <a:xfrm>
            <a:off x="6586363" y="2671313"/>
            <a:ext cx="5115300" cy="2654100"/>
          </a:xfrm>
          <a:prstGeom prst="roundRect">
            <a:avLst>
              <a:gd name="adj" fmla="val 50000"/>
            </a:avLst>
          </a:prstGeom>
          <a:solidFill>
            <a:srgbClr val="8C9C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6805512" y="3201538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Chirurg: </a:t>
            </a:r>
            <a:endParaRPr sz="3600" b="1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Navigație de Precizie</a:t>
            </a:r>
            <a:endParaRPr sz="2700"/>
          </a:p>
        </p:txBody>
      </p:sp>
      <p:sp>
        <p:nvSpPr>
          <p:cNvPr id="226" name="Google Shape;226;p22"/>
          <p:cNvSpPr/>
          <p:nvPr/>
        </p:nvSpPr>
        <p:spPr>
          <a:xfrm>
            <a:off x="12470875" y="6625550"/>
            <a:ext cx="5115300" cy="2654100"/>
          </a:xfrm>
          <a:prstGeom prst="roundRect">
            <a:avLst>
              <a:gd name="adj" fmla="val 50000"/>
            </a:avLst>
          </a:prstGeom>
          <a:solidFill>
            <a:srgbClr val="8DB0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701875" y="6625550"/>
            <a:ext cx="5115300" cy="26541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463900" y="691400"/>
            <a:ext cx="17360100" cy="9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Dincolo de Cod: Impactul în Viața Reală</a:t>
            </a:r>
            <a:endParaRPr sz="6500"/>
          </a:p>
        </p:txBody>
      </p:sp>
      <p:sp>
        <p:nvSpPr>
          <p:cNvPr id="229" name="Google Shape;229;p22"/>
          <p:cNvSpPr txBox="1"/>
          <p:nvPr/>
        </p:nvSpPr>
        <p:spPr>
          <a:xfrm>
            <a:off x="921037" y="7094413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Pacient: </a:t>
            </a:r>
            <a:endParaRPr sz="3600" b="1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Siguranță Vitală</a:t>
            </a:r>
            <a:endParaRPr sz="3600"/>
          </a:p>
        </p:txBody>
      </p:sp>
      <p:sp>
        <p:nvSpPr>
          <p:cNvPr id="230" name="Google Shape;230;p22"/>
          <p:cNvSpPr txBox="1"/>
          <p:nvPr/>
        </p:nvSpPr>
        <p:spPr>
          <a:xfrm>
            <a:off x="12690037" y="7094413"/>
            <a:ext cx="4677000" cy="13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Spital: </a:t>
            </a:r>
            <a:endParaRPr sz="3600" b="1">
              <a:solidFill>
                <a:srgbClr val="FFFFFF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Eficiență și Protecție</a:t>
            </a:r>
            <a:endParaRPr sz="3600"/>
          </a:p>
        </p:txBody>
      </p:sp>
      <p:pic>
        <p:nvPicPr>
          <p:cNvPr id="231" name="Google Shape;2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013" y="2197112"/>
            <a:ext cx="5650900" cy="3622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8575" y="6141299"/>
            <a:ext cx="5650900" cy="3622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03100" y="2197100"/>
            <a:ext cx="5650900" cy="362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23"/>
          <p:cNvGrpSpPr/>
          <p:nvPr/>
        </p:nvGrpSpPr>
        <p:grpSpPr>
          <a:xfrm>
            <a:off x="10964329" y="379250"/>
            <a:ext cx="6875959" cy="9384547"/>
            <a:chOff x="0" y="-38100"/>
            <a:chExt cx="2290383" cy="2471634"/>
          </a:xfrm>
        </p:grpSpPr>
        <p:sp>
          <p:nvSpPr>
            <p:cNvPr id="239" name="Google Shape;239;p23"/>
            <p:cNvSpPr/>
            <p:nvPr/>
          </p:nvSpPr>
          <p:spPr>
            <a:xfrm>
              <a:off x="0" y="0"/>
              <a:ext cx="2290383" cy="2433533"/>
            </a:xfrm>
            <a:custGeom>
              <a:avLst/>
              <a:gdLst/>
              <a:ahLst/>
              <a:cxnLst/>
              <a:rect l="l" t="t" r="r" b="b"/>
              <a:pathLst>
                <a:path w="2290383" h="2433533" extrusionOk="0">
                  <a:moveTo>
                    <a:pt x="2290383" y="17805"/>
                  </a:moveTo>
                  <a:lnTo>
                    <a:pt x="2290383" y="2415728"/>
                  </a:lnTo>
                  <a:cubicBezTo>
                    <a:pt x="2290383" y="2420451"/>
                    <a:pt x="2288507" y="2424979"/>
                    <a:pt x="2285168" y="2428318"/>
                  </a:cubicBezTo>
                  <a:cubicBezTo>
                    <a:pt x="2281829" y="2431658"/>
                    <a:pt x="2277300" y="2433533"/>
                    <a:pt x="2272578" y="2433533"/>
                  </a:cubicBezTo>
                  <a:lnTo>
                    <a:pt x="17805" y="2433533"/>
                  </a:lnTo>
                  <a:cubicBezTo>
                    <a:pt x="13083" y="2433533"/>
                    <a:pt x="8554" y="2431658"/>
                    <a:pt x="5215" y="2428318"/>
                  </a:cubicBezTo>
                  <a:cubicBezTo>
                    <a:pt x="1876" y="2424979"/>
                    <a:pt x="0" y="2420451"/>
                    <a:pt x="0" y="2415728"/>
                  </a:cubicBezTo>
                  <a:lnTo>
                    <a:pt x="0" y="17805"/>
                  </a:lnTo>
                  <a:cubicBezTo>
                    <a:pt x="0" y="13083"/>
                    <a:pt x="1876" y="8554"/>
                    <a:pt x="5215" y="5215"/>
                  </a:cubicBezTo>
                  <a:cubicBezTo>
                    <a:pt x="8554" y="1876"/>
                    <a:pt x="13083" y="0"/>
                    <a:pt x="17805" y="0"/>
                  </a:cubicBezTo>
                  <a:lnTo>
                    <a:pt x="2272578" y="0"/>
                  </a:lnTo>
                  <a:cubicBezTo>
                    <a:pt x="2277300" y="0"/>
                    <a:pt x="2281829" y="1876"/>
                    <a:pt x="2285168" y="5215"/>
                  </a:cubicBezTo>
                  <a:cubicBezTo>
                    <a:pt x="2288507" y="8554"/>
                    <a:pt x="2290383" y="13083"/>
                    <a:pt x="2290383" y="17805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0" y="-38100"/>
              <a:ext cx="2290383" cy="2471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23"/>
          <p:cNvSpPr txBox="1"/>
          <p:nvPr/>
        </p:nvSpPr>
        <p:spPr>
          <a:xfrm>
            <a:off x="13001600" y="2570575"/>
            <a:ext cx="4444200" cy="35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Modelul de business</a:t>
            </a:r>
            <a:endParaRPr sz="8600"/>
          </a:p>
        </p:txBody>
      </p:sp>
      <p:sp>
        <p:nvSpPr>
          <p:cNvPr id="242" name="Google Shape;242;p23"/>
          <p:cNvSpPr/>
          <p:nvPr/>
        </p:nvSpPr>
        <p:spPr>
          <a:xfrm>
            <a:off x="15619584" y="7432079"/>
            <a:ext cx="1826221" cy="1826221"/>
          </a:xfrm>
          <a:custGeom>
            <a:avLst/>
            <a:gdLst/>
            <a:ahLst/>
            <a:cxnLst/>
            <a:rect l="l" t="t" r="r" b="b"/>
            <a:pathLst>
              <a:path w="1826221" h="1826221" extrusionOk="0">
                <a:moveTo>
                  <a:pt x="0" y="0"/>
                </a:moveTo>
                <a:lnTo>
                  <a:pt x="1826221" y="0"/>
                </a:lnTo>
                <a:lnTo>
                  <a:pt x="1826221" y="1826221"/>
                </a:lnTo>
                <a:lnTo>
                  <a:pt x="0" y="18262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43" name="Google Shape;24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200" y="379250"/>
            <a:ext cx="11648225" cy="952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10484771" y="4337700"/>
            <a:ext cx="1162800" cy="4617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10484779" y="5594150"/>
            <a:ext cx="2224800" cy="4617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4"/>
          <p:cNvGrpSpPr/>
          <p:nvPr/>
        </p:nvGrpSpPr>
        <p:grpSpPr>
          <a:xfrm>
            <a:off x="451550" y="-1"/>
            <a:ext cx="17384923" cy="10101497"/>
            <a:chOff x="0" y="-38100"/>
            <a:chExt cx="4578715" cy="1629300"/>
          </a:xfrm>
        </p:grpSpPr>
        <p:sp>
          <p:nvSpPr>
            <p:cNvPr id="251" name="Google Shape;251;p24"/>
            <p:cNvSpPr/>
            <p:nvPr/>
          </p:nvSpPr>
          <p:spPr>
            <a:xfrm>
              <a:off x="0" y="0"/>
              <a:ext cx="4578715" cy="1591120"/>
            </a:xfrm>
            <a:custGeom>
              <a:avLst/>
              <a:gdLst/>
              <a:ahLst/>
              <a:cxnLst/>
              <a:rect l="l" t="t" r="r" b="b"/>
              <a:pathLst>
                <a:path w="4578715" h="1591120" extrusionOk="0">
                  <a:moveTo>
                    <a:pt x="4578715" y="8907"/>
                  </a:moveTo>
                  <a:lnTo>
                    <a:pt x="4578715" y="1582214"/>
                  </a:lnTo>
                  <a:cubicBezTo>
                    <a:pt x="4578715" y="1587133"/>
                    <a:pt x="4574727" y="1591120"/>
                    <a:pt x="4569808" y="1591120"/>
                  </a:cubicBezTo>
                  <a:lnTo>
                    <a:pt x="8907" y="1591120"/>
                  </a:lnTo>
                  <a:cubicBezTo>
                    <a:pt x="3988" y="1591120"/>
                    <a:pt x="0" y="1587133"/>
                    <a:pt x="0" y="1582214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4"/>
            <p:cNvSpPr txBox="1"/>
            <p:nvPr/>
          </p:nvSpPr>
          <p:spPr>
            <a:xfrm>
              <a:off x="0" y="-38100"/>
              <a:ext cx="4578600" cy="16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24"/>
          <p:cNvSpPr txBox="1"/>
          <p:nvPr/>
        </p:nvSpPr>
        <p:spPr>
          <a:xfrm>
            <a:off x="1640775" y="201200"/>
            <a:ext cx="100068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Demonstrație Live</a:t>
            </a:r>
            <a:endParaRPr sz="7200"/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l="129" r="119"/>
          <a:stretch/>
        </p:blipFill>
        <p:spPr>
          <a:xfrm>
            <a:off x="12709575" y="752963"/>
            <a:ext cx="5654100" cy="9074100"/>
          </a:xfrm>
          <a:prstGeom prst="roundRect">
            <a:avLst>
              <a:gd name="adj" fmla="val 4869"/>
            </a:avLst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561725" y="1465375"/>
            <a:ext cx="12072300" cy="84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Funcționalități MVP: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Autentificare (Sesiuni persistente în Flask, Autentificare bazată pe Firebase Firestore)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Gestionare Pacienți, (Adăugare pacienți noi, Listă pacienți și căutare)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Profil detaliat pentru fiecare pacient (Editare și ștergere pacient)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si Procesare Medicală (Upload fișiere dcm, Stocare în Firebase Firestore cu chunking pentru fișiere mari)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Salvare rezultate local (  Procesare automată cu nnUNet, Generare masca nrrd)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 Medical (Statistici, Editare profil)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Functionalități realizate de noi: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Backend-ul proiectului si comunicarea cu Firebase si cu Flask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de Segmentare (Wrapper pentru nnUNet, Procesare asincrona, Conversie DCM -&gt; NIFTI)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Firebase (Sistem de chuncking, Stocare date, Encoding/Decoding)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Serviciu Autentificare (Hash SHA-256 pentru parole, Validare sesiuni)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interactiv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 Dashboard (DashboardView, PatientsView, PatientProfile)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Componente inovative: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Integrare nnUNet în Workflow Clinical - Primul sistem care integreaza nnUNet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Arhitectură Serverless cu Firebase - sistem de chunking 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-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Pipeline complet automat  - De la upload fisiere dcm la salvare masca nrrd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Deploy: Frontend cu Firebase și Backend cu Flask</a:t>
            </a:r>
            <a:endParaRPr sz="23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E8E8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/>
          <p:nvPr/>
        </p:nvSpPr>
        <p:spPr>
          <a:xfrm>
            <a:off x="10484771" y="4337700"/>
            <a:ext cx="1162800" cy="4617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10484779" y="5594150"/>
            <a:ext cx="2224800" cy="461700"/>
          </a:xfrm>
          <a:prstGeom prst="roundRect">
            <a:avLst>
              <a:gd name="adj" fmla="val 50000"/>
            </a:avLst>
          </a:prstGeom>
          <a:solidFill>
            <a:srgbClr val="9290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" name="Google Shape;262;p25"/>
          <p:cNvGrpSpPr/>
          <p:nvPr/>
        </p:nvGrpSpPr>
        <p:grpSpPr>
          <a:xfrm>
            <a:off x="451696" y="3656507"/>
            <a:ext cx="17384923" cy="6186289"/>
            <a:chOff x="0" y="-38100"/>
            <a:chExt cx="4578715" cy="1629300"/>
          </a:xfrm>
        </p:grpSpPr>
        <p:sp>
          <p:nvSpPr>
            <p:cNvPr id="263" name="Google Shape;263;p25"/>
            <p:cNvSpPr/>
            <p:nvPr/>
          </p:nvSpPr>
          <p:spPr>
            <a:xfrm>
              <a:off x="0" y="0"/>
              <a:ext cx="4578715" cy="1591120"/>
            </a:xfrm>
            <a:custGeom>
              <a:avLst/>
              <a:gdLst/>
              <a:ahLst/>
              <a:cxnLst/>
              <a:rect l="l" t="t" r="r" b="b"/>
              <a:pathLst>
                <a:path w="4578715" h="1591120" extrusionOk="0">
                  <a:moveTo>
                    <a:pt x="4578715" y="8907"/>
                  </a:moveTo>
                  <a:lnTo>
                    <a:pt x="4578715" y="1582214"/>
                  </a:lnTo>
                  <a:cubicBezTo>
                    <a:pt x="4578715" y="1587133"/>
                    <a:pt x="4574727" y="1591120"/>
                    <a:pt x="4569808" y="1591120"/>
                  </a:cubicBezTo>
                  <a:lnTo>
                    <a:pt x="8907" y="1591120"/>
                  </a:lnTo>
                  <a:cubicBezTo>
                    <a:pt x="3988" y="1591120"/>
                    <a:pt x="0" y="1587133"/>
                    <a:pt x="0" y="1582214"/>
                  </a:cubicBezTo>
                  <a:lnTo>
                    <a:pt x="0" y="8907"/>
                  </a:lnTo>
                  <a:cubicBezTo>
                    <a:pt x="0" y="3988"/>
                    <a:pt x="3988" y="0"/>
                    <a:pt x="8907" y="0"/>
                  </a:cubicBezTo>
                  <a:lnTo>
                    <a:pt x="4569808" y="0"/>
                  </a:lnTo>
                  <a:cubicBezTo>
                    <a:pt x="4574727" y="0"/>
                    <a:pt x="4578715" y="3988"/>
                    <a:pt x="4578715" y="8907"/>
                  </a:cubicBezTo>
                  <a:close/>
                </a:path>
              </a:pathLst>
            </a:custGeom>
            <a:solidFill>
              <a:srgbClr val="C8C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5"/>
            <p:cNvSpPr txBox="1"/>
            <p:nvPr/>
          </p:nvSpPr>
          <p:spPr>
            <a:xfrm>
              <a:off x="0" y="-38100"/>
              <a:ext cx="4578600" cy="162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25"/>
          <p:cNvSpPr txBox="1"/>
          <p:nvPr/>
        </p:nvSpPr>
        <p:spPr>
          <a:xfrm>
            <a:off x="5051550" y="4277711"/>
            <a:ext cx="8185200" cy="1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99">
                <a:solidFill>
                  <a:srgbClr val="292929"/>
                </a:solidFill>
                <a:latin typeface="Gilda Display"/>
                <a:ea typeface="Gilda Display"/>
                <a:cs typeface="Gilda Display"/>
                <a:sym typeface="Gilda Display"/>
              </a:rPr>
              <a:t>Concluzii</a:t>
            </a:r>
            <a:endParaRPr/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03" y="525846"/>
            <a:ext cx="17385000" cy="2903100"/>
          </a:xfrm>
          <a:prstGeom prst="roundRect">
            <a:avLst>
              <a:gd name="adj" fmla="val 4263"/>
            </a:avLst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009925" y="6604775"/>
            <a:ext cx="14903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În concluzie, AI-ul nostru poate identifica artera etmoidală cu o precizie de </a:t>
            </a:r>
            <a:r>
              <a:rPr lang="en-US" sz="3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un rezultat de elită pentru structuri atât de mici.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07916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Vizăm pragul de </a:t>
            </a:r>
            <a:r>
              <a:rPr lang="en-US" sz="33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70-80% acuratețe</a:t>
            </a:r>
            <a:r>
              <a:rPr lang="en-US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și vizualizarea rezultatelor direct în aplicație.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AB79F40DDE73438D5BCFF294CB777F" ma:contentTypeVersion="13" ma:contentTypeDescription="Create a new document." ma:contentTypeScope="" ma:versionID="c92d49cf5a95d645d03aef571303b095">
  <xsd:schema xmlns:xsd="http://www.w3.org/2001/XMLSchema" xmlns:xs="http://www.w3.org/2001/XMLSchema" xmlns:p="http://schemas.microsoft.com/office/2006/metadata/properties" xmlns:ns2="1e21c5fc-38fc-4ef3-967c-52920d864eb4" xmlns:ns3="db97ba85-579e-411b-948c-311c2e42328f" targetNamespace="http://schemas.microsoft.com/office/2006/metadata/properties" ma:root="true" ma:fieldsID="f9697e382105165912bcff1bf0fdded9" ns2:_="" ns3:_="">
    <xsd:import namespace="1e21c5fc-38fc-4ef3-967c-52920d864eb4"/>
    <xsd:import namespace="db97ba85-579e-411b-948c-311c2e42328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21c5fc-38fc-4ef3-967c-52920d864eb4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ef85decb-1301-438d-8b3f-81c7864c2a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7ba85-579e-411b-948c-311c2e42328f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3897e45-edb0-49a5-8c41-6d64bbcfbbe3}" ma:internalName="TaxCatchAll" ma:showField="CatchAllData" ma:web="db97ba85-579e-411b-948c-311c2e42328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21c5fc-38fc-4ef3-967c-52920d864eb4">
      <Terms xmlns="http://schemas.microsoft.com/office/infopath/2007/PartnerControls"/>
    </lcf76f155ced4ddcb4097134ff3c332f>
    <TaxCatchAll xmlns="db97ba85-579e-411b-948c-311c2e42328f" xsi:nil="true"/>
    <ReferenceId xmlns="1e21c5fc-38fc-4ef3-967c-52920d864eb4" xsi:nil="true"/>
  </documentManagement>
</p:properties>
</file>

<file path=customXml/itemProps1.xml><?xml version="1.0" encoding="utf-8"?>
<ds:datastoreItem xmlns:ds="http://schemas.openxmlformats.org/officeDocument/2006/customXml" ds:itemID="{CDCF587E-1139-43A2-B7AF-52326AAE2263}"/>
</file>

<file path=customXml/itemProps2.xml><?xml version="1.0" encoding="utf-8"?>
<ds:datastoreItem xmlns:ds="http://schemas.openxmlformats.org/officeDocument/2006/customXml" ds:itemID="{5930CD09-314D-4FB6-AF29-3E1929AF7FD8}"/>
</file>

<file path=customXml/itemProps3.xml><?xml version="1.0" encoding="utf-8"?>
<ds:datastoreItem xmlns:ds="http://schemas.openxmlformats.org/officeDocument/2006/customXml" ds:itemID="{387F3212-E055-4C91-8179-6A079ABACFB0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699</Words>
  <Application>Microsoft Office PowerPoint</Application>
  <PresentationFormat>Particularizare</PresentationFormat>
  <Paragraphs>97</Paragraphs>
  <Slides>13</Slides>
  <Notes>13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13</vt:i4>
      </vt:variant>
    </vt:vector>
  </HeadingPairs>
  <TitlesOfParts>
    <vt:vector size="19" baseType="lpstr">
      <vt:lpstr>Assistant SemiBold</vt:lpstr>
      <vt:lpstr>Calibri</vt:lpstr>
      <vt:lpstr>Assistant</vt:lpstr>
      <vt:lpstr>Gilda Display</vt:lpstr>
      <vt:lpstr>Arial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Denisa Oproi</cp:lastModifiedBy>
  <cp:revision>2</cp:revision>
  <dcterms:modified xsi:type="dcterms:W3CDTF">2026-01-15T13:40:26Z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0x0101008BAB79F40DDE73438D5BCFF294CB777F</vt:lpwstr>
  </property>
</Properties>
</file>