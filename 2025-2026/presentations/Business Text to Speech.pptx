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73b0aeff8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73b0aeff8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73b0aeff8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b73b0aeff8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73b0aeff8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b73b0aeff8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b73b0aeff8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b73b0aeff8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7e557ef7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b7e557ef7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298fd3ed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9298fd3e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298fd3ed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9298fd3ed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73b0aeff8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b73b0aeff8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437250" y="1215075"/>
            <a:ext cx="51174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Sistem medical de     </a:t>
            </a:r>
            <a:br>
              <a:rPr lang="en-GB"/>
            </a:br>
            <a:r>
              <a:rPr lang="en-GB"/>
              <a:t>    </a:t>
            </a:r>
            <a:r>
              <a:rPr lang="en-GB"/>
              <a:t>d</a:t>
            </a:r>
            <a:r>
              <a:rPr lang="en-GB"/>
              <a:t>ocumentare                                 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Speech-to-Text</a:t>
            </a:r>
            <a:r>
              <a:rPr lang="en-GB"/>
              <a:t> 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Prezentare – perspectivă de business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00">
                <a:latin typeface="Arial"/>
                <a:ea typeface="Arial"/>
                <a:cs typeface="Arial"/>
                <a:sym typeface="Arial"/>
              </a:rPr>
              <a:t>Descrierea pieței</a:t>
            </a:r>
            <a:endParaRPr sz="45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227800" y="1473550"/>
            <a:ext cx="3723600" cy="34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Sistemul medical modern este puternic afectat de timpul excesiv alocat documentării clinice.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Medicii petrec zilnic între </a:t>
            </a: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25–40% din timpul de lucru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completând documente, în detrimentul actului medical propriu-zis.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Oportunitate</a:t>
            </a:r>
            <a:br>
              <a:rPr b="1" lang="en-GB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400">
                <a:latin typeface="Arial"/>
                <a:ea typeface="Arial"/>
                <a:cs typeface="Arial"/>
                <a:sym typeface="Arial"/>
              </a:rPr>
              <a:t>Digitalizarea accelerată a sistemului medical creează o cerere clară pentru soluții care </a:t>
            </a: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optimizează procesele administrative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, în special pe piețe locale insuficient acoperite.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4"/>
          <p:cNvSpPr txBox="1"/>
          <p:nvPr>
            <p:ph idx="1" type="body"/>
          </p:nvPr>
        </p:nvSpPr>
        <p:spPr>
          <a:xfrm>
            <a:off x="4572000" y="1473500"/>
            <a:ext cx="3723600" cy="34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Segmentarea pieței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cabinete și clinici ambulatorii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servicii de telemedicină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personal medical aflat în formare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Nevoile clienților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documentare rapidă și corectă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structurarea automată a informațiilor medicale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integrare facilă în fluxul de lucru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3949" y="4132286"/>
            <a:ext cx="769950" cy="76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6449" y="188299"/>
            <a:ext cx="1324950" cy="132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3000">
                <a:latin typeface="Arial"/>
                <a:ea typeface="Arial"/>
                <a:cs typeface="Arial"/>
                <a:sym typeface="Arial"/>
              </a:rPr>
              <a:t>Analiza industriei și competitivității</a:t>
            </a:r>
            <a:endParaRPr b="1" sz="3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5"/>
          <p:cNvSpPr txBox="1"/>
          <p:nvPr>
            <p:ph idx="1" type="body"/>
          </p:nvPr>
        </p:nvSpPr>
        <p:spPr>
          <a:xfrm>
            <a:off x="253750" y="1398550"/>
            <a:ext cx="3591300" cy="3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Piața este dominată de soluții consacrate precum </a:t>
            </a: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Nuance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Google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și </a:t>
            </a: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Amazon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, recunoscute pentru acuratețe și scalabilitate.</a:t>
            </a:r>
            <a:br>
              <a:rPr lang="en-GB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Poziționare competitivă</a:t>
            </a:r>
            <a:br>
              <a:rPr b="1" lang="en-GB" sz="1400">
                <a:latin typeface="Arial"/>
                <a:ea typeface="Arial"/>
                <a:cs typeface="Arial"/>
                <a:sym typeface="Arial"/>
              </a:rPr>
            </a:br>
            <a:r>
              <a:rPr lang="en-GB" sz="1400">
                <a:latin typeface="Arial"/>
                <a:ea typeface="Arial"/>
                <a:cs typeface="Arial"/>
                <a:sym typeface="Arial"/>
              </a:rPr>
              <a:t> Soluția noastră se diferențiază prin </a:t>
            </a: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adaptarea la contextul local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extragerea automată de date structurate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și </a:t>
            </a: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ușurința de adoptare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în medii medicale mici și medii.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5"/>
          <p:cNvSpPr txBox="1"/>
          <p:nvPr>
            <p:ph idx="1" type="body"/>
          </p:nvPr>
        </p:nvSpPr>
        <p:spPr>
          <a:xfrm>
            <a:off x="4745100" y="1398550"/>
            <a:ext cx="3591300" cy="164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Limitări identificate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7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costuri 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ridicate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implementare 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complexă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orientare către organizații mari</a:t>
            </a:r>
            <a:br>
              <a:rPr lang="en-GB" sz="12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suport limitat pentru limba română</a:t>
            </a:r>
            <a:endParaRPr sz="1200"/>
          </a:p>
        </p:txBody>
      </p:sp>
      <p:pic>
        <p:nvPicPr>
          <p:cNvPr id="152" name="Google Shape;15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750" y="2295425"/>
            <a:ext cx="552625" cy="55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1120" y="2488423"/>
            <a:ext cx="830453" cy="55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14150" y="2051825"/>
            <a:ext cx="719900" cy="51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89738" y="2909125"/>
            <a:ext cx="3102025" cy="206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4500">
                <a:latin typeface="Arial"/>
                <a:ea typeface="Arial"/>
                <a:cs typeface="Arial"/>
                <a:sym typeface="Arial"/>
              </a:rPr>
              <a:t>Valoarea oferită</a:t>
            </a:r>
            <a:endParaRPr b="1" sz="4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6"/>
          <p:cNvSpPr txBox="1"/>
          <p:nvPr>
            <p:ph idx="1" type="body"/>
          </p:nvPr>
        </p:nvSpPr>
        <p:spPr>
          <a:xfrm>
            <a:off x="184550" y="1372600"/>
            <a:ext cx="3888600" cy="35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Soluția este concepută pentru a funcționa </a:t>
            </a: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discret, eficient și predictibil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, sprijinind activitatea medicului fără a-i modifica obiceiurile de lucru.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În medie, soluția reduce </a:t>
            </a:r>
            <a:r>
              <a:rPr b="1" lang="en-GB">
                <a:latin typeface="Arial"/>
                <a:ea typeface="Arial"/>
                <a:cs typeface="Arial"/>
                <a:sym typeface="Arial"/>
              </a:rPr>
              <a:t>timpul de documentare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 cu </a:t>
            </a:r>
            <a:r>
              <a:rPr lang="en-GB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30–50%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, crescând numărul de consultații zilnice fără efort suplimentar.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6"/>
          <p:cNvSpPr txBox="1"/>
          <p:nvPr>
            <p:ph idx="1" type="body"/>
          </p:nvPr>
        </p:nvSpPr>
        <p:spPr>
          <a:xfrm>
            <a:off x="4506900" y="1372600"/>
            <a:ext cx="4458600" cy="16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Prin automatizarea completării formularelor medicale: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02418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GB" sz="1500">
                <a:latin typeface="Arial"/>
                <a:ea typeface="Arial"/>
                <a:cs typeface="Arial"/>
                <a:sym typeface="Arial"/>
              </a:rPr>
              <a:t>se reduce semnificativ timpul alocat documentării</a:t>
            </a:r>
            <a:br>
              <a:rPr lang="en-GB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02418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GB" sz="1500">
                <a:latin typeface="Arial"/>
                <a:ea typeface="Arial"/>
                <a:cs typeface="Arial"/>
                <a:sym typeface="Arial"/>
              </a:rPr>
              <a:t>se minimizează introducerea manuală repetitivă a datelor</a:t>
            </a:r>
            <a:br>
              <a:rPr lang="en-GB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292576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6666"/>
              <a:buChar char="●"/>
            </a:pPr>
            <a:r>
              <a:rPr lang="en-GB" sz="1500">
                <a:latin typeface="Arial"/>
                <a:ea typeface="Arial"/>
                <a:cs typeface="Arial"/>
                <a:sym typeface="Arial"/>
              </a:rPr>
              <a:t>medicul își poate concentra atenția asupra consultației</a:t>
            </a:r>
            <a:br>
              <a:rPr lang="en-GB"/>
            </a:br>
            <a:endParaRPr sz="1400"/>
          </a:p>
        </p:txBody>
      </p:sp>
      <p:pic>
        <p:nvPicPr>
          <p:cNvPr id="163" name="Google Shape;163;p16" title="Untitled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2513" y="2914550"/>
            <a:ext cx="4067374" cy="2031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4500">
                <a:latin typeface="Arial"/>
                <a:ea typeface="Arial"/>
                <a:cs typeface="Arial"/>
                <a:sym typeface="Arial"/>
              </a:rPr>
              <a:t>Modelul de business</a:t>
            </a:r>
            <a:endParaRPr b="1" sz="4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7"/>
          <p:cNvSpPr txBox="1"/>
          <p:nvPr>
            <p:ph idx="1" type="body"/>
          </p:nvPr>
        </p:nvSpPr>
        <p:spPr>
          <a:xfrm>
            <a:off x="5343875" y="2529150"/>
            <a:ext cx="3454200" cy="18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00"/>
              <a:buFont typeface="Arial"/>
              <a:buChar char="●"/>
            </a:pPr>
            <a:r>
              <a:rPr b="1" lang="en-GB" sz="1000">
                <a:latin typeface="Arial"/>
                <a:ea typeface="Arial"/>
                <a:cs typeface="Arial"/>
                <a:sym typeface="Arial"/>
              </a:rPr>
              <a:t>Parteneri cheie</a:t>
            </a:r>
            <a:r>
              <a:rPr lang="en-GB" sz="1000">
                <a:latin typeface="Arial"/>
                <a:ea typeface="Arial"/>
                <a:cs typeface="Arial"/>
                <a:sym typeface="Arial"/>
              </a:rPr>
              <a:t>: furnizori AI, unități medicale</a:t>
            </a:r>
            <a:br>
              <a:rPr lang="en-GB" sz="1000">
                <a:latin typeface="Arial"/>
                <a:ea typeface="Arial"/>
                <a:cs typeface="Arial"/>
                <a:sym typeface="Arial"/>
              </a:rPr>
            </a:b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●"/>
            </a:pPr>
            <a:r>
              <a:rPr b="1" lang="en-GB" sz="1000">
                <a:latin typeface="Arial"/>
                <a:ea typeface="Arial"/>
                <a:cs typeface="Arial"/>
                <a:sym typeface="Arial"/>
              </a:rPr>
              <a:t>Activități cheie</a:t>
            </a:r>
            <a:r>
              <a:rPr lang="en-GB" sz="1000">
                <a:latin typeface="Arial"/>
                <a:ea typeface="Arial"/>
                <a:cs typeface="Arial"/>
                <a:sym typeface="Arial"/>
              </a:rPr>
              <a:t>: procesare audio, extragere date, mentenanță</a:t>
            </a:r>
            <a:br>
              <a:rPr lang="en-GB" sz="1000">
                <a:latin typeface="Arial"/>
                <a:ea typeface="Arial"/>
                <a:cs typeface="Arial"/>
                <a:sym typeface="Arial"/>
              </a:rPr>
            </a:b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●"/>
            </a:pPr>
            <a:r>
              <a:rPr b="1" lang="en-GB" sz="1000">
                <a:latin typeface="Arial"/>
                <a:ea typeface="Arial"/>
                <a:cs typeface="Arial"/>
                <a:sym typeface="Arial"/>
              </a:rPr>
              <a:t>Resurse cheie</a:t>
            </a:r>
            <a:r>
              <a:rPr lang="en-GB" sz="1000">
                <a:latin typeface="Arial"/>
                <a:ea typeface="Arial"/>
                <a:cs typeface="Arial"/>
                <a:sym typeface="Arial"/>
              </a:rPr>
              <a:t>: platforma software, modelele AI</a:t>
            </a:r>
            <a:br>
              <a:rPr lang="en-GB" sz="1000">
                <a:latin typeface="Arial"/>
                <a:ea typeface="Arial"/>
                <a:cs typeface="Arial"/>
                <a:sym typeface="Arial"/>
              </a:rPr>
            </a:br>
            <a:endParaRPr i="1"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●"/>
            </a:pPr>
            <a:r>
              <a:rPr b="1" lang="en-GB" sz="1000">
                <a:latin typeface="Arial"/>
                <a:ea typeface="Arial"/>
                <a:cs typeface="Arial"/>
                <a:sym typeface="Arial"/>
              </a:rPr>
              <a:t>Segmente de clienți</a:t>
            </a:r>
            <a:r>
              <a:rPr lang="en-GB" sz="1000">
                <a:latin typeface="Arial"/>
                <a:ea typeface="Arial"/>
                <a:cs typeface="Arial"/>
                <a:sym typeface="Arial"/>
              </a:rPr>
              <a:t>: cabinete, clinici, spitale</a:t>
            </a:r>
            <a:br>
              <a:rPr lang="en-GB" sz="1000">
                <a:latin typeface="Arial"/>
                <a:ea typeface="Arial"/>
                <a:cs typeface="Arial"/>
                <a:sym typeface="Arial"/>
              </a:rPr>
            </a:b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●"/>
            </a:pPr>
            <a:r>
              <a:rPr b="1" lang="en-GB" sz="1000">
                <a:latin typeface="Arial"/>
                <a:ea typeface="Arial"/>
                <a:cs typeface="Arial"/>
                <a:sym typeface="Arial"/>
              </a:rPr>
              <a:t>Modalitatea de utilizare a soluției</a:t>
            </a:r>
            <a:r>
              <a:rPr lang="en-GB" sz="1000">
                <a:latin typeface="Arial"/>
                <a:ea typeface="Arial"/>
                <a:cs typeface="Arial"/>
                <a:sym typeface="Arial"/>
              </a:rPr>
              <a:t>: colaborări directe, testare inițială prin proiecte pilot</a:t>
            </a:r>
            <a:br>
              <a:rPr lang="en-GB" sz="1000">
                <a:latin typeface="Arial"/>
                <a:ea typeface="Arial"/>
                <a:cs typeface="Arial"/>
                <a:sym typeface="Arial"/>
              </a:rPr>
            </a:b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Char char="●"/>
            </a:pPr>
            <a:r>
              <a:rPr b="1" lang="en-GB" sz="1000">
                <a:latin typeface="Arial"/>
                <a:ea typeface="Arial"/>
                <a:cs typeface="Arial"/>
                <a:sym typeface="Arial"/>
              </a:rPr>
              <a:t>Relația cu clienții</a:t>
            </a:r>
            <a:r>
              <a:rPr lang="en-GB" sz="1000">
                <a:latin typeface="Arial"/>
                <a:ea typeface="Arial"/>
                <a:cs typeface="Arial"/>
                <a:sym typeface="Arial"/>
              </a:rPr>
              <a:t>: configurare inițială a sistemului și suport tehnic de bază</a:t>
            </a:r>
            <a:br>
              <a:rPr lang="en-GB" sz="1000">
                <a:latin typeface="Arial"/>
                <a:ea typeface="Arial"/>
                <a:cs typeface="Arial"/>
                <a:sym typeface="Arial"/>
              </a:rPr>
            </a:br>
            <a:endParaRPr sz="1000"/>
          </a:p>
        </p:txBody>
      </p:sp>
      <p:sp>
        <p:nvSpPr>
          <p:cNvPr id="170" name="Google Shape;170;p17"/>
          <p:cNvSpPr txBox="1"/>
          <p:nvPr/>
        </p:nvSpPr>
        <p:spPr>
          <a:xfrm>
            <a:off x="5473200" y="1264050"/>
            <a:ext cx="3324900" cy="12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800">
                <a:solidFill>
                  <a:srgbClr val="FF0000"/>
                </a:solidFill>
              </a:rPr>
              <a:t>Propoziție de valoare</a:t>
            </a:r>
            <a:r>
              <a:rPr b="1" lang="en-GB" sz="1800">
                <a:solidFill>
                  <a:schemeClr val="lt1"/>
                </a:solidFill>
              </a:rPr>
              <a:t>:</a:t>
            </a:r>
            <a:br>
              <a:rPr b="1" lang="en-GB" sz="1600">
                <a:solidFill>
                  <a:schemeClr val="lt1"/>
                </a:solidFill>
              </a:rPr>
            </a:br>
            <a:r>
              <a:rPr i="1" lang="en-GB" sz="1500">
                <a:solidFill>
                  <a:schemeClr val="lt1"/>
                </a:solidFill>
              </a:rPr>
              <a:t>Un sistem medical care </a:t>
            </a:r>
            <a:r>
              <a:rPr b="1" i="1" lang="en-GB" sz="1500">
                <a:solidFill>
                  <a:schemeClr val="lt1"/>
                </a:solidFill>
              </a:rPr>
              <a:t>transformă</a:t>
            </a:r>
            <a:r>
              <a:rPr i="1" lang="en-GB" sz="1500">
                <a:solidFill>
                  <a:schemeClr val="lt1"/>
                </a:solidFill>
              </a:rPr>
              <a:t> vocea medicului în documente </a:t>
            </a:r>
            <a:r>
              <a:rPr b="1" i="1" lang="en-GB" sz="1500">
                <a:solidFill>
                  <a:schemeClr val="lt1"/>
                </a:solidFill>
              </a:rPr>
              <a:t>clinice structurate</a:t>
            </a:r>
            <a:r>
              <a:rPr i="1" lang="en-GB" sz="1500">
                <a:solidFill>
                  <a:schemeClr val="lt1"/>
                </a:solidFill>
              </a:rPr>
              <a:t>.</a:t>
            </a:r>
            <a:endParaRPr sz="1500"/>
          </a:p>
        </p:txBody>
      </p:sp>
      <p:sp>
        <p:nvSpPr>
          <p:cNvPr id="171" name="Google Shape;171;p17"/>
          <p:cNvSpPr txBox="1"/>
          <p:nvPr/>
        </p:nvSpPr>
        <p:spPr>
          <a:xfrm>
            <a:off x="984050" y="1307850"/>
            <a:ext cx="4086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0000"/>
                </a:solidFill>
              </a:rPr>
              <a:t>Monetizare</a:t>
            </a:r>
            <a:endParaRPr sz="15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Abonament per </a:t>
            </a:r>
            <a:r>
              <a:rPr b="1" lang="en-GB">
                <a:solidFill>
                  <a:schemeClr val="lt1"/>
                </a:solidFill>
              </a:rPr>
              <a:t>medic</a:t>
            </a:r>
            <a:r>
              <a:rPr lang="en-GB">
                <a:solidFill>
                  <a:schemeClr val="lt1"/>
                </a:solidFill>
              </a:rPr>
              <a:t> sau per </a:t>
            </a:r>
            <a:r>
              <a:rPr b="1" lang="en-GB">
                <a:solidFill>
                  <a:schemeClr val="lt1"/>
                </a:solidFill>
              </a:rPr>
              <a:t>unitate medicală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lt1"/>
                </a:solidFill>
              </a:rPr>
              <a:t>Scalarea veniturilor</a:t>
            </a:r>
            <a:r>
              <a:rPr lang="en-GB" sz="1300">
                <a:solidFill>
                  <a:schemeClr val="lt1"/>
                </a:solidFill>
              </a:rPr>
              <a:t> este direct proporțională cu numărul de utilizatori, </a:t>
            </a:r>
            <a:r>
              <a:rPr b="1" lang="en-GB" sz="1300">
                <a:solidFill>
                  <a:schemeClr val="lt1"/>
                </a:solidFill>
              </a:rPr>
              <a:t>fără</a:t>
            </a:r>
            <a:r>
              <a:rPr lang="en-GB" sz="1300">
                <a:solidFill>
                  <a:schemeClr val="lt1"/>
                </a:solidFill>
              </a:rPr>
              <a:t> costuri operaționale majore suplimentare.</a:t>
            </a:r>
            <a:endParaRPr sz="1300">
              <a:solidFill>
                <a:schemeClr val="lt1"/>
              </a:solidFill>
            </a:endParaRPr>
          </a:p>
        </p:txBody>
      </p:sp>
      <p:pic>
        <p:nvPicPr>
          <p:cNvPr id="172" name="Google Shape;17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3050" y="2539350"/>
            <a:ext cx="3708000" cy="229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500"/>
              <a:t>Observații tehnice</a:t>
            </a:r>
            <a:endParaRPr b="1" sz="4500"/>
          </a:p>
        </p:txBody>
      </p:sp>
      <p:sp>
        <p:nvSpPr>
          <p:cNvPr id="178" name="Google Shape;178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Datele pacienților și fișele lor medicale sunt stocate în mod sigur în Firebase, oferind criptare automată și 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backup-uri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periodice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Prin sistemul de autentificare, fiecare doctor are acces la un cont securizat, putând să interacționeze doar cu pacienții săi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Aplicația este disponibilă online, fiind accesibilă de pe orice dispozitiv electronic, fără să fie nevoie de instalare de software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"/>
          <p:cNvSpPr txBox="1"/>
          <p:nvPr>
            <p:ph type="title"/>
          </p:nvPr>
        </p:nvSpPr>
        <p:spPr>
          <a:xfrm>
            <a:off x="1313325" y="335500"/>
            <a:ext cx="7038900" cy="5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 la </a:t>
            </a:r>
            <a:r>
              <a:rPr lang="en-GB">
                <a:latin typeface="Arial"/>
                <a:ea typeface="Arial"/>
                <a:cs typeface="Arial"/>
                <a:sym typeface="Arial"/>
              </a:rPr>
              <a:t>î</a:t>
            </a:r>
            <a:r>
              <a:rPr lang="en-GB"/>
              <a:t>nregistrare la Document</a:t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905550" y="1611206"/>
            <a:ext cx="1812300" cy="106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85" name="Google Shape;185;p19"/>
          <p:cNvCxnSpPr>
            <a:stCxn id="184" idx="3"/>
            <a:endCxn id="186" idx="1"/>
          </p:cNvCxnSpPr>
          <p:nvPr/>
        </p:nvCxnSpPr>
        <p:spPr>
          <a:xfrm flipH="1" rot="10800000">
            <a:off x="2717850" y="1848356"/>
            <a:ext cx="3471900" cy="297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19"/>
          <p:cNvCxnSpPr>
            <a:stCxn id="186" idx="2"/>
            <a:endCxn id="188" idx="3"/>
          </p:cNvCxnSpPr>
          <p:nvPr/>
        </p:nvCxnSpPr>
        <p:spPr>
          <a:xfrm rot="5400000">
            <a:off x="5294100" y="2566581"/>
            <a:ext cx="1986000" cy="1617600"/>
          </a:xfrm>
          <a:prstGeom prst="curvedConnector2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19"/>
          <p:cNvCxnSpPr>
            <a:stCxn id="184" idx="2"/>
            <a:endCxn id="188" idx="1"/>
          </p:cNvCxnSpPr>
          <p:nvPr/>
        </p:nvCxnSpPr>
        <p:spPr>
          <a:xfrm flipH="1" rot="-5400000">
            <a:off x="1894350" y="2596856"/>
            <a:ext cx="1689000" cy="1854300"/>
          </a:xfrm>
          <a:prstGeom prst="curvedConnector2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" name="Google Shape;190;p19"/>
          <p:cNvSpPr txBox="1"/>
          <p:nvPr/>
        </p:nvSpPr>
        <p:spPr>
          <a:xfrm>
            <a:off x="1342800" y="1945250"/>
            <a:ext cx="93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Frontend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6189750" y="1314081"/>
            <a:ext cx="1812300" cy="106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3665850" y="3834256"/>
            <a:ext cx="1812300" cy="106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6189750" y="1555725"/>
            <a:ext cx="1812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Backend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Model Text to Speech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2" name="Google Shape;192;p19"/>
          <p:cNvSpPr txBox="1"/>
          <p:nvPr/>
        </p:nvSpPr>
        <p:spPr>
          <a:xfrm>
            <a:off x="3665850" y="4075900"/>
            <a:ext cx="1812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Backend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Google Genma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3" name="Google Shape;193;p19"/>
          <p:cNvSpPr txBox="1"/>
          <p:nvPr/>
        </p:nvSpPr>
        <p:spPr>
          <a:xfrm rot="-251962">
            <a:off x="3127859" y="1515238"/>
            <a:ext cx="2777657" cy="36924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î</a:t>
            </a:r>
            <a:r>
              <a:rPr lang="en-GB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nregistrarea este trimis</a:t>
            </a:r>
            <a:r>
              <a:rPr lang="en-GB" sz="1100">
                <a:solidFill>
                  <a:schemeClr val="lt1"/>
                </a:solidFill>
              </a:rPr>
              <a:t>ă</a:t>
            </a:r>
            <a:r>
              <a:rPr lang="en-GB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c</a:t>
            </a:r>
            <a:r>
              <a:rPr lang="en-GB" sz="1100">
                <a:solidFill>
                  <a:schemeClr val="lt1"/>
                </a:solidFill>
              </a:rPr>
              <a:t>ă</a:t>
            </a:r>
            <a:r>
              <a:rPr lang="en-GB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tre backend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 rot="-1813">
            <a:off x="7046575" y="3041757"/>
            <a:ext cx="1707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</a:rPr>
              <a:t>î</a:t>
            </a:r>
            <a:r>
              <a:rPr lang="en-GB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nregistrarea este convertit</a:t>
            </a:r>
            <a:r>
              <a:rPr lang="en-GB" sz="1100">
                <a:solidFill>
                  <a:schemeClr val="lt1"/>
                </a:solidFill>
              </a:rPr>
              <a:t>ă</a:t>
            </a:r>
            <a:r>
              <a:rPr lang="en-GB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GB" sz="1200">
                <a:solidFill>
                  <a:schemeClr val="lt1"/>
                </a:solidFill>
              </a:rPr>
              <a:t>î</a:t>
            </a:r>
            <a:r>
              <a:rPr lang="en-GB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 text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 rot="-1813">
            <a:off x="534025" y="3740157"/>
            <a:ext cx="1707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Textul</a:t>
            </a:r>
            <a:r>
              <a:rPr lang="en-GB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este convertit </a:t>
            </a:r>
            <a:r>
              <a:rPr lang="en-GB" sz="1200">
                <a:solidFill>
                  <a:schemeClr val="lt1"/>
                </a:solidFill>
              </a:rPr>
              <a:t>î</a:t>
            </a:r>
            <a:r>
              <a:rPr lang="en-GB"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ntr-un JSON</a:t>
            </a:r>
            <a:endParaRPr sz="11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"/>
          <p:cNvSpPr txBox="1"/>
          <p:nvPr>
            <p:ph type="title"/>
          </p:nvPr>
        </p:nvSpPr>
        <p:spPr>
          <a:xfrm>
            <a:off x="1297500" y="417400"/>
            <a:ext cx="70389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Modelul Whisper fine-tuned</a:t>
            </a:r>
            <a:endParaRPr/>
          </a:p>
        </p:txBody>
      </p:sp>
      <p:sp>
        <p:nvSpPr>
          <p:cNvPr id="201" name="Google Shape;201;p20"/>
          <p:cNvSpPr txBox="1"/>
          <p:nvPr>
            <p:ph idx="1" type="body"/>
          </p:nvPr>
        </p:nvSpPr>
        <p:spPr>
          <a:xfrm>
            <a:off x="1157350" y="1105350"/>
            <a:ext cx="3711900" cy="13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16"/>
              <a:t>Dataset utilizat</a:t>
            </a:r>
            <a:endParaRPr sz="1816"/>
          </a:p>
          <a:p>
            <a:pPr indent="-300264" lvl="0" marL="457200" rtl="0" algn="just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GB" sz="1456">
                <a:latin typeface="Arial"/>
                <a:ea typeface="Arial"/>
                <a:cs typeface="Arial"/>
                <a:sym typeface="Arial"/>
              </a:rPr>
              <a:t>110 </a:t>
            </a:r>
            <a:r>
              <a:rPr lang="en-GB" sz="1458">
                <a:latin typeface="Arial"/>
                <a:ea typeface="Arial"/>
                <a:cs typeface="Arial"/>
                <a:sym typeface="Arial"/>
              </a:rPr>
              <a:t>înregistrări</a:t>
            </a:r>
            <a:endParaRPr sz="1456">
              <a:latin typeface="Arial"/>
              <a:ea typeface="Arial"/>
              <a:cs typeface="Arial"/>
              <a:sym typeface="Arial"/>
            </a:endParaRPr>
          </a:p>
          <a:p>
            <a:pPr indent="-300264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-GB" sz="1456">
                <a:latin typeface="Arial"/>
                <a:ea typeface="Arial"/>
                <a:cs typeface="Arial"/>
                <a:sym typeface="Arial"/>
              </a:rPr>
              <a:t>Zgomote introduse pentru a simula scenarii reale</a:t>
            </a:r>
            <a:endParaRPr sz="1456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0"/>
          <p:cNvSpPr txBox="1"/>
          <p:nvPr>
            <p:ph idx="1" type="body"/>
          </p:nvPr>
        </p:nvSpPr>
        <p:spPr>
          <a:xfrm>
            <a:off x="5082300" y="1074375"/>
            <a:ext cx="3883200" cy="12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Rezultate obtinute</a:t>
            </a:r>
            <a:endParaRPr sz="1500"/>
          </a:p>
          <a:p>
            <a:pPr indent="-299781" lvl="0" marL="457200" rtl="0" algn="just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SzPts val="1121"/>
              <a:buFont typeface="Arial"/>
              <a:buChar char="●"/>
            </a:pPr>
            <a:r>
              <a:rPr lang="en-GB" sz="1120">
                <a:latin typeface="Arial"/>
                <a:ea typeface="Arial"/>
                <a:cs typeface="Arial"/>
                <a:sym typeface="Arial"/>
              </a:rPr>
              <a:t>CER Mediu: 1.808 (2.3304 </a:t>
            </a:r>
            <a:r>
              <a:rPr lang="en-GB" sz="1100">
                <a:latin typeface="Arial"/>
                <a:ea typeface="Arial"/>
                <a:cs typeface="Arial"/>
                <a:sym typeface="Arial"/>
              </a:rPr>
              <a:t>î</a:t>
            </a:r>
            <a:r>
              <a:rPr lang="en-GB" sz="1120">
                <a:latin typeface="Arial"/>
                <a:ea typeface="Arial"/>
                <a:cs typeface="Arial"/>
                <a:sym typeface="Arial"/>
              </a:rPr>
              <a:t>nainte de antrenare)</a:t>
            </a:r>
            <a:endParaRPr sz="1120">
              <a:latin typeface="Arial"/>
              <a:ea typeface="Arial"/>
              <a:cs typeface="Arial"/>
              <a:sym typeface="Arial"/>
            </a:endParaRPr>
          </a:p>
          <a:p>
            <a:pPr indent="-299781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121"/>
              <a:buFont typeface="Arial"/>
              <a:buChar char="●"/>
            </a:pPr>
            <a:r>
              <a:rPr lang="en-GB" sz="1120">
                <a:latin typeface="Arial"/>
                <a:ea typeface="Arial"/>
                <a:cs typeface="Arial"/>
                <a:sym typeface="Arial"/>
              </a:rPr>
              <a:t>WER Mediu: 4.607 (6.8588 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î</a:t>
            </a:r>
            <a:r>
              <a:rPr lang="en-GB" sz="1120">
                <a:latin typeface="Arial"/>
                <a:ea typeface="Arial"/>
                <a:cs typeface="Arial"/>
                <a:sym typeface="Arial"/>
              </a:rPr>
              <a:t>nainte de antrenare)</a:t>
            </a:r>
            <a:endParaRPr sz="112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0"/>
          <p:cNvSpPr txBox="1"/>
          <p:nvPr>
            <p:ph idx="1" type="body"/>
          </p:nvPr>
        </p:nvSpPr>
        <p:spPr>
          <a:xfrm>
            <a:off x="1952900" y="2620700"/>
            <a:ext cx="5978100" cy="17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Posibile </a:t>
            </a:r>
            <a:r>
              <a:rPr lang="en-GB" sz="1500">
                <a:latin typeface="Arial"/>
                <a:ea typeface="Arial"/>
                <a:cs typeface="Arial"/>
                <a:sym typeface="Arial"/>
              </a:rPr>
              <a:t>îmbunătățiri</a:t>
            </a:r>
            <a:endParaRPr sz="1500"/>
          </a:p>
          <a:p>
            <a:pPr indent="-317500" lvl="0" marL="45720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Dataset mai mare cu mai multe 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înregistrări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înregistrări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mai variate cu pronun</a:t>
            </a:r>
            <a:r>
              <a:rPr lang="en-GB" sz="1433">
                <a:latin typeface="Arial"/>
                <a:ea typeface="Arial"/>
                <a:cs typeface="Arial"/>
                <a:sym typeface="Arial"/>
              </a:rPr>
              <a:t>ț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ii diferite 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și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viteze diferite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Antrenarea unor modele de 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bază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mai mari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GB" sz="4500">
                <a:latin typeface="Arial"/>
                <a:ea typeface="Arial"/>
                <a:cs typeface="Arial"/>
                <a:sym typeface="Arial"/>
              </a:rPr>
              <a:t>Concluzie si directii viitoare</a:t>
            </a:r>
            <a:endParaRPr b="1" sz="4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1"/>
          <p:cNvSpPr txBox="1"/>
          <p:nvPr>
            <p:ph idx="1" type="body"/>
          </p:nvPr>
        </p:nvSpPr>
        <p:spPr>
          <a:xfrm>
            <a:off x="271050" y="1567550"/>
            <a:ext cx="8616300" cy="31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Soluția prezentată demonstrează modul în care tehnologiile moderne de </a:t>
            </a: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Speech-to-Text și inteligență artificială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pot contribui la </a:t>
            </a: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optimizarea proceselor medicale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, reducând sarcina administrativă și îmbunătățind eficiența actului medical.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Prin accentul pus pe </a:t>
            </a: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structurarea automată a datelor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limba română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 și </a:t>
            </a:r>
            <a:r>
              <a:rPr b="1" lang="en-GB" sz="1400">
                <a:latin typeface="Arial"/>
                <a:ea typeface="Arial"/>
                <a:cs typeface="Arial"/>
                <a:sym typeface="Arial"/>
              </a:rPr>
              <a:t>ușurința de utilizare</a:t>
            </a:r>
            <a:r>
              <a:rPr lang="en-GB" sz="1400">
                <a:latin typeface="Arial"/>
                <a:ea typeface="Arial"/>
                <a:cs typeface="Arial"/>
                <a:sym typeface="Arial"/>
              </a:rPr>
              <a:t>, sistemul propus reprezintă un pas concret către digitalizarea inteligentă a documentației medicale.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Echipa proiectului: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Chișu Vlad Tudo</a:t>
            </a: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1" lang="en-GB" sz="1200">
                <a:latin typeface="Arial"/>
                <a:ea typeface="Arial"/>
                <a:cs typeface="Arial"/>
                <a:sym typeface="Arial"/>
              </a:rPr>
              <a:t>Sebi Mihai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