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ustomXml" Target="../customXml/item3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o-R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ro-R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AC36D-1419-41A1-8A87-8BA0FE93E5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o-R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o-R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E08A6E-07CA-4F91-A6C9-BCBD36EF30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hu-H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o-R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ro-R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o-R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ro-R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o-R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ro-R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o-R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ro-R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o-R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o-R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o-R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o-R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2C2DEB-DA9D-4E35-8C3F-70D2AA3E253D}" type="slidenum">
              <a:rPr lang="ro-R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&lt;szám&gt;</a:t>
            </a:fld>
            <a:endParaRPr lang="ro-R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720" y="21600"/>
            <a:ext cx="10079640" cy="564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180000"/>
            <a:ext cx="4860000" cy="209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MedTrain AI: Democratizing Medical Model Training</a:t>
            </a:r>
            <a:endParaRPr lang="ro-R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931680" y="2466360"/>
            <a:ext cx="392832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o-RO" sz="2000" b="1" u="none" strike="noStrike">
                <a:solidFill>
                  <a:srgbClr val="ffbf00"/>
                </a:solidFill>
                <a:effectLst/>
                <a:uFillTx/>
                <a:latin typeface="Arial"/>
                <a:ea typeface="Microsoft YaHei"/>
              </a:rPr>
              <a:t>A universal, no-code environment for training and validating </a:t>
            </a:r>
            <a:r>
              <a:rPr lang="ro-RO" sz="2000" b="1" i="1" u="none" strike="noStrike">
                <a:solidFill>
                  <a:srgbClr val="ffbf00"/>
                </a:solidFill>
                <a:effectLst/>
                <a:uFillTx/>
                <a:latin typeface="Arial"/>
                <a:ea typeface="Microsoft YaHei"/>
              </a:rPr>
              <a:t>any</a:t>
            </a:r>
            <a:r>
              <a:rPr lang="ro-RO" sz="2000" b="1" u="none" strike="noStrike">
                <a:solidFill>
                  <a:srgbClr val="ffbf00"/>
                </a:solidFill>
                <a:effectLst/>
                <a:uFillTx/>
                <a:latin typeface="Arial"/>
                <a:ea typeface="Microsoft YaHei"/>
              </a:rPr>
              <a:t> diagnostic AI model.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40000" y="5040000"/>
            <a:ext cx="8640000" cy="56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Train. Deploy. | Powered by NVIDIA &amp; Clinical Partners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360" y="72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20000" y="82440"/>
            <a:ext cx="4828320" cy="11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o-RO" sz="3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User &amp; The Problem</a:t>
            </a:r>
            <a:endParaRPr lang="ro-RO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160000" y="2340360"/>
            <a:ext cx="252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„Dr. John Thome”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- The Archetype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400" b="1" i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Role:</a:t>
            </a:r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</a:t>
            </a:r>
            <a:r>
              <a:rPr lang="ro-RO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research scientist &amp; Clinician 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400" b="1" i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Frustration:</a:t>
            </a:r>
            <a:r>
              <a:rPr lang="ro-RO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manual, slow interpreation, limited software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400000" y="2340000"/>
            <a:ext cx="2700000" cy="272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400" b="1" i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Inertia:</a:t>
            </a:r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42%</a:t>
            </a:r>
            <a:r>
              <a:rPr lang="ro-RO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of our target audience is </a:t>
            </a:r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51+ </a:t>
            </a:r>
            <a:r>
              <a:rPr lang="ro-RO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years old. They have deep expertise, but little coding literacy 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400" b="1" i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„Black box fear”:</a:t>
            </a:r>
            <a:r>
              <a:rPr lang="ro-RO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resistance to AI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0" y="60480"/>
            <a:ext cx="10111680" cy="533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800000" y="180000"/>
            <a:ext cx="5940000" cy="15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o-RO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One Platform, Infinite Models</a:t>
            </a:r>
            <a:endParaRPr lang="ro-R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60000" y="2373480"/>
            <a:ext cx="1800000" cy="10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Import: Drag &amp; Drop any Model Architecture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2"/>
          <a:stretch/>
        </p:blipFill>
        <p:spPr>
          <a:xfrm>
            <a:off x="3399840" y="3131280"/>
            <a:ext cx="723960" cy="7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2880000" y="2340000"/>
            <a:ext cx="1800000" cy="10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Train: Upload local patient datasets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3"/>
          <a:stretch/>
        </p:blipFill>
        <p:spPr>
          <a:xfrm>
            <a:off x="720000" y="3060000"/>
            <a:ext cx="891720" cy="9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"/>
          <p:cNvSpPr txBox="1"/>
          <p:nvPr/>
        </p:nvSpPr>
        <p:spPr>
          <a:xfrm>
            <a:off x="5308920" y="2340360"/>
            <a:ext cx="1800000" cy="124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Combine: merge new uploads with historical data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4"/>
          <a:stretch/>
        </p:blipFill>
        <p:spPr>
          <a:xfrm>
            <a:off x="5823720" y="3159720"/>
            <a:ext cx="720000" cy="7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7812720" y="2347200"/>
            <a:ext cx="1800000" cy="144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Validate: visual explainability and confidence scores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5"/>
          <a:stretch/>
        </p:blipFill>
        <p:spPr>
          <a:xfrm>
            <a:off x="8460000" y="3240000"/>
            <a:ext cx="720000" cy="7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00000" y="0"/>
            <a:ext cx="5940000" cy="15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o-RO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Market Entry: Cardiology</a:t>
            </a:r>
            <a:endParaRPr lang="ro-RO" sz="3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678680" y="2359800"/>
            <a:ext cx="192132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Why here: 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High volume of image data &amp; critical need for precision.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140000" y="2359800"/>
            <a:ext cx="192132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Target: </a:t>
            </a:r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High-Income countries (where &gt;90% of research funding exists)</a:t>
            </a:r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538680" y="2340000"/>
            <a:ext cx="192132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Segments: </a:t>
            </a:r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Hospitals, research centers, private cabinets</a:t>
            </a:r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252960" y="0"/>
            <a:ext cx="3767040" cy="67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o-RO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Why we win</a:t>
            </a:r>
            <a:endParaRPr lang="ro-RO" sz="3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80000" y="1986120"/>
            <a:ext cx="180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Traditional diagnostic software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080000" y="2886120"/>
            <a:ext cx="180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Outsourced AI teams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80000" y="396612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MedTrain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4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AI</a:t>
            </a: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880000" y="198612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Rigid / Single disease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880000" y="306000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Flexible, Slow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880000" y="396612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Universal, Multimodal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804600" y="1374120"/>
            <a:ext cx="180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6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Product</a:t>
            </a:r>
            <a:endParaRPr lang="ro-R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894400" y="138780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6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Versatility</a:t>
            </a:r>
            <a:endParaRPr lang="ro-R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670280" y="139248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6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Control</a:t>
            </a:r>
            <a:endParaRPr lang="ro-R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088840" y="138204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6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Cost</a:t>
            </a:r>
            <a:endParaRPr lang="ro-R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300000" y="1392480"/>
            <a:ext cx="1757520" cy="55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6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Transparency</a:t>
            </a:r>
            <a:endParaRPr lang="ro-R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680000" y="198000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None („Black Box”)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0" y="288612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Low (dependent on devs)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680000" y="396000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High (user trains)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300000" y="198612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Low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300000" y="3060000"/>
            <a:ext cx="16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Medium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300000" y="3960000"/>
            <a:ext cx="16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High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100000" y="198000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Expensive licensing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100000" y="2886120"/>
            <a:ext cx="162000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High service fee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3870720"/>
            <a:ext cx="1620000" cy="80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12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Affordable subscription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0" y="72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3060000" y="180000"/>
            <a:ext cx="3960000" cy="10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ro-RO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Path to profitability</a:t>
            </a:r>
            <a:endParaRPr lang="ro-RO" sz="3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880000" y="1934280"/>
            <a:ext cx="1260000" cy="37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20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Year 1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760000" y="1980000"/>
            <a:ext cx="1260000" cy="37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ro-RO" sz="2000" b="1" u="none" strike="noStrike">
                <a:solidFill>
                  <a:srgbClr val="1c1c1c"/>
                </a:solidFill>
                <a:effectLst/>
                <a:uFillTx/>
                <a:latin typeface="Courier New"/>
                <a:ea typeface="Microsoft YaHei"/>
              </a:rPr>
              <a:t>Year 2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340000" y="2340000"/>
            <a:ext cx="2520000" cy="240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</a:rPr>
              <a:t>Costs ~</a:t>
            </a: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€120k </a:t>
            </a: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Dev salaries ~€</a:t>
            </a: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</a:rPr>
              <a:t>2.5k/month * 3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Infrastructure ~€11k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Marketing ~€23k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Revenue ~€40k 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100 users @ </a:t>
            </a: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~€400/year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Net ~€-80k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400000" y="2340000"/>
            <a:ext cx="2520000" cy="251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</a:rPr>
              <a:t>Scale 100 -&gt; 500 user</a:t>
            </a: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 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Costs ~</a:t>
            </a: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€168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Dev salaries ~€130k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Infrastructure ~€15k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Marketing ~€23k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Revenue ~€210k 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500 users @ </a:t>
            </a:r>
            <a:r>
              <a:rPr lang="ro-RO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~€420/year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12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Net ~€42k</a:t>
            </a: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0" y="0"/>
            <a:ext cx="102024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1980000" y="48240"/>
            <a:ext cx="6120000" cy="103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ro-RO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Infrastructure and validation</a:t>
            </a:r>
            <a:endParaRPr lang="ro-RO" sz="3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20000" y="2880000"/>
            <a:ext cx="252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Nvidia: partners for high performance model training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780000" y="2880000"/>
            <a:ext cx="2520000" cy="241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Regina Maria: clinical partner for real world validation and acces to first users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840000" y="2880000"/>
            <a:ext cx="252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r>
              <a:rPr lang="ro-RO" sz="2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European Union: funding programs and research incentives</a:t>
            </a:r>
            <a:endParaRPr lang="ro-R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1080" y="21600"/>
            <a:ext cx="10079640" cy="564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"/>
          <p:cNvSpPr txBox="1"/>
          <p:nvPr/>
        </p:nvSpPr>
        <p:spPr>
          <a:xfrm>
            <a:off x="720000" y="2880000"/>
            <a:ext cx="468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" charset="2"/>
              <a:buChar char=""/>
            </a:pPr>
            <a:r>
              <a:rPr lang="ro-RO" sz="2000" b="1" u="none" strike="noStrike">
                <a:solidFill>
                  <a:srgbClr val="ffbf00"/>
                </a:solidFill>
                <a:effectLst/>
                <a:uFillTx/>
                <a:latin typeface="Courier New"/>
                <a:ea typeface="Microsoft YaHei"/>
              </a:rPr>
              <a:t>Universal platform (Any model)</a:t>
            </a:r>
            <a:endParaRPr lang="ro-RO" sz="2000" b="0" u="none" strike="noStrike">
              <a:solidFill>
                <a:srgbClr val="ffbf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" charset="2"/>
              <a:buChar char=""/>
            </a:pPr>
            <a:r>
              <a:rPr lang="ro-RO" sz="2000" b="1" u="none" strike="noStrike">
                <a:solidFill>
                  <a:srgbClr val="ffbf00"/>
                </a:solidFill>
                <a:effectLst/>
                <a:uFillTx/>
                <a:latin typeface="Courier New"/>
                <a:ea typeface="Microsoft YaHei"/>
              </a:rPr>
              <a:t>Secure &amp; private</a:t>
            </a:r>
            <a:endParaRPr lang="ro-RO" sz="2000" b="0" u="none" strike="noStrike">
              <a:solidFill>
                <a:srgbClr val="ffbf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" charset="2"/>
              <a:buChar char=""/>
            </a:pPr>
            <a:r>
              <a:rPr lang="ro-RO" sz="2000" b="1" u="none" strike="noStrike">
                <a:solidFill>
                  <a:srgbClr val="ffbf00"/>
                </a:solidFill>
                <a:effectLst/>
                <a:uFillTx/>
                <a:latin typeface="Courier New"/>
                <a:ea typeface="Microsoft YaHei"/>
              </a:rPr>
              <a:t>Financially sustainable</a:t>
            </a:r>
            <a:endParaRPr lang="ro-RO" sz="2000" b="0" u="none" strike="noStrike">
              <a:solidFill>
                <a:srgbClr val="ffbf00"/>
              </a:solidFill>
              <a:effectLst/>
              <a:uFillTx/>
              <a:latin typeface="Arial"/>
            </a:endParaRPr>
          </a:p>
          <a:p>
            <a:pPr marL="252000" indent="-216000">
              <a:lnSpc>
                <a:spcPct val="100000"/>
              </a:lnSpc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ffbf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40000" y="180000"/>
            <a:ext cx="4860000" cy="173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ro-RO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The future of personalized medicine</a:t>
            </a:r>
            <a:endParaRPr lang="ro-R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40000" y="5040360"/>
            <a:ext cx="8640000" cy="56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o-RO" sz="1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Microsoft YaHei"/>
              </a:rPr>
              <a:t>Let's build the standard for clinical AI training.</a:t>
            </a:r>
            <a:endParaRPr lang="ro-RO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2000" indent="-216000">
              <a:spcBef>
                <a:spcPts val="567"/>
              </a:spcBef>
              <a:spcAft>
                <a:spcPts val="850"/>
              </a:spcAft>
              <a:buClr>
                <a:srgbClr val="000000"/>
              </a:buClr>
              <a:buSzPct val="65000"/>
              <a:buFont typeface="Wingdings 3" charset="2"/>
              <a:buChar char=""/>
            </a:pPr>
            <a:endParaRPr lang="ro-R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c92d49cf5a95d645d03aef571303b095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f9697e382105165912bcff1bf0fdded9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0D0F161F-8DD5-4AA1-AF5F-D74154D68F90}"/>
</file>

<file path=customXml/itemProps2.xml><?xml version="1.0" encoding="utf-8"?>
<ds:datastoreItem xmlns:ds="http://schemas.openxmlformats.org/officeDocument/2006/customXml" ds:itemID="{857C69D8-D986-4292-A8A1-0F4C2FF1664E}"/>
</file>

<file path=customXml/itemProps3.xml><?xml version="1.0" encoding="utf-8"?>
<ds:datastoreItem xmlns:ds="http://schemas.openxmlformats.org/officeDocument/2006/customXml" ds:itemID="{BC557175-3019-47C8-9303-F2610F98774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111</cp:revision>
  <dcterms:created xsi:type="dcterms:W3CDTF">2025-08-25T11:20:10Z</dcterms:created>
  <dcterms:modified xsi:type="dcterms:W3CDTF">2026-01-16T00:44:41Z</dcterms:modified>
  <dc:language>hu-HU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0x0101008BAB79F40DDE73438D5BCFF294CB777F</vt:lpwstr>
  </property>
</Properties>
</file>