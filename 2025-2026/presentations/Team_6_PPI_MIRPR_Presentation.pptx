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8" r:id="rId6"/>
    <p:sldId id="259" r:id="rId7"/>
    <p:sldId id="260" r:id="rId8"/>
    <p:sldId id="261" r:id="rId9"/>
    <p:sldId id="262" r:id="rId10"/>
    <p:sldId id="269" r:id="rId11"/>
    <p:sldId id="277" r:id="rId12"/>
    <p:sldId id="278" r:id="rId13"/>
    <p:sldId id="279" r:id="rId14"/>
    <p:sldId id="280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18" d="100"/>
          <a:sy n="118" d="100"/>
        </p:scale>
        <p:origin x="610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presProps" Target="presProps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customXml" Target="../customXml/item1.xml"/><Relationship Id="rId7" Type="http://schemas.openxmlformats.org/officeDocument/2006/relationships/slide" Target="slides/slide5.xml"/><Relationship Id="rId17" Type="http://schemas.openxmlformats.org/officeDocument/2006/relationships/slide" Target="slides/slide15.xml"/><Relationship Id="rId12" Type="http://schemas.openxmlformats.org/officeDocument/2006/relationships/slide" Target="slides/slide10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6" Type="http://schemas.openxmlformats.org/officeDocument/2006/relationships/slide" Target="slides/slide14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ustomXml" Target="../customXml/item3.xml"/><Relationship Id="rId19" Type="http://schemas.openxmlformats.org/officeDocument/2006/relationships/viewProps" Target="viewProps.xml"/><Relationship Id="rId10" Type="http://schemas.openxmlformats.org/officeDocument/2006/relationships/slide" Target="slides/slide8.xml"/><Relationship Id="rId9" Type="http://schemas.openxmlformats.org/officeDocument/2006/relationships/slide" Target="slides/slide7.xml"/><Relationship Id="rId4" Type="http://schemas.openxmlformats.org/officeDocument/2006/relationships/slide" Target="slides/slide2.xml"/><Relationship Id="rId14" Type="http://schemas.openxmlformats.org/officeDocument/2006/relationships/slide" Target="slides/slide12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6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5221" y="1828800"/>
            <a:ext cx="926125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5000" dirty="0"/>
              <a:t>Mitral Regurgitation Identification</a:t>
            </a:r>
            <a:endParaRPr sz="5000" dirty="0"/>
          </a:p>
        </p:txBody>
      </p:sp>
      <p:sp>
        <p:nvSpPr>
          <p:cNvPr id="5" name="TextBox 4"/>
          <p:cNvSpPr txBox="1"/>
          <p:nvPr/>
        </p:nvSpPr>
        <p:spPr>
          <a:xfrm>
            <a:off x="4638204" y="3200400"/>
            <a:ext cx="291528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C8C8C"/>
                </a:solidFill>
              </a:defRPr>
            </a:pPr>
            <a:r>
              <a:rPr dirty="0"/>
              <a:t>MIRPR</a:t>
            </a:r>
            <a:r>
              <a:rPr lang="en-US" dirty="0"/>
              <a:t>/PPI</a:t>
            </a:r>
            <a:r>
              <a:rPr dirty="0"/>
              <a:t> 2025-2026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3625" y="4919980"/>
            <a:ext cx="35210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8C8C8C"/>
                </a:solidFill>
              </a:rPr>
              <a:t>P</a:t>
            </a:r>
            <a:r>
              <a:rPr lang="ro-RO" sz="2400" dirty="0" err="1">
                <a:solidFill>
                  <a:srgbClr val="8C8C8C"/>
                </a:solidFill>
              </a:rPr>
              <a:t>ângăleanu</a:t>
            </a:r>
            <a:r>
              <a:rPr lang="ro-RO" sz="2400" dirty="0">
                <a:solidFill>
                  <a:srgbClr val="8C8C8C"/>
                </a:solidFill>
              </a:rPr>
              <a:t> Cătălin</a:t>
            </a:r>
            <a:endParaRPr lang="ro-RO" sz="2400" dirty="0">
              <a:solidFill>
                <a:srgbClr val="8C8C8C"/>
              </a:solidFill>
            </a:endParaRPr>
          </a:p>
          <a:p>
            <a:r>
              <a:rPr lang="ro-RO" sz="2400" dirty="0">
                <a:solidFill>
                  <a:srgbClr val="8C8C8C"/>
                </a:solidFill>
              </a:rPr>
              <a:t>Smarandache Samuel</a:t>
            </a:r>
            <a:endParaRPr lang="ro-RO" sz="2400" dirty="0">
              <a:solidFill>
                <a:srgbClr val="8C8C8C"/>
              </a:solidFill>
            </a:endParaRPr>
          </a:p>
          <a:p>
            <a:r>
              <a:rPr lang="ro-RO" sz="2400" dirty="0" err="1">
                <a:solidFill>
                  <a:srgbClr val="8C8C8C"/>
                </a:solidFill>
              </a:rPr>
              <a:t>Steopei</a:t>
            </a:r>
            <a:r>
              <a:rPr lang="ro-RO" sz="2400" dirty="0">
                <a:solidFill>
                  <a:srgbClr val="8C8C8C"/>
                </a:solidFill>
              </a:rPr>
              <a:t> Cristian</a:t>
            </a:r>
            <a:endParaRPr lang="ro-RO" sz="2400" dirty="0">
              <a:solidFill>
                <a:srgbClr val="8C8C8C"/>
              </a:solidFill>
            </a:endParaRPr>
          </a:p>
          <a:p>
            <a:r>
              <a:rPr lang="en-US" altLang="ro-RO" sz="2400" dirty="0">
                <a:solidFill>
                  <a:srgbClr val="8C8C8C"/>
                </a:solidFill>
              </a:rPr>
              <a:t>P</a:t>
            </a:r>
            <a:r>
              <a:rPr lang="ro-RO" altLang="ro-RO" sz="2400" dirty="0">
                <a:solidFill>
                  <a:srgbClr val="8C8C8C"/>
                </a:solidFill>
              </a:rPr>
              <a:t>ășcuți Gloria</a:t>
            </a:r>
            <a:endParaRPr lang="ro-RO" altLang="ro-RO" sz="2400" dirty="0">
              <a:solidFill>
                <a:srgbClr val="8C8C8C"/>
              </a:solidFill>
            </a:endParaRPr>
          </a:p>
          <a:p>
            <a:r>
              <a:rPr lang="ro-RO" altLang="ro-RO" sz="2400" dirty="0">
                <a:solidFill>
                  <a:srgbClr val="8C8C8C"/>
                </a:solidFill>
              </a:rPr>
              <a:t>Moldovan-Ștefan Iustin</a:t>
            </a:r>
            <a:endParaRPr lang="ro-RO" altLang="ro-RO" sz="2400" dirty="0">
              <a:solidFill>
                <a:srgbClr val="8C8C8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1577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63636"/>
                </a:solidFill>
              </a:defRPr>
            </a:pPr>
            <a:r>
              <a:rPr lang="en-US" sz="4400" dirty="0"/>
              <a:t>The Problem</a:t>
            </a:r>
            <a:endParaRPr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457199" y="1772136"/>
            <a:ext cx="11277295" cy="391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/>
              <a:t>• Mitral Regurgitation (MR) is a heart disorder where blood flows backward</a:t>
            </a:r>
            <a:r>
              <a:rPr lang="ro-RO" sz="2600" dirty="0"/>
              <a:t>s</a:t>
            </a:r>
            <a:endParaRPr lang="ro-RO" sz="2600" dirty="0"/>
          </a:p>
          <a:p>
            <a:pPr indent="457200"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lang="en-US" altLang="ro-RO" sz="2600" dirty="0"/>
              <a:t>- </a:t>
            </a:r>
            <a:r>
              <a:rPr lang="en-US" altLang="en-US" sz="2600" dirty="0"/>
              <a:t> 24 million people suffer from it worldwide</a:t>
            </a:r>
            <a:endParaRPr lang="en-US" altLang="en-US" sz="2600" dirty="0"/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/>
              <a:t>• Determining </a:t>
            </a:r>
            <a:r>
              <a:rPr sz="2600" b="1" dirty="0"/>
              <a:t>WHY</a:t>
            </a:r>
            <a:r>
              <a:rPr sz="2600" dirty="0"/>
              <a:t> MR occurs guides treatment selection </a:t>
            </a:r>
            <a:endParaRPr lang="ro-RO" sz="2600" dirty="0"/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/>
              <a:t>• </a:t>
            </a:r>
            <a:r>
              <a:rPr sz="2600" b="1" dirty="0"/>
              <a:t>Challenge</a:t>
            </a:r>
            <a:r>
              <a:rPr sz="2600" dirty="0"/>
              <a:t>: Multiple echocardiographic measurements are interdependent</a:t>
            </a:r>
            <a:endParaRPr sz="2600" dirty="0"/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/>
              <a:t>• </a:t>
            </a:r>
            <a:r>
              <a:rPr sz="2600" b="1" dirty="0"/>
              <a:t>Goal</a:t>
            </a:r>
            <a:r>
              <a:rPr sz="2600" dirty="0"/>
              <a:t>: Characterize relationships between variables and their impact on MR severity</a:t>
            </a:r>
            <a:endParaRPr sz="2600" dirty="0"/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/>
              <a:t>• More reproducible assessments → faster treatment decisions</a:t>
            </a:r>
            <a:endParaRPr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7703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63636"/>
                </a:solidFill>
              </a:defRPr>
            </a:pPr>
            <a:r>
              <a:rPr sz="4400" b="1" dirty="0">
                <a:solidFill>
                  <a:srgbClr val="363636"/>
                </a:solidFill>
              </a:rPr>
              <a:t>The Data</a:t>
            </a:r>
            <a:endParaRPr sz="4400" b="1" dirty="0">
              <a:solidFill>
                <a:srgbClr val="36363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199" y="1874728"/>
            <a:ext cx="112772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1,003 frame-level observations from </a:t>
            </a:r>
            <a:r>
              <a:rPr sz="2600" b="1" dirty="0">
                <a:solidFill>
                  <a:srgbClr val="2D2D2D"/>
                </a:solidFill>
              </a:rPr>
              <a:t>26 patients</a:t>
            </a:r>
            <a:endParaRPr sz="2600" b="1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Data collected by Dr. Dan </a:t>
            </a:r>
            <a:r>
              <a:rPr sz="2600" dirty="0" err="1">
                <a:solidFill>
                  <a:srgbClr val="2D2D2D"/>
                </a:solidFill>
              </a:rPr>
              <a:t>Blendea’s</a:t>
            </a:r>
            <a:r>
              <a:rPr sz="2600" dirty="0">
                <a:solidFill>
                  <a:srgbClr val="2D2D2D"/>
                </a:solidFill>
              </a:rPr>
              <a:t> </a:t>
            </a:r>
            <a:r>
              <a:rPr lang="en-US" sz="2600" dirty="0">
                <a:solidFill>
                  <a:srgbClr val="2D2D2D"/>
                </a:solidFill>
              </a:rPr>
              <a:t>based on </a:t>
            </a:r>
            <a:r>
              <a:rPr sz="2600" dirty="0">
                <a:solidFill>
                  <a:srgbClr val="2D2D2D"/>
                </a:solidFill>
              </a:rPr>
              <a:t>echocardiograms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10 echocardiographic measurements</a:t>
            </a:r>
            <a:r>
              <a:rPr sz="2600" dirty="0">
                <a:solidFill>
                  <a:srgbClr val="2D2D2D"/>
                </a:solidFill>
              </a:rPr>
              <a:t> analyzed:</a:t>
            </a:r>
            <a:r>
              <a:rPr lang="en-US" sz="2600" dirty="0">
                <a:solidFill>
                  <a:srgbClr val="2D2D2D"/>
                </a:solidFill>
              </a:rPr>
              <a:t> </a:t>
            </a:r>
            <a:r>
              <a:rPr sz="2600" dirty="0">
                <a:solidFill>
                  <a:srgbClr val="2D2D2D"/>
                </a:solidFill>
              </a:rPr>
              <a:t>MR area</a:t>
            </a:r>
            <a:r>
              <a:rPr lang="en-US" sz="2600" dirty="0">
                <a:solidFill>
                  <a:srgbClr val="2D2D2D"/>
                </a:solidFill>
              </a:rPr>
              <a:t> (target)</a:t>
            </a:r>
            <a:r>
              <a:rPr sz="2600" dirty="0">
                <a:solidFill>
                  <a:srgbClr val="2D2D2D"/>
                </a:solidFill>
              </a:rPr>
              <a:t>, </a:t>
            </a:r>
            <a:r>
              <a:rPr lang="en-US" sz="2600" dirty="0">
                <a:solidFill>
                  <a:srgbClr val="2D2D2D"/>
                </a:solidFill>
              </a:rPr>
              <a:t>Systole/Diastole indicator, </a:t>
            </a:r>
            <a:r>
              <a:rPr sz="2600" dirty="0">
                <a:solidFill>
                  <a:srgbClr val="2D2D2D"/>
                </a:solidFill>
              </a:rPr>
              <a:t>LA area/length/volume</a:t>
            </a:r>
            <a:r>
              <a:rPr lang="en-US" sz="2600" dirty="0">
                <a:solidFill>
                  <a:srgbClr val="2D2D2D"/>
                </a:solidFill>
              </a:rPr>
              <a:t>, </a:t>
            </a:r>
            <a:r>
              <a:rPr sz="2600" dirty="0">
                <a:solidFill>
                  <a:srgbClr val="2D2D2D"/>
                </a:solidFill>
              </a:rPr>
              <a:t>MV tenting height, MV annulus</a:t>
            </a:r>
            <a:r>
              <a:rPr lang="en-US" sz="2600" dirty="0">
                <a:solidFill>
                  <a:srgbClr val="2D2D2D"/>
                </a:solidFill>
              </a:rPr>
              <a:t>, </a:t>
            </a:r>
            <a:r>
              <a:rPr sz="2600" dirty="0">
                <a:solidFill>
                  <a:srgbClr val="2D2D2D"/>
                </a:solidFill>
              </a:rPr>
              <a:t>LV area/length/volume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Preprocessing</a:t>
            </a:r>
            <a:r>
              <a:rPr sz="2600" dirty="0">
                <a:solidFill>
                  <a:srgbClr val="2D2D2D"/>
                </a:solidFill>
              </a:rPr>
              <a:t>: median imputation, standardization, 80/20 train/validation split</a:t>
            </a:r>
            <a:endParaRPr sz="2600" dirty="0">
              <a:solidFill>
                <a:srgbClr val="2D2D2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514" y="1019904"/>
            <a:ext cx="12221027" cy="48296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77981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63636"/>
                </a:solidFill>
              </a:defRPr>
            </a:pPr>
            <a:r>
              <a:rPr sz="4400" b="1" dirty="0">
                <a:solidFill>
                  <a:srgbClr val="363636"/>
                </a:solidFill>
              </a:rPr>
              <a:t>Approach 1: </a:t>
            </a:r>
            <a:r>
              <a:rPr sz="4400" b="1" dirty="0" err="1">
                <a:solidFill>
                  <a:srgbClr val="363636"/>
                </a:solidFill>
              </a:rPr>
              <a:t>TabNet</a:t>
            </a:r>
            <a:r>
              <a:rPr sz="4400" b="1" dirty="0">
                <a:solidFill>
                  <a:srgbClr val="363636"/>
                </a:solidFill>
              </a:rPr>
              <a:t>-based Partial Correlation</a:t>
            </a:r>
            <a:endParaRPr sz="4400" b="1" dirty="0">
              <a:solidFill>
                <a:srgbClr val="36363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199" y="1972191"/>
            <a:ext cx="11277295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Goal</a:t>
            </a:r>
            <a:r>
              <a:rPr sz="2600" dirty="0">
                <a:solidFill>
                  <a:srgbClr val="2D2D2D"/>
                </a:solidFill>
              </a:rPr>
              <a:t>: Estimate pairwise partial correlations between all features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Method</a:t>
            </a:r>
            <a:r>
              <a:rPr sz="2600" dirty="0">
                <a:solidFill>
                  <a:srgbClr val="2D2D2D"/>
                </a:solidFill>
              </a:rPr>
              <a:t>: Use </a:t>
            </a:r>
            <a:r>
              <a:rPr sz="2600" dirty="0" err="1">
                <a:solidFill>
                  <a:srgbClr val="2D2D2D"/>
                </a:solidFill>
              </a:rPr>
              <a:t>TabNet</a:t>
            </a:r>
            <a:r>
              <a:rPr lang="en-US" sz="2600" dirty="0">
                <a:solidFill>
                  <a:srgbClr val="2D2D2D"/>
                </a:solidFill>
              </a:rPr>
              <a:t> model</a:t>
            </a:r>
            <a:r>
              <a:rPr sz="2600" dirty="0">
                <a:solidFill>
                  <a:srgbClr val="2D2D2D"/>
                </a:solidFill>
              </a:rPr>
              <a:t> to predict each variable from all others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Residuals</a:t>
            </a:r>
            <a:r>
              <a:rPr sz="2600" dirty="0">
                <a:solidFill>
                  <a:srgbClr val="2D2D2D"/>
                </a:solidFill>
              </a:rPr>
              <a:t>: Part of each variable unexplained by others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Partial Correlation</a:t>
            </a:r>
            <a:r>
              <a:rPr sz="2600" dirty="0">
                <a:solidFill>
                  <a:srgbClr val="2D2D2D"/>
                </a:solidFill>
              </a:rPr>
              <a:t>: Pearson correlation of residuals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Advantage</a:t>
            </a:r>
            <a:r>
              <a:rPr sz="2600" dirty="0">
                <a:solidFill>
                  <a:srgbClr val="2D2D2D"/>
                </a:solidFill>
              </a:rPr>
              <a:t>: Captures direct linear links</a:t>
            </a:r>
            <a:endParaRPr sz="2600" dirty="0">
              <a:solidFill>
                <a:srgbClr val="2D2D2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4821" y="6217920"/>
            <a:ext cx="82020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A5A5A"/>
                </a:solidFill>
              </a:defRPr>
            </a:pPr>
            <a:r>
              <a:rPr sz="1600" dirty="0"/>
              <a:t>Partial correlation matrix showing direct linear associations between echocardiographic features</a:t>
            </a:r>
            <a:endParaRPr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1561" y="424279"/>
            <a:ext cx="6608571" cy="57936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43205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63636"/>
                </a:solidFill>
              </a:defRPr>
            </a:pPr>
            <a:r>
              <a:rPr sz="4400" b="1" dirty="0">
                <a:solidFill>
                  <a:srgbClr val="363636"/>
                </a:solidFill>
              </a:rPr>
              <a:t>Approach 2: Graph Neural Network</a:t>
            </a:r>
            <a:endParaRPr sz="4400" b="1" dirty="0">
              <a:solidFill>
                <a:srgbClr val="36363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199" y="1469489"/>
            <a:ext cx="11277295" cy="4319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Limitation</a:t>
            </a:r>
            <a:r>
              <a:rPr lang="en-US" sz="2600" b="1" dirty="0">
                <a:solidFill>
                  <a:srgbClr val="2D2D2D"/>
                </a:solidFill>
              </a:rPr>
              <a:t>s</a:t>
            </a:r>
            <a:r>
              <a:rPr sz="2600" b="1" dirty="0">
                <a:solidFill>
                  <a:srgbClr val="2D2D2D"/>
                </a:solidFill>
              </a:rPr>
              <a:t> of Approach 1</a:t>
            </a:r>
            <a:r>
              <a:rPr sz="2600" dirty="0">
                <a:solidFill>
                  <a:srgbClr val="2D2D2D"/>
                </a:solidFill>
              </a:rPr>
              <a:t>: Non-directional, MR </a:t>
            </a:r>
            <a:r>
              <a:rPr lang="en-US" sz="2600" dirty="0">
                <a:solidFill>
                  <a:srgbClr val="2D2D2D"/>
                </a:solidFill>
              </a:rPr>
              <a:t>area </a:t>
            </a:r>
            <a:r>
              <a:rPr sz="2600" dirty="0">
                <a:solidFill>
                  <a:srgbClr val="2D2D2D"/>
                </a:solidFill>
              </a:rPr>
              <a:t>not explicit target</a:t>
            </a:r>
            <a:r>
              <a:rPr lang="en-US" sz="2600" dirty="0">
                <a:solidFill>
                  <a:srgbClr val="2D2D2D"/>
                </a:solidFill>
              </a:rPr>
              <a:t>, only linear associations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Solution</a:t>
            </a:r>
            <a:r>
              <a:rPr lang="en-US" sz="2600" b="1" dirty="0">
                <a:solidFill>
                  <a:srgbClr val="2D2D2D"/>
                </a:solidFill>
              </a:rPr>
              <a:t>s</a:t>
            </a:r>
            <a:r>
              <a:rPr sz="2600" dirty="0">
                <a:solidFill>
                  <a:srgbClr val="2D2D2D"/>
                </a:solidFill>
              </a:rPr>
              <a:t>: Treat MR area as explicit node in directed graph</a:t>
            </a:r>
            <a:r>
              <a:rPr lang="en-US" sz="2600" dirty="0">
                <a:solidFill>
                  <a:srgbClr val="2D2D2D"/>
                </a:solidFill>
              </a:rPr>
              <a:t>, add non-linearity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Architecture</a:t>
            </a:r>
            <a:r>
              <a:rPr sz="2600" dirty="0">
                <a:solidFill>
                  <a:srgbClr val="2D2D2D"/>
                </a:solidFill>
              </a:rPr>
              <a:t>: 9 nodes (8 features + MR</a:t>
            </a:r>
            <a:r>
              <a:rPr lang="en-US" sz="2600" dirty="0">
                <a:solidFill>
                  <a:srgbClr val="2D2D2D"/>
                </a:solidFill>
              </a:rPr>
              <a:t> area</a:t>
            </a:r>
            <a:r>
              <a:rPr sz="2600" dirty="0">
                <a:solidFill>
                  <a:srgbClr val="2D2D2D"/>
                </a:solidFill>
              </a:rPr>
              <a:t>), learnable weight matrix G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2-layer GNN</a:t>
            </a:r>
            <a:r>
              <a:rPr sz="2600" dirty="0">
                <a:solidFill>
                  <a:srgbClr val="2D2D2D"/>
                </a:solidFill>
              </a:rPr>
              <a:t>: Captures both direct and indirect relationships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Loss</a:t>
            </a:r>
            <a:r>
              <a:rPr sz="2600" dirty="0">
                <a:solidFill>
                  <a:srgbClr val="2D2D2D"/>
                </a:solidFill>
              </a:rPr>
              <a:t>: M</a:t>
            </a:r>
            <a:r>
              <a:rPr lang="en-US" sz="2600" dirty="0">
                <a:solidFill>
                  <a:srgbClr val="2D2D2D"/>
                </a:solidFill>
              </a:rPr>
              <a:t>ean </a:t>
            </a:r>
            <a:r>
              <a:rPr sz="2600" dirty="0">
                <a:solidFill>
                  <a:srgbClr val="2D2D2D"/>
                </a:solidFill>
              </a:rPr>
              <a:t>S</a:t>
            </a:r>
            <a:r>
              <a:rPr lang="en-US" sz="2600" dirty="0">
                <a:solidFill>
                  <a:srgbClr val="2D2D2D"/>
                </a:solidFill>
              </a:rPr>
              <a:t>quared </a:t>
            </a:r>
            <a:r>
              <a:rPr sz="2600" dirty="0">
                <a:solidFill>
                  <a:srgbClr val="2D2D2D"/>
                </a:solidFill>
              </a:rPr>
              <a:t>E</a:t>
            </a:r>
            <a:r>
              <a:rPr lang="en-US" sz="2600" dirty="0">
                <a:solidFill>
                  <a:srgbClr val="2D2D2D"/>
                </a:solidFill>
              </a:rPr>
              <a:t>rror (MSE)</a:t>
            </a:r>
            <a:r>
              <a:rPr sz="2600" dirty="0">
                <a:solidFill>
                  <a:srgbClr val="2D2D2D"/>
                </a:solidFill>
              </a:rPr>
              <a:t> on MR prediction </a:t>
            </a:r>
            <a:r>
              <a:rPr lang="en-US" sz="2600" dirty="0">
                <a:solidFill>
                  <a:srgbClr val="2D2D2D"/>
                </a:solidFill>
              </a:rPr>
              <a:t>(reached 0.00636 on validation subset) </a:t>
            </a:r>
            <a:r>
              <a:rPr sz="2600" dirty="0">
                <a:solidFill>
                  <a:srgbClr val="2D2D2D"/>
                </a:solidFill>
              </a:rPr>
              <a:t>+ structure preservation term</a:t>
            </a:r>
            <a:endParaRPr sz="2600" dirty="0">
              <a:solidFill>
                <a:srgbClr val="2D2D2D"/>
              </a:solidFill>
            </a:endParaRPr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sz="2600" dirty="0">
                <a:solidFill>
                  <a:srgbClr val="2D2D2D"/>
                </a:solidFill>
              </a:rPr>
              <a:t>• </a:t>
            </a:r>
            <a:r>
              <a:rPr sz="2600" b="1" dirty="0">
                <a:solidFill>
                  <a:srgbClr val="2D2D2D"/>
                </a:solidFill>
              </a:rPr>
              <a:t>Advantage</a:t>
            </a:r>
            <a:r>
              <a:rPr sz="2600" dirty="0">
                <a:solidFill>
                  <a:srgbClr val="2D2D2D"/>
                </a:solidFill>
              </a:rPr>
              <a:t>: Directed edges, </a:t>
            </a:r>
            <a:r>
              <a:rPr lang="en-US" sz="2600" dirty="0">
                <a:solidFill>
                  <a:srgbClr val="2D2D2D"/>
                </a:solidFill>
              </a:rPr>
              <a:t>target</a:t>
            </a:r>
            <a:r>
              <a:rPr sz="2600" dirty="0">
                <a:solidFill>
                  <a:srgbClr val="2D2D2D"/>
                </a:solidFill>
              </a:rPr>
              <a:t>-aware, </a:t>
            </a:r>
            <a:r>
              <a:rPr lang="en-US" sz="2600" dirty="0">
                <a:solidFill>
                  <a:srgbClr val="2D2D2D"/>
                </a:solidFill>
              </a:rPr>
              <a:t>more complex associations</a:t>
            </a:r>
            <a:endParaRPr sz="2600" dirty="0">
              <a:solidFill>
                <a:srgbClr val="2D2D2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A5A5A"/>
                </a:solidFill>
              </a:defRPr>
            </a:pPr>
            <a:r>
              <a:rPr dirty="0"/>
              <a:t>Row-normalized influence matrix from 2-layer GNN. Last row shows </a:t>
            </a:r>
            <a:r>
              <a:rPr dirty="0" err="1"/>
              <a:t>feature→MR</a:t>
            </a:r>
            <a:r>
              <a:rPr dirty="0"/>
              <a:t> contributions.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918" y="420624"/>
            <a:ext cx="6557858" cy="5797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53720" y="6217920"/>
            <a:ext cx="40842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A5A5A"/>
                </a:solidFill>
              </a:defRPr>
            </a:pPr>
            <a:r>
              <a:rPr lang="en-US" dirty="0"/>
              <a:t>Graph representation of 2-layer GNN influence matrix</a:t>
            </a:r>
            <a:endParaRPr dirty="0"/>
          </a:p>
        </p:txBody>
      </p:sp>
      <p:pic>
        <p:nvPicPr>
          <p:cNvPr id="6" name="Picture 5" descr="A network of blue circles and line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690" y="424616"/>
            <a:ext cx="8088313" cy="57933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1303020" y="1132205"/>
          <a:ext cx="9585960" cy="5177790"/>
        </p:xfrm>
        <a:graphic>
          <a:graphicData uri="http://schemas.openxmlformats.org/drawingml/2006/table">
            <a:tbl>
              <a:tblPr/>
              <a:tblGrid>
                <a:gridCol w="3195320"/>
                <a:gridCol w="3195320"/>
                <a:gridCol w="3195320"/>
              </a:tblGrid>
              <a:tr h="6699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Tool Category</a:t>
                      </a:r>
                      <a:endParaRPr sz="1800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Estimated Practitioner Usage</a:t>
                      </a:r>
                      <a:endParaRPr sz="1800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Description</a:t>
                      </a:r>
                      <a:endParaRPr sz="1800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4048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1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Standard Echo Software</a:t>
                      </a:r>
                      <a:endParaRPr sz="2000" b="1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 b="1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&gt;95%</a:t>
                      </a:r>
                      <a:endParaRPr sz="2800" b="1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Standard tools on GE or Philips machines that calculate EF or VTI once the doctor picks the points. No "causality" analysis.</a:t>
                      </a:r>
                      <a:endParaRPr sz="1600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369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1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Automated Quantitation (AI)</a:t>
                      </a:r>
                      <a:endParaRPr sz="2000" b="1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 b="1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~10% – 15%</a:t>
                      </a:r>
                      <a:endParaRPr sz="2800" b="1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AI-driven "Auto-EF" or "Auto-Strain" that automatically identifies borders. Found mostly in private clinics and university hospitals.</a:t>
                      </a:r>
                      <a:endParaRPr sz="1600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369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 b="1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Causal/Diagnostic AI</a:t>
                      </a:r>
                      <a:endParaRPr sz="2000" b="1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 b="1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&lt; 3%</a:t>
                      </a:r>
                      <a:endParaRPr sz="2800" b="1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Advanced tools (like </a:t>
                      </a:r>
                      <a:r>
                        <a:rPr sz="1600" i="1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EchoNet-Dynamic</a:t>
                      </a:r>
                      <a:r>
                        <a:rPr sz="1600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 or </a:t>
                      </a:r>
                      <a:r>
                        <a:rPr sz="1600" i="1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PanEcho</a:t>
                      </a:r>
                      <a:r>
                        <a:rPr sz="1600">
                          <a:solidFill>
                            <a:srgbClr val="1F1F1F"/>
                          </a:solidFill>
                          <a:latin typeface="+mj-lt"/>
                          <a:ea typeface="Google Sans Text"/>
                          <a:cs typeface="+mj-lt"/>
                        </a:rPr>
                        <a:t>) that suggest a diagnosis or predict a "causal" outcome. Mostly used in research.</a:t>
                      </a:r>
                      <a:endParaRPr sz="1600">
                        <a:solidFill>
                          <a:srgbClr val="1F1F1F"/>
                        </a:solidFill>
                        <a:latin typeface="+mj-lt"/>
                        <a:ea typeface="Google Sans Text"/>
                        <a:cs typeface="+mj-lt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3048000" y="269240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en-US" sz="4400" b="1">
                <a:solidFill>
                  <a:srgbClr val="1F1F1F"/>
                </a:solidFill>
                <a:latin typeface="+mj-lt"/>
                <a:ea typeface="Google Sans Text"/>
                <a:cs typeface="+mj-lt"/>
                <a:sym typeface="+mn-ea"/>
              </a:rPr>
              <a:t>Market Analysis</a:t>
            </a:r>
            <a:endParaRPr lang="en-US" sz="4400" b="1">
              <a:solidFill>
                <a:srgbClr val="1F1F1F"/>
              </a:solidFill>
              <a:latin typeface="+mj-lt"/>
              <a:ea typeface="Google Sans Text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/>
          <p:nvPr/>
        </p:nvGraphicFramePr>
        <p:xfrm>
          <a:off x="832485" y="1623060"/>
          <a:ext cx="10485120" cy="256032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32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Feature</a:t>
                      </a:r>
                      <a:endParaRPr sz="32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Competitor AI Tools</a:t>
                      </a:r>
                      <a:endParaRPr sz="24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O</a:t>
                      </a:r>
                      <a:r>
                        <a:rPr sz="24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ur App</a:t>
                      </a:r>
                      <a:endParaRPr sz="24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Accuracy</a:t>
                      </a:r>
                      <a:endParaRPr sz="24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High</a:t>
                      </a:r>
                      <a:endParaRPr sz="18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High</a:t>
                      </a:r>
                      <a:endParaRPr sz="18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Technical Requirement</a:t>
                      </a:r>
                      <a:endParaRPr sz="24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Data Science / Python Knowledge</a:t>
                      </a:r>
                      <a:endParaRPr sz="18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Zero (User-Friendly)</a:t>
                      </a:r>
                      <a:endParaRPr sz="18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Integration</a:t>
                      </a:r>
                      <a:endParaRPr sz="24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Complex Manual Setup</a:t>
                      </a:r>
                      <a:endParaRPr sz="18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"Plug and Play"</a:t>
                      </a:r>
                      <a:endParaRPr sz="18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User Focus</a:t>
                      </a:r>
                      <a:endParaRPr sz="24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Researchers</a:t>
                      </a:r>
                      <a:endParaRPr sz="18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Practicing Doctors</a:t>
                      </a:r>
                      <a:endParaRPr sz="18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1946275" y="264795"/>
            <a:ext cx="825690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en-US" sz="4400" b="1">
                <a:solidFill>
                  <a:srgbClr val="1F1F1F"/>
                </a:solidFill>
                <a:latin typeface="+mj-lt"/>
                <a:ea typeface="Google Sans Text"/>
                <a:cs typeface="+mj-lt"/>
                <a:sym typeface="+mn-ea"/>
              </a:rPr>
              <a:t>Why us?</a:t>
            </a:r>
            <a:endParaRPr lang="en-US" sz="4400" b="1">
              <a:solidFill>
                <a:srgbClr val="1F1F1F"/>
              </a:solidFill>
              <a:latin typeface="+mj-lt"/>
              <a:ea typeface="Google Sans Text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54075" y="1187450"/>
          <a:ext cx="10852150" cy="4482465"/>
        </p:xfrm>
        <a:graphic>
          <a:graphicData uri="http://schemas.openxmlformats.org/drawingml/2006/table">
            <a:tbl>
              <a:tblPr/>
              <a:tblGrid>
                <a:gridCol w="2170430"/>
                <a:gridCol w="2170430"/>
                <a:gridCol w="2170430"/>
                <a:gridCol w="2170430"/>
                <a:gridCol w="2170430"/>
              </a:tblGrid>
              <a:tr h="6096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Level</a:t>
                      </a:r>
                      <a:endParaRPr sz="20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Scope</a:t>
                      </a:r>
                      <a:endParaRPr sz="20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Units (Patients / Facilities)</a:t>
                      </a:r>
                      <a:endParaRPr sz="20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Value (Annual)</a:t>
                      </a:r>
                      <a:endParaRPr sz="20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Why?</a:t>
                      </a:r>
                      <a:endParaRPr sz="20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6014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TAM</a:t>
                      </a:r>
                      <a:endParaRPr sz="28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Worldwide</a:t>
                      </a:r>
                      <a:endParaRPr sz="24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~520M Patients</a:t>
                      </a:r>
                      <a:b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</a:br>
                      <a:endParaRPr sz="18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 ~165,000+ Hospitals</a:t>
                      </a:r>
                      <a:endParaRPr sz="18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$250B+</a:t>
                      </a:r>
                      <a:endParaRPr sz="20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Global population with cardiovascular diseases and the total hospital infrastructure.</a:t>
                      </a:r>
                      <a:endParaRPr sz="16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411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SAM</a:t>
                      </a:r>
                      <a:endParaRPr sz="28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Romania</a:t>
                      </a:r>
                      <a:endParaRPr sz="24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~1.2M Patients</a:t>
                      </a:r>
                      <a:b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</a:br>
                      <a:endParaRPr sz="18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 ~4,500+ Clinics</a:t>
                      </a:r>
                      <a:endParaRPr sz="18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€500M</a:t>
                      </a:r>
                      <a:endParaRPr sz="20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Patients opting for private care and the network of private cabinets/clinics in Romania.</a:t>
                      </a:r>
                      <a:endParaRPr sz="16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716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SOM</a:t>
                      </a:r>
                      <a:endParaRPr sz="28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Cluj-Napoca</a:t>
                      </a:r>
                      <a:endParaRPr sz="24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~45,000 Patients</a:t>
                      </a:r>
                      <a:b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</a:br>
                      <a:endParaRPr sz="18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 50+ Targeted Units</a:t>
                      </a:r>
                      <a:endParaRPr sz="1800" b="1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0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€15M - €20M</a:t>
                      </a:r>
                      <a:endParaRPr sz="20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>
                          <a:solidFill>
                            <a:srgbClr val="1F1F1F"/>
                          </a:solidFill>
                          <a:latin typeface="Calibri" panose="020F0502020204030204" charset="0"/>
                          <a:ea typeface="Google Sans Text"/>
                          <a:cs typeface="Calibri" panose="020F0502020204030204" charset="0"/>
                        </a:rPr>
                        <a:t>The specific patient flow through the ~50 private cardiology clinics/cabinets in Cluj.</a:t>
                      </a:r>
                      <a:endParaRPr sz="1600">
                        <a:solidFill>
                          <a:srgbClr val="1F1F1F"/>
                        </a:solidFill>
                        <a:latin typeface="Calibri" panose="020F0502020204030204" charset="0"/>
                        <a:ea typeface="Google Sans Text"/>
                        <a:cs typeface="Calibri" panose="020F0502020204030204" charset="0"/>
                      </a:endParaRPr>
                    </a:p>
                  </a:txBody>
                  <a:tcPr marL="91757" marR="91757" marT="61277" marB="612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Box 3"/>
          <p:cNvSpPr txBox="1"/>
          <p:nvPr/>
        </p:nvSpPr>
        <p:spPr>
          <a:xfrm>
            <a:off x="465455" y="387985"/>
            <a:ext cx="9932035" cy="1320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/>
              <a:t>Value Proposition: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A specialized AI app trained to analyze echocardiographic metrics, predict mitral regurgitation etiology, and identify causal relationships between cardiac parameters.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39750" y="1708150"/>
            <a:ext cx="1120457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ym typeface="+mn-ea"/>
              </a:rPr>
              <a:t>Business Model:</a:t>
            </a:r>
            <a:endParaRPr lang="en-US" altLang="en-US" b="1">
              <a:sym typeface="+mn-ea"/>
            </a:endParaRPr>
          </a:p>
          <a:p>
            <a:endParaRPr lang="en-US" altLang="en-US"/>
          </a:p>
          <a:p>
            <a:r>
              <a:rPr lang="en-US" altLang="en-US"/>
              <a:t>All plans include unlimited users per medical unit.</a:t>
            </a:r>
            <a:endParaRPr lang="en-US" altLang="en-US"/>
          </a:p>
          <a:p>
            <a:r>
              <a:rPr lang="en-US" altLang="en-US"/>
              <a:t>Basic – $300 / month</a:t>
            </a:r>
            <a:endParaRPr lang="en-US" altLang="en-US"/>
          </a:p>
          <a:p>
            <a:r>
              <a:rPr lang="en-US" altLang="en-US"/>
              <a:t>- Core AI analysis</a:t>
            </a:r>
            <a:endParaRPr lang="en-US" altLang="en-US"/>
          </a:p>
          <a:p>
            <a:r>
              <a:rPr lang="en-US" altLang="en-US"/>
              <a:t>- Document validation</a:t>
            </a:r>
            <a:endParaRPr lang="en-US" altLang="en-US"/>
          </a:p>
          <a:p>
            <a:r>
              <a:rPr lang="en-US" altLang="en-US"/>
              <a:t>- Basic medical insights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 – $450 / month</a:t>
            </a:r>
            <a:endParaRPr lang="en-US" altLang="en-US"/>
          </a:p>
          <a:p>
            <a:r>
              <a:rPr lang="en-US" altLang="en-US"/>
              <a:t>- Advanced statistics &amp; predictions</a:t>
            </a:r>
            <a:endParaRPr lang="en-US" altLang="en-US"/>
          </a:p>
          <a:p>
            <a:r>
              <a:rPr lang="en-US" altLang="en-US"/>
              <a:t>- Full AI integration</a:t>
            </a:r>
            <a:endParaRPr lang="en-US" altLang="en-US"/>
          </a:p>
          <a:p>
            <a:r>
              <a:rPr lang="en-US" altLang="en-US"/>
              <a:t>- Extended analytics dashboard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Ultra – $600 / month</a:t>
            </a:r>
            <a:endParaRPr lang="en-US" altLang="en-US"/>
          </a:p>
          <a:p>
            <a:r>
              <a:rPr lang="en-US" altLang="en-US"/>
              <a:t>- Full access to all features</a:t>
            </a:r>
            <a:endParaRPr lang="en-US" altLang="en-US"/>
          </a:p>
          <a:p>
            <a:r>
              <a:rPr lang="en-US" altLang="en-US"/>
              <a:t>- Custom feature requests</a:t>
            </a:r>
            <a:endParaRPr lang="en-US" altLang="en-US"/>
          </a:p>
          <a:p>
            <a:r>
              <a:rPr lang="en-US" altLang="en-US"/>
              <a:t>- Direct contribution to platform evolution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6651625" y="5309235"/>
            <a:ext cx="51669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ym typeface="+mn-ea"/>
              </a:rPr>
              <a:t>Break-Even Projection</a:t>
            </a:r>
            <a:endParaRPr lang="en-US" altLang="en-US" b="1"/>
          </a:p>
          <a:p>
            <a:r>
              <a:rPr lang="en-US" altLang="en-US">
                <a:sym typeface="+mn-ea"/>
              </a:rPr>
              <a:t>- 6 months with 10 subscribed medical units</a:t>
            </a:r>
            <a:endParaRPr lang="en-US" altLang="en-US"/>
          </a:p>
          <a:p>
            <a:r>
              <a:rPr lang="en-US" altLang="en-US">
                <a:sym typeface="+mn-ea"/>
              </a:rPr>
              <a:t>- 12 months with 5 subscribed medical units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31820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63636"/>
                </a:solidFill>
              </a:defRPr>
            </a:pPr>
            <a:r>
              <a:rPr sz="4400" dirty="0"/>
              <a:t>Conclusion &amp; Future Work</a:t>
            </a:r>
            <a:endParaRPr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854210"/>
            <a:ext cx="11277295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dirty="0"/>
              <a:t>• Successfully characterized echocardiographic feature interdependencies</a:t>
            </a:r>
            <a:endParaRPr dirty="0"/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dirty="0"/>
              <a:t>• Two </a:t>
            </a:r>
            <a:r>
              <a:rPr b="1" dirty="0"/>
              <a:t>complementary approaches</a:t>
            </a:r>
            <a:r>
              <a:rPr dirty="0"/>
              <a:t>:</a:t>
            </a:r>
            <a:endParaRPr lang="en-US" dirty="0"/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lang="en-US" dirty="0"/>
              <a:t>	</a:t>
            </a:r>
            <a:r>
              <a:rPr dirty="0"/>
              <a:t>- </a:t>
            </a:r>
            <a:r>
              <a:rPr dirty="0" err="1"/>
              <a:t>TabNet</a:t>
            </a:r>
            <a:r>
              <a:rPr dirty="0"/>
              <a:t> partial correlation for symmetric, linear associations</a:t>
            </a:r>
            <a:endParaRPr lang="en-US" dirty="0"/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lang="en-US" dirty="0"/>
              <a:t>	</a:t>
            </a:r>
            <a:r>
              <a:rPr dirty="0"/>
              <a:t>- GNN for directed, nonlinear feature</a:t>
            </a:r>
            <a:r>
              <a:rPr lang="en-US" dirty="0"/>
              <a:t> </a:t>
            </a:r>
            <a:r>
              <a:rPr dirty="0"/>
              <a:t>→</a:t>
            </a:r>
            <a:r>
              <a:rPr lang="en-US" dirty="0"/>
              <a:t> </a:t>
            </a:r>
            <a:r>
              <a:rPr dirty="0"/>
              <a:t>MR relationships</a:t>
            </a:r>
            <a:endParaRPr dirty="0"/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b="1" dirty="0"/>
              <a:t>Clinical relevance</a:t>
            </a:r>
            <a:r>
              <a:rPr dirty="0"/>
              <a:t>: LV volume, MV annulus, LA area key contributors to MR</a:t>
            </a:r>
            <a:endParaRPr dirty="0"/>
          </a:p>
          <a:p>
            <a:pPr>
              <a:spcAft>
                <a:spcPts val="1600"/>
              </a:spcAft>
              <a:defRPr sz="22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b="1" dirty="0"/>
              <a:t>Future work</a:t>
            </a:r>
            <a:r>
              <a:rPr dirty="0"/>
              <a:t>: Extend to more features</a:t>
            </a:r>
            <a:r>
              <a:rPr lang="en-US" dirty="0"/>
              <a:t> and add</a:t>
            </a:r>
            <a:r>
              <a:rPr dirty="0"/>
              <a:t> temporal modeling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6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30734" y="1828800"/>
            <a:ext cx="2930226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5000" dirty="0"/>
              <a:t>Thank You</a:t>
            </a:r>
            <a:endParaRPr sz="50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C8C8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54*407"/>
  <p:tag name="TABLE_ENDDRAG_RECT" val="77*140*754*407"/>
</p:tagLst>
</file>

<file path=ppt/tags/tag2.xml><?xml version="1.0" encoding="utf-8"?>
<p:tagLst xmlns:p="http://schemas.openxmlformats.org/presentationml/2006/main">
  <p:tag name="TABLE_ENDDRAG_ORIGIN_RECT" val="854*332"/>
  <p:tag name="TABLE_ENDDRAG_RECT" val="67*159*854*33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AB79F40DDE73438D5BCFF294CB777F" ma:contentTypeVersion="13" ma:contentTypeDescription="Create a new document." ma:contentTypeScope="" ma:versionID="c92d49cf5a95d645d03aef571303b095">
  <xsd:schema xmlns:xsd="http://www.w3.org/2001/XMLSchema" xmlns:xs="http://www.w3.org/2001/XMLSchema" xmlns:p="http://schemas.microsoft.com/office/2006/metadata/properties" xmlns:ns2="1e21c5fc-38fc-4ef3-967c-52920d864eb4" xmlns:ns3="db97ba85-579e-411b-948c-311c2e42328f" targetNamespace="http://schemas.microsoft.com/office/2006/metadata/properties" ma:root="true" ma:fieldsID="f9697e382105165912bcff1bf0fdded9" ns2:_="" ns3:_="">
    <xsd:import namespace="1e21c5fc-38fc-4ef3-967c-52920d864eb4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1c5fc-38fc-4ef3-967c-52920d864eb4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3897e45-edb0-49a5-8c41-6d64bbcfbbe3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21c5fc-38fc-4ef3-967c-52920d864eb4">
      <Terms xmlns="http://schemas.microsoft.com/office/infopath/2007/PartnerControls"/>
    </lcf76f155ced4ddcb4097134ff3c332f>
    <TaxCatchAll xmlns="db97ba85-579e-411b-948c-311c2e42328f" xsi:nil="true"/>
    <ReferenceId xmlns="1e21c5fc-38fc-4ef3-967c-52920d864eb4" xsi:nil="true"/>
  </documentManagement>
</p:properties>
</file>

<file path=customXml/itemProps1.xml><?xml version="1.0" encoding="utf-8"?>
<ds:datastoreItem xmlns:ds="http://schemas.openxmlformats.org/officeDocument/2006/customXml" ds:itemID="{D000797E-C2E2-40B4-B89D-BEE08DBC2509}"/>
</file>

<file path=customXml/itemProps2.xml><?xml version="1.0" encoding="utf-8"?>
<ds:datastoreItem xmlns:ds="http://schemas.openxmlformats.org/officeDocument/2006/customXml" ds:itemID="{1AE1873C-91E7-41DC-831E-25C4993716CD}"/>
</file>

<file path=customXml/itemProps3.xml><?xml version="1.0" encoding="utf-8"?>
<ds:datastoreItem xmlns:ds="http://schemas.openxmlformats.org/officeDocument/2006/customXml" ds:itemID="{E5BEBAAA-CBF7-4227-A1BF-D8B37D4A6D7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4307</Words>
  <Application>WPS Presentation</Application>
  <PresentationFormat>Widescreen</PresentationFormat>
  <Paragraphs>190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Google Sans Text</vt:lpstr>
      <vt:lpstr>Segoe Print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Catalin Pangaleanu</dc:creator>
  <dc:description>generated using python-pptx</dc:description>
  <cp:lastModifiedBy>iusti</cp:lastModifiedBy>
  <cp:revision>5</cp:revision>
  <dcterms:created xsi:type="dcterms:W3CDTF">2013-01-27T09:14:00Z</dcterms:created>
  <dcterms:modified xsi:type="dcterms:W3CDTF">2026-01-15T20:29:46Z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0729A6DF67354357ACD146882CB3FAB8_12</vt:lpwstr>
  </property>
  <property fmtid="{D5CDD505-2E9C-101B-9397-08002B2CF9AE}" pid="3" name="KSOProductBuildVer">
    <vt:lpwstr>1033-12.2.0.23196</vt:lpwstr>
  </property>
  <property fmtid="{D5CDD505-2E9C-101B-9397-08002B2CF9AE}" pid="4" name="ContentTypeId">
    <vt:lpwstr>0x0101008BAB79F40DDE73438D5BCFF294CB777F</vt:lpwstr>
  </property>
</Properties>
</file>