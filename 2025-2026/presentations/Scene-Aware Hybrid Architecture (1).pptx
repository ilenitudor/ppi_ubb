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Light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SemiBold" panose="000007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80f1ab522_0_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b80f1ab52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»"/>
              <a:defRPr sz="2800"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oondream.ai/blog/moondream-3-preview" TargetMode="External"/><Relationship Id="rId7" Type="http://schemas.openxmlformats.org/officeDocument/2006/relationships/hyperlink" Target="https://pub.towardsai.net/yolo-a-benchmark-in-object-detection-classification-bf60a5e3cfcc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1506.01497" TargetMode="External"/><Relationship Id="rId5" Type="http://schemas.openxmlformats.org/officeDocument/2006/relationships/hyperlink" Target="https://huggingface.co/blog/smolvlm#benchmarks" TargetMode="External"/><Relationship Id="rId4" Type="http://schemas.openxmlformats.org/officeDocument/2006/relationships/hyperlink" Target="https://arxiv.org/pdf/2504.0529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 descr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295275" y="1059208"/>
            <a:ext cx="11601450" cy="825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oppins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Scene-Aware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619750" y="2453580"/>
            <a:ext cx="952500" cy="3810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71500" y="3177480"/>
            <a:ext cx="110490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Lato Light"/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A Real-Time Hybrid Assistant for the Visually Impaired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761999" y="571500"/>
            <a:ext cx="357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71500" y="1610468"/>
            <a:ext cx="523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Understand the surroundings quickly and accurate. </a:t>
            </a:r>
            <a:endParaRPr/>
          </a:p>
        </p:txBody>
      </p:sp>
      <p:pic>
        <p:nvPicPr>
          <p:cNvPr id="71" name="Google Shape;71;p14" descr="Google Shape;97;p14"/>
          <p:cNvPicPr preferRelativeResize="0"/>
          <p:nvPr/>
        </p:nvPicPr>
        <p:blipFill rotWithShape="1">
          <a:blip r:embed="rId3">
            <a:alphaModFix/>
          </a:blip>
          <a:srcRect t="6094"/>
          <a:stretch/>
        </p:blipFill>
        <p:spPr>
          <a:xfrm>
            <a:off x="571500" y="2178575"/>
            <a:ext cx="4921025" cy="420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7306424" y="647175"/>
            <a:ext cx="357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Solution</a:t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115925" y="647175"/>
            <a:ext cx="57300" cy="548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4" descr="Graphic images on a white backgorud a  of how the app works. Input is the image -&gt; AI model processes the image -&gt; speech output (sound waves)"/>
          <p:cNvPicPr preferRelativeResize="0"/>
          <p:nvPr/>
        </p:nvPicPr>
        <p:blipFill rotWithShape="1">
          <a:blip r:embed="rId4">
            <a:alphaModFix/>
          </a:blip>
          <a:srcRect t="28160" b="23956"/>
          <a:stretch/>
        </p:blipFill>
        <p:spPr>
          <a:xfrm>
            <a:off x="6346250" y="2594675"/>
            <a:ext cx="5845750" cy="27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 descr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56730"/>
            <a:ext cx="3492401" cy="3449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descr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656730"/>
            <a:ext cx="3492549" cy="3449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descr="Google Shape;110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49" y="2656730"/>
            <a:ext cx="3492401" cy="344939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762000" y="571500"/>
            <a:ext cx="11401425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 Constraints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71500" y="1910059"/>
            <a:ext cx="110490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create an accessible, scalable tool, we faced a "Triangle of Trade-offs":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794227" y="3685430"/>
            <a:ext cx="3046945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oppins SemiBold"/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Limits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866775" y="4260651"/>
            <a:ext cx="2901851" cy="139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Must run on accessible devices with </a:t>
            </a:r>
            <a:r>
              <a:rPr lang="en-US" sz="16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&lt; 2GB RAM</a:t>
            </a: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usage. Not everyone owns a flagship phone.</a:t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4572375" y="3685430"/>
            <a:ext cx="30471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oppins SemiBold"/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Efficiency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4644925" y="4260651"/>
            <a:ext cx="2902000" cy="101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processing is non-negotiable for safety. Latency causes accidents.</a:t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8350678" y="3685430"/>
            <a:ext cx="3046944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oppins SemiBold"/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Reasoning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8423224" y="4260651"/>
            <a:ext cx="2901851" cy="101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reasoning capacity is needed to describe complex, dynamic scenarios.</a:t>
            </a:r>
            <a:endParaRPr/>
          </a:p>
        </p:txBody>
      </p:sp>
      <p:pic>
        <p:nvPicPr>
          <p:cNvPr id="91" name="Google Shape;91;p15" descr="Google Shape;120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9100" y="299963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descr="Google Shape;121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826" y="2999630"/>
            <a:ext cx="40005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descr="Google Shape;122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550" y="299963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 descr="Google Shape;12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9500" y="2496441"/>
            <a:ext cx="4191000" cy="279454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762000" y="571500"/>
            <a:ext cx="11401425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Initial Approach: The Trap of "Small" VLMs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571500" y="571500"/>
            <a:ext cx="57300" cy="548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71500" y="2200572"/>
            <a:ext cx="6600825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oppins SemiBold"/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Misalignment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71500" y="2775792"/>
            <a:ext cx="6286500" cy="62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initially attempted to use small-parameter Vision-Language Models (like SmolVLM) entirely on-device.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571500" y="3655664"/>
            <a:ext cx="6286500" cy="24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Result:</a:t>
            </a: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Failure.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7644765" y="2801241"/>
            <a:ext cx="3760471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400"/>
              <a:buFont typeface="Poppins SemiBold"/>
              <a:buNone/>
            </a:pPr>
            <a:r>
              <a:rPr lang="en-US" sz="2400" b="1" i="0" u="none" strike="noStrike" cap="non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Benchmarks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1333500" y="4200376"/>
            <a:ext cx="5524500" cy="24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Lato"/>
              <a:buNone/>
            </a:pPr>
            <a:r>
              <a:rPr lang="en-US" sz="16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Too Slow:</a:t>
            </a: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Couldn't proactively prevent accidents.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1333500" y="4726037"/>
            <a:ext cx="5524500" cy="62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Lato"/>
              <a:buNone/>
            </a:pPr>
            <a:r>
              <a:rPr lang="en-US" sz="16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Too Simple:</a:t>
            </a: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Lacked the "College-level" reasoning (MMMU) to answer complex environmental questions accurately.</a:t>
            </a:r>
            <a:endParaRPr/>
          </a:p>
        </p:txBody>
      </p:sp>
      <p:pic>
        <p:nvPicPr>
          <p:cNvPr id="107" name="Google Shape;107;p16" descr="Google Shape;13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238476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descr="Google Shape;13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764137"/>
            <a:ext cx="228600" cy="24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 descr="Google Shape;17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008"/>
            <a:ext cx="6096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990600" y="3158490"/>
            <a:ext cx="45720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Poppins SemiBold"/>
              <a:buNone/>
            </a:pPr>
            <a:r>
              <a:rPr lang="en-US" sz="24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Layer 1: Local (Device)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762000" y="3733712"/>
            <a:ext cx="4572000" cy="62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YOLO v8</a:t>
            </a: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handles real-time object recognition. Zero network latency. Pure safety.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7124700" y="3158470"/>
            <a:ext cx="4419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Poppins SemiBold"/>
              <a:buNone/>
            </a:pPr>
            <a:r>
              <a:rPr lang="en-US" sz="240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Layer 2: Remote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6743700" y="3733691"/>
            <a:ext cx="4572000" cy="101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Moondream 3</a:t>
            </a: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handles scene description and dialogue. High capacity reasoning for detailed queries.</a:t>
            </a:r>
            <a:endParaRPr/>
          </a:p>
        </p:txBody>
      </p:sp>
      <p:pic>
        <p:nvPicPr>
          <p:cNvPr id="118" name="Google Shape;118;p17" descr="Google Shape;18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631" y="3190741"/>
            <a:ext cx="228601" cy="30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descr="Google Shape;183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7673" y="3190733"/>
            <a:ext cx="3810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571500" y="571500"/>
            <a:ext cx="57300" cy="548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762000" y="571500"/>
            <a:ext cx="11401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"/>
              <a:buNone/>
            </a:pPr>
            <a:r>
              <a:rPr lang="en-US" sz="3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Final Approach: Hybrid Architecture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endParaRPr sz="3600" b="1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761999" y="571500"/>
            <a:ext cx="11401502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Layer 1: Object Detection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571500" y="571500"/>
            <a:ext cx="57301" cy="548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 descr="Google Shape;19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7200" y="2063538"/>
            <a:ext cx="6285263" cy="443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descr="Google Shape;19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8225" y="2035407"/>
            <a:ext cx="6859225" cy="443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/>
        </p:nvSpPr>
        <p:spPr>
          <a:xfrm>
            <a:off x="761999" y="571500"/>
            <a:ext cx="11401502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Layer 2: Deep Understanding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28650" y="1428750"/>
            <a:ext cx="4441200" cy="4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Prompt: "Runner with purple socks"</a:t>
            </a:r>
            <a:endParaRPr/>
          </a:p>
        </p:txBody>
      </p:sp>
      <p:pic>
        <p:nvPicPr>
          <p:cNvPr id="137" name="Google Shape;137;p19" descr="Google Shape;19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024" y="2176024"/>
            <a:ext cx="3477738" cy="404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descr="Google Shape;20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6726" y="2183526"/>
            <a:ext cx="3477726" cy="403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 descr="Google Shape;201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40424" y="2264294"/>
            <a:ext cx="3542675" cy="408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 descr="Google Shape;9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512540"/>
            <a:ext cx="5238750" cy="476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/>
        </p:nvSpPr>
        <p:spPr>
          <a:xfrm>
            <a:off x="761999" y="571500"/>
            <a:ext cx="11401502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App</a:t>
            </a:r>
            <a:endParaRPr sz="3600" b="1" i="0" u="none" strike="noStrike" cap="none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571425" y="2373692"/>
            <a:ext cx="5238900" cy="39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Scene Aware Assistant — User Experience</a:t>
            </a:r>
            <a:endParaRPr sz="1800" b="0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761999" y="3256574"/>
            <a:ext cx="5238750" cy="34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Poppins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How the App Is Used</a:t>
            </a: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1333500" y="4105126"/>
            <a:ext cx="4476750" cy="339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Voice-first mobile app</a:t>
            </a:r>
            <a:endParaRPr sz="16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1333500" y="4630787"/>
            <a:ext cx="4476900" cy="339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Camera-based awareness</a:t>
            </a:r>
            <a:endParaRPr sz="16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1333500" y="5156448"/>
            <a:ext cx="4476750" cy="339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Hands-free interaction</a:t>
            </a:r>
            <a:endParaRPr sz="16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2" name="Google Shape;152;p20" descr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143226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 descr="Google Shape;10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668887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 descr="Google Shape;10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5194548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04150" y="127000"/>
            <a:ext cx="2871788" cy="63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 descr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54475" y="4187623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 descr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54475" y="4725358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descr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54475" y="5302350"/>
            <a:ext cx="228600" cy="24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4283075" y="4157559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opens app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283075" y="4689384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Asks a question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283075" y="5288310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Gets spoken feedback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/>
        </p:nvSpPr>
        <p:spPr>
          <a:xfrm>
            <a:off x="761999" y="571500"/>
            <a:ext cx="11401502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 &amp; Competition</a:t>
            </a:r>
            <a:endParaRPr sz="3600" b="1" i="0" u="none" strike="noStrike" cap="none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571425" y="2373692"/>
            <a:ext cx="5238900" cy="39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Market positioning</a:t>
            </a:r>
            <a:endParaRPr sz="1800" b="0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761999" y="3256574"/>
            <a:ext cx="5238750" cy="34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Concrete numbers:</a:t>
            </a: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1333500" y="4105126"/>
            <a:ext cx="4476750" cy="339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285M visually impaired worldwide</a:t>
            </a:r>
            <a:endParaRPr sz="16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1333500" y="4630787"/>
            <a:ext cx="4476900" cy="339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Assistive tech market: ~€6–7B</a:t>
            </a:r>
            <a:endParaRPr sz="16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1333500" y="5156448"/>
            <a:ext cx="4908550" cy="339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Software-based accessibility growing ~8–10% / year</a:t>
            </a:r>
            <a:endParaRPr sz="16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3" name="Google Shape;173;p21" descr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143226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 descr="Google Shape;1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668887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 descr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5194548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 rotWithShape="1">
          <a:blip r:embed="rId4">
            <a:alphaModFix/>
          </a:blip>
          <a:srcRect l="6837" t="3316" r="5733" b="26372"/>
          <a:stretch>
            <a:fillRect/>
          </a:stretch>
        </p:blipFill>
        <p:spPr>
          <a:xfrm>
            <a:off x="5683250" y="1423930"/>
            <a:ext cx="6284953" cy="37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 flipH="1">
            <a:off x="9918765" y="4143226"/>
            <a:ext cx="100323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761999" y="571500"/>
            <a:ext cx="11401502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Model</a:t>
            </a:r>
            <a:endParaRPr sz="3600" b="1" i="0" u="none" strike="noStrike" cap="none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571424" y="2373692"/>
            <a:ext cx="10153726" cy="83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 we make money							Break-even point:		</a:t>
            </a:r>
            <a:endParaRPr sz="1800" b="0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761998" y="3256574"/>
            <a:ext cx="11487151" cy="34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Freemium model			Who pays					Assumptions</a:t>
            </a: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1331120" y="4053205"/>
            <a:ext cx="4476750" cy="73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Free: basic detection</a:t>
            </a:r>
            <a:endParaRPr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(only local)</a:t>
            </a:r>
            <a:endParaRPr sz="16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331120" y="4816372"/>
            <a:ext cx="2870200" cy="112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Premium: €10 / month</a:t>
            </a:r>
            <a:endParaRPr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(includes cloud processing for complex queries)</a:t>
            </a:r>
            <a:endParaRPr sz="1600" b="0" i="0" u="none" strike="noStrike" cap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8" name="Google Shape;188;p22" descr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143226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descr="Google Shape;1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930485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 descr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8876" y="4159009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descr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9513" y="4695574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descr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9513" y="5238262"/>
            <a:ext cx="228600" cy="24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5246688" y="4099510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Individual users		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246688" y="4638823"/>
            <a:ext cx="30019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NGOs / institutions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246688" y="5178136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Accessibility programs</a:t>
            </a:r>
            <a:endParaRPr/>
          </a:p>
        </p:txBody>
      </p:sp>
      <p:pic>
        <p:nvPicPr>
          <p:cNvPr id="196" name="Google Shape;196;p22" descr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5776" y="4035183"/>
            <a:ext cx="228600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descr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5776" y="5054310"/>
            <a:ext cx="228600" cy="24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9558338" y="4006871"/>
            <a:ext cx="263366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Fixed costs: ~€5,000 for initial implementation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9604376" y="5054310"/>
            <a:ext cx="22463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Price: €10 / user / month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8001000" y="2851546"/>
            <a:ext cx="3987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1000 € / 10 € = 100 users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=&gt;5 months of having 200 premium users</a:t>
            </a:r>
            <a:endParaRPr/>
          </a:p>
        </p:txBody>
      </p:sp>
      <p:pic>
        <p:nvPicPr>
          <p:cNvPr id="201" name="Google Shape;201;p22" descr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5776" y="4578697"/>
            <a:ext cx="228600" cy="2476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9558338" y="4557650"/>
            <a:ext cx="21351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~€1,000 monthly running costs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571500" y="571500"/>
            <a:ext cx="57300" cy="548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762000" y="571500"/>
            <a:ext cx="11401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"/>
              <a:buNone/>
            </a:pPr>
            <a:r>
              <a:rPr lang="en-US" sz="3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endParaRPr sz="3600" b="1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1790700"/>
            <a:ext cx="4583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Solved the Accessibility Paradox</a:t>
            </a:r>
            <a:endParaRPr sz="22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0" name="Google Shape;210;p23" descr="safe icon"/>
          <p:cNvPicPr preferRelativeResize="0"/>
          <p:nvPr/>
        </p:nvPicPr>
        <p:blipFill rotWithShape="1">
          <a:blip r:embed="rId3">
            <a:alphaModFix/>
          </a:blip>
          <a:srcRect l="16832" r="14068"/>
          <a:stretch/>
        </p:blipFill>
        <p:spPr>
          <a:xfrm>
            <a:off x="1185375" y="2776850"/>
            <a:ext cx="4150300" cy="33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brain icon"/>
          <p:cNvPicPr preferRelativeResize="0"/>
          <p:nvPr/>
        </p:nvPicPr>
        <p:blipFill rotWithShape="1">
          <a:blip r:embed="rId4">
            <a:alphaModFix/>
          </a:blip>
          <a:srcRect l="7088" t="43809" r="60123" b="8736"/>
          <a:stretch/>
        </p:blipFill>
        <p:spPr>
          <a:xfrm>
            <a:off x="5908252" y="2967425"/>
            <a:ext cx="4150300" cy="33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4" descr="Google Shape;22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295199" y="3151946"/>
            <a:ext cx="11601602" cy="54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/>
        </p:nvSpPr>
        <p:spPr>
          <a:xfrm>
            <a:off x="761999" y="571500"/>
            <a:ext cx="11401502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oppins SemiBold"/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Sources</a:t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71499" y="1847275"/>
            <a:ext cx="7133702" cy="239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https://moondream.ai/blog/moondream-3-preview</a:t>
            </a:r>
            <a:r>
              <a:rPr lang="en-US" sz="1200" b="0" i="0" u="sng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https://arxiv.org/pdf/2504.05299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https://huggingface.co/blog/smolvlm#benchmarks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https://arxiv.org/abs/1506.01497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https://pub.towardsai.net/yolo-a-benchmark-in-object-detection-classification-bf60a5e3cfcc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AB79F40DDE73438D5BCFF294CB777F" ma:contentTypeVersion="13" ma:contentTypeDescription="Create a new document." ma:contentTypeScope="" ma:versionID="c92d49cf5a95d645d03aef571303b095">
  <xsd:schema xmlns:xsd="http://www.w3.org/2001/XMLSchema" xmlns:xs="http://www.w3.org/2001/XMLSchema" xmlns:p="http://schemas.microsoft.com/office/2006/metadata/properties" xmlns:ns2="1e21c5fc-38fc-4ef3-967c-52920d864eb4" xmlns:ns3="db97ba85-579e-411b-948c-311c2e42328f" targetNamespace="http://schemas.microsoft.com/office/2006/metadata/properties" ma:root="true" ma:fieldsID="f9697e382105165912bcff1bf0fdded9" ns2:_="" ns3:_="">
    <xsd:import namespace="1e21c5fc-38fc-4ef3-967c-52920d864eb4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1c5fc-38fc-4ef3-967c-52920d864eb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3897e45-edb0-49a5-8c41-6d64bbcfbbe3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21c5fc-38fc-4ef3-967c-52920d864eb4">
      <Terms xmlns="http://schemas.microsoft.com/office/infopath/2007/PartnerControls"/>
    </lcf76f155ced4ddcb4097134ff3c332f>
    <TaxCatchAll xmlns="db97ba85-579e-411b-948c-311c2e42328f" xsi:nil="true"/>
    <ReferenceId xmlns="1e21c5fc-38fc-4ef3-967c-52920d864eb4" xsi:nil="true"/>
  </documentManagement>
</p:properties>
</file>

<file path=customXml/itemProps1.xml><?xml version="1.0" encoding="utf-8"?>
<ds:datastoreItem xmlns:ds="http://schemas.openxmlformats.org/officeDocument/2006/customXml" ds:itemID="{5990C92D-6198-4549-BF37-601AD15D5295}"/>
</file>

<file path=customXml/itemProps2.xml><?xml version="1.0" encoding="utf-8"?>
<ds:datastoreItem xmlns:ds="http://schemas.openxmlformats.org/officeDocument/2006/customXml" ds:itemID="{4CFD441B-9AF4-44E9-896B-3932310B05B3}"/>
</file>

<file path=customXml/itemProps3.xml><?xml version="1.0" encoding="utf-8"?>
<ds:datastoreItem xmlns:ds="http://schemas.openxmlformats.org/officeDocument/2006/customXml" ds:itemID="{9F2F65C0-D302-439A-ABAA-09BD9B7D436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Widescreen</PresentationFormat>
  <Paragraphs>68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Lato</vt:lpstr>
      <vt:lpstr>Poppins SemiBold</vt:lpstr>
      <vt:lpstr>Poppins</vt:lpstr>
      <vt:lpstr>Lato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sorin sampalean</cp:lastModifiedBy>
  <cp:revision>1</cp:revision>
  <dcterms:modified xsi:type="dcterms:W3CDTF">2026-01-15T13:04:01Z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0x0101008BAB79F40DDE73438D5BCFF294CB777F</vt:lpwstr>
  </property>
</Properties>
</file>