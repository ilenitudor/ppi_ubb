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10972800" cx="14630400"/>
  <p:notesSz cx="10972800" cy="146304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Bricolage Grotesque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BricolageGrotesque-regular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BricolageGrotesqu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104927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104927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104927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104927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104927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104927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104927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104927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104927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104927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109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190" y="2238851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4450"/>
              <a:buFont typeface="Bricolage Grotesque"/>
              <a:buNone/>
            </a:pPr>
            <a:r>
              <a:rPr b="1" i="0" lang="en-US" sz="4450" u="none" cap="none" strike="noStrike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AI-Assisted Lung Cancer Detection</a:t>
            </a:r>
            <a:endParaRPr b="0" i="0" sz="445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6280190" y="3996571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Bridging Deep Learning Performance with Clinical &amp; Business Impact</a:t>
            </a:r>
            <a:endParaRPr b="0" i="0" sz="17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6280190" y="52043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Authors</a:t>
            </a:r>
            <a:endParaRPr b="0" i="0" sz="2200" u="none" cap="none" strike="noStrike"/>
          </a:p>
        </p:txBody>
      </p:sp>
      <p:sp>
        <p:nvSpPr>
          <p:cNvPr id="60" name="Google Shape;60;p13"/>
          <p:cNvSpPr/>
          <p:nvPr/>
        </p:nvSpPr>
        <p:spPr>
          <a:xfrm>
            <a:off x="6280190" y="5785485"/>
            <a:ext cx="35015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AI &amp; Deep Learning:</a:t>
            </a: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Dumitrascu Constantin Alexandru</a:t>
            </a:r>
            <a:endParaRPr b="0" i="0" sz="1750" u="none" cap="none" strike="noStrike"/>
          </a:p>
        </p:txBody>
      </p:sp>
      <p:sp>
        <p:nvSpPr>
          <p:cNvPr id="61" name="Google Shape;61;p13"/>
          <p:cNvSpPr/>
          <p:nvPr/>
        </p:nvSpPr>
        <p:spPr>
          <a:xfrm>
            <a:off x="6280190" y="7078266"/>
            <a:ext cx="350150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Application, Business &amp; Product Design:</a:t>
            </a: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Gatea David, Manta Andrei Dragos, Craciunoiu Denis-Andrei</a:t>
            </a:r>
            <a:endParaRPr b="0" i="0" sz="1750" u="none" cap="none" strike="noStrike"/>
          </a:p>
        </p:txBody>
      </p:sp>
      <p:sp>
        <p:nvSpPr>
          <p:cNvPr id="62" name="Google Shape;62;p13"/>
          <p:cNvSpPr/>
          <p:nvPr/>
        </p:nvSpPr>
        <p:spPr>
          <a:xfrm>
            <a:off x="10342721" y="52043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Institution</a:t>
            </a:r>
            <a:endParaRPr b="0" i="0" sz="2200" u="none" cap="none" strike="noStrike"/>
          </a:p>
        </p:txBody>
      </p:sp>
      <p:sp>
        <p:nvSpPr>
          <p:cNvPr id="63" name="Google Shape;63;p13"/>
          <p:cNvSpPr/>
          <p:nvPr/>
        </p:nvSpPr>
        <p:spPr>
          <a:xfrm>
            <a:off x="10342721" y="5785485"/>
            <a:ext cx="35015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Babeș-Bolyai University</a:t>
            </a:r>
            <a:endParaRPr b="0" i="0" sz="1750" u="none" cap="none" strike="noStrike"/>
          </a:p>
        </p:txBody>
      </p:sp>
      <p:sp>
        <p:nvSpPr>
          <p:cNvPr id="64" name="Google Shape;64;p13"/>
          <p:cNvSpPr/>
          <p:nvPr/>
        </p:nvSpPr>
        <p:spPr>
          <a:xfrm>
            <a:off x="10342721" y="6352461"/>
            <a:ext cx="35015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Course:</a:t>
            </a: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MIRPR &amp; PPI</a:t>
            </a:r>
            <a:endParaRPr b="0" i="0" sz="1750" u="none" cap="none" strike="noStrike"/>
          </a:p>
        </p:txBody>
      </p:sp>
      <p:sp>
        <p:nvSpPr>
          <p:cNvPr id="65" name="Google Shape;65;p13"/>
          <p:cNvSpPr/>
          <p:nvPr/>
        </p:nvSpPr>
        <p:spPr>
          <a:xfrm>
            <a:off x="10342721" y="6919436"/>
            <a:ext cx="35015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Academic Year:</a:t>
            </a: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2025–2026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109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793790" y="1537454"/>
            <a:ext cx="1201936" cy="426244"/>
          </a:xfrm>
          <a:prstGeom prst="roundRect">
            <a:avLst>
              <a:gd fmla="val 17880" name="adj"/>
            </a:avLst>
          </a:prstGeom>
          <a:solidFill>
            <a:srgbClr val="3E0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929878" y="1605439"/>
            <a:ext cx="929759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SECTION 1</a:t>
            </a:r>
            <a:endParaRPr b="0" i="0" sz="140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793790" y="2054423"/>
            <a:ext cx="670571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4450"/>
              <a:buFont typeface="Bricolage Grotesque"/>
              <a:buNone/>
            </a:pPr>
            <a:r>
              <a:rPr b="1" i="0" lang="en-US" sz="4450" u="none" cap="none" strike="noStrike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&amp; Technical Overview</a:t>
            </a:r>
            <a:endParaRPr b="0" i="0" sz="445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793790" y="3103364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Our presentation is divided into two key sections, ensuring a comprehensive understanding of both the technical innovation and its real-world application.</a:t>
            </a:r>
            <a:endParaRPr b="0" i="0" sz="175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793790" y="4787384"/>
            <a:ext cx="7556421" cy="2040493"/>
          </a:xfrm>
          <a:prstGeom prst="roundRect">
            <a:avLst>
              <a:gd fmla="val 7170" name="adj"/>
            </a:avLst>
          </a:prstGeom>
          <a:solidFill>
            <a:srgbClr val="090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793790" y="4756904"/>
            <a:ext cx="7556421" cy="121920"/>
          </a:xfrm>
          <a:prstGeom prst="roundRect">
            <a:avLst>
              <a:gd fmla="val 78139" name="adj"/>
            </a:avLst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4231779" y="4447223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4435852" y="4617363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ricolage Grotesque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 b="0" i="0" sz="2100" u="none" cap="none" strike="noStrike"/>
          </a:p>
        </p:txBody>
      </p:sp>
      <p:sp>
        <p:nvSpPr>
          <p:cNvPr id="80" name="Google Shape;80;p14"/>
          <p:cNvSpPr/>
          <p:nvPr/>
        </p:nvSpPr>
        <p:spPr>
          <a:xfrm>
            <a:off x="1051084" y="535436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&amp; Technical</a:t>
            </a:r>
            <a:endParaRPr b="0" i="0" sz="2200" u="none" cap="none" strike="noStrike"/>
          </a:p>
        </p:txBody>
      </p:sp>
      <p:sp>
        <p:nvSpPr>
          <p:cNvPr id="81" name="Google Shape;81;p14"/>
          <p:cNvSpPr/>
          <p:nvPr/>
        </p:nvSpPr>
        <p:spPr>
          <a:xfrm>
            <a:off x="1051084" y="5844778"/>
            <a:ext cx="704183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Focuses on the deep learning models and their performance in lung cancer detection.</a:t>
            </a:r>
            <a:endParaRPr b="0" i="0" sz="175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793790" y="7394853"/>
            <a:ext cx="7556421" cy="2040493"/>
          </a:xfrm>
          <a:prstGeom prst="roundRect">
            <a:avLst>
              <a:gd fmla="val 7170" name="adj"/>
            </a:avLst>
          </a:prstGeom>
          <a:solidFill>
            <a:srgbClr val="090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793790" y="7364373"/>
            <a:ext cx="7556421" cy="121920"/>
          </a:xfrm>
          <a:prstGeom prst="roundRect">
            <a:avLst>
              <a:gd fmla="val 78139" name="adj"/>
            </a:avLst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4231779" y="7054691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4435852" y="7224832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ricolage Grotesque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 b="0" i="0" sz="2100" u="none" cap="none" strike="noStrike"/>
          </a:p>
        </p:txBody>
      </p:sp>
      <p:sp>
        <p:nvSpPr>
          <p:cNvPr id="86" name="Google Shape;86;p14"/>
          <p:cNvSpPr/>
          <p:nvPr/>
        </p:nvSpPr>
        <p:spPr>
          <a:xfrm>
            <a:off x="1051084" y="7961828"/>
            <a:ext cx="388024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Business, Product &amp; Market</a:t>
            </a:r>
            <a:endParaRPr b="0" i="0" sz="2200" u="none" cap="none" strike="noStrike"/>
          </a:p>
        </p:txBody>
      </p:sp>
      <p:sp>
        <p:nvSpPr>
          <p:cNvPr id="87" name="Google Shape;87;p14"/>
          <p:cNvSpPr/>
          <p:nvPr/>
        </p:nvSpPr>
        <p:spPr>
          <a:xfrm>
            <a:off x="1051084" y="8452247"/>
            <a:ext cx="704183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Explores the practical deployment, market impact, and strategic considerations.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109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/>
          <p:nvPr/>
        </p:nvSpPr>
        <p:spPr>
          <a:xfrm>
            <a:off x="6280190" y="645081"/>
            <a:ext cx="1564958" cy="370642"/>
          </a:xfrm>
          <a:prstGeom prst="roundRect">
            <a:avLst>
              <a:gd fmla="val 18506" name="adj"/>
            </a:avLst>
          </a:prstGeom>
          <a:solidFill>
            <a:srgbClr val="3E0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6402586" y="706279"/>
            <a:ext cx="1320165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AI &amp; TECHNICAL</a:t>
            </a:r>
            <a:endParaRPr b="0" i="0" sz="1250" u="none" cap="none" strike="noStrike"/>
          </a:p>
        </p:txBody>
      </p:sp>
      <p:sp>
        <p:nvSpPr>
          <p:cNvPr id="96" name="Google Shape;96;p15"/>
          <p:cNvSpPr/>
          <p:nvPr/>
        </p:nvSpPr>
        <p:spPr>
          <a:xfrm>
            <a:off x="6280190" y="1089184"/>
            <a:ext cx="5488305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4000"/>
              <a:buFont typeface="Bricolage Grotesque"/>
              <a:buNone/>
            </a:pPr>
            <a:r>
              <a:rPr b="1" i="0" lang="en-US" sz="4000" u="none" cap="none" strike="noStrike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Problem &amp; Motivation</a:t>
            </a:r>
            <a:endParaRPr b="0" i="0" sz="4000" u="none" cap="none" strike="noStrike"/>
          </a:p>
        </p:txBody>
      </p:sp>
      <p:sp>
        <p:nvSpPr>
          <p:cNvPr id="97" name="Google Shape;97;p15"/>
          <p:cNvSpPr/>
          <p:nvPr/>
        </p:nvSpPr>
        <p:spPr>
          <a:xfrm>
            <a:off x="6280190" y="2002631"/>
            <a:ext cx="7556421" cy="1943457"/>
          </a:xfrm>
          <a:prstGeom prst="roundRect">
            <a:avLst>
              <a:gd fmla="val 4412" name="adj"/>
            </a:avLst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6484263" y="2206704"/>
            <a:ext cx="612338" cy="612338"/>
          </a:xfrm>
          <a:prstGeom prst="roundRect">
            <a:avLst>
              <a:gd fmla="val 14931436" name="adj"/>
            </a:avLst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617" y="2375059"/>
            <a:ext cx="275511" cy="27551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6484263" y="3002756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000"/>
              <a:buFont typeface="Bricolage Grotesque"/>
              <a:buNone/>
            </a:pPr>
            <a:r>
              <a:rPr b="1" i="0" lang="en-US" sz="20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Leading Cause</a:t>
            </a:r>
            <a:endParaRPr b="0" i="0" sz="200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6484263" y="3431738"/>
            <a:ext cx="7148274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Lung cancer is the leading cause of cancer deaths globally.</a:t>
            </a:r>
            <a:endParaRPr b="0" i="0" sz="1600" u="none" cap="none" strike="noStrike"/>
          </a:p>
        </p:txBody>
      </p:sp>
      <p:sp>
        <p:nvSpPr>
          <p:cNvPr id="102" name="Google Shape;102;p15"/>
          <p:cNvSpPr/>
          <p:nvPr/>
        </p:nvSpPr>
        <p:spPr>
          <a:xfrm>
            <a:off x="6280190" y="4129802"/>
            <a:ext cx="7556421" cy="1943457"/>
          </a:xfrm>
          <a:prstGeom prst="roundRect">
            <a:avLst>
              <a:gd fmla="val 4412" name="adj"/>
            </a:avLst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6484263" y="4333875"/>
            <a:ext cx="612338" cy="612338"/>
          </a:xfrm>
          <a:prstGeom prst="roundRect">
            <a:avLst>
              <a:gd fmla="val 14931436" name="adj"/>
            </a:avLst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2617" y="4502229"/>
            <a:ext cx="275511" cy="27551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6484263" y="5129927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000"/>
              <a:buFont typeface="Bricolage Grotesque"/>
              <a:buNone/>
            </a:pPr>
            <a:r>
              <a:rPr b="1" i="0" lang="en-US" sz="20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Early Detection</a:t>
            </a:r>
            <a:endParaRPr b="0" i="0" sz="2000" u="none" cap="none" strike="noStrike"/>
          </a:p>
        </p:txBody>
      </p:sp>
      <p:sp>
        <p:nvSpPr>
          <p:cNvPr id="106" name="Google Shape;106;p15"/>
          <p:cNvSpPr/>
          <p:nvPr/>
        </p:nvSpPr>
        <p:spPr>
          <a:xfrm>
            <a:off x="6484263" y="5558909"/>
            <a:ext cx="7148274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Dramatically improves survival rates for patients.</a:t>
            </a:r>
            <a:endParaRPr b="0" i="0" sz="1600" u="none" cap="none" strike="noStrike"/>
          </a:p>
        </p:txBody>
      </p:sp>
      <p:sp>
        <p:nvSpPr>
          <p:cNvPr id="107" name="Google Shape;107;p15"/>
          <p:cNvSpPr/>
          <p:nvPr/>
        </p:nvSpPr>
        <p:spPr>
          <a:xfrm>
            <a:off x="6280190" y="6256972"/>
            <a:ext cx="7556421" cy="1943457"/>
          </a:xfrm>
          <a:prstGeom prst="roundRect">
            <a:avLst>
              <a:gd fmla="val 4412" name="adj"/>
            </a:avLst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6484263" y="6461046"/>
            <a:ext cx="612338" cy="612338"/>
          </a:xfrm>
          <a:prstGeom prst="roundRect">
            <a:avLst>
              <a:gd fmla="val 14931436" name="adj"/>
            </a:avLst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52617" y="6629400"/>
            <a:ext cx="275511" cy="27551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6484263" y="7257098"/>
            <a:ext cx="2640925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000"/>
              <a:buFont typeface="Bricolage Grotesque"/>
              <a:buNone/>
            </a:pPr>
            <a:r>
              <a:rPr b="1" i="0" lang="en-US" sz="20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Radiologist Shortage</a:t>
            </a:r>
            <a:endParaRPr b="0" i="0" sz="2000" u="none" cap="none" strike="noStrike"/>
          </a:p>
        </p:txBody>
      </p:sp>
      <p:sp>
        <p:nvSpPr>
          <p:cNvPr id="111" name="Google Shape;111;p15"/>
          <p:cNvSpPr/>
          <p:nvPr/>
        </p:nvSpPr>
        <p:spPr>
          <a:xfrm>
            <a:off x="6484263" y="7686080"/>
            <a:ext cx="7148274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 critical need for AI assistance to support medical professionals.</a:t>
            </a:r>
            <a:endParaRPr b="0" i="0" sz="1600" u="none" cap="none" strike="noStrike"/>
          </a:p>
        </p:txBody>
      </p:sp>
      <p:sp>
        <p:nvSpPr>
          <p:cNvPr id="112" name="Google Shape;112;p15"/>
          <p:cNvSpPr/>
          <p:nvPr/>
        </p:nvSpPr>
        <p:spPr>
          <a:xfrm>
            <a:off x="6280190" y="8384143"/>
            <a:ext cx="7556421" cy="1943457"/>
          </a:xfrm>
          <a:prstGeom prst="roundRect">
            <a:avLst>
              <a:gd fmla="val 4412" name="adj"/>
            </a:avLst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6484263" y="8588216"/>
            <a:ext cx="612338" cy="612338"/>
          </a:xfrm>
          <a:prstGeom prst="roundRect">
            <a:avLst>
              <a:gd fmla="val 14931436" name="adj"/>
            </a:avLst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52617" y="8756571"/>
            <a:ext cx="275511" cy="27551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/>
          <p:nvPr/>
        </p:nvSpPr>
        <p:spPr>
          <a:xfrm>
            <a:off x="6484263" y="9384268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000"/>
              <a:buFont typeface="Bricolage Grotesque"/>
              <a:buNone/>
            </a:pPr>
            <a:r>
              <a:rPr b="1" i="0" lang="en-US" sz="20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as Support</a:t>
            </a:r>
            <a:endParaRPr b="0" i="0" sz="2000" u="none" cap="none" strike="noStrike"/>
          </a:p>
        </p:txBody>
      </p:sp>
      <p:sp>
        <p:nvSpPr>
          <p:cNvPr id="116" name="Google Shape;116;p15"/>
          <p:cNvSpPr/>
          <p:nvPr/>
        </p:nvSpPr>
        <p:spPr>
          <a:xfrm>
            <a:off x="6484263" y="9813250"/>
            <a:ext cx="7148274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AI acts as decision support, not a replacement for human expertise.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109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6280190" y="2171581"/>
            <a:ext cx="1738670" cy="426244"/>
          </a:xfrm>
          <a:prstGeom prst="roundRect">
            <a:avLst>
              <a:gd fmla="val 17880" name="adj"/>
            </a:avLst>
          </a:prstGeom>
          <a:solidFill>
            <a:srgbClr val="3E0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6416278" y="2239566"/>
            <a:ext cx="1466493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AI &amp; TECHNICAL</a:t>
            </a:r>
            <a:endParaRPr b="0" i="0" sz="1400" u="none" cap="none" strike="noStrike"/>
          </a:p>
        </p:txBody>
      </p:sp>
      <p:sp>
        <p:nvSpPr>
          <p:cNvPr id="125" name="Google Shape;125;p16"/>
          <p:cNvSpPr/>
          <p:nvPr/>
        </p:nvSpPr>
        <p:spPr>
          <a:xfrm>
            <a:off x="6280190" y="2688550"/>
            <a:ext cx="574071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4450"/>
              <a:buFont typeface="Bricolage Grotesque"/>
              <a:buNone/>
            </a:pPr>
            <a:r>
              <a:rPr b="1" i="0" lang="en-US" sz="4450" u="none" cap="none" strike="noStrike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Pipeline Overview</a:t>
            </a:r>
            <a:endParaRPr b="0" i="0" sz="4450" u="none" cap="none" strike="noStrike"/>
          </a:p>
        </p:txBody>
      </p:sp>
      <p:sp>
        <p:nvSpPr>
          <p:cNvPr id="126" name="Google Shape;126;p16"/>
          <p:cNvSpPr/>
          <p:nvPr/>
        </p:nvSpPr>
        <p:spPr>
          <a:xfrm>
            <a:off x="6280190" y="3737491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Our system integrates multiple AI steps for comprehensive lung cancer screening.</a:t>
            </a:r>
            <a:endParaRPr b="0" i="0" sz="1750" u="none" cap="none" strike="noStrike"/>
          </a:p>
        </p:txBody>
      </p:sp>
      <p:pic>
        <p:nvPicPr>
          <p:cNvPr descr="preencoded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4718447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/>
          <p:nvPr/>
        </p:nvSpPr>
        <p:spPr>
          <a:xfrm>
            <a:off x="7641074" y="49452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2D X-ray Screening</a:t>
            </a:r>
            <a:endParaRPr b="0" i="0" sz="2200" u="none" cap="none" strike="noStrike"/>
          </a:p>
        </p:txBody>
      </p:sp>
      <p:sp>
        <p:nvSpPr>
          <p:cNvPr id="129" name="Google Shape;129;p16"/>
          <p:cNvSpPr/>
          <p:nvPr/>
        </p:nvSpPr>
        <p:spPr>
          <a:xfrm>
            <a:off x="7641074" y="5435679"/>
            <a:ext cx="619553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Fast, cost-effective initial assessment.</a:t>
            </a:r>
            <a:endParaRPr b="0" i="0" sz="1750" u="none" cap="none" strike="noStrike"/>
          </a:p>
        </p:txBody>
      </p:sp>
      <p:pic>
        <p:nvPicPr>
          <p:cNvPr descr="preencoded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90" y="6079331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/>
          <p:nvPr/>
        </p:nvSpPr>
        <p:spPr>
          <a:xfrm>
            <a:off x="7641074" y="630614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Nodule Localization</a:t>
            </a:r>
            <a:endParaRPr b="0" i="0" sz="2200" u="none" cap="none" strike="noStrike"/>
          </a:p>
        </p:txBody>
      </p:sp>
      <p:sp>
        <p:nvSpPr>
          <p:cNvPr id="132" name="Google Shape;132;p16"/>
          <p:cNvSpPr/>
          <p:nvPr/>
        </p:nvSpPr>
        <p:spPr>
          <a:xfrm>
            <a:off x="7641074" y="6796564"/>
            <a:ext cx="619553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YOLO model identifies potential nodules.</a:t>
            </a:r>
            <a:endParaRPr b="0" i="0" sz="1750" u="none" cap="none" strike="noStrike"/>
          </a:p>
        </p:txBody>
      </p:sp>
      <p:pic>
        <p:nvPicPr>
          <p:cNvPr descr="preencoded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90" y="7440216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7641074" y="766703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3D CT Diagnosis</a:t>
            </a:r>
            <a:endParaRPr b="0" i="0" sz="2200" u="none" cap="none" strike="noStrike"/>
          </a:p>
        </p:txBody>
      </p:sp>
      <p:sp>
        <p:nvSpPr>
          <p:cNvPr id="135" name="Google Shape;135;p16"/>
          <p:cNvSpPr/>
          <p:nvPr/>
        </p:nvSpPr>
        <p:spPr>
          <a:xfrm>
            <a:off x="7641074" y="8157448"/>
            <a:ext cx="619553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High-confidence confirmation using detailed scans.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109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6280190" y="1797725"/>
            <a:ext cx="1738670" cy="426244"/>
          </a:xfrm>
          <a:prstGeom prst="roundRect">
            <a:avLst>
              <a:gd fmla="val 17880" name="adj"/>
            </a:avLst>
          </a:prstGeom>
          <a:solidFill>
            <a:srgbClr val="3E0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6416278" y="1865709"/>
            <a:ext cx="1466493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AI &amp; TECHNICAL</a:t>
            </a:r>
            <a:endParaRPr b="0" i="0" sz="1400" u="none" cap="none" strike="noStrike"/>
          </a:p>
        </p:txBody>
      </p:sp>
      <p:sp>
        <p:nvSpPr>
          <p:cNvPr id="144" name="Google Shape;144;p17"/>
          <p:cNvSpPr/>
          <p:nvPr/>
        </p:nvSpPr>
        <p:spPr>
          <a:xfrm>
            <a:off x="6280190" y="231469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4450"/>
              <a:buFont typeface="Bricolage Grotesque"/>
              <a:buNone/>
            </a:pPr>
            <a:r>
              <a:rPr b="1" i="0" lang="en-US" sz="4450" u="none" cap="none" strike="noStrike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Takeaways</a:t>
            </a:r>
            <a:endParaRPr b="0" i="0" sz="4450" u="none" cap="none" strike="noStrike"/>
          </a:p>
        </p:txBody>
      </p:sp>
      <p:sp>
        <p:nvSpPr>
          <p:cNvPr id="145" name="Google Shape;145;p17"/>
          <p:cNvSpPr/>
          <p:nvPr/>
        </p:nvSpPr>
        <p:spPr>
          <a:xfrm>
            <a:off x="6280190" y="3363635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6365260" y="340614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650"/>
              <a:buFont typeface="Bricolage Grotesque"/>
              <a:buNone/>
            </a:pPr>
            <a:r>
              <a:rPr b="1" i="0" lang="en-US" sz="265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 b="0" i="0" sz="2650" u="none" cap="none" strike="noStrike"/>
          </a:p>
        </p:txBody>
      </p:sp>
      <p:sp>
        <p:nvSpPr>
          <p:cNvPr id="147" name="Google Shape;147;p17"/>
          <p:cNvSpPr/>
          <p:nvPr/>
        </p:nvSpPr>
        <p:spPr>
          <a:xfrm>
            <a:off x="7017306" y="3441502"/>
            <a:ext cx="306240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Grayscale Superiority</a:t>
            </a:r>
            <a:endParaRPr b="0" i="0" sz="2200" u="none" cap="none" strike="noStrike"/>
          </a:p>
        </p:txBody>
      </p:sp>
      <p:sp>
        <p:nvSpPr>
          <p:cNvPr id="148" name="Google Shape;148;p17"/>
          <p:cNvSpPr/>
          <p:nvPr/>
        </p:nvSpPr>
        <p:spPr>
          <a:xfrm>
            <a:off x="7017306" y="3931920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Optimal for 2D medical imaging tasks.</a:t>
            </a:r>
            <a:endParaRPr b="0" i="0" sz="1750" u="none" cap="none" strike="noStrike"/>
          </a:p>
        </p:txBody>
      </p:sp>
      <p:sp>
        <p:nvSpPr>
          <p:cNvPr id="149" name="Google Shape;149;p17"/>
          <p:cNvSpPr/>
          <p:nvPr/>
        </p:nvSpPr>
        <p:spPr>
          <a:xfrm>
            <a:off x="6280190" y="4748451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6365260" y="4790956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650"/>
              <a:buFont typeface="Bricolage Grotesque"/>
              <a:buNone/>
            </a:pPr>
            <a:r>
              <a:rPr b="1" i="0" lang="en-US" sz="265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 b="0" i="0" sz="2650" u="none" cap="none" strike="noStrike"/>
          </a:p>
        </p:txBody>
      </p:sp>
      <p:sp>
        <p:nvSpPr>
          <p:cNvPr id="151" name="Google Shape;151;p17"/>
          <p:cNvSpPr/>
          <p:nvPr/>
        </p:nvSpPr>
        <p:spPr>
          <a:xfrm>
            <a:off x="7017306" y="4826318"/>
            <a:ext cx="302561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Detection Complexity</a:t>
            </a:r>
            <a:endParaRPr b="0" i="0" sz="2200" u="none" cap="none" strike="noStrike"/>
          </a:p>
        </p:txBody>
      </p:sp>
      <p:sp>
        <p:nvSpPr>
          <p:cNvPr id="152" name="Google Shape;152;p17"/>
          <p:cNvSpPr/>
          <p:nvPr/>
        </p:nvSpPr>
        <p:spPr>
          <a:xfrm>
            <a:off x="7017306" y="5316736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More challenging than classification, requiring specialized models.</a:t>
            </a:r>
            <a:endParaRPr b="0" i="0" sz="1750" u="none" cap="none" strike="noStrike"/>
          </a:p>
        </p:txBody>
      </p:sp>
      <p:sp>
        <p:nvSpPr>
          <p:cNvPr id="153" name="Google Shape;153;p17"/>
          <p:cNvSpPr/>
          <p:nvPr/>
        </p:nvSpPr>
        <p:spPr>
          <a:xfrm>
            <a:off x="6280190" y="6496169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6365260" y="653867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650"/>
              <a:buFont typeface="Bricolage Grotesque"/>
              <a:buNone/>
            </a:pPr>
            <a:r>
              <a:rPr b="1" i="0" lang="en-US" sz="265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 b="0" i="0" sz="2650" u="none" cap="none" strike="noStrike"/>
          </a:p>
        </p:txBody>
      </p:sp>
      <p:sp>
        <p:nvSpPr>
          <p:cNvPr id="155" name="Google Shape;155;p17"/>
          <p:cNvSpPr/>
          <p:nvPr/>
        </p:nvSpPr>
        <p:spPr>
          <a:xfrm>
            <a:off x="7017306" y="6574036"/>
            <a:ext cx="335744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3D Native Architectures</a:t>
            </a:r>
            <a:endParaRPr b="0" i="0" sz="2200" u="none" cap="none" strike="noStrike"/>
          </a:p>
        </p:txBody>
      </p:sp>
      <p:sp>
        <p:nvSpPr>
          <p:cNvPr id="156" name="Google Shape;156;p17"/>
          <p:cNvSpPr/>
          <p:nvPr/>
        </p:nvSpPr>
        <p:spPr>
          <a:xfrm>
            <a:off x="7017306" y="7064454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Crucial for accurate and high-confidence diagnoses.</a:t>
            </a:r>
            <a:endParaRPr b="0" i="0" sz="1750" u="none" cap="none" strike="noStrike"/>
          </a:p>
        </p:txBody>
      </p:sp>
      <p:sp>
        <p:nvSpPr>
          <p:cNvPr id="157" name="Google Shape;157;p17"/>
          <p:cNvSpPr/>
          <p:nvPr/>
        </p:nvSpPr>
        <p:spPr>
          <a:xfrm>
            <a:off x="6280190" y="7880985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28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6365260" y="792349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650"/>
              <a:buFont typeface="Bricolage Grotesque"/>
              <a:buNone/>
            </a:pPr>
            <a:r>
              <a:rPr b="1" i="0" lang="en-US" sz="265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 b="0" i="0" sz="2650" u="none" cap="none" strike="noStrike"/>
          </a:p>
        </p:txBody>
      </p:sp>
      <p:sp>
        <p:nvSpPr>
          <p:cNvPr id="159" name="Google Shape;159;p17"/>
          <p:cNvSpPr/>
          <p:nvPr/>
        </p:nvSpPr>
        <p:spPr>
          <a:xfrm>
            <a:off x="7017306" y="7958852"/>
            <a:ext cx="290857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Consumer Hardware</a:t>
            </a:r>
            <a:endParaRPr b="0" i="0" sz="2200" u="none" cap="none" strike="noStrike"/>
          </a:p>
        </p:txBody>
      </p:sp>
      <p:sp>
        <p:nvSpPr>
          <p:cNvPr id="160" name="Google Shape;160;p17"/>
          <p:cNvSpPr/>
          <p:nvPr/>
        </p:nvSpPr>
        <p:spPr>
          <a:xfrm>
            <a:off x="7017306" y="8449270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Achieved research-level results, making deployment accessible.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793790" y="1016913"/>
            <a:ext cx="1239441" cy="426244"/>
          </a:xfrm>
          <a:prstGeom prst="roundRect">
            <a:avLst>
              <a:gd fmla="val 17880" name="adj"/>
            </a:avLst>
          </a:prstGeom>
          <a:solidFill>
            <a:srgbClr val="3E0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929878" y="1084898"/>
            <a:ext cx="967264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SECTION 2</a:t>
            </a:r>
            <a:endParaRPr b="0" i="0" sz="1400" u="none" cap="none" strike="noStrike"/>
          </a:p>
        </p:txBody>
      </p:sp>
      <p:sp>
        <p:nvSpPr>
          <p:cNvPr id="168" name="Google Shape;168;p18"/>
          <p:cNvSpPr/>
          <p:nvPr/>
        </p:nvSpPr>
        <p:spPr>
          <a:xfrm>
            <a:off x="793790" y="1533882"/>
            <a:ext cx="950880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4450"/>
              <a:buFont typeface="Bricolage Grotesque"/>
              <a:buNone/>
            </a:pPr>
            <a:r>
              <a:rPr b="1" i="0" lang="en-US" sz="4450" u="none" cap="none" strike="noStrike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Real-World Problem: Romania</a:t>
            </a:r>
            <a:endParaRPr b="0" i="0" sz="4450" u="none" cap="none" strike="noStrike"/>
          </a:p>
        </p:txBody>
      </p:sp>
      <p:sp>
        <p:nvSpPr>
          <p:cNvPr id="169" name="Google Shape;169;p18"/>
          <p:cNvSpPr/>
          <p:nvPr/>
        </p:nvSpPr>
        <p:spPr>
          <a:xfrm>
            <a:off x="793790" y="258282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Lung cancer poses a significant health challenge in Romania, exacerbated by limited medical resources.</a:t>
            </a:r>
            <a:endParaRPr b="0" i="0" sz="1750" u="none" cap="none" strike="noStrike"/>
          </a:p>
        </p:txBody>
      </p:sp>
      <p:sp>
        <p:nvSpPr>
          <p:cNvPr id="170" name="Google Shape;170;p18"/>
          <p:cNvSpPr/>
          <p:nvPr/>
        </p:nvSpPr>
        <p:spPr>
          <a:xfrm>
            <a:off x="7599521" y="3456027"/>
            <a:ext cx="6244709" cy="1458635"/>
          </a:xfrm>
          <a:prstGeom prst="roundRect">
            <a:avLst>
              <a:gd fmla="val 10030" name="adj"/>
            </a:avLst>
          </a:prstGeom>
          <a:solidFill>
            <a:srgbClr val="090E3F"/>
          </a:solidFill>
          <a:ln cap="flat" cmpd="sng" w="30475">
            <a:solidFill>
              <a:srgbClr val="414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7569041" y="3456027"/>
            <a:ext cx="121920" cy="1458635"/>
          </a:xfrm>
          <a:prstGeom prst="roundRect">
            <a:avLst>
              <a:gd fmla="val 78139" name="adj"/>
            </a:avLst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7948255" y="371332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High Incidence</a:t>
            </a:r>
            <a:endParaRPr b="0" i="0" sz="2200" u="none" cap="none" strike="noStrike"/>
          </a:p>
        </p:txBody>
      </p:sp>
      <p:sp>
        <p:nvSpPr>
          <p:cNvPr id="173" name="Google Shape;173;p18"/>
          <p:cNvSpPr/>
          <p:nvPr/>
        </p:nvSpPr>
        <p:spPr>
          <a:xfrm>
            <a:off x="7948255" y="4294465"/>
            <a:ext cx="563868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1" lang="en-US" sz="175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~</a:t>
            </a:r>
            <a:r>
              <a:rPr b="1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11,716</a:t>
            </a: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new lung cancer cases annually.</a:t>
            </a:r>
            <a:endParaRPr b="0" i="0" sz="1750" u="none" cap="none" strike="noStrike"/>
          </a:p>
        </p:txBody>
      </p:sp>
      <p:sp>
        <p:nvSpPr>
          <p:cNvPr id="174" name="Google Shape;174;p18"/>
          <p:cNvSpPr/>
          <p:nvPr/>
        </p:nvSpPr>
        <p:spPr>
          <a:xfrm>
            <a:off x="7599521" y="5141476"/>
            <a:ext cx="6244800" cy="1458600"/>
          </a:xfrm>
          <a:prstGeom prst="roundRect">
            <a:avLst>
              <a:gd fmla="val 10030" name="adj"/>
            </a:avLst>
          </a:prstGeom>
          <a:solidFill>
            <a:srgbClr val="090E3F"/>
          </a:solidFill>
          <a:ln cap="flat" cmpd="sng" w="30475">
            <a:solidFill>
              <a:srgbClr val="414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7569041" y="5141476"/>
            <a:ext cx="121920" cy="1458635"/>
          </a:xfrm>
          <a:prstGeom prst="roundRect">
            <a:avLst>
              <a:gd fmla="val 78139" name="adj"/>
            </a:avLst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7948255" y="539877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High Mortality</a:t>
            </a:r>
            <a:endParaRPr b="0" i="0" sz="2200" u="none" cap="none" strike="noStrike"/>
          </a:p>
        </p:txBody>
      </p:sp>
      <p:sp>
        <p:nvSpPr>
          <p:cNvPr id="177" name="Google Shape;177;p18"/>
          <p:cNvSpPr/>
          <p:nvPr/>
        </p:nvSpPr>
        <p:spPr>
          <a:xfrm>
            <a:off x="7948255" y="5979914"/>
            <a:ext cx="563868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1" lang="en-US" sz="175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~</a:t>
            </a:r>
            <a:r>
              <a:rPr b="1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10,000+</a:t>
            </a: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deaths each year.</a:t>
            </a:r>
            <a:endParaRPr b="0" i="0" sz="1750" u="none" cap="none" strike="noStrike"/>
          </a:p>
        </p:txBody>
      </p:sp>
      <p:sp>
        <p:nvSpPr>
          <p:cNvPr id="178" name="Google Shape;178;p18"/>
          <p:cNvSpPr/>
          <p:nvPr/>
        </p:nvSpPr>
        <p:spPr>
          <a:xfrm>
            <a:off x="7614709" y="8380632"/>
            <a:ext cx="6244800" cy="1458600"/>
          </a:xfrm>
          <a:prstGeom prst="roundRect">
            <a:avLst>
              <a:gd fmla="val 10030" name="adj"/>
            </a:avLst>
          </a:prstGeom>
          <a:solidFill>
            <a:srgbClr val="090E3F"/>
          </a:solidFill>
          <a:ln cap="flat" cmpd="sng" w="30475">
            <a:solidFill>
              <a:srgbClr val="414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7584229" y="8380632"/>
            <a:ext cx="121800" cy="1458600"/>
          </a:xfrm>
          <a:prstGeom prst="roundRect">
            <a:avLst>
              <a:gd fmla="val 78139" name="adj"/>
            </a:avLst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7963443" y="8637926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Diagnostic Gap</a:t>
            </a:r>
            <a:endParaRPr b="0" i="0" sz="2200" u="none" cap="none" strike="noStrike"/>
          </a:p>
        </p:txBody>
      </p:sp>
      <p:sp>
        <p:nvSpPr>
          <p:cNvPr id="181" name="Google Shape;181;p18"/>
          <p:cNvSpPr/>
          <p:nvPr/>
        </p:nvSpPr>
        <p:spPr>
          <a:xfrm>
            <a:off x="7963443" y="9219070"/>
            <a:ext cx="5638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1" lang="en-US" sz="175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~7 </a:t>
            </a:r>
            <a:r>
              <a:rPr lang="en-US" sz="175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counties offer full diagnostics</a:t>
            </a:r>
            <a:endParaRPr b="0" i="0" sz="1750" u="none" cap="none" strike="noStrike"/>
          </a:p>
        </p:txBody>
      </p:sp>
      <p:sp>
        <p:nvSpPr>
          <p:cNvPr id="182" name="Google Shape;182;p18"/>
          <p:cNvSpPr/>
          <p:nvPr/>
        </p:nvSpPr>
        <p:spPr>
          <a:xfrm>
            <a:off x="7614721" y="6761063"/>
            <a:ext cx="6244800" cy="1458600"/>
          </a:xfrm>
          <a:prstGeom prst="roundRect">
            <a:avLst>
              <a:gd fmla="val 10030" name="adj"/>
            </a:avLst>
          </a:prstGeom>
          <a:solidFill>
            <a:srgbClr val="090E3F"/>
          </a:solidFill>
          <a:ln cap="flat" cmpd="sng" w="30475">
            <a:solidFill>
              <a:srgbClr val="414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7584241" y="6761063"/>
            <a:ext cx="121800" cy="1458600"/>
          </a:xfrm>
          <a:prstGeom prst="roundRect">
            <a:avLst>
              <a:gd fmla="val 78139" name="adj"/>
            </a:avLst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7963448" y="7018349"/>
            <a:ext cx="3723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lang="en-US" sz="2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Pneumonologist shortage</a:t>
            </a:r>
            <a:endParaRPr b="0" i="0" sz="2200" u="none" cap="none" strike="noStrike"/>
          </a:p>
        </p:txBody>
      </p:sp>
      <p:sp>
        <p:nvSpPr>
          <p:cNvPr id="185" name="Google Shape;185;p18"/>
          <p:cNvSpPr/>
          <p:nvPr/>
        </p:nvSpPr>
        <p:spPr>
          <a:xfrm>
            <a:off x="7963450" y="7599500"/>
            <a:ext cx="61599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1" lang="en-US" sz="175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~</a:t>
            </a:r>
            <a:r>
              <a:rPr b="1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98</a:t>
            </a:r>
            <a:r>
              <a:rPr b="1" lang="en-US" sz="175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5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pulmonologists holding valid licenses in 2020</a:t>
            </a:r>
            <a:endParaRPr b="0" i="0" sz="1750" u="none" cap="none" strike="noStrike"/>
          </a:p>
        </p:txBody>
      </p:sp>
      <p:pic>
        <p:nvPicPr>
          <p:cNvPr descr="serge tot textul si ce este rosu" id="186" name="Google Shape;1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803" y="3456025"/>
            <a:ext cx="5937600" cy="593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109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/>
          <p:nvPr/>
        </p:nvSpPr>
        <p:spPr>
          <a:xfrm>
            <a:off x="6280190" y="738783"/>
            <a:ext cx="3078242" cy="397907"/>
          </a:xfrm>
          <a:prstGeom prst="roundRect">
            <a:avLst>
              <a:gd fmla="val 18196" name="adj"/>
            </a:avLst>
          </a:prstGeom>
          <a:solidFill>
            <a:srgbClr val="3E0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409373" y="803315"/>
            <a:ext cx="2819876" cy="26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BUSINESS, PRODUCT &amp; MARKET</a:t>
            </a:r>
            <a:endParaRPr b="0" i="0" sz="1350" u="none" cap="none" strike="noStrike"/>
          </a:p>
        </p:txBody>
      </p:sp>
      <p:sp>
        <p:nvSpPr>
          <p:cNvPr id="195" name="Google Shape;195;p19"/>
          <p:cNvSpPr/>
          <p:nvPr/>
        </p:nvSpPr>
        <p:spPr>
          <a:xfrm>
            <a:off x="6280190" y="1218486"/>
            <a:ext cx="7556421" cy="134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4200"/>
              <a:buFont typeface="Bricolage Grotesque"/>
              <a:buNone/>
            </a:pPr>
            <a:r>
              <a:rPr b="1" i="0" lang="en-US" sz="4200" u="none" cap="none" strike="noStrike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Product Vision: AI-Assisted Screening Platform</a:t>
            </a:r>
            <a:endParaRPr b="0" i="0" sz="4200" u="none" cap="none" strike="noStrike"/>
          </a:p>
        </p:txBody>
      </p:sp>
      <p:sp>
        <p:nvSpPr>
          <p:cNvPr id="196" name="Google Shape;196;p19"/>
          <p:cNvSpPr/>
          <p:nvPr/>
        </p:nvSpPr>
        <p:spPr>
          <a:xfrm>
            <a:off x="6280190" y="2872383"/>
            <a:ext cx="7556421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Our platform is designed to empower doctors with efficient and accurate lung cancer screening.</a:t>
            </a:r>
            <a:endParaRPr b="0" i="0" sz="1650" u="none" cap="none" strike="noStrike"/>
          </a:p>
        </p:txBody>
      </p:sp>
      <p:sp>
        <p:nvSpPr>
          <p:cNvPr id="197" name="Google Shape;197;p19"/>
          <p:cNvSpPr/>
          <p:nvPr/>
        </p:nvSpPr>
        <p:spPr>
          <a:xfrm>
            <a:off x="6280190" y="3774877"/>
            <a:ext cx="215384" cy="269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650"/>
              <a:buFont typeface="Bricolage Grotesque"/>
              <a:buNone/>
            </a:pPr>
            <a:r>
              <a:rPr b="0" i="0" lang="en-US" sz="165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  <a:endParaRPr b="0" i="0" sz="1650" u="none" cap="none" strike="noStrike"/>
          </a:p>
        </p:txBody>
      </p:sp>
      <p:sp>
        <p:nvSpPr>
          <p:cNvPr id="198" name="Google Shape;198;p19"/>
          <p:cNvSpPr/>
          <p:nvPr/>
        </p:nvSpPr>
        <p:spPr>
          <a:xfrm>
            <a:off x="6280190" y="4110514"/>
            <a:ext cx="7556421" cy="30480"/>
          </a:xfrm>
          <a:prstGeom prst="rect">
            <a:avLst/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6280190" y="4279106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100"/>
              <a:buFont typeface="Bricolage Grotesque"/>
              <a:buNone/>
            </a:pPr>
            <a:r>
              <a:rPr b="1" i="0" lang="en-US" sz="21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Supports Doctors</a:t>
            </a:r>
            <a:endParaRPr b="0" i="0" sz="2100" u="none" cap="none" strike="noStrike"/>
          </a:p>
        </p:txBody>
      </p:sp>
      <p:sp>
        <p:nvSpPr>
          <p:cNvPr id="200" name="Google Shape;200;p19"/>
          <p:cNvSpPr/>
          <p:nvPr/>
        </p:nvSpPr>
        <p:spPr>
          <a:xfrm>
            <a:off x="6280190" y="4738449"/>
            <a:ext cx="7556421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Enhances capabilities, does not replace human expertise.</a:t>
            </a:r>
            <a:endParaRPr b="0" i="0" sz="1650" u="none" cap="none" strike="noStrike"/>
          </a:p>
        </p:txBody>
      </p:sp>
      <p:sp>
        <p:nvSpPr>
          <p:cNvPr id="201" name="Google Shape;201;p19"/>
          <p:cNvSpPr/>
          <p:nvPr/>
        </p:nvSpPr>
        <p:spPr>
          <a:xfrm>
            <a:off x="6280200" y="5440800"/>
            <a:ext cx="504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650"/>
              <a:buFont typeface="Bricolage Grotesque"/>
              <a:buNone/>
            </a:pPr>
            <a:r>
              <a:rPr b="0" i="0" lang="en-US" sz="165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  <a:endParaRPr b="0" i="0" sz="1650" u="none" cap="none" strike="noStrike"/>
          </a:p>
        </p:txBody>
      </p:sp>
      <p:sp>
        <p:nvSpPr>
          <p:cNvPr id="202" name="Google Shape;202;p19"/>
          <p:cNvSpPr/>
          <p:nvPr/>
        </p:nvSpPr>
        <p:spPr>
          <a:xfrm>
            <a:off x="6280190" y="5776436"/>
            <a:ext cx="7556421" cy="30480"/>
          </a:xfrm>
          <a:prstGeom prst="rect">
            <a:avLst/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6280190" y="5945029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100"/>
              <a:buFont typeface="Bricolage Grotesque"/>
              <a:buNone/>
            </a:pPr>
            <a:r>
              <a:rPr b="1" i="0" lang="en-US" sz="21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Fast Screening</a:t>
            </a:r>
            <a:endParaRPr b="0" i="0" sz="2100" u="none" cap="none" strike="noStrike"/>
          </a:p>
        </p:txBody>
      </p:sp>
      <p:sp>
        <p:nvSpPr>
          <p:cNvPr id="204" name="Google Shape;204;p19"/>
          <p:cNvSpPr/>
          <p:nvPr/>
        </p:nvSpPr>
        <p:spPr>
          <a:xfrm>
            <a:off x="6280190" y="6404372"/>
            <a:ext cx="7556421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Quick initial assessment with AI risk scores.</a:t>
            </a:r>
            <a:endParaRPr b="0" i="0" sz="1650" u="none" cap="none" strike="noStrike"/>
          </a:p>
        </p:txBody>
      </p:sp>
      <p:sp>
        <p:nvSpPr>
          <p:cNvPr id="205" name="Google Shape;205;p19"/>
          <p:cNvSpPr/>
          <p:nvPr/>
        </p:nvSpPr>
        <p:spPr>
          <a:xfrm>
            <a:off x="6280213" y="7106725"/>
            <a:ext cx="504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650"/>
              <a:buFont typeface="Bricolage Grotesque"/>
              <a:buNone/>
            </a:pPr>
            <a:r>
              <a:rPr b="0" i="0" lang="en-US" sz="165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  <a:endParaRPr b="0" i="0" sz="1650" u="none" cap="none" strike="noStrike"/>
          </a:p>
        </p:txBody>
      </p:sp>
      <p:sp>
        <p:nvSpPr>
          <p:cNvPr id="206" name="Google Shape;206;p19"/>
          <p:cNvSpPr/>
          <p:nvPr/>
        </p:nvSpPr>
        <p:spPr>
          <a:xfrm>
            <a:off x="6280190" y="7442359"/>
            <a:ext cx="7556421" cy="30480"/>
          </a:xfrm>
          <a:prstGeom prst="rect">
            <a:avLst/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6280190" y="7610951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100"/>
              <a:buFont typeface="Bricolage Grotesque"/>
              <a:buNone/>
            </a:pPr>
            <a:r>
              <a:rPr b="1" i="0" lang="en-US" sz="21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High-Confidence CT</a:t>
            </a:r>
            <a:endParaRPr b="0" i="0" sz="2100" u="none" cap="none" strike="noStrike"/>
          </a:p>
        </p:txBody>
      </p:sp>
      <p:sp>
        <p:nvSpPr>
          <p:cNvPr id="208" name="Google Shape;208;p19"/>
          <p:cNvSpPr/>
          <p:nvPr/>
        </p:nvSpPr>
        <p:spPr>
          <a:xfrm>
            <a:off x="6280190" y="8070294"/>
            <a:ext cx="7556421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Detailed analysis for confirmed diagnoses.</a:t>
            </a:r>
            <a:endParaRPr b="0" i="0" sz="1650" u="none" cap="none" strike="noStrike"/>
          </a:p>
        </p:txBody>
      </p:sp>
      <p:sp>
        <p:nvSpPr>
          <p:cNvPr id="209" name="Google Shape;209;p19"/>
          <p:cNvSpPr/>
          <p:nvPr/>
        </p:nvSpPr>
        <p:spPr>
          <a:xfrm>
            <a:off x="6280213" y="8772650"/>
            <a:ext cx="504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650"/>
              <a:buFont typeface="Bricolage Grotesque"/>
              <a:buNone/>
            </a:pPr>
            <a:r>
              <a:rPr b="0" i="0" lang="en-US" sz="165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</a:t>
            </a:r>
            <a:endParaRPr b="0" i="0" sz="1650" u="none" cap="none" strike="noStrike"/>
          </a:p>
        </p:txBody>
      </p:sp>
      <p:sp>
        <p:nvSpPr>
          <p:cNvPr id="210" name="Google Shape;210;p19"/>
          <p:cNvSpPr/>
          <p:nvPr/>
        </p:nvSpPr>
        <p:spPr>
          <a:xfrm>
            <a:off x="6280190" y="9108281"/>
            <a:ext cx="7556421" cy="30480"/>
          </a:xfrm>
          <a:prstGeom prst="rect">
            <a:avLst/>
          </a:prstGeom>
          <a:solidFill>
            <a:srgbClr val="EEA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6280190" y="9276874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100"/>
              <a:buFont typeface="Bricolage Grotesque"/>
              <a:buNone/>
            </a:pPr>
            <a:r>
              <a:rPr b="1" i="0" lang="en-US" sz="21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Existing Hardware</a:t>
            </a:r>
            <a:endParaRPr b="0" i="0" sz="2100" u="none" cap="none" strike="noStrike"/>
          </a:p>
        </p:txBody>
      </p:sp>
      <p:sp>
        <p:nvSpPr>
          <p:cNvPr id="212" name="Google Shape;212;p19"/>
          <p:cNvSpPr/>
          <p:nvPr/>
        </p:nvSpPr>
        <p:spPr>
          <a:xfrm>
            <a:off x="6280190" y="9736217"/>
            <a:ext cx="7556421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Compatible with current hospital infrastructure.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8" name="Google Shape;2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109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/>
          <p:nvPr/>
        </p:nvSpPr>
        <p:spPr>
          <a:xfrm>
            <a:off x="793790" y="1824514"/>
            <a:ext cx="3240048" cy="426244"/>
          </a:xfrm>
          <a:prstGeom prst="roundRect">
            <a:avLst>
              <a:gd fmla="val 17880" name="adj"/>
            </a:avLst>
          </a:prstGeom>
          <a:solidFill>
            <a:srgbClr val="3E0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929878" y="1892498"/>
            <a:ext cx="2967871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BUSINESS, PRODUCT &amp; MARKET</a:t>
            </a:r>
            <a:endParaRPr b="0" i="0" sz="1400" u="none" cap="none" strike="noStrike"/>
          </a:p>
        </p:txBody>
      </p:sp>
      <p:sp>
        <p:nvSpPr>
          <p:cNvPr id="221" name="Google Shape;221;p20"/>
          <p:cNvSpPr/>
          <p:nvPr/>
        </p:nvSpPr>
        <p:spPr>
          <a:xfrm>
            <a:off x="793790" y="2341483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EAEF6"/>
              </a:buClr>
              <a:buSzPts val="4450"/>
              <a:buFont typeface="Bricolage Grotesque"/>
              <a:buNone/>
            </a:pPr>
            <a:r>
              <a:rPr b="1" i="0" lang="en-US" sz="4450" u="none" cap="none" strike="noStrike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Business Impact &amp; Conclusion</a:t>
            </a:r>
            <a:endParaRPr b="0" i="0" sz="4450" u="none" cap="none" strike="noStrike"/>
          </a:p>
        </p:txBody>
      </p:sp>
      <p:sp>
        <p:nvSpPr>
          <p:cNvPr id="222" name="Google Shape;222;p20"/>
          <p:cNvSpPr/>
          <p:nvPr/>
        </p:nvSpPr>
        <p:spPr>
          <a:xfrm>
            <a:off x="793790" y="4099203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Our AI solution offers significant market potential and life-saving benefits.</a:t>
            </a:r>
            <a:endParaRPr b="0" i="0" sz="1750" u="none" cap="none" strike="noStrike"/>
          </a:p>
        </p:txBody>
      </p:sp>
      <p:sp>
        <p:nvSpPr>
          <p:cNvPr id="223" name="Google Shape;223;p20"/>
          <p:cNvSpPr/>
          <p:nvPr/>
        </p:nvSpPr>
        <p:spPr>
          <a:xfrm>
            <a:off x="793790" y="5193506"/>
            <a:ext cx="23298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5850"/>
              <a:buFont typeface="Bricolage Grotesque"/>
              <a:buNone/>
            </a:pPr>
            <a:r>
              <a:rPr b="1" i="0" lang="en-US" sz="585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40+</a:t>
            </a:r>
            <a:endParaRPr b="0" i="0" sz="5850" u="none" cap="none" strike="noStrike"/>
          </a:p>
        </p:txBody>
      </p:sp>
      <p:sp>
        <p:nvSpPr>
          <p:cNvPr id="224" name="Google Shape;224;p20"/>
          <p:cNvSpPr/>
          <p:nvPr/>
        </p:nvSpPr>
        <p:spPr>
          <a:xfrm>
            <a:off x="793790" y="6225302"/>
            <a:ext cx="232981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Oncology Departments</a:t>
            </a:r>
            <a:endParaRPr b="0" i="0" sz="2200" u="none" cap="none" strike="noStrike"/>
          </a:p>
        </p:txBody>
      </p:sp>
      <p:sp>
        <p:nvSpPr>
          <p:cNvPr id="225" name="Google Shape;225;p20"/>
          <p:cNvSpPr/>
          <p:nvPr/>
        </p:nvSpPr>
        <p:spPr>
          <a:xfrm>
            <a:off x="793790" y="7070050"/>
            <a:ext cx="23298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Target market for deployment.</a:t>
            </a:r>
            <a:endParaRPr b="0" i="0" sz="1750" u="none" cap="none" strike="noStrike"/>
          </a:p>
        </p:txBody>
      </p:sp>
      <p:sp>
        <p:nvSpPr>
          <p:cNvPr id="226" name="Google Shape;226;p20"/>
          <p:cNvSpPr/>
          <p:nvPr/>
        </p:nvSpPr>
        <p:spPr>
          <a:xfrm>
            <a:off x="4604489" y="5129788"/>
            <a:ext cx="27843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5850"/>
              <a:buFont typeface="Bricolage Grotesque"/>
              <a:buNone/>
            </a:pPr>
            <a:r>
              <a:rPr b="1" i="0" lang="en-US" sz="585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$</a:t>
            </a:r>
            <a:r>
              <a:rPr b="1" lang="en-US" sz="585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400M</a:t>
            </a:r>
            <a:endParaRPr b="0" i="0" sz="5850" u="none" cap="none" strike="noStrike"/>
          </a:p>
        </p:txBody>
      </p:sp>
      <p:sp>
        <p:nvSpPr>
          <p:cNvPr id="227" name="Google Shape;227;p20"/>
          <p:cNvSpPr/>
          <p:nvPr/>
        </p:nvSpPr>
        <p:spPr>
          <a:xfrm>
            <a:off x="3265275" y="6160288"/>
            <a:ext cx="54627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Health </a:t>
            </a:r>
            <a:r>
              <a:rPr b="1" lang="en-US" sz="2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Digitalization </a:t>
            </a:r>
            <a:endParaRPr b="1" sz="2200">
              <a:solidFill>
                <a:srgbClr val="E5DCE6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Market</a:t>
            </a:r>
            <a:endParaRPr b="0" i="0" sz="2200" u="none" cap="none" strike="noStrike"/>
          </a:p>
        </p:txBody>
      </p:sp>
      <p:sp>
        <p:nvSpPr>
          <p:cNvPr id="228" name="Google Shape;228;p20"/>
          <p:cNvSpPr/>
          <p:nvPr/>
        </p:nvSpPr>
        <p:spPr>
          <a:xfrm>
            <a:off x="4831731" y="7029083"/>
            <a:ext cx="2329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Projected growth by 2028.</a:t>
            </a:r>
            <a:endParaRPr b="0" i="0" sz="1750" u="none" cap="none" strike="noStrike"/>
          </a:p>
        </p:txBody>
      </p:sp>
      <p:sp>
        <p:nvSpPr>
          <p:cNvPr id="229" name="Google Shape;229;p20"/>
          <p:cNvSpPr/>
          <p:nvPr/>
        </p:nvSpPr>
        <p:spPr>
          <a:xfrm>
            <a:off x="793790" y="8059579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DCE6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Combining strong AI performance with a realistic business strategy makes AI-assisted lung cancer detection technically feasible and clinically valuable today.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