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927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https://www.iapb.org/learn/vision-atlas/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https://www.seeingai.com/
- https://blog.google/company-news/outreach-and-initiatives/accessibility/lookout-app-help-blind-and-visually-impaired-people-learn-about-their-surroundings/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https://www.iapb.org/news/updated-vision-atlas-shows-1-1-billion-people-have-vision-loss/
- https://www.orbis.org/en/what-we-do/gender-inequality-blindness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https://www.who.int/publications/m/item/increasing-eye-care-interventions-to-address-vision-impairment
- https://www.euroblind.org/about-blindness-and-partial-sight/facts-and-figures
- https://actmedia.eu/economic/healthcare-infosan-about-100-000-people-suffer-from-blindness-in-romania/109472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https://www.seeingai.com/
- https://blog.google/company-news/outreach-and-initiatives/accessibility/lookout-app-help-blind-and-visually-impaired-people-learn-about-their-surroundings/
- https://www.bemyeyes.com/blog/introducing-be-my-ai/
- https://www.letsenvision.com/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https://www.mdpi.com/2414-4088/9/5/48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https://www.seeingai.com/
- https://blog.google/company-news/outreach-and-initiatives/accessibility/lookout-app-help-blind-and-visually-impaired-people-learn-about-their-surroundings/
- https://www.bemyeyes.com/blog/what-would-you-do-with-5-million-volunteers/
- https://cordis.europa.eu/project/id/817064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7543800" cy="521208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33055"/>
            </a:solidFill>
          </a:ln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  <p:txBody>
          <a:bodyPr wrap="square" lIns="6985" tIns="6985" rIns="6985" bIns="6985" rtlCol="0" anchor="t"/>
          <a:lstStyle/>
          <a:p>
            <a:r>
              <a:rPr lang="en-US" sz="4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Scene-Aware Assistant</a:t>
            </a:r>
            <a:r>
              <a:rPr lang="en-US" sz="4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 understanding for blind &amp; visually impaired people</a:t>
            </a:r>
            <a:r>
              <a:rPr lang="en-US" sz="16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
Solution
Market
Competition
Business model
Demo</a:t>
            </a:r>
          </a:p>
          <a:p>
            <a:endParaRPr lang="en-US" sz="1400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A9B2CC"/>
                </a:solidFill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/>
              <a:t>Team: Bogdan Andrei Laza · Calin-Ștefan </a:t>
            </a:r>
            <a:r>
              <a:rPr lang="en-US" sz="1600" dirty="0" err="1"/>
              <a:t>Moglan</a:t>
            </a:r>
            <a:r>
              <a:rPr lang="en-US" sz="1600" dirty="0"/>
              <a:t> · </a:t>
            </a:r>
            <a:r>
              <a:rPr lang="en-US" sz="1600" dirty="0" err="1"/>
              <a:t>Chinweike</a:t>
            </a:r>
            <a:r>
              <a:rPr lang="en-US" sz="1600" dirty="0"/>
              <a:t> Justin </a:t>
            </a:r>
            <a:r>
              <a:rPr lang="en-US" sz="1600" dirty="0" err="1"/>
              <a:t>Chukwukezie</a:t>
            </a:r>
            <a:r>
              <a:rPr lang="en-US" sz="1600" dirty="0"/>
              <a:t> · Nikole Labo · Raul Andrei Pușcaș</a:t>
            </a:r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41080" y="1508760"/>
            <a:ext cx="502920" cy="502920"/>
          </a:xfrm>
          <a:prstGeom prst="ellipse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  <a:effectLst>
            <a:outerShdw blurRad="508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92540" y="2066544"/>
            <a:ext cx="0" cy="530352"/>
          </a:xfrm>
          <a:prstGeom prst="line">
            <a:avLst/>
          </a:prstGeom>
          <a:noFill/>
          <a:ln w="25400">
            <a:solidFill>
              <a:srgbClr val="3850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0" y="1581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41080" y="2651760"/>
            <a:ext cx="502920" cy="50292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  <a:effectLst>
            <a:outerShdw blurRad="508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92540" y="3209544"/>
            <a:ext cx="0" cy="530352"/>
          </a:xfrm>
          <a:prstGeom prst="line">
            <a:avLst/>
          </a:prstGeom>
          <a:noFill/>
          <a:ln w="25400">
            <a:solidFill>
              <a:srgbClr val="3850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2724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LLM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41080" y="3794760"/>
            <a:ext cx="502920" cy="502920"/>
          </a:xfrm>
          <a:prstGeom prst="ellipse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  <a:effectLst>
            <a:outerShdw blurRad="508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92540" y="4352544"/>
            <a:ext cx="0" cy="530352"/>
          </a:xfrm>
          <a:prstGeom prst="line">
            <a:avLst/>
          </a:prstGeom>
          <a:noFill/>
          <a:ln w="25400">
            <a:solidFill>
              <a:srgbClr val="3850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0" y="3867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41080" y="493776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508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0" y="5010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Haptics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navigation + daily tasks are still hard without real-time context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6567" y="1143000"/>
            <a:ext cx="5669280" cy="50292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EF4444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in the moment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recognizing objects, reading signs, and detecting obstacles.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anxiety in unfamiliar or crowded environments.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other people for basic mobility and information</a:t>
            </a: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37960" y="1143000"/>
            <a:ext cx="5105095" cy="50292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need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understanding + guidance that works while moving.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obstacle &amp; hazard awareness.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signs/labels on demand.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“what/where” questions instantly.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UI designed for blind users.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safety is a top unmet need in assistive vision.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smartphone-first assistant that describes, answers, and warns in real 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272888" cy="21488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 description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Narrates surroundings (≈1 frame/second).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matters for movement.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55868" y="1143000"/>
            <a:ext cx="5272888" cy="21488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7C4D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Question Answering (VQA</a:t>
            </a: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“What’s around me?”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“Where is the door?”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spoken answers instantly</a:t>
            </a: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5272888" cy="21488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2C55E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sign reading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signs and labels.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concise speech output.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70168" y="3749040"/>
            <a:ext cx="5272888" cy="21488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F59E0B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feedback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/ movement awareness.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alerts + haptic vibrations</a:t>
            </a: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fast (1–2s), minimal, zero learning curve.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show live in &lt; 5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423818" cy="17373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342900" indent="-342900">
              <a:buAutoNum type="arabicParenR"/>
            </a:pPr>
            <a:r>
              <a:rPr lang="en-US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</a:p>
          <a:p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camera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3938" y="1234440"/>
            <a:ext cx="3423818" cy="17373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7C4D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Understand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vision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19237" y="1234440"/>
            <a:ext cx="3423818" cy="17373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2C55E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Guide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narration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alert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94415" cy="26974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F59E0B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 + what we show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Prompts: “What is in front of me?” • “Is there a door on the left?” • “Read the sign.”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narration while walking, Q&amp;A in context, obstacle alert + haptic cue, OCR on a sign/label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safety + clarity + speed (live, &lt; 5 minutes)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first (and why)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669280" cy="50292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segments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adults (50+): largest segment; needs a very simple UI.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working-age adults: tech-savvy early adopters.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ecosystem: associations/NGOs &amp; rehabilitation centers.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37960" y="1143000"/>
            <a:ext cx="5105095" cy="50292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7C4D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facts (research)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50+: ≈74% of blind / low-vision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50: ≈26%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Women: ≈55% of vision loss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Urban/suburban: 64% (initial rollout focus)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Rural: 20% (longer-term reach)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Romania to a global need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454298" cy="20574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4445" tIns="4445" rIns="4445" bIns="4445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59k–100k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people in Romania (est.)
Local pilot opportunity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68698" y="1417320"/>
            <a:ext cx="3454298" cy="20574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7C4D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4445" tIns="4445" rIns="4445" bIns="4445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≈26M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impaired in Europe
Strong smartphone penetration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88757" y="1417320"/>
            <a:ext cx="3454298" cy="20574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2C55E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4445" tIns="4445" rIns="4445" bIns="4445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≈253M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/ moderate–severe VI globally
Huge unmet need (90% in LMICs)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1094415" cy="21031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F59E0B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opportunity</a:t>
            </a: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 concentrated in urban centers (higher smartphone access + support institutions).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small adoption rates have high impact (e.g., 5% of Romania’s blind population ≈ 3k–5k users).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low-cost + offline mode supports broader LMIC reach</a:t>
            </a: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competitors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landscape — here’s our differentiation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2778760" cy="6400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70285" y="1234440"/>
            <a:ext cx="2121856" cy="6400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35026" y="1234440"/>
            <a:ext cx="1962526" cy="6400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0437" y="1234440"/>
            <a:ext cx="1962526" cy="6400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alerts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45848" y="1220724"/>
            <a:ext cx="2132459" cy="6400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929384"/>
            <a:ext cx="2778760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70285" y="1938528"/>
            <a:ext cx="212185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5026" y="1929384"/>
            <a:ext cx="196252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40437" y="1926082"/>
            <a:ext cx="196252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45848" y="1929384"/>
            <a:ext cx="2132459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2670048"/>
            <a:ext cx="2778760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Lookout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70285" y="2670048"/>
            <a:ext cx="212185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5026" y="2674112"/>
            <a:ext cx="196252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40437" y="2670048"/>
            <a:ext cx="196252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45848" y="2670048"/>
            <a:ext cx="2132459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1589" y="3409950"/>
            <a:ext cx="2778760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My Eyes / Be My AI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66759" y="3416046"/>
            <a:ext cx="2128907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42076" y="3418840"/>
            <a:ext cx="196252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51012" y="3411728"/>
            <a:ext cx="196252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45847" y="3411728"/>
            <a:ext cx="2132460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1589" y="4141470"/>
            <a:ext cx="2778760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Envision AI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63234" y="4141470"/>
            <a:ext cx="212185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42076" y="4137152"/>
            <a:ext cx="196252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61588" y="4137152"/>
            <a:ext cx="1962526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81100" y="4137152"/>
            <a:ext cx="2097207" cy="676656"/>
          </a:xfrm>
          <a:prstGeom prst="roundRect">
            <a:avLst/>
          </a:prstGeom>
          <a:solidFill>
            <a:srgbClr val="0B132A"/>
          </a:solidFill>
          <a:ln w="12700">
            <a:solidFill>
              <a:srgbClr val="23305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0964" y="4872990"/>
            <a:ext cx="2740009" cy="796291"/>
          </a:xfrm>
          <a:prstGeom prst="roundRect">
            <a:avLst/>
          </a:prstGeom>
          <a:solidFill>
            <a:srgbClr val="0E1733"/>
          </a:solidFill>
          <a:ln w="12700">
            <a:solidFill>
              <a:srgbClr val="00D1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assistant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87883" y="4867782"/>
            <a:ext cx="2097207" cy="796290"/>
          </a:xfrm>
          <a:prstGeom prst="roundRect">
            <a:avLst/>
          </a:prstGeom>
          <a:solidFill>
            <a:srgbClr val="0E1733"/>
          </a:solidFill>
          <a:ln w="12700">
            <a:solidFill>
              <a:srgbClr val="00D1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35026" y="4867782"/>
            <a:ext cx="1962526" cy="796290"/>
          </a:xfrm>
          <a:prstGeom prst="roundRect">
            <a:avLst/>
          </a:prstGeom>
          <a:solidFill>
            <a:srgbClr val="0E1733"/>
          </a:solidFill>
          <a:ln w="12700">
            <a:solidFill>
              <a:srgbClr val="00D1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540437" y="4879848"/>
            <a:ext cx="1962526" cy="784224"/>
          </a:xfrm>
          <a:prstGeom prst="roundRect">
            <a:avLst/>
          </a:prstGeom>
          <a:solidFill>
            <a:srgbClr val="0E1733"/>
          </a:solidFill>
          <a:ln w="12700">
            <a:solidFill>
              <a:srgbClr val="00D1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545848" y="4865115"/>
            <a:ext cx="2132460" cy="804165"/>
          </a:xfrm>
          <a:prstGeom prst="roundRect">
            <a:avLst/>
          </a:prstGeom>
          <a:solidFill>
            <a:srgbClr val="0E1733"/>
          </a:solidFill>
          <a:ln w="12700">
            <a:solidFill>
              <a:srgbClr val="00D1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60964" y="5760721"/>
            <a:ext cx="11129667" cy="7315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7C4D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tools combine safety alerts + interactive Q&amp;A + offline mode in one solution</a:t>
            </a: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our solution stand out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423818" cy="28346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F59E0B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mobility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obstacle / movement awareness.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spatial cues while walking.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3938" y="1234440"/>
            <a:ext cx="3423818" cy="28346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7C4D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understanding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 questions about the live scene.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short, actionable, and spoken.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57337" y="1234440"/>
            <a:ext cx="3423818" cy="28346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low-resource devices</a:t>
            </a:r>
          </a:p>
          <a:p>
            <a:pPr marL="0" indent="0">
              <a:buNone/>
            </a:pPr>
            <a:endParaRPr lang="en-US" sz="1600" b="1" dirty="0">
              <a:solidFill>
                <a:srgbClr val="F5F7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cues + simple minimal UI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11094415" cy="17830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2C55E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offline-capable “digital seeing-eye” that warns, reads, and answers.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intuitive: voice-first, minimal UI, fast responses</a:t>
            </a: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experience, and emotional needs addressed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669280" cy="24231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2C55E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independence (less reliance on others).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risk by warning about obstacles.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signs/labels quickly in daily life.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669280" cy="23774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voice-based interaction.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(1–2 seconds).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concise, natural speech responses</a:t>
            </a: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1143000"/>
            <a:ext cx="5105095" cy="26517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7C4D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needs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confident moving independently.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safe in unfamiliar environments.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calm (less anxious) when walking alone.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included &amp; socially connected.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empowered for daily tasks.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3909060"/>
            <a:ext cx="5105095" cy="2286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from alternatives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(no waiting for volunteers)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for core features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app: reading + guidance + Q&amp;A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Free/affordable for users — sustained by partnerships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4415" cy="9601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(1 sentence)</a:t>
            </a: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blind users navigate safely by describing the scene in real time, reading text, and answering questions </a:t>
            </a: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318608" cy="1417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Romanian Blind Association (testing + distribution).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/ accessibility foundations.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platforms (Android / iOS).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4448" y="2240280"/>
            <a:ext cx="5318608" cy="1417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7C4D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&amp; relationships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blind associations + rehabilitation centers.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stores for broad reach.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 from users.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318608" cy="1417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2C55E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 &amp; resources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 for low-latency.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Accessibility-first UI/UX.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+ iterative improvements.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4448" y="4114800"/>
            <a:ext cx="5318608" cy="1417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F59E0B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(proposed)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&amp; public programs (assistive tools).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CSR sponsorships.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licensing / enterprise partnerships.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&amp; roadmap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validate → expand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39" y="1325880"/>
            <a:ext cx="11094415" cy="15087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00D1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Pilot (Romania)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blind association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user testing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UI + latency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1094415" cy="15087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7C4D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Productize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+ reliability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improvements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demo &amp; onboarding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983480"/>
            <a:ext cx="11094415" cy="15087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2C55E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European rollout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partnerships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wearables / haptics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17600"/>
            <a:ext cx="6172200" cy="50292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7C4DFF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the demo flow + accessibility UX.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blind associations / rehab centers.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for user testing (urban pilot).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for sustainable funding (grants / CSR / licensing).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86600" y="1143000"/>
            <a:ext cx="4556455" cy="50292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2C55E"/>
            </a:solidFill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  <p:txBody>
          <a:bodyPr wrap="square" lIns="6350" tIns="6350" rIns="6350" bIns="635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
</a:t>
            </a:r>
            <a:r>
              <a:rPr lang="en-US" sz="16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make independence safer and easier.
</a:t>
            </a: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ready:</a:t>
            </a: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</a:t>
            </a:r>
            <a:endParaRPr lang="en-US" sz="4000" dirty="0"/>
          </a:p>
          <a:p>
            <a:pPr marL="0" indent="0">
              <a:buNone/>
            </a:pPr>
            <a:r>
              <a:rPr lang="en-US" sz="13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4000" dirty="0"/>
          </a:p>
          <a:p>
            <a:pPr marL="0" indent="0">
              <a:buNone/>
            </a:pPr>
            <a:r>
              <a:rPr lang="en-US" sz="13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4000" dirty="0"/>
          </a:p>
          <a:p>
            <a:pPr marL="0" indent="0">
              <a:buNone/>
            </a:pPr>
            <a:r>
              <a:rPr lang="en-US" sz="13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alerts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94415" cy="0"/>
          </a:xfrm>
          <a:prstGeom prst="line">
            <a:avLst/>
          </a:prstGeom>
          <a:noFill/>
          <a:ln w="12700">
            <a:solidFill>
              <a:srgbClr val="233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Scene-Aware Assistant for Blind People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94415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AB79F40DDE73438D5BCFF294CB777F" ma:contentTypeVersion="13" ma:contentTypeDescription="Create a new document." ma:contentTypeScope="" ma:versionID="c92d49cf5a95d645d03aef571303b095">
  <xsd:schema xmlns:xsd="http://www.w3.org/2001/XMLSchema" xmlns:xs="http://www.w3.org/2001/XMLSchema" xmlns:p="http://schemas.microsoft.com/office/2006/metadata/properties" xmlns:ns2="1e21c5fc-38fc-4ef3-967c-52920d864eb4" xmlns:ns3="db97ba85-579e-411b-948c-311c2e42328f" targetNamespace="http://schemas.microsoft.com/office/2006/metadata/properties" ma:root="true" ma:fieldsID="f9697e382105165912bcff1bf0fdded9" ns2:_="" ns3:_="">
    <xsd:import namespace="1e21c5fc-38fc-4ef3-967c-52920d864eb4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1c5fc-38fc-4ef3-967c-52920d864eb4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3897e45-edb0-49a5-8c41-6d64bbcfbbe3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21c5fc-38fc-4ef3-967c-52920d864eb4">
      <Terms xmlns="http://schemas.microsoft.com/office/infopath/2007/PartnerControls"/>
    </lcf76f155ced4ddcb4097134ff3c332f>
    <TaxCatchAll xmlns="db97ba85-579e-411b-948c-311c2e42328f" xsi:nil="true"/>
    <ReferenceId xmlns="1e21c5fc-38fc-4ef3-967c-52920d864eb4" xsi:nil="true"/>
  </documentManagement>
</p:properties>
</file>

<file path=customXml/itemProps1.xml><?xml version="1.0" encoding="utf-8"?>
<ds:datastoreItem xmlns:ds="http://schemas.openxmlformats.org/officeDocument/2006/customXml" ds:itemID="{2909D1E9-A8CA-4E55-8BD2-360979CDD54C}"/>
</file>

<file path=customXml/itemProps2.xml><?xml version="1.0" encoding="utf-8"?>
<ds:datastoreItem xmlns:ds="http://schemas.openxmlformats.org/officeDocument/2006/customXml" ds:itemID="{77401C3D-4E10-4C06-8749-619D7AF3252F}"/>
</file>

<file path=customXml/itemProps3.xml><?xml version="1.0" encoding="utf-8"?>
<ds:datastoreItem xmlns:ds="http://schemas.openxmlformats.org/officeDocument/2006/customXml" ds:itemID="{A5B28111-C06D-4FE1-B0D4-28AE673B7124}"/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1478</Words>
  <Application>Microsoft Office PowerPoint</Application>
  <PresentationFormat>Widescreen</PresentationFormat>
  <Paragraphs>236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Babeș-Bolyai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PPI Team</dc:creator>
  <cp:lastModifiedBy>CHINWEIKE JUSTIN CHUKWUKEZIE</cp:lastModifiedBy>
  <cp:revision>6</cp:revision>
  <dcterms:created xsi:type="dcterms:W3CDTF">2026-01-12T19:03:36Z</dcterms:created>
  <dcterms:modified xsi:type="dcterms:W3CDTF">2026-01-14T15:58:50Z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0x0101008BAB79F40DDE73438D5BCFF294CB777F</vt:lpwstr>
  </property>
</Properties>
</file>