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07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4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9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8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6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3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5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6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86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1519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48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30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64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0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0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CA1A18D-4685-43E9-9259-86716B43AD1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9A2A966-3622-48CE-9EDE-BEDDBC89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909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917283"/>
            <a:ext cx="9440034" cy="1828801"/>
          </a:xfrm>
        </p:spPr>
        <p:txBody>
          <a:bodyPr/>
          <a:lstStyle/>
          <a:p>
            <a:r>
              <a:rPr lang="en-US" dirty="0" err="1"/>
              <a:t>LungScan</a:t>
            </a:r>
            <a:r>
              <a:rPr lang="en-US" dirty="0"/>
              <a:t> Assist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treamline </a:t>
            </a:r>
            <a:r>
              <a:rPr lang="en-US" dirty="0"/>
              <a:t>radiology workflows and improve clinical efficiency through an intuitive, end-to-end application</a:t>
            </a:r>
          </a:p>
        </p:txBody>
      </p:sp>
    </p:spTree>
    <p:extLst>
      <p:ext uri="{BB962C8B-B14F-4D97-AF65-F5344CB8AC3E}">
        <p14:creationId xmlns:p14="http://schemas.microsoft.com/office/powerpoint/2010/main" val="273929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LungScan</a:t>
            </a:r>
            <a:r>
              <a:rPr lang="en-US" dirty="0"/>
              <a:t> Assist: 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21" y="1723571"/>
            <a:ext cx="10681036" cy="436035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 err="1"/>
              <a:t>LungScan</a:t>
            </a:r>
            <a:r>
              <a:rPr lang="en-US" b="1" dirty="0"/>
              <a:t> Assist</a:t>
            </a:r>
            <a:r>
              <a:rPr lang="en-US" dirty="0"/>
              <a:t> is a web application that supports radiologists throughout the lung CT analysis workflow.</a:t>
            </a:r>
          </a:p>
          <a:p>
            <a:pPr marL="36900" indent="0">
              <a:buNone/>
            </a:pPr>
            <a:r>
              <a:rPr lang="en-US" b="1" dirty="0"/>
              <a:t>What the App Provides</a:t>
            </a:r>
          </a:p>
          <a:p>
            <a:pPr lvl="1"/>
            <a:r>
              <a:rPr lang="en-US" dirty="0"/>
              <a:t>Upload and manage lung CT scans</a:t>
            </a:r>
          </a:p>
          <a:p>
            <a:pPr lvl="1"/>
            <a:r>
              <a:rPr lang="en-US" dirty="0"/>
              <a:t>Organize scans into clinical cases</a:t>
            </a:r>
          </a:p>
          <a:p>
            <a:pPr lvl="1"/>
            <a:r>
              <a:rPr lang="en-US" dirty="0"/>
              <a:t>Link cases to patient records</a:t>
            </a:r>
          </a:p>
          <a:p>
            <a:pPr lvl="1"/>
            <a:r>
              <a:rPr lang="en-US" dirty="0"/>
              <a:t>Visualize analysis results directly on CT images</a:t>
            </a:r>
          </a:p>
          <a:p>
            <a:pPr lvl="1"/>
            <a:r>
              <a:rPr lang="en-US" dirty="0"/>
              <a:t>Document findings and export reports</a:t>
            </a:r>
          </a:p>
          <a:p>
            <a:pPr marL="36900" indent="0">
              <a:buNone/>
            </a:pPr>
            <a:r>
              <a:rPr lang="en-US" b="1" dirty="0"/>
              <a:t>Focus</a:t>
            </a:r>
            <a:r>
              <a:rPr lang="en-US" dirty="0"/>
              <a:t>: usability, clinical </a:t>
            </a:r>
            <a:r>
              <a:rPr lang="en-US" dirty="0" smtClean="0"/>
              <a:t>workflow </a:t>
            </a:r>
          </a:p>
          <a:p>
            <a:pPr marL="36900" indent="0">
              <a:buNone/>
            </a:pPr>
            <a:r>
              <a:rPr lang="en-US" dirty="0" smtClean="0"/>
              <a:t>and </a:t>
            </a:r>
            <a:r>
              <a:rPr lang="en-US" dirty="0"/>
              <a:t>seamless AI integration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6" y="2775634"/>
            <a:ext cx="6034244" cy="330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6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Typical Usage Flow</a:t>
            </a:r>
          </a:p>
          <a:p>
            <a:pPr lvl="1"/>
            <a:r>
              <a:rPr lang="en-US" dirty="0"/>
              <a:t>Create or select a patient</a:t>
            </a:r>
          </a:p>
          <a:p>
            <a:pPr lvl="1"/>
            <a:r>
              <a:rPr lang="en-US" dirty="0"/>
              <a:t>Upload a CT scan (JPEG / PNG / DICOM)</a:t>
            </a:r>
          </a:p>
          <a:p>
            <a:pPr lvl="1"/>
            <a:r>
              <a:rPr lang="en-US" dirty="0"/>
              <a:t>A case is created and analyzed</a:t>
            </a:r>
          </a:p>
          <a:p>
            <a:pPr lvl="1"/>
            <a:r>
              <a:rPr lang="en-US" dirty="0"/>
              <a:t>Results are attached to the case</a:t>
            </a:r>
          </a:p>
          <a:p>
            <a:pPr lvl="1"/>
            <a:r>
              <a:rPr lang="en-US" dirty="0"/>
              <a:t>Doctor reviews findings and adds notes</a:t>
            </a:r>
          </a:p>
          <a:p>
            <a:pPr lvl="1"/>
            <a:r>
              <a:rPr lang="en-US" dirty="0"/>
              <a:t>Report is generated and exported</a:t>
            </a:r>
          </a:p>
          <a:p>
            <a:pPr marL="36900" indent="0">
              <a:buNone/>
            </a:pPr>
            <a:r>
              <a:rPr lang="en-US" b="1" dirty="0"/>
              <a:t>Goal</a:t>
            </a:r>
            <a:r>
              <a:rPr lang="en-US" dirty="0"/>
              <a:t>: mirror a real radiology process with minimal manual steps</a:t>
            </a:r>
          </a:p>
        </p:txBody>
      </p:sp>
    </p:spTree>
    <p:extLst>
      <p:ext uri="{BB962C8B-B14F-4D97-AF65-F5344CB8AC3E}">
        <p14:creationId xmlns:p14="http://schemas.microsoft.com/office/powerpoint/2010/main" val="131402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&amp; Patient 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b="1" dirty="0"/>
              <a:t>Case Management</a:t>
            </a:r>
          </a:p>
          <a:p>
            <a:pPr lvl="1"/>
            <a:r>
              <a:rPr lang="en-US" dirty="0"/>
              <a:t>Central dashboard with all cases</a:t>
            </a:r>
          </a:p>
          <a:p>
            <a:pPr lvl="1"/>
            <a:r>
              <a:rPr lang="en-US" dirty="0"/>
              <a:t>Status tracking (</a:t>
            </a:r>
            <a:r>
              <a:rPr lang="en-US" i="1" dirty="0"/>
              <a:t>Pending / Analyzed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Search, filter, and sort functionality</a:t>
            </a:r>
          </a:p>
          <a:p>
            <a:pPr lvl="1"/>
            <a:r>
              <a:rPr lang="en-US" dirty="0"/>
              <a:t>Re-analyze or replace scans if needed</a:t>
            </a:r>
          </a:p>
          <a:p>
            <a:pPr marL="36900" indent="0">
              <a:buNone/>
            </a:pPr>
            <a:r>
              <a:rPr lang="en-US" b="1" dirty="0"/>
              <a:t>Patient Management</a:t>
            </a:r>
          </a:p>
          <a:p>
            <a:pPr lvl="1"/>
            <a:r>
              <a:rPr lang="en-US" dirty="0"/>
              <a:t>Dedicated patient records (name, DOB, MRN)</a:t>
            </a:r>
          </a:p>
          <a:p>
            <a:pPr lvl="1"/>
            <a:r>
              <a:rPr lang="en-US" dirty="0"/>
              <a:t>Multiple scans per patient</a:t>
            </a:r>
          </a:p>
          <a:p>
            <a:pPr lvl="1"/>
            <a:r>
              <a:rPr lang="en-US" dirty="0"/>
              <a:t>Full scan history per patient</a:t>
            </a:r>
          </a:p>
          <a:p>
            <a:pPr marL="36900" indent="0">
              <a:buNone/>
            </a:pPr>
            <a:r>
              <a:rPr lang="en-US" b="1" dirty="0"/>
              <a:t>Benefit</a:t>
            </a:r>
            <a:r>
              <a:rPr lang="en-US" dirty="0"/>
              <a:t>: keeps medical data structured and traceable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010" y="1732449"/>
            <a:ext cx="5622421" cy="329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8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30206"/>
            <a:ext cx="10353762" cy="970450"/>
          </a:xfrm>
        </p:spPr>
        <p:txBody>
          <a:bodyPr/>
          <a:lstStyle/>
          <a:p>
            <a:r>
              <a:rPr lang="en-US" dirty="0" smtClean="0"/>
              <a:t>CT </a:t>
            </a:r>
            <a:r>
              <a:rPr lang="en-US" dirty="0"/>
              <a:t>Scan Viewer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0" y="1100656"/>
            <a:ext cx="4386174" cy="503995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Interactive Scan Viewer</a:t>
            </a:r>
          </a:p>
          <a:p>
            <a:pPr lvl="1"/>
            <a:r>
              <a:rPr lang="en-US" dirty="0"/>
              <a:t>High-resolution CT image display</a:t>
            </a:r>
          </a:p>
          <a:p>
            <a:pPr lvl="1"/>
            <a:r>
              <a:rPr lang="en-US" dirty="0"/>
              <a:t>Nodule overlays directly on the scan</a:t>
            </a:r>
          </a:p>
          <a:p>
            <a:pPr lvl="1"/>
            <a:r>
              <a:rPr lang="en-US" dirty="0"/>
              <a:t>Clickable markers with risk details</a:t>
            </a:r>
          </a:p>
          <a:p>
            <a:pPr lvl="1"/>
            <a:r>
              <a:rPr lang="en-US" dirty="0"/>
              <a:t>Color-coded risk visualization</a:t>
            </a:r>
          </a:p>
          <a:p>
            <a:pPr marL="36900" indent="0">
              <a:buNone/>
            </a:pPr>
            <a:r>
              <a:rPr lang="en-US" b="1" dirty="0"/>
              <a:t>Analytics</a:t>
            </a:r>
          </a:p>
          <a:p>
            <a:pPr lvl="1"/>
            <a:r>
              <a:rPr lang="en-US" dirty="0"/>
              <a:t>Nodule count and risk summaries</a:t>
            </a:r>
          </a:p>
          <a:p>
            <a:pPr lvl="1"/>
            <a:r>
              <a:rPr lang="en-US" dirty="0"/>
              <a:t>Risk distribution and size vs score charts</a:t>
            </a:r>
          </a:p>
          <a:p>
            <a:pPr marL="36900" indent="0">
              <a:buNone/>
            </a:pPr>
            <a:r>
              <a:rPr lang="en-US" b="1" dirty="0"/>
              <a:t>Outcome</a:t>
            </a:r>
            <a:r>
              <a:rPr lang="en-US" dirty="0"/>
              <a:t>: fast visual interpretation for clinicians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102" y="1234103"/>
            <a:ext cx="7584489" cy="490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1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Notes, Reports &amp; Extensibility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Clinical Documentation</a:t>
            </a:r>
          </a:p>
          <a:p>
            <a:pPr lvl="1"/>
            <a:r>
              <a:rPr lang="en-US" dirty="0"/>
              <a:t>Editable clinical notes per case</a:t>
            </a:r>
          </a:p>
          <a:p>
            <a:pPr lvl="1"/>
            <a:r>
              <a:rPr lang="en-US" dirty="0"/>
              <a:t>Persistent storage</a:t>
            </a:r>
          </a:p>
          <a:p>
            <a:pPr marL="36900" indent="0">
              <a:buNone/>
            </a:pPr>
            <a:r>
              <a:rPr lang="en-US" b="1" dirty="0"/>
              <a:t>Reporting</a:t>
            </a:r>
          </a:p>
          <a:p>
            <a:pPr lvl="1"/>
            <a:r>
              <a:rPr lang="en-US" dirty="0"/>
              <a:t>One-click report export</a:t>
            </a:r>
          </a:p>
          <a:p>
            <a:pPr lvl="1"/>
            <a:r>
              <a:rPr lang="en-US" dirty="0"/>
              <a:t>Includes patient info, findings, and notes</a:t>
            </a:r>
          </a:p>
          <a:p>
            <a:pPr marL="36900" indent="0">
              <a:buNone/>
            </a:pPr>
            <a:r>
              <a:rPr lang="en-US" b="1" dirty="0"/>
              <a:t>Designed for Extension</a:t>
            </a:r>
          </a:p>
          <a:p>
            <a:pPr lvl="1"/>
            <a:r>
              <a:rPr lang="en-US" dirty="0"/>
              <a:t>Modular architecture</a:t>
            </a:r>
          </a:p>
          <a:p>
            <a:pPr lvl="1"/>
            <a:r>
              <a:rPr lang="en-US" dirty="0"/>
              <a:t>Persistent </a:t>
            </a:r>
            <a:r>
              <a:rPr lang="en-US" dirty="0" smtClean="0"/>
              <a:t>data </a:t>
            </a:r>
            <a:r>
              <a:rPr lang="en-US" dirty="0"/>
              <a:t>storage </a:t>
            </a:r>
            <a:r>
              <a:rPr lang="en-US" dirty="0" smtClean="0"/>
              <a:t>implemented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518" y="1580050"/>
            <a:ext cx="5109686" cy="49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31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8161"/>
            <a:ext cx="12192000" cy="4058751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3600" b="1" dirty="0"/>
              <a:t>Thank you</a:t>
            </a:r>
            <a:r>
              <a:rPr lang="en-US" sz="3600" b="1" dirty="0" smtClean="0"/>
              <a:t>!</a:t>
            </a:r>
          </a:p>
          <a:p>
            <a:pPr marL="36900" indent="0" algn="ctr">
              <a:buNone/>
            </a:pPr>
            <a:endParaRPr lang="en-US" sz="3600" b="1" dirty="0" smtClean="0"/>
          </a:p>
          <a:p>
            <a:pPr marL="36900" indent="0" algn="ctr">
              <a:buNone/>
            </a:pPr>
            <a:r>
              <a:rPr lang="en-US" sz="3600" b="1" dirty="0" smtClean="0"/>
              <a:t>Next</a:t>
            </a:r>
            <a:r>
              <a:rPr lang="en-US" sz="3600" b="1" dirty="0"/>
              <a:t>:</a:t>
            </a:r>
            <a:r>
              <a:rPr lang="en-US" sz="3600" dirty="0"/>
              <a:t> Live demonstration of the application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4152999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7FDE94F1-78A9-40BE-A8B7-41A2C58A2BB4}"/>
</file>

<file path=customXml/itemProps2.xml><?xml version="1.0" encoding="utf-8"?>
<ds:datastoreItem xmlns:ds="http://schemas.openxmlformats.org/officeDocument/2006/customXml" ds:itemID="{9C311B6E-3A0B-4A40-BED5-C92EE283BCA1}"/>
</file>

<file path=customXml/itemProps3.xml><?xml version="1.0" encoding="utf-8"?>
<ds:datastoreItem xmlns:ds="http://schemas.openxmlformats.org/officeDocument/2006/customXml" ds:itemID="{A87C02B0-6480-4A3C-BF85-A1A1F685B0A5}"/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30</TotalTime>
  <Words>286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Calisto MT</vt:lpstr>
      <vt:lpstr>Trebuchet MS</vt:lpstr>
      <vt:lpstr>Wingdings 2</vt:lpstr>
      <vt:lpstr>Slate</vt:lpstr>
      <vt:lpstr>LungScan Assist</vt:lpstr>
      <vt:lpstr>LungScan Assist: Application Overview</vt:lpstr>
      <vt:lpstr>End-to-End Workflow</vt:lpstr>
      <vt:lpstr>Case &amp; Patient Management</vt:lpstr>
      <vt:lpstr>CT Scan Viewer &amp; Visualization</vt:lpstr>
      <vt:lpstr>Clinical Notes, Reports &amp; Extensibility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Trill</dc:creator>
  <cp:lastModifiedBy>Adrian Trill</cp:lastModifiedBy>
  <cp:revision>4</cp:revision>
  <dcterms:created xsi:type="dcterms:W3CDTF">2026-01-15T16:15:20Z</dcterms:created>
  <dcterms:modified xsi:type="dcterms:W3CDTF">2026-01-15T16:45:30Z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