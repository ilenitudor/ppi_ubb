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diagrams/data2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diagrams/data4.xml" ContentType="application/vnd.openxmlformats-officedocument.drawingml.diagramData+xml"/>
  <Override PartName="/ppt/diagrams/data3.xml" ContentType="application/vnd.openxmlformats-officedocument.drawingml.diagramData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drawing2.xml" ContentType="application/vnd.ms-office.drawingml.diagramDrawing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layout3.xml" ContentType="application/vnd.openxmlformats-officedocument.drawingml.diagramLayout+xml"/>
  <Override PartName="/ppt/diagrams/quickStyle4.xml" ContentType="application/vnd.openxmlformats-officedocument.drawingml.diagramStyle+xml"/>
  <Override PartName="/ppt/diagrams/layout4.xml" ContentType="application/vnd.openxmlformats-officedocument.drawingml.diagramLayout+xml"/>
  <Override PartName="/ppt/diagrams/colors4.xml" ContentType="application/vnd.openxmlformats-officedocument.drawingml.diagramColors+xml"/>
  <Override PartName="/ppt/diagrams/colors2.xml" ContentType="application/vnd.openxmlformats-officedocument.drawingml.diagramColors+xml"/>
  <Override PartName="/ppt/diagrams/drawing4.xml" ContentType="application/vnd.ms-office.drawingml.diagramDrawing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7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8" y="1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Sistemul medical din România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93-4219-8001-58B415A5F4C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Medici practicanți</c:v>
                </c:pt>
                <c:pt idx="1">
                  <c:v>Estimare deficiență medici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93-4219-8001-58B415A5F4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23750343720556935"/>
          <c:y val="0.91921239041079073"/>
          <c:w val="0.48788554279931606"/>
          <c:h val="8.07876095892092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839904-69E6-4E74-B1DA-D1482A368D58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392F391-E610-4BEE-92A3-F6CC8DE1A328}">
      <dgm:prSet/>
      <dgm:spPr/>
      <dgm:t>
        <a:bodyPr/>
        <a:lstStyle/>
        <a:p>
          <a:r>
            <a:rPr lang="ro-RO"/>
            <a:t>Diagnosticarea unor afecțiuni letale în lipsa specialiștilor</a:t>
          </a:r>
          <a:endParaRPr lang="en-US"/>
        </a:p>
      </dgm:t>
    </dgm:pt>
    <dgm:pt modelId="{74F3B289-104A-4179-9EF0-422A688B0BCF}" type="parTrans" cxnId="{5A074A01-5097-4F1C-8BF2-482BF08C2360}">
      <dgm:prSet/>
      <dgm:spPr/>
      <dgm:t>
        <a:bodyPr/>
        <a:lstStyle/>
        <a:p>
          <a:endParaRPr lang="en-US"/>
        </a:p>
      </dgm:t>
    </dgm:pt>
    <dgm:pt modelId="{AF333DBE-95A3-42E5-9B28-BA63278E6F63}" type="sibTrans" cxnId="{5A074A01-5097-4F1C-8BF2-482BF08C23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A571F4F-D915-4010-A438-8C58F0356150}">
      <dgm:prSet/>
      <dgm:spPr/>
      <dgm:t>
        <a:bodyPr/>
        <a:lstStyle/>
        <a:p>
          <a:r>
            <a:rPr lang="ro-RO"/>
            <a:t>Educarea mai eficientă a rezidenților</a:t>
          </a:r>
          <a:r>
            <a:rPr lang="en-GB"/>
            <a:t> </a:t>
          </a:r>
          <a:r>
            <a:rPr lang="ro-RO"/>
            <a:t>în utilizarea ecografului</a:t>
          </a:r>
          <a:endParaRPr lang="en-US"/>
        </a:p>
      </dgm:t>
    </dgm:pt>
    <dgm:pt modelId="{FE97F876-ED83-4746-A5A7-A0DEFDFC3088}" type="parTrans" cxnId="{C5830B37-1242-49CC-ABD7-5A6F29DD1D75}">
      <dgm:prSet/>
      <dgm:spPr/>
      <dgm:t>
        <a:bodyPr/>
        <a:lstStyle/>
        <a:p>
          <a:endParaRPr lang="en-US"/>
        </a:p>
      </dgm:t>
    </dgm:pt>
    <dgm:pt modelId="{317A4315-73CA-4860-A7E0-A3DF27CD4D74}" type="sibTrans" cxnId="{C5830B37-1242-49CC-ABD7-5A6F29DD1D7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FE2E343-D74F-44E8-AC4A-AA7D58F90B54}" type="pres">
      <dgm:prSet presAssocID="{6E839904-69E6-4E74-B1DA-D1482A368D58}" presName="Name0" presStyleCnt="0">
        <dgm:presLayoutVars>
          <dgm:animLvl val="lvl"/>
          <dgm:resizeHandles val="exact"/>
        </dgm:presLayoutVars>
      </dgm:prSet>
      <dgm:spPr/>
    </dgm:pt>
    <dgm:pt modelId="{8381682F-D8DB-407A-9CB6-5A8F400537D4}" type="pres">
      <dgm:prSet presAssocID="{7392F391-E610-4BEE-92A3-F6CC8DE1A328}" presName="compositeNode" presStyleCnt="0">
        <dgm:presLayoutVars>
          <dgm:bulletEnabled val="1"/>
        </dgm:presLayoutVars>
      </dgm:prSet>
      <dgm:spPr/>
    </dgm:pt>
    <dgm:pt modelId="{56AC6CE1-8EFD-43CC-BE23-4586166AC9AB}" type="pres">
      <dgm:prSet presAssocID="{7392F391-E610-4BEE-92A3-F6CC8DE1A328}" presName="bgRect" presStyleLbl="bgAccFollowNode1" presStyleIdx="0" presStyleCnt="2"/>
      <dgm:spPr/>
    </dgm:pt>
    <dgm:pt modelId="{E83C4DBE-7E00-42EE-9E99-11723A766F92}" type="pres">
      <dgm:prSet presAssocID="{AF333DBE-95A3-42E5-9B28-BA63278E6F63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393C3248-9A64-425D-8302-019B3378A09A}" type="pres">
      <dgm:prSet presAssocID="{7392F391-E610-4BEE-92A3-F6CC8DE1A328}" presName="bottomLine" presStyleLbl="alignNode1" presStyleIdx="1" presStyleCnt="4">
        <dgm:presLayoutVars/>
      </dgm:prSet>
      <dgm:spPr/>
    </dgm:pt>
    <dgm:pt modelId="{CC131F9D-4367-4D0C-AB8C-3400D3947A3C}" type="pres">
      <dgm:prSet presAssocID="{7392F391-E610-4BEE-92A3-F6CC8DE1A328}" presName="nodeText" presStyleLbl="bgAccFollowNode1" presStyleIdx="0" presStyleCnt="2">
        <dgm:presLayoutVars>
          <dgm:bulletEnabled val="1"/>
        </dgm:presLayoutVars>
      </dgm:prSet>
      <dgm:spPr/>
    </dgm:pt>
    <dgm:pt modelId="{93240A1B-F195-47DD-810C-DA05BAC4F349}" type="pres">
      <dgm:prSet presAssocID="{AF333DBE-95A3-42E5-9B28-BA63278E6F63}" presName="sibTrans" presStyleCnt="0"/>
      <dgm:spPr/>
    </dgm:pt>
    <dgm:pt modelId="{4C820102-9DFD-47AF-A25B-AE684E158BBD}" type="pres">
      <dgm:prSet presAssocID="{2A571F4F-D915-4010-A438-8C58F0356150}" presName="compositeNode" presStyleCnt="0">
        <dgm:presLayoutVars>
          <dgm:bulletEnabled val="1"/>
        </dgm:presLayoutVars>
      </dgm:prSet>
      <dgm:spPr/>
    </dgm:pt>
    <dgm:pt modelId="{E2ECB806-8CEB-480B-A754-211F3BF5FA8C}" type="pres">
      <dgm:prSet presAssocID="{2A571F4F-D915-4010-A438-8C58F0356150}" presName="bgRect" presStyleLbl="bgAccFollowNode1" presStyleIdx="1" presStyleCnt="2"/>
      <dgm:spPr/>
    </dgm:pt>
    <dgm:pt modelId="{F32DACE7-AC89-4ACC-9224-6404DD7D03DA}" type="pres">
      <dgm:prSet presAssocID="{317A4315-73CA-4860-A7E0-A3DF27CD4D74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EF86C905-AF7A-4C28-85FB-056629C399C8}" type="pres">
      <dgm:prSet presAssocID="{2A571F4F-D915-4010-A438-8C58F0356150}" presName="bottomLine" presStyleLbl="alignNode1" presStyleIdx="3" presStyleCnt="4">
        <dgm:presLayoutVars/>
      </dgm:prSet>
      <dgm:spPr/>
    </dgm:pt>
    <dgm:pt modelId="{0EF1DB10-1706-4DD3-A4B0-284FC9F4D6EB}" type="pres">
      <dgm:prSet presAssocID="{2A571F4F-D915-4010-A438-8C58F0356150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5A074A01-5097-4F1C-8BF2-482BF08C2360}" srcId="{6E839904-69E6-4E74-B1DA-D1482A368D58}" destId="{7392F391-E610-4BEE-92A3-F6CC8DE1A328}" srcOrd="0" destOrd="0" parTransId="{74F3B289-104A-4179-9EF0-422A688B0BCF}" sibTransId="{AF333DBE-95A3-42E5-9B28-BA63278E6F63}"/>
    <dgm:cxn modelId="{EE301933-B97C-49C1-908C-DE9D5EBD25BF}" type="presOf" srcId="{2A571F4F-D915-4010-A438-8C58F0356150}" destId="{0EF1DB10-1706-4DD3-A4B0-284FC9F4D6EB}" srcOrd="1" destOrd="0" presId="urn:microsoft.com/office/officeart/2016/7/layout/BasicLinearProcessNumbered"/>
    <dgm:cxn modelId="{C5830B37-1242-49CC-ABD7-5A6F29DD1D75}" srcId="{6E839904-69E6-4E74-B1DA-D1482A368D58}" destId="{2A571F4F-D915-4010-A438-8C58F0356150}" srcOrd="1" destOrd="0" parTransId="{FE97F876-ED83-4746-A5A7-A0DEFDFC3088}" sibTransId="{317A4315-73CA-4860-A7E0-A3DF27CD4D74}"/>
    <dgm:cxn modelId="{740D615B-AC21-414D-8B5E-CBE06037988B}" type="presOf" srcId="{2A571F4F-D915-4010-A438-8C58F0356150}" destId="{E2ECB806-8CEB-480B-A754-211F3BF5FA8C}" srcOrd="0" destOrd="0" presId="urn:microsoft.com/office/officeart/2016/7/layout/BasicLinearProcessNumbered"/>
    <dgm:cxn modelId="{B225B157-86F1-4B52-BC76-8F3A7ADD44A2}" type="presOf" srcId="{317A4315-73CA-4860-A7E0-A3DF27CD4D74}" destId="{F32DACE7-AC89-4ACC-9224-6404DD7D03DA}" srcOrd="0" destOrd="0" presId="urn:microsoft.com/office/officeart/2016/7/layout/BasicLinearProcessNumbered"/>
    <dgm:cxn modelId="{92F69858-6FCB-4B9F-A6E3-6D1694119E41}" type="presOf" srcId="{6E839904-69E6-4E74-B1DA-D1482A368D58}" destId="{6FE2E343-D74F-44E8-AC4A-AA7D58F90B54}" srcOrd="0" destOrd="0" presId="urn:microsoft.com/office/officeart/2016/7/layout/BasicLinearProcessNumbered"/>
    <dgm:cxn modelId="{A9A17B88-218C-42DB-AE1D-D46A1575BFFB}" type="presOf" srcId="{AF333DBE-95A3-42E5-9B28-BA63278E6F63}" destId="{E83C4DBE-7E00-42EE-9E99-11723A766F92}" srcOrd="0" destOrd="0" presId="urn:microsoft.com/office/officeart/2016/7/layout/BasicLinearProcessNumbered"/>
    <dgm:cxn modelId="{AE497F8C-0812-4CB1-8C4A-A1FF7BBFF796}" type="presOf" srcId="{7392F391-E610-4BEE-92A3-F6CC8DE1A328}" destId="{CC131F9D-4367-4D0C-AB8C-3400D3947A3C}" srcOrd="1" destOrd="0" presId="urn:microsoft.com/office/officeart/2016/7/layout/BasicLinearProcessNumbered"/>
    <dgm:cxn modelId="{290347A6-746E-471F-8227-229D5833BCE6}" type="presOf" srcId="{7392F391-E610-4BEE-92A3-F6CC8DE1A328}" destId="{56AC6CE1-8EFD-43CC-BE23-4586166AC9AB}" srcOrd="0" destOrd="0" presId="urn:microsoft.com/office/officeart/2016/7/layout/BasicLinearProcessNumbered"/>
    <dgm:cxn modelId="{59EAA07D-2955-4A53-9F40-962BB9E33562}" type="presParOf" srcId="{6FE2E343-D74F-44E8-AC4A-AA7D58F90B54}" destId="{8381682F-D8DB-407A-9CB6-5A8F400537D4}" srcOrd="0" destOrd="0" presId="urn:microsoft.com/office/officeart/2016/7/layout/BasicLinearProcessNumbered"/>
    <dgm:cxn modelId="{55563450-6A35-476A-AAF7-219F0239E28E}" type="presParOf" srcId="{8381682F-D8DB-407A-9CB6-5A8F400537D4}" destId="{56AC6CE1-8EFD-43CC-BE23-4586166AC9AB}" srcOrd="0" destOrd="0" presId="urn:microsoft.com/office/officeart/2016/7/layout/BasicLinearProcessNumbered"/>
    <dgm:cxn modelId="{6CEB24C4-FE3D-4EE4-B890-06C6441A3678}" type="presParOf" srcId="{8381682F-D8DB-407A-9CB6-5A8F400537D4}" destId="{E83C4DBE-7E00-42EE-9E99-11723A766F92}" srcOrd="1" destOrd="0" presId="urn:microsoft.com/office/officeart/2016/7/layout/BasicLinearProcessNumbered"/>
    <dgm:cxn modelId="{4FB289A4-2618-444A-B106-8AB3F527D70A}" type="presParOf" srcId="{8381682F-D8DB-407A-9CB6-5A8F400537D4}" destId="{393C3248-9A64-425D-8302-019B3378A09A}" srcOrd="2" destOrd="0" presId="urn:microsoft.com/office/officeart/2016/7/layout/BasicLinearProcessNumbered"/>
    <dgm:cxn modelId="{9E6C39ED-E083-42D3-BAE6-A6AA0A21BBF1}" type="presParOf" srcId="{8381682F-D8DB-407A-9CB6-5A8F400537D4}" destId="{CC131F9D-4367-4D0C-AB8C-3400D3947A3C}" srcOrd="3" destOrd="0" presId="urn:microsoft.com/office/officeart/2016/7/layout/BasicLinearProcessNumbered"/>
    <dgm:cxn modelId="{B874169C-B3D3-49F5-9A68-B2F26E86434F}" type="presParOf" srcId="{6FE2E343-D74F-44E8-AC4A-AA7D58F90B54}" destId="{93240A1B-F195-47DD-810C-DA05BAC4F349}" srcOrd="1" destOrd="0" presId="urn:microsoft.com/office/officeart/2016/7/layout/BasicLinearProcessNumbered"/>
    <dgm:cxn modelId="{82D752F9-7534-4A95-87F1-12774C5ACBDA}" type="presParOf" srcId="{6FE2E343-D74F-44E8-AC4A-AA7D58F90B54}" destId="{4C820102-9DFD-47AF-A25B-AE684E158BBD}" srcOrd="2" destOrd="0" presId="urn:microsoft.com/office/officeart/2016/7/layout/BasicLinearProcessNumbered"/>
    <dgm:cxn modelId="{2EA510F7-05B8-4B4E-B050-F2E2A0FD55F2}" type="presParOf" srcId="{4C820102-9DFD-47AF-A25B-AE684E158BBD}" destId="{E2ECB806-8CEB-480B-A754-211F3BF5FA8C}" srcOrd="0" destOrd="0" presId="urn:microsoft.com/office/officeart/2016/7/layout/BasicLinearProcessNumbered"/>
    <dgm:cxn modelId="{7D2BE43F-DF4F-4905-89A1-7E073D7E91C8}" type="presParOf" srcId="{4C820102-9DFD-47AF-A25B-AE684E158BBD}" destId="{F32DACE7-AC89-4ACC-9224-6404DD7D03DA}" srcOrd="1" destOrd="0" presId="urn:microsoft.com/office/officeart/2016/7/layout/BasicLinearProcessNumbered"/>
    <dgm:cxn modelId="{B4636B25-E0CF-4DAF-82FD-1D2FC9842BFB}" type="presParOf" srcId="{4C820102-9DFD-47AF-A25B-AE684E158BBD}" destId="{EF86C905-AF7A-4C28-85FB-056629C399C8}" srcOrd="2" destOrd="0" presId="urn:microsoft.com/office/officeart/2016/7/layout/BasicLinearProcessNumbered"/>
    <dgm:cxn modelId="{87A10B9A-6AE8-42CC-8BDD-5C1C6E8C11F8}" type="presParOf" srcId="{4C820102-9DFD-47AF-A25B-AE684E158BBD}" destId="{0EF1DB10-1706-4DD3-A4B0-284FC9F4D6E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A00F3E-1CE9-4787-85B8-4403407B9B3A}" type="doc">
      <dgm:prSet loTypeId="urn:microsoft.com/office/officeart/2008/layout/LinedLis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065326-68F1-45D3-9CEB-46C9380E58E6}">
      <dgm:prSet/>
      <dgm:spPr/>
      <dgm:t>
        <a:bodyPr/>
        <a:lstStyle/>
        <a:p>
          <a:r>
            <a:rPr lang="ro-RO"/>
            <a:t>Ajutăm spitalele să salveze pacienți folosind tehnologie modernă disponibilă 24/7, 365 zile pe an. Absența unui medic specialist nu va mai fi fatală.</a:t>
          </a:r>
          <a:endParaRPr lang="en-US"/>
        </a:p>
      </dgm:t>
    </dgm:pt>
    <dgm:pt modelId="{B3CFBBB4-4328-4098-8971-BC9C82765BD5}" type="parTrans" cxnId="{B8630853-9E20-4674-B8AB-0BD6B6B4134E}">
      <dgm:prSet/>
      <dgm:spPr/>
      <dgm:t>
        <a:bodyPr/>
        <a:lstStyle/>
        <a:p>
          <a:endParaRPr lang="en-US"/>
        </a:p>
      </dgm:t>
    </dgm:pt>
    <dgm:pt modelId="{C13D4499-775A-47DA-ADB4-E6620460D5DF}" type="sibTrans" cxnId="{B8630853-9E20-4674-B8AB-0BD6B6B4134E}">
      <dgm:prSet/>
      <dgm:spPr/>
      <dgm:t>
        <a:bodyPr/>
        <a:lstStyle/>
        <a:p>
          <a:endParaRPr lang="en-US"/>
        </a:p>
      </dgm:t>
    </dgm:pt>
    <dgm:pt modelId="{34B0F1AD-F125-4269-B679-0963D48A391D}">
      <dgm:prSet/>
      <dgm:spPr/>
      <dgm:t>
        <a:bodyPr/>
        <a:lstStyle/>
        <a:p>
          <a:r>
            <a:rPr lang="ro-RO"/>
            <a:t>Cu modulul nostru de învățare, cadrele medicale își pot însuși competențe de ecografie mai repede decât cu metode clasice.</a:t>
          </a:r>
          <a:endParaRPr lang="en-US"/>
        </a:p>
      </dgm:t>
    </dgm:pt>
    <dgm:pt modelId="{5E6599C2-DE51-4C83-988F-241A418B30DA}" type="parTrans" cxnId="{BAB2D61E-4A4B-4E28-92AE-DA0B1B89FA08}">
      <dgm:prSet/>
      <dgm:spPr/>
      <dgm:t>
        <a:bodyPr/>
        <a:lstStyle/>
        <a:p>
          <a:endParaRPr lang="en-US"/>
        </a:p>
      </dgm:t>
    </dgm:pt>
    <dgm:pt modelId="{150CF4AA-39DE-4981-BF42-7E1A26521C71}" type="sibTrans" cxnId="{BAB2D61E-4A4B-4E28-92AE-DA0B1B89FA08}">
      <dgm:prSet/>
      <dgm:spPr/>
      <dgm:t>
        <a:bodyPr/>
        <a:lstStyle/>
        <a:p>
          <a:endParaRPr lang="en-US"/>
        </a:p>
      </dgm:t>
    </dgm:pt>
    <dgm:pt modelId="{3426828F-46BA-4C99-9721-9DA5A0FF8676}" type="pres">
      <dgm:prSet presAssocID="{4DA00F3E-1CE9-4787-85B8-4403407B9B3A}" presName="vert0" presStyleCnt="0">
        <dgm:presLayoutVars>
          <dgm:dir/>
          <dgm:animOne val="branch"/>
          <dgm:animLvl val="lvl"/>
        </dgm:presLayoutVars>
      </dgm:prSet>
      <dgm:spPr/>
    </dgm:pt>
    <dgm:pt modelId="{F445A9B5-BFE9-4CE8-8B3E-FA3C54181C4B}" type="pres">
      <dgm:prSet presAssocID="{F2065326-68F1-45D3-9CEB-46C9380E58E6}" presName="thickLine" presStyleLbl="alignNode1" presStyleIdx="0" presStyleCnt="2"/>
      <dgm:spPr/>
    </dgm:pt>
    <dgm:pt modelId="{D2D6C501-00E2-4B4D-B668-D27D2A35173C}" type="pres">
      <dgm:prSet presAssocID="{F2065326-68F1-45D3-9CEB-46C9380E58E6}" presName="horz1" presStyleCnt="0"/>
      <dgm:spPr/>
    </dgm:pt>
    <dgm:pt modelId="{9FC6B129-596E-4187-B09B-35B45D83E966}" type="pres">
      <dgm:prSet presAssocID="{F2065326-68F1-45D3-9CEB-46C9380E58E6}" presName="tx1" presStyleLbl="revTx" presStyleIdx="0" presStyleCnt="2"/>
      <dgm:spPr/>
    </dgm:pt>
    <dgm:pt modelId="{34D61539-44C8-4246-89E1-A5267F6FAA0A}" type="pres">
      <dgm:prSet presAssocID="{F2065326-68F1-45D3-9CEB-46C9380E58E6}" presName="vert1" presStyleCnt="0"/>
      <dgm:spPr/>
    </dgm:pt>
    <dgm:pt modelId="{72D9F6D8-50B1-41AC-A95E-2B131211E8F5}" type="pres">
      <dgm:prSet presAssocID="{34B0F1AD-F125-4269-B679-0963D48A391D}" presName="thickLine" presStyleLbl="alignNode1" presStyleIdx="1" presStyleCnt="2"/>
      <dgm:spPr/>
    </dgm:pt>
    <dgm:pt modelId="{8C788E69-315B-427E-AAA8-B31DF58214E2}" type="pres">
      <dgm:prSet presAssocID="{34B0F1AD-F125-4269-B679-0963D48A391D}" presName="horz1" presStyleCnt="0"/>
      <dgm:spPr/>
    </dgm:pt>
    <dgm:pt modelId="{B2FB5AB1-C0B3-44E5-8E67-CEF696290168}" type="pres">
      <dgm:prSet presAssocID="{34B0F1AD-F125-4269-B679-0963D48A391D}" presName="tx1" presStyleLbl="revTx" presStyleIdx="1" presStyleCnt="2"/>
      <dgm:spPr/>
    </dgm:pt>
    <dgm:pt modelId="{E0A6217E-814D-4342-B9D8-34ED7D9021D1}" type="pres">
      <dgm:prSet presAssocID="{34B0F1AD-F125-4269-B679-0963D48A391D}" presName="vert1" presStyleCnt="0"/>
      <dgm:spPr/>
    </dgm:pt>
  </dgm:ptLst>
  <dgm:cxnLst>
    <dgm:cxn modelId="{AEEB0C19-5658-4B02-AC22-9546F4A2DEC8}" type="presOf" srcId="{4DA00F3E-1CE9-4787-85B8-4403407B9B3A}" destId="{3426828F-46BA-4C99-9721-9DA5A0FF8676}" srcOrd="0" destOrd="0" presId="urn:microsoft.com/office/officeart/2008/layout/LinedList"/>
    <dgm:cxn modelId="{BAB2D61E-4A4B-4E28-92AE-DA0B1B89FA08}" srcId="{4DA00F3E-1CE9-4787-85B8-4403407B9B3A}" destId="{34B0F1AD-F125-4269-B679-0963D48A391D}" srcOrd="1" destOrd="0" parTransId="{5E6599C2-DE51-4C83-988F-241A418B30DA}" sibTransId="{150CF4AA-39DE-4981-BF42-7E1A26521C71}"/>
    <dgm:cxn modelId="{A9923742-ED82-470C-AFA5-669561128FE6}" type="presOf" srcId="{F2065326-68F1-45D3-9CEB-46C9380E58E6}" destId="{9FC6B129-596E-4187-B09B-35B45D83E966}" srcOrd="0" destOrd="0" presId="urn:microsoft.com/office/officeart/2008/layout/LinedList"/>
    <dgm:cxn modelId="{498B4269-13A7-4F1F-AB50-8A3F276E6BD1}" type="presOf" srcId="{34B0F1AD-F125-4269-B679-0963D48A391D}" destId="{B2FB5AB1-C0B3-44E5-8E67-CEF696290168}" srcOrd="0" destOrd="0" presId="urn:microsoft.com/office/officeart/2008/layout/LinedList"/>
    <dgm:cxn modelId="{B8630853-9E20-4674-B8AB-0BD6B6B4134E}" srcId="{4DA00F3E-1CE9-4787-85B8-4403407B9B3A}" destId="{F2065326-68F1-45D3-9CEB-46C9380E58E6}" srcOrd="0" destOrd="0" parTransId="{B3CFBBB4-4328-4098-8971-BC9C82765BD5}" sibTransId="{C13D4499-775A-47DA-ADB4-E6620460D5DF}"/>
    <dgm:cxn modelId="{AEF4E82D-D008-4B47-BE37-66CE8BA75337}" type="presParOf" srcId="{3426828F-46BA-4C99-9721-9DA5A0FF8676}" destId="{F445A9B5-BFE9-4CE8-8B3E-FA3C54181C4B}" srcOrd="0" destOrd="0" presId="urn:microsoft.com/office/officeart/2008/layout/LinedList"/>
    <dgm:cxn modelId="{1B1DB38D-7408-46CB-9E3B-FC2953850FD0}" type="presParOf" srcId="{3426828F-46BA-4C99-9721-9DA5A0FF8676}" destId="{D2D6C501-00E2-4B4D-B668-D27D2A35173C}" srcOrd="1" destOrd="0" presId="urn:microsoft.com/office/officeart/2008/layout/LinedList"/>
    <dgm:cxn modelId="{DB06F48C-27FB-461E-A21C-F1EB9F406233}" type="presParOf" srcId="{D2D6C501-00E2-4B4D-B668-D27D2A35173C}" destId="{9FC6B129-596E-4187-B09B-35B45D83E966}" srcOrd="0" destOrd="0" presId="urn:microsoft.com/office/officeart/2008/layout/LinedList"/>
    <dgm:cxn modelId="{E50FE5BB-9C03-4E6D-B559-129A1F55EB44}" type="presParOf" srcId="{D2D6C501-00E2-4B4D-B668-D27D2A35173C}" destId="{34D61539-44C8-4246-89E1-A5267F6FAA0A}" srcOrd="1" destOrd="0" presId="urn:microsoft.com/office/officeart/2008/layout/LinedList"/>
    <dgm:cxn modelId="{86FC4589-36BE-46D6-B93C-1F3B867AD7D1}" type="presParOf" srcId="{3426828F-46BA-4C99-9721-9DA5A0FF8676}" destId="{72D9F6D8-50B1-41AC-A95E-2B131211E8F5}" srcOrd="2" destOrd="0" presId="urn:microsoft.com/office/officeart/2008/layout/LinedList"/>
    <dgm:cxn modelId="{B0490757-1D40-4A96-A3C5-1FBB10B63B2A}" type="presParOf" srcId="{3426828F-46BA-4C99-9721-9DA5A0FF8676}" destId="{8C788E69-315B-427E-AAA8-B31DF58214E2}" srcOrd="3" destOrd="0" presId="urn:microsoft.com/office/officeart/2008/layout/LinedList"/>
    <dgm:cxn modelId="{3938AFDA-22A9-4018-94A3-29BB139B67BF}" type="presParOf" srcId="{8C788E69-315B-427E-AAA8-B31DF58214E2}" destId="{B2FB5AB1-C0B3-44E5-8E67-CEF696290168}" srcOrd="0" destOrd="0" presId="urn:microsoft.com/office/officeart/2008/layout/LinedList"/>
    <dgm:cxn modelId="{813E53A7-44EE-4618-BD15-EFF8404FCC30}" type="presParOf" srcId="{8C788E69-315B-427E-AAA8-B31DF58214E2}" destId="{E0A6217E-814D-4342-B9D8-34ED7D9021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465D28-943B-4F98-AA93-0505CBBEDC0B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D312184-BF8E-460C-8AF9-473B13F6B23D}">
      <dgm:prSet/>
      <dgm:spPr/>
      <dgm:t>
        <a:bodyPr/>
        <a:lstStyle/>
        <a:p>
          <a:r>
            <a:rPr lang="ro-RO"/>
            <a:t>Spitale mici și medii cu lipsă de specialiști</a:t>
          </a:r>
          <a:endParaRPr lang="en-US"/>
        </a:p>
      </dgm:t>
    </dgm:pt>
    <dgm:pt modelId="{07068612-8996-4FA4-B119-7790A32B72B8}" type="parTrans" cxnId="{FDCAC363-798E-4133-9725-B33435AADB56}">
      <dgm:prSet/>
      <dgm:spPr/>
      <dgm:t>
        <a:bodyPr/>
        <a:lstStyle/>
        <a:p>
          <a:endParaRPr lang="en-US"/>
        </a:p>
      </dgm:t>
    </dgm:pt>
    <dgm:pt modelId="{AACF7D9E-3EE8-40EA-ACBB-39E5562ADD91}" type="sibTrans" cxnId="{FDCAC363-798E-4133-9725-B33435AADB56}">
      <dgm:prSet/>
      <dgm:spPr/>
      <dgm:t>
        <a:bodyPr/>
        <a:lstStyle/>
        <a:p>
          <a:endParaRPr lang="en-US"/>
        </a:p>
      </dgm:t>
    </dgm:pt>
    <dgm:pt modelId="{E4FEB412-5780-4699-B6F8-89D82A6AD64A}">
      <dgm:prSet/>
      <dgm:spPr/>
      <dgm:t>
        <a:bodyPr/>
        <a:lstStyle/>
        <a:p>
          <a:r>
            <a:rPr lang="ro-RO" noProof="0" dirty="0"/>
            <a:t>Spitalele</a:t>
          </a:r>
          <a:r>
            <a:rPr lang="en-GB" dirty="0"/>
            <a:t> din c</a:t>
          </a:r>
          <a:r>
            <a:rPr lang="ro-RO" dirty="0"/>
            <a:t>entre universitare care vor </a:t>
          </a:r>
          <a:r>
            <a:rPr lang="en-GB" dirty="0"/>
            <a:t>o</a:t>
          </a:r>
          <a:r>
            <a:rPr lang="ro-RO" dirty="0"/>
            <a:t> metodă nouă de a preda tehnici de diagnoză cu ecograful sau vor acces la cele mai noi tehnologii</a:t>
          </a:r>
          <a:endParaRPr lang="en-US" dirty="0"/>
        </a:p>
      </dgm:t>
    </dgm:pt>
    <dgm:pt modelId="{D4F9A0CF-DE28-4C7D-BD32-AA5FB2FB16A6}" type="parTrans" cxnId="{E3FED7C7-333C-46E3-B4F6-69AF17652FFA}">
      <dgm:prSet/>
      <dgm:spPr/>
      <dgm:t>
        <a:bodyPr/>
        <a:lstStyle/>
        <a:p>
          <a:endParaRPr lang="en-US"/>
        </a:p>
      </dgm:t>
    </dgm:pt>
    <dgm:pt modelId="{71BC16F1-E62B-4BE4-9F38-A340186C8F9B}" type="sibTrans" cxnId="{E3FED7C7-333C-46E3-B4F6-69AF17652FFA}">
      <dgm:prSet/>
      <dgm:spPr/>
      <dgm:t>
        <a:bodyPr/>
        <a:lstStyle/>
        <a:p>
          <a:endParaRPr lang="en-US"/>
        </a:p>
      </dgm:t>
    </dgm:pt>
    <dgm:pt modelId="{9C1C27F2-AEF8-4761-B59A-4F75E98CB7A2}" type="pres">
      <dgm:prSet presAssocID="{36465D28-943B-4F98-AA93-0505CBBEDC0B}" presName="vert0" presStyleCnt="0">
        <dgm:presLayoutVars>
          <dgm:dir/>
          <dgm:animOne val="branch"/>
          <dgm:animLvl val="lvl"/>
        </dgm:presLayoutVars>
      </dgm:prSet>
      <dgm:spPr/>
    </dgm:pt>
    <dgm:pt modelId="{61B633D1-300C-4D38-ABF5-0FE613013799}" type="pres">
      <dgm:prSet presAssocID="{2D312184-BF8E-460C-8AF9-473B13F6B23D}" presName="thickLine" presStyleLbl="alignNode1" presStyleIdx="0" presStyleCnt="2"/>
      <dgm:spPr/>
    </dgm:pt>
    <dgm:pt modelId="{90EA621D-5E17-4D7A-8B72-B2A25F8929EF}" type="pres">
      <dgm:prSet presAssocID="{2D312184-BF8E-460C-8AF9-473B13F6B23D}" presName="horz1" presStyleCnt="0"/>
      <dgm:spPr/>
    </dgm:pt>
    <dgm:pt modelId="{E8C21C3C-85A3-4454-9B48-445674F079B8}" type="pres">
      <dgm:prSet presAssocID="{2D312184-BF8E-460C-8AF9-473B13F6B23D}" presName="tx1" presStyleLbl="revTx" presStyleIdx="0" presStyleCnt="2"/>
      <dgm:spPr/>
    </dgm:pt>
    <dgm:pt modelId="{645F0CF8-60F9-483B-A276-C7981FB05037}" type="pres">
      <dgm:prSet presAssocID="{2D312184-BF8E-460C-8AF9-473B13F6B23D}" presName="vert1" presStyleCnt="0"/>
      <dgm:spPr/>
    </dgm:pt>
    <dgm:pt modelId="{0294A0FB-7740-4D22-AF43-66B85478DDE5}" type="pres">
      <dgm:prSet presAssocID="{E4FEB412-5780-4699-B6F8-89D82A6AD64A}" presName="thickLine" presStyleLbl="alignNode1" presStyleIdx="1" presStyleCnt="2"/>
      <dgm:spPr/>
    </dgm:pt>
    <dgm:pt modelId="{139230A6-76BE-40B4-BF8B-5B060E8DECA8}" type="pres">
      <dgm:prSet presAssocID="{E4FEB412-5780-4699-B6F8-89D82A6AD64A}" presName="horz1" presStyleCnt="0"/>
      <dgm:spPr/>
    </dgm:pt>
    <dgm:pt modelId="{DE89479D-F4DF-47DD-86F7-7886D88A86D6}" type="pres">
      <dgm:prSet presAssocID="{E4FEB412-5780-4699-B6F8-89D82A6AD64A}" presName="tx1" presStyleLbl="revTx" presStyleIdx="1" presStyleCnt="2"/>
      <dgm:spPr/>
    </dgm:pt>
    <dgm:pt modelId="{40C657F5-7A03-462C-8E31-3FF56F79507F}" type="pres">
      <dgm:prSet presAssocID="{E4FEB412-5780-4699-B6F8-89D82A6AD64A}" presName="vert1" presStyleCnt="0"/>
      <dgm:spPr/>
    </dgm:pt>
  </dgm:ptLst>
  <dgm:cxnLst>
    <dgm:cxn modelId="{B1B01B30-AEE4-4F5C-AF48-664C41D19958}" type="presOf" srcId="{36465D28-943B-4F98-AA93-0505CBBEDC0B}" destId="{9C1C27F2-AEF8-4761-B59A-4F75E98CB7A2}" srcOrd="0" destOrd="0" presId="urn:microsoft.com/office/officeart/2008/layout/LinedList"/>
    <dgm:cxn modelId="{355E6F3D-3EE5-40DD-89BD-1B100D126A7E}" type="presOf" srcId="{2D312184-BF8E-460C-8AF9-473B13F6B23D}" destId="{E8C21C3C-85A3-4454-9B48-445674F079B8}" srcOrd="0" destOrd="0" presId="urn:microsoft.com/office/officeart/2008/layout/LinedList"/>
    <dgm:cxn modelId="{FDCAC363-798E-4133-9725-B33435AADB56}" srcId="{36465D28-943B-4F98-AA93-0505CBBEDC0B}" destId="{2D312184-BF8E-460C-8AF9-473B13F6B23D}" srcOrd="0" destOrd="0" parTransId="{07068612-8996-4FA4-B119-7790A32B72B8}" sibTransId="{AACF7D9E-3EE8-40EA-ACBB-39E5562ADD91}"/>
    <dgm:cxn modelId="{E3FED7C7-333C-46E3-B4F6-69AF17652FFA}" srcId="{36465D28-943B-4F98-AA93-0505CBBEDC0B}" destId="{E4FEB412-5780-4699-B6F8-89D82A6AD64A}" srcOrd="1" destOrd="0" parTransId="{D4F9A0CF-DE28-4C7D-BD32-AA5FB2FB16A6}" sibTransId="{71BC16F1-E62B-4BE4-9F38-A340186C8F9B}"/>
    <dgm:cxn modelId="{D41FFDED-D42F-46CE-A7BA-5D866EB6B475}" type="presOf" srcId="{E4FEB412-5780-4699-B6F8-89D82A6AD64A}" destId="{DE89479D-F4DF-47DD-86F7-7886D88A86D6}" srcOrd="0" destOrd="0" presId="urn:microsoft.com/office/officeart/2008/layout/LinedList"/>
    <dgm:cxn modelId="{7729804E-1F71-43AA-91F6-97FE5911D09C}" type="presParOf" srcId="{9C1C27F2-AEF8-4761-B59A-4F75E98CB7A2}" destId="{61B633D1-300C-4D38-ABF5-0FE613013799}" srcOrd="0" destOrd="0" presId="urn:microsoft.com/office/officeart/2008/layout/LinedList"/>
    <dgm:cxn modelId="{F94EAE98-5915-48B0-84A2-445320C62228}" type="presParOf" srcId="{9C1C27F2-AEF8-4761-B59A-4F75E98CB7A2}" destId="{90EA621D-5E17-4D7A-8B72-B2A25F8929EF}" srcOrd="1" destOrd="0" presId="urn:microsoft.com/office/officeart/2008/layout/LinedList"/>
    <dgm:cxn modelId="{24EB33E7-C120-47E9-85B7-CD9E082C29EF}" type="presParOf" srcId="{90EA621D-5E17-4D7A-8B72-B2A25F8929EF}" destId="{E8C21C3C-85A3-4454-9B48-445674F079B8}" srcOrd="0" destOrd="0" presId="urn:microsoft.com/office/officeart/2008/layout/LinedList"/>
    <dgm:cxn modelId="{1D16DB9A-3E2F-4A21-95EF-C30967B8BCC2}" type="presParOf" srcId="{90EA621D-5E17-4D7A-8B72-B2A25F8929EF}" destId="{645F0CF8-60F9-483B-A276-C7981FB05037}" srcOrd="1" destOrd="0" presId="urn:microsoft.com/office/officeart/2008/layout/LinedList"/>
    <dgm:cxn modelId="{67FC4BCC-E253-45A6-B147-405034FCD4A0}" type="presParOf" srcId="{9C1C27F2-AEF8-4761-B59A-4F75E98CB7A2}" destId="{0294A0FB-7740-4D22-AF43-66B85478DDE5}" srcOrd="2" destOrd="0" presId="urn:microsoft.com/office/officeart/2008/layout/LinedList"/>
    <dgm:cxn modelId="{F4032658-CF28-4CDE-9DCD-5E96E193AF71}" type="presParOf" srcId="{9C1C27F2-AEF8-4761-B59A-4F75E98CB7A2}" destId="{139230A6-76BE-40B4-BF8B-5B060E8DECA8}" srcOrd="3" destOrd="0" presId="urn:microsoft.com/office/officeart/2008/layout/LinedList"/>
    <dgm:cxn modelId="{4D2C1E42-5731-458B-9295-44418BDC2E36}" type="presParOf" srcId="{139230A6-76BE-40B4-BF8B-5B060E8DECA8}" destId="{DE89479D-F4DF-47DD-86F7-7886D88A86D6}" srcOrd="0" destOrd="0" presId="urn:microsoft.com/office/officeart/2008/layout/LinedList"/>
    <dgm:cxn modelId="{E6BA3BEC-2139-4826-8A1A-6106AA39235C}" type="presParOf" srcId="{139230A6-76BE-40B4-BF8B-5B060E8DECA8}" destId="{40C657F5-7A03-462C-8E31-3FF56F7950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C08A4C-9D1E-4BD1-BBBA-614D9B71E51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3F40C6-5293-492B-BB52-BB61B1CBC9EB}">
      <dgm:prSet/>
      <dgm:spPr/>
      <dgm:t>
        <a:bodyPr/>
        <a:lstStyle/>
        <a:p>
          <a:r>
            <a:rPr lang="en-GB"/>
            <a:t>Revenue Streams:</a:t>
          </a:r>
          <a:endParaRPr lang="en-US"/>
        </a:p>
      </dgm:t>
    </dgm:pt>
    <dgm:pt modelId="{52115492-0BE5-4416-B91B-9E30329E8461}" type="parTrans" cxnId="{8DDB1364-B705-4018-A62E-1154898CD43B}">
      <dgm:prSet/>
      <dgm:spPr/>
      <dgm:t>
        <a:bodyPr/>
        <a:lstStyle/>
        <a:p>
          <a:endParaRPr lang="en-US"/>
        </a:p>
      </dgm:t>
    </dgm:pt>
    <dgm:pt modelId="{0EDD7DCD-0B5E-4946-9545-8CCE428EC486}" type="sibTrans" cxnId="{8DDB1364-B705-4018-A62E-1154898CD43B}">
      <dgm:prSet/>
      <dgm:spPr/>
      <dgm:t>
        <a:bodyPr/>
        <a:lstStyle/>
        <a:p>
          <a:endParaRPr lang="en-US"/>
        </a:p>
      </dgm:t>
    </dgm:pt>
    <dgm:pt modelId="{5D81A229-358E-48F1-9DBC-A47395DB71EA}">
      <dgm:prSet/>
      <dgm:spPr/>
      <dgm:t>
        <a:bodyPr/>
        <a:lstStyle/>
        <a:p>
          <a:r>
            <a:rPr lang="ro-RO"/>
            <a:t>Asocierea cu producătorii de echipamente de ecografie</a:t>
          </a:r>
          <a:endParaRPr lang="en-US"/>
        </a:p>
      </dgm:t>
    </dgm:pt>
    <dgm:pt modelId="{FC72EFC4-2B61-4B6E-899C-E41D6ECBAAE4}" type="parTrans" cxnId="{2870BC25-CD34-485C-B568-09D2970EEB53}">
      <dgm:prSet/>
      <dgm:spPr/>
      <dgm:t>
        <a:bodyPr/>
        <a:lstStyle/>
        <a:p>
          <a:endParaRPr lang="en-US"/>
        </a:p>
      </dgm:t>
    </dgm:pt>
    <dgm:pt modelId="{CD8D2A16-0D4C-4CCB-B31C-F7B97343674B}" type="sibTrans" cxnId="{2870BC25-CD34-485C-B568-09D2970EEB53}">
      <dgm:prSet/>
      <dgm:spPr/>
      <dgm:t>
        <a:bodyPr/>
        <a:lstStyle/>
        <a:p>
          <a:endParaRPr lang="en-US"/>
        </a:p>
      </dgm:t>
    </dgm:pt>
    <dgm:pt modelId="{7E8536C8-9FD4-4CB6-88D7-F85C4646012C}">
      <dgm:prSet/>
      <dgm:spPr/>
      <dgm:t>
        <a:bodyPr/>
        <a:lstStyle/>
        <a:p>
          <a:r>
            <a:rPr lang="ro-RO"/>
            <a:t>Abonament anual</a:t>
          </a:r>
          <a:endParaRPr lang="en-US"/>
        </a:p>
      </dgm:t>
    </dgm:pt>
    <dgm:pt modelId="{77CA84DB-1CB6-45F7-97F7-5E40779DF1D8}" type="parTrans" cxnId="{B54CBFB1-BBF8-4274-859F-EA76C4D77315}">
      <dgm:prSet/>
      <dgm:spPr/>
      <dgm:t>
        <a:bodyPr/>
        <a:lstStyle/>
        <a:p>
          <a:endParaRPr lang="en-US"/>
        </a:p>
      </dgm:t>
    </dgm:pt>
    <dgm:pt modelId="{754A8322-6567-4C15-B385-00889E0D915C}" type="sibTrans" cxnId="{B54CBFB1-BBF8-4274-859F-EA76C4D77315}">
      <dgm:prSet/>
      <dgm:spPr/>
      <dgm:t>
        <a:bodyPr/>
        <a:lstStyle/>
        <a:p>
          <a:endParaRPr lang="en-US"/>
        </a:p>
      </dgm:t>
    </dgm:pt>
    <dgm:pt modelId="{473F42BD-FE1D-456A-A9C3-A9D7A360F3C1}">
      <dgm:prSet/>
      <dgm:spPr/>
      <dgm:t>
        <a:bodyPr/>
        <a:lstStyle/>
        <a:p>
          <a:r>
            <a:rPr lang="ro-RO"/>
            <a:t>Competitori</a:t>
          </a:r>
          <a:r>
            <a:rPr lang="en-GB"/>
            <a:t>: </a:t>
          </a:r>
          <a:r>
            <a:rPr lang="ro-RO"/>
            <a:t>ThinkSono</a:t>
          </a:r>
          <a:r>
            <a:rPr lang="en-GB"/>
            <a:t>, Butterfly Network</a:t>
          </a:r>
          <a:r>
            <a:rPr lang="ro-RO"/>
            <a:t>, Merative</a:t>
          </a:r>
          <a:endParaRPr lang="en-US"/>
        </a:p>
      </dgm:t>
    </dgm:pt>
    <dgm:pt modelId="{61E94E45-A980-4082-8CC5-F95C96C2FF5F}" type="parTrans" cxnId="{10D28A94-288A-46C2-ADA1-4A310C7C3309}">
      <dgm:prSet/>
      <dgm:spPr/>
      <dgm:t>
        <a:bodyPr/>
        <a:lstStyle/>
        <a:p>
          <a:endParaRPr lang="en-US"/>
        </a:p>
      </dgm:t>
    </dgm:pt>
    <dgm:pt modelId="{47414EAC-FC74-41B1-9DA4-32B71A057D6B}" type="sibTrans" cxnId="{10D28A94-288A-46C2-ADA1-4A310C7C3309}">
      <dgm:prSet/>
      <dgm:spPr/>
      <dgm:t>
        <a:bodyPr/>
        <a:lstStyle/>
        <a:p>
          <a:endParaRPr lang="en-US"/>
        </a:p>
      </dgm:t>
    </dgm:pt>
    <dgm:pt modelId="{838AA1D8-3546-4F5D-A330-2081F2FDD198}">
      <dgm:prSet/>
      <dgm:spPr/>
      <dgm:t>
        <a:bodyPr/>
        <a:lstStyle/>
        <a:p>
          <a:r>
            <a:rPr lang="ro-RO"/>
            <a:t>Early adopters</a:t>
          </a:r>
          <a:r>
            <a:rPr lang="en-GB"/>
            <a:t>: </a:t>
          </a:r>
          <a:r>
            <a:rPr lang="ro-RO"/>
            <a:t>Universități, spitale</a:t>
          </a:r>
          <a:r>
            <a:rPr lang="en-GB"/>
            <a:t> cu lips</a:t>
          </a:r>
          <a:r>
            <a:rPr lang="ro-RO"/>
            <a:t>ă severă de personal</a:t>
          </a:r>
          <a:endParaRPr lang="en-US"/>
        </a:p>
      </dgm:t>
    </dgm:pt>
    <dgm:pt modelId="{70E34BA0-BC77-4A19-9009-9E0CD1A34270}" type="parTrans" cxnId="{F80F23C0-BBB1-4DAE-B7C5-46F6BAE1437F}">
      <dgm:prSet/>
      <dgm:spPr/>
      <dgm:t>
        <a:bodyPr/>
        <a:lstStyle/>
        <a:p>
          <a:endParaRPr lang="en-US"/>
        </a:p>
      </dgm:t>
    </dgm:pt>
    <dgm:pt modelId="{B90C1846-1D5A-4E7C-942A-ACC027FCDE91}" type="sibTrans" cxnId="{F80F23C0-BBB1-4DAE-B7C5-46F6BAE1437F}">
      <dgm:prSet/>
      <dgm:spPr/>
      <dgm:t>
        <a:bodyPr/>
        <a:lstStyle/>
        <a:p>
          <a:endParaRPr lang="en-US"/>
        </a:p>
      </dgm:t>
    </dgm:pt>
    <dgm:pt modelId="{42AD5158-44D0-4877-86A2-7A41A580E63E}">
      <dgm:prSet/>
      <dgm:spPr/>
      <dgm:t>
        <a:bodyPr/>
        <a:lstStyle/>
        <a:p>
          <a:r>
            <a:rPr lang="ro-RO"/>
            <a:t>Căi spre piață</a:t>
          </a:r>
          <a:r>
            <a:rPr lang="en-GB"/>
            <a:t>:</a:t>
          </a:r>
          <a:endParaRPr lang="en-US"/>
        </a:p>
      </dgm:t>
    </dgm:pt>
    <dgm:pt modelId="{19E4467D-E211-4ADD-A6B4-1441B97E5AAA}" type="parTrans" cxnId="{AA0B41E9-D208-428D-8553-E0BDD3D95AB2}">
      <dgm:prSet/>
      <dgm:spPr/>
      <dgm:t>
        <a:bodyPr/>
        <a:lstStyle/>
        <a:p>
          <a:endParaRPr lang="en-US"/>
        </a:p>
      </dgm:t>
    </dgm:pt>
    <dgm:pt modelId="{5757CFFD-A2B3-4061-A924-03908D7262B3}" type="sibTrans" cxnId="{AA0B41E9-D208-428D-8553-E0BDD3D95AB2}">
      <dgm:prSet/>
      <dgm:spPr/>
      <dgm:t>
        <a:bodyPr/>
        <a:lstStyle/>
        <a:p>
          <a:endParaRPr lang="en-US"/>
        </a:p>
      </dgm:t>
    </dgm:pt>
    <dgm:pt modelId="{CD303FBB-3A06-4E86-BB20-29E24D09042A}">
      <dgm:prSet/>
      <dgm:spPr/>
      <dgm:t>
        <a:bodyPr/>
        <a:lstStyle/>
        <a:p>
          <a:r>
            <a:rPr lang="ro-RO"/>
            <a:t>Producători de echipamente</a:t>
          </a:r>
          <a:endParaRPr lang="en-US"/>
        </a:p>
      </dgm:t>
    </dgm:pt>
    <dgm:pt modelId="{487E219F-C18C-48B3-B9CC-051DD2D2BA8B}" type="parTrans" cxnId="{97E36E0B-31BF-4CF8-AEAF-4A437D690B9B}">
      <dgm:prSet/>
      <dgm:spPr/>
      <dgm:t>
        <a:bodyPr/>
        <a:lstStyle/>
        <a:p>
          <a:endParaRPr lang="en-US"/>
        </a:p>
      </dgm:t>
    </dgm:pt>
    <dgm:pt modelId="{B188413F-D5FE-49FD-B669-D9892CF0FF6A}" type="sibTrans" cxnId="{97E36E0B-31BF-4CF8-AEAF-4A437D690B9B}">
      <dgm:prSet/>
      <dgm:spPr/>
      <dgm:t>
        <a:bodyPr/>
        <a:lstStyle/>
        <a:p>
          <a:endParaRPr lang="en-US"/>
        </a:p>
      </dgm:t>
    </dgm:pt>
    <dgm:pt modelId="{A0826F60-8A35-46CE-B617-9F9F36615421}">
      <dgm:prSet/>
      <dgm:spPr/>
      <dgm:t>
        <a:bodyPr/>
        <a:lstStyle/>
        <a:p>
          <a:r>
            <a:rPr lang="ro-RO"/>
            <a:t>Proiecte</a:t>
          </a:r>
          <a:r>
            <a:rPr lang="en-GB"/>
            <a:t> </a:t>
          </a:r>
          <a:r>
            <a:rPr lang="ro-RO"/>
            <a:t>guvernamentale</a:t>
          </a:r>
          <a:endParaRPr lang="en-US"/>
        </a:p>
      </dgm:t>
    </dgm:pt>
    <dgm:pt modelId="{DD6A1A16-BB19-4856-8636-34E819D0C45B}" type="parTrans" cxnId="{6A915520-659F-4DC2-A8D7-62F62BB1ACA7}">
      <dgm:prSet/>
      <dgm:spPr/>
      <dgm:t>
        <a:bodyPr/>
        <a:lstStyle/>
        <a:p>
          <a:endParaRPr lang="en-US"/>
        </a:p>
      </dgm:t>
    </dgm:pt>
    <dgm:pt modelId="{C5B7FC64-7DE2-464A-9C81-2208C4F28661}" type="sibTrans" cxnId="{6A915520-659F-4DC2-A8D7-62F62BB1ACA7}">
      <dgm:prSet/>
      <dgm:spPr/>
      <dgm:t>
        <a:bodyPr/>
        <a:lstStyle/>
        <a:p>
          <a:endParaRPr lang="en-US"/>
        </a:p>
      </dgm:t>
    </dgm:pt>
    <dgm:pt modelId="{FBAAF6F3-B8E0-47B1-807D-C29CEB0E14DA}">
      <dgm:prSet/>
      <dgm:spPr/>
      <dgm:t>
        <a:bodyPr/>
        <a:lstStyle/>
        <a:p>
          <a:r>
            <a:rPr lang="en-GB"/>
            <a:t>Marketing Direct</a:t>
          </a:r>
          <a:endParaRPr lang="en-US"/>
        </a:p>
      </dgm:t>
    </dgm:pt>
    <dgm:pt modelId="{31897137-897F-4DCB-9A04-8F67BBB91BF0}" type="parTrans" cxnId="{D98D022D-1657-4820-9F3C-1983283C19E0}">
      <dgm:prSet/>
      <dgm:spPr/>
      <dgm:t>
        <a:bodyPr/>
        <a:lstStyle/>
        <a:p>
          <a:endParaRPr lang="en-US"/>
        </a:p>
      </dgm:t>
    </dgm:pt>
    <dgm:pt modelId="{C2FA1EE4-30AA-427D-ABA6-A56E56E5721B}" type="sibTrans" cxnId="{D98D022D-1657-4820-9F3C-1983283C19E0}">
      <dgm:prSet/>
      <dgm:spPr/>
      <dgm:t>
        <a:bodyPr/>
        <a:lstStyle/>
        <a:p>
          <a:endParaRPr lang="en-US"/>
        </a:p>
      </dgm:t>
    </dgm:pt>
    <dgm:pt modelId="{77F90D12-D4AD-432C-87C6-978F2633E49A}" type="pres">
      <dgm:prSet presAssocID="{1DC08A4C-9D1E-4BD1-BBBA-614D9B71E511}" presName="linear" presStyleCnt="0">
        <dgm:presLayoutVars>
          <dgm:animLvl val="lvl"/>
          <dgm:resizeHandles val="exact"/>
        </dgm:presLayoutVars>
      </dgm:prSet>
      <dgm:spPr/>
    </dgm:pt>
    <dgm:pt modelId="{F6F8E6A6-EB75-4A91-A50B-02222A158954}" type="pres">
      <dgm:prSet presAssocID="{6F3F40C6-5293-492B-BB52-BB61B1CBC9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209F64A-45B2-4D77-B8C2-FBFBD308D993}" type="pres">
      <dgm:prSet presAssocID="{6F3F40C6-5293-492B-BB52-BB61B1CBC9EB}" presName="childText" presStyleLbl="revTx" presStyleIdx="0" presStyleCnt="2">
        <dgm:presLayoutVars>
          <dgm:bulletEnabled val="1"/>
        </dgm:presLayoutVars>
      </dgm:prSet>
      <dgm:spPr/>
    </dgm:pt>
    <dgm:pt modelId="{52464706-D040-4068-AB3E-E8A333776F92}" type="pres">
      <dgm:prSet presAssocID="{473F42BD-FE1D-456A-A9C3-A9D7A360F3C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EFAF4B-0E88-41A1-95AC-0E7AC6FB3333}" type="pres">
      <dgm:prSet presAssocID="{47414EAC-FC74-41B1-9DA4-32B71A057D6B}" presName="spacer" presStyleCnt="0"/>
      <dgm:spPr/>
    </dgm:pt>
    <dgm:pt modelId="{21C57F32-8F07-44EB-9910-0104B4E06B39}" type="pres">
      <dgm:prSet presAssocID="{838AA1D8-3546-4F5D-A330-2081F2FDD1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FF0BF5-5745-431D-929C-2B9ACAC616C1}" type="pres">
      <dgm:prSet presAssocID="{B90C1846-1D5A-4E7C-942A-ACC027FCDE91}" presName="spacer" presStyleCnt="0"/>
      <dgm:spPr/>
    </dgm:pt>
    <dgm:pt modelId="{34417466-BCAB-4496-8A2B-ACB0C657F230}" type="pres">
      <dgm:prSet presAssocID="{42AD5158-44D0-4877-86A2-7A41A580E63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EE0A1FA-8171-4E8A-8C75-380174998FCB}" type="pres">
      <dgm:prSet presAssocID="{42AD5158-44D0-4877-86A2-7A41A580E63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7E36E0B-31BF-4CF8-AEAF-4A437D690B9B}" srcId="{42AD5158-44D0-4877-86A2-7A41A580E63E}" destId="{CD303FBB-3A06-4E86-BB20-29E24D09042A}" srcOrd="0" destOrd="0" parTransId="{487E219F-C18C-48B3-B9CC-051DD2D2BA8B}" sibTransId="{B188413F-D5FE-49FD-B669-D9892CF0FF6A}"/>
    <dgm:cxn modelId="{6A915520-659F-4DC2-A8D7-62F62BB1ACA7}" srcId="{42AD5158-44D0-4877-86A2-7A41A580E63E}" destId="{A0826F60-8A35-46CE-B617-9F9F36615421}" srcOrd="1" destOrd="0" parTransId="{DD6A1A16-BB19-4856-8636-34E819D0C45B}" sibTransId="{C5B7FC64-7DE2-464A-9C81-2208C4F28661}"/>
    <dgm:cxn modelId="{7A6D4E21-1F27-4DE9-92D1-B08C67B25BC7}" type="presOf" srcId="{CD303FBB-3A06-4E86-BB20-29E24D09042A}" destId="{6EE0A1FA-8171-4E8A-8C75-380174998FCB}" srcOrd="0" destOrd="0" presId="urn:microsoft.com/office/officeart/2005/8/layout/vList2"/>
    <dgm:cxn modelId="{2870BC25-CD34-485C-B568-09D2970EEB53}" srcId="{6F3F40C6-5293-492B-BB52-BB61B1CBC9EB}" destId="{5D81A229-358E-48F1-9DBC-A47395DB71EA}" srcOrd="0" destOrd="0" parTransId="{FC72EFC4-2B61-4B6E-899C-E41D6ECBAAE4}" sibTransId="{CD8D2A16-0D4C-4CCB-B31C-F7B97343674B}"/>
    <dgm:cxn modelId="{E3832726-B869-416E-9B27-3F6B6512C2D1}" type="presOf" srcId="{1DC08A4C-9D1E-4BD1-BBBA-614D9B71E511}" destId="{77F90D12-D4AD-432C-87C6-978F2633E49A}" srcOrd="0" destOrd="0" presId="urn:microsoft.com/office/officeart/2005/8/layout/vList2"/>
    <dgm:cxn modelId="{D98D022D-1657-4820-9F3C-1983283C19E0}" srcId="{42AD5158-44D0-4877-86A2-7A41A580E63E}" destId="{FBAAF6F3-B8E0-47B1-807D-C29CEB0E14DA}" srcOrd="2" destOrd="0" parTransId="{31897137-897F-4DCB-9A04-8F67BBB91BF0}" sibTransId="{C2FA1EE4-30AA-427D-ABA6-A56E56E5721B}"/>
    <dgm:cxn modelId="{111E772D-2D1E-45AF-BBAA-1E1BA38DE447}" type="presOf" srcId="{FBAAF6F3-B8E0-47B1-807D-C29CEB0E14DA}" destId="{6EE0A1FA-8171-4E8A-8C75-380174998FCB}" srcOrd="0" destOrd="2" presId="urn:microsoft.com/office/officeart/2005/8/layout/vList2"/>
    <dgm:cxn modelId="{2BA6B55C-921A-4E15-AB98-1D8AF084541B}" type="presOf" srcId="{A0826F60-8A35-46CE-B617-9F9F36615421}" destId="{6EE0A1FA-8171-4E8A-8C75-380174998FCB}" srcOrd="0" destOrd="1" presId="urn:microsoft.com/office/officeart/2005/8/layout/vList2"/>
    <dgm:cxn modelId="{8DDB1364-B705-4018-A62E-1154898CD43B}" srcId="{1DC08A4C-9D1E-4BD1-BBBA-614D9B71E511}" destId="{6F3F40C6-5293-492B-BB52-BB61B1CBC9EB}" srcOrd="0" destOrd="0" parTransId="{52115492-0BE5-4416-B91B-9E30329E8461}" sibTransId="{0EDD7DCD-0B5E-4946-9545-8CCE428EC486}"/>
    <dgm:cxn modelId="{FEA58C66-BECE-4528-8F13-2FE7C3AB0F21}" type="presOf" srcId="{473F42BD-FE1D-456A-A9C3-A9D7A360F3C1}" destId="{52464706-D040-4068-AB3E-E8A333776F92}" srcOrd="0" destOrd="0" presId="urn:microsoft.com/office/officeart/2005/8/layout/vList2"/>
    <dgm:cxn modelId="{A08BCE4F-C60A-4F06-883A-F008731B45C7}" type="presOf" srcId="{42AD5158-44D0-4877-86A2-7A41A580E63E}" destId="{34417466-BCAB-4496-8A2B-ACB0C657F230}" srcOrd="0" destOrd="0" presId="urn:microsoft.com/office/officeart/2005/8/layout/vList2"/>
    <dgm:cxn modelId="{10D28A94-288A-46C2-ADA1-4A310C7C3309}" srcId="{1DC08A4C-9D1E-4BD1-BBBA-614D9B71E511}" destId="{473F42BD-FE1D-456A-A9C3-A9D7A360F3C1}" srcOrd="1" destOrd="0" parTransId="{61E94E45-A980-4082-8CC5-F95C96C2FF5F}" sibTransId="{47414EAC-FC74-41B1-9DA4-32B71A057D6B}"/>
    <dgm:cxn modelId="{3BB94AA3-D225-49F3-A164-B62F5B8F66EC}" type="presOf" srcId="{838AA1D8-3546-4F5D-A330-2081F2FDD198}" destId="{21C57F32-8F07-44EB-9910-0104B4E06B39}" srcOrd="0" destOrd="0" presId="urn:microsoft.com/office/officeart/2005/8/layout/vList2"/>
    <dgm:cxn modelId="{F861E3AA-A240-4D4F-BAFE-D8B79F6F9351}" type="presOf" srcId="{6F3F40C6-5293-492B-BB52-BB61B1CBC9EB}" destId="{F6F8E6A6-EB75-4A91-A50B-02222A158954}" srcOrd="0" destOrd="0" presId="urn:microsoft.com/office/officeart/2005/8/layout/vList2"/>
    <dgm:cxn modelId="{B54CBFB1-BBF8-4274-859F-EA76C4D77315}" srcId="{6F3F40C6-5293-492B-BB52-BB61B1CBC9EB}" destId="{7E8536C8-9FD4-4CB6-88D7-F85C4646012C}" srcOrd="1" destOrd="0" parTransId="{77CA84DB-1CB6-45F7-97F7-5E40779DF1D8}" sibTransId="{754A8322-6567-4C15-B385-00889E0D915C}"/>
    <dgm:cxn modelId="{F80F23C0-BBB1-4DAE-B7C5-46F6BAE1437F}" srcId="{1DC08A4C-9D1E-4BD1-BBBA-614D9B71E511}" destId="{838AA1D8-3546-4F5D-A330-2081F2FDD198}" srcOrd="2" destOrd="0" parTransId="{70E34BA0-BC77-4A19-9009-9E0CD1A34270}" sibTransId="{B90C1846-1D5A-4E7C-942A-ACC027FCDE91}"/>
    <dgm:cxn modelId="{B3AA6FCF-D224-44F6-ACEE-95DBEF797541}" type="presOf" srcId="{5D81A229-358E-48F1-9DBC-A47395DB71EA}" destId="{D209F64A-45B2-4D77-B8C2-FBFBD308D993}" srcOrd="0" destOrd="0" presId="urn:microsoft.com/office/officeart/2005/8/layout/vList2"/>
    <dgm:cxn modelId="{E8E8C7DF-696A-4F7A-9610-613F20C79D13}" type="presOf" srcId="{7E8536C8-9FD4-4CB6-88D7-F85C4646012C}" destId="{D209F64A-45B2-4D77-B8C2-FBFBD308D993}" srcOrd="0" destOrd="1" presId="urn:microsoft.com/office/officeart/2005/8/layout/vList2"/>
    <dgm:cxn modelId="{AA0B41E9-D208-428D-8553-E0BDD3D95AB2}" srcId="{1DC08A4C-9D1E-4BD1-BBBA-614D9B71E511}" destId="{42AD5158-44D0-4877-86A2-7A41A580E63E}" srcOrd="3" destOrd="0" parTransId="{19E4467D-E211-4ADD-A6B4-1441B97E5AAA}" sibTransId="{5757CFFD-A2B3-4061-A924-03908D7262B3}"/>
    <dgm:cxn modelId="{BA316D5B-25B6-4FF8-9E86-6DDB2DFA4BBD}" type="presParOf" srcId="{77F90D12-D4AD-432C-87C6-978F2633E49A}" destId="{F6F8E6A6-EB75-4A91-A50B-02222A158954}" srcOrd="0" destOrd="0" presId="urn:microsoft.com/office/officeart/2005/8/layout/vList2"/>
    <dgm:cxn modelId="{BB126CD4-45F5-4EE4-9807-82EC29BF3AD8}" type="presParOf" srcId="{77F90D12-D4AD-432C-87C6-978F2633E49A}" destId="{D209F64A-45B2-4D77-B8C2-FBFBD308D993}" srcOrd="1" destOrd="0" presId="urn:microsoft.com/office/officeart/2005/8/layout/vList2"/>
    <dgm:cxn modelId="{D51F050C-0B79-45B9-AD08-4B309A540D1B}" type="presParOf" srcId="{77F90D12-D4AD-432C-87C6-978F2633E49A}" destId="{52464706-D040-4068-AB3E-E8A333776F92}" srcOrd="2" destOrd="0" presId="urn:microsoft.com/office/officeart/2005/8/layout/vList2"/>
    <dgm:cxn modelId="{44FCFA16-6BAF-4A9D-B1D6-F615D7ED1D81}" type="presParOf" srcId="{77F90D12-D4AD-432C-87C6-978F2633E49A}" destId="{3CEFAF4B-0E88-41A1-95AC-0E7AC6FB3333}" srcOrd="3" destOrd="0" presId="urn:microsoft.com/office/officeart/2005/8/layout/vList2"/>
    <dgm:cxn modelId="{F740DE13-26A6-4807-9B2C-6D160008DE0D}" type="presParOf" srcId="{77F90D12-D4AD-432C-87C6-978F2633E49A}" destId="{21C57F32-8F07-44EB-9910-0104B4E06B39}" srcOrd="4" destOrd="0" presId="urn:microsoft.com/office/officeart/2005/8/layout/vList2"/>
    <dgm:cxn modelId="{0B29BE99-E409-43B3-B243-09AA5A36000D}" type="presParOf" srcId="{77F90D12-D4AD-432C-87C6-978F2633E49A}" destId="{5FFF0BF5-5745-431D-929C-2B9ACAC616C1}" srcOrd="5" destOrd="0" presId="urn:microsoft.com/office/officeart/2005/8/layout/vList2"/>
    <dgm:cxn modelId="{EBD51AC6-2CA2-4FD1-86DA-B059C1A7A1F4}" type="presParOf" srcId="{77F90D12-D4AD-432C-87C6-978F2633E49A}" destId="{34417466-BCAB-4496-8A2B-ACB0C657F230}" srcOrd="6" destOrd="0" presId="urn:microsoft.com/office/officeart/2005/8/layout/vList2"/>
    <dgm:cxn modelId="{D0AE85E4-E7E9-4CF3-A699-A0644C6554D0}" type="presParOf" srcId="{77F90D12-D4AD-432C-87C6-978F2633E49A}" destId="{6EE0A1FA-8171-4E8A-8C75-380174998FCB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C6CE1-8EFD-43CC-BE23-4586166AC9AB}">
      <dsp:nvSpPr>
        <dsp:cNvPr id="0" name=""/>
        <dsp:cNvSpPr/>
      </dsp:nvSpPr>
      <dsp:spPr>
        <a:xfrm>
          <a:off x="1288" y="0"/>
          <a:ext cx="5024344" cy="331081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1717" tIns="330200" rIns="39171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Diagnosticarea unor afecțiuni letale în lipsa specialiștilor</a:t>
          </a:r>
          <a:endParaRPr lang="en-US" sz="2600" kern="1200"/>
        </a:p>
      </dsp:txBody>
      <dsp:txXfrm>
        <a:off x="1288" y="1258110"/>
        <a:ext cx="5024344" cy="1986489"/>
      </dsp:txXfrm>
    </dsp:sp>
    <dsp:sp modelId="{E83C4DBE-7E00-42EE-9E99-11723A766F92}">
      <dsp:nvSpPr>
        <dsp:cNvPr id="0" name=""/>
        <dsp:cNvSpPr/>
      </dsp:nvSpPr>
      <dsp:spPr>
        <a:xfrm>
          <a:off x="2016838" y="331081"/>
          <a:ext cx="993244" cy="9932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7437" tIns="12700" rIns="774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162295" y="476538"/>
        <a:ext cx="702330" cy="702330"/>
      </dsp:txXfrm>
    </dsp:sp>
    <dsp:sp modelId="{393C3248-9A64-425D-8302-019B3378A09A}">
      <dsp:nvSpPr>
        <dsp:cNvPr id="0" name=""/>
        <dsp:cNvSpPr/>
      </dsp:nvSpPr>
      <dsp:spPr>
        <a:xfrm>
          <a:off x="1288" y="3310744"/>
          <a:ext cx="502434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ECB806-8CEB-480B-A754-211F3BF5FA8C}">
      <dsp:nvSpPr>
        <dsp:cNvPr id="0" name=""/>
        <dsp:cNvSpPr/>
      </dsp:nvSpPr>
      <dsp:spPr>
        <a:xfrm>
          <a:off x="5528067" y="0"/>
          <a:ext cx="5024344" cy="331081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1717" tIns="330200" rIns="39171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Educarea mai eficientă a rezidenților</a:t>
          </a:r>
          <a:r>
            <a:rPr lang="en-GB" sz="2600" kern="1200"/>
            <a:t> </a:t>
          </a:r>
          <a:r>
            <a:rPr lang="ro-RO" sz="2600" kern="1200"/>
            <a:t>în utilizarea ecografului</a:t>
          </a:r>
          <a:endParaRPr lang="en-US" sz="2600" kern="1200"/>
        </a:p>
      </dsp:txBody>
      <dsp:txXfrm>
        <a:off x="5528067" y="1258110"/>
        <a:ext cx="5024344" cy="1986489"/>
      </dsp:txXfrm>
    </dsp:sp>
    <dsp:sp modelId="{F32DACE7-AC89-4ACC-9224-6404DD7D03DA}">
      <dsp:nvSpPr>
        <dsp:cNvPr id="0" name=""/>
        <dsp:cNvSpPr/>
      </dsp:nvSpPr>
      <dsp:spPr>
        <a:xfrm>
          <a:off x="7543617" y="331081"/>
          <a:ext cx="993244" cy="9932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7437" tIns="12700" rIns="774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689074" y="476538"/>
        <a:ext cx="702330" cy="702330"/>
      </dsp:txXfrm>
    </dsp:sp>
    <dsp:sp modelId="{EF86C905-AF7A-4C28-85FB-056629C399C8}">
      <dsp:nvSpPr>
        <dsp:cNvPr id="0" name=""/>
        <dsp:cNvSpPr/>
      </dsp:nvSpPr>
      <dsp:spPr>
        <a:xfrm>
          <a:off x="5528067" y="3310744"/>
          <a:ext cx="502434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5A9B5-BFE9-4CE8-8B3E-FA3C54181C4B}">
      <dsp:nvSpPr>
        <dsp:cNvPr id="0" name=""/>
        <dsp:cNvSpPr/>
      </dsp:nvSpPr>
      <dsp:spPr>
        <a:xfrm>
          <a:off x="0" y="0"/>
          <a:ext cx="5816600" cy="0"/>
        </a:xfrm>
        <a:prstGeom prst="line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C6B129-596E-4187-B09B-35B45D83E966}">
      <dsp:nvSpPr>
        <dsp:cNvPr id="0" name=""/>
        <dsp:cNvSpPr/>
      </dsp:nvSpPr>
      <dsp:spPr>
        <a:xfrm>
          <a:off x="0" y="0"/>
          <a:ext cx="5816600" cy="2163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Ajutăm spitalele să salveze pacienți folosind tehnologie modernă disponibilă 24/7, 365 zile pe an. Absența unui medic specialist nu va mai fi fatală.</a:t>
          </a:r>
          <a:endParaRPr lang="en-US" sz="2700" kern="1200"/>
        </a:p>
      </dsp:txBody>
      <dsp:txXfrm>
        <a:off x="0" y="0"/>
        <a:ext cx="5816600" cy="2163762"/>
      </dsp:txXfrm>
    </dsp:sp>
    <dsp:sp modelId="{72D9F6D8-50B1-41AC-A95E-2B131211E8F5}">
      <dsp:nvSpPr>
        <dsp:cNvPr id="0" name=""/>
        <dsp:cNvSpPr/>
      </dsp:nvSpPr>
      <dsp:spPr>
        <a:xfrm>
          <a:off x="0" y="2163762"/>
          <a:ext cx="5816600" cy="0"/>
        </a:xfrm>
        <a:prstGeom prst="line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1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FB5AB1-C0B3-44E5-8E67-CEF696290168}">
      <dsp:nvSpPr>
        <dsp:cNvPr id="0" name=""/>
        <dsp:cNvSpPr/>
      </dsp:nvSpPr>
      <dsp:spPr>
        <a:xfrm>
          <a:off x="0" y="2163762"/>
          <a:ext cx="5816600" cy="2163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Cu modulul nostru de învățare, cadrele medicale își pot însuși competențe de ecografie mai repede decât cu metode clasice.</a:t>
          </a:r>
          <a:endParaRPr lang="en-US" sz="2700" kern="1200"/>
        </a:p>
      </dsp:txBody>
      <dsp:txXfrm>
        <a:off x="0" y="2163762"/>
        <a:ext cx="5816600" cy="21637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633D1-300C-4D38-ABF5-0FE613013799}">
      <dsp:nvSpPr>
        <dsp:cNvPr id="0" name=""/>
        <dsp:cNvSpPr/>
      </dsp:nvSpPr>
      <dsp:spPr>
        <a:xfrm>
          <a:off x="0" y="0"/>
          <a:ext cx="5728344" cy="0"/>
        </a:xfrm>
        <a:prstGeom prst="line">
          <a:avLst/>
        </a:prstGeom>
        <a:blipFill rotWithShape="1"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dk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8C21C3C-85A3-4454-9B48-445674F079B8}">
      <dsp:nvSpPr>
        <dsp:cNvPr id="0" name=""/>
        <dsp:cNvSpPr/>
      </dsp:nvSpPr>
      <dsp:spPr>
        <a:xfrm>
          <a:off x="0" y="0"/>
          <a:ext cx="5728344" cy="2451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Spitale mici și medii cu lipsă de specialiști</a:t>
          </a:r>
          <a:endParaRPr lang="en-US" sz="2800" kern="1200"/>
        </a:p>
      </dsp:txBody>
      <dsp:txXfrm>
        <a:off x="0" y="0"/>
        <a:ext cx="5728344" cy="2451495"/>
      </dsp:txXfrm>
    </dsp:sp>
    <dsp:sp modelId="{0294A0FB-7740-4D22-AF43-66B85478DDE5}">
      <dsp:nvSpPr>
        <dsp:cNvPr id="0" name=""/>
        <dsp:cNvSpPr/>
      </dsp:nvSpPr>
      <dsp:spPr>
        <a:xfrm>
          <a:off x="0" y="2451495"/>
          <a:ext cx="5728344" cy="0"/>
        </a:xfrm>
        <a:prstGeom prst="line">
          <a:avLst/>
        </a:prstGeom>
        <a:blipFill rotWithShape="1"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dk2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89479D-F4DF-47DD-86F7-7886D88A86D6}">
      <dsp:nvSpPr>
        <dsp:cNvPr id="0" name=""/>
        <dsp:cNvSpPr/>
      </dsp:nvSpPr>
      <dsp:spPr>
        <a:xfrm>
          <a:off x="0" y="2451495"/>
          <a:ext cx="5728344" cy="24514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noProof="0" dirty="0"/>
            <a:t>Spitalele</a:t>
          </a:r>
          <a:r>
            <a:rPr lang="en-GB" sz="2800" kern="1200" dirty="0"/>
            <a:t> din c</a:t>
          </a:r>
          <a:r>
            <a:rPr lang="ro-RO" sz="2800" kern="1200" dirty="0"/>
            <a:t>entre universitare care vor </a:t>
          </a:r>
          <a:r>
            <a:rPr lang="en-GB" sz="2800" kern="1200" dirty="0"/>
            <a:t>o</a:t>
          </a:r>
          <a:r>
            <a:rPr lang="ro-RO" sz="2800" kern="1200" dirty="0"/>
            <a:t> metodă nouă de a preda tehnici de diagnoză cu ecograful sau vor acces la cele mai noi tehnologii</a:t>
          </a:r>
          <a:endParaRPr lang="en-US" sz="2800" kern="1200" dirty="0"/>
        </a:p>
      </dsp:txBody>
      <dsp:txXfrm>
        <a:off x="0" y="2451495"/>
        <a:ext cx="5728344" cy="24514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8E6A6-EB75-4A91-A50B-02222A158954}">
      <dsp:nvSpPr>
        <dsp:cNvPr id="0" name=""/>
        <dsp:cNvSpPr/>
      </dsp:nvSpPr>
      <dsp:spPr>
        <a:xfrm>
          <a:off x="0" y="76617"/>
          <a:ext cx="10554574" cy="5936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Revenue Streams:</a:t>
          </a:r>
          <a:endParaRPr lang="en-US" sz="2400" kern="1200"/>
        </a:p>
      </dsp:txBody>
      <dsp:txXfrm>
        <a:off x="28979" y="105596"/>
        <a:ext cx="10496616" cy="535670"/>
      </dsp:txXfrm>
    </dsp:sp>
    <dsp:sp modelId="{D209F64A-45B2-4D77-B8C2-FBFBD308D993}">
      <dsp:nvSpPr>
        <dsp:cNvPr id="0" name=""/>
        <dsp:cNvSpPr/>
      </dsp:nvSpPr>
      <dsp:spPr>
        <a:xfrm>
          <a:off x="0" y="670246"/>
          <a:ext cx="10554574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510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/>
            <a:t>Asocierea cu producătorii de echipamente de ecografie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/>
            <a:t>Abonament anual</a:t>
          </a:r>
          <a:endParaRPr lang="en-US" sz="1900" kern="1200"/>
        </a:p>
      </dsp:txBody>
      <dsp:txXfrm>
        <a:off x="0" y="670246"/>
        <a:ext cx="10554574" cy="658260"/>
      </dsp:txXfrm>
    </dsp:sp>
    <dsp:sp modelId="{52464706-D040-4068-AB3E-E8A333776F92}">
      <dsp:nvSpPr>
        <dsp:cNvPr id="0" name=""/>
        <dsp:cNvSpPr/>
      </dsp:nvSpPr>
      <dsp:spPr>
        <a:xfrm>
          <a:off x="0" y="1328506"/>
          <a:ext cx="10554574" cy="5936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/>
            <a:t>Competitori</a:t>
          </a:r>
          <a:r>
            <a:rPr lang="en-GB" sz="2400" kern="1200"/>
            <a:t>: </a:t>
          </a:r>
          <a:r>
            <a:rPr lang="ro-RO" sz="2400" kern="1200"/>
            <a:t>ThinkSono</a:t>
          </a:r>
          <a:r>
            <a:rPr lang="en-GB" sz="2400" kern="1200"/>
            <a:t>, Butterfly Network</a:t>
          </a:r>
          <a:r>
            <a:rPr lang="ro-RO" sz="2400" kern="1200"/>
            <a:t>, Merative</a:t>
          </a:r>
          <a:endParaRPr lang="en-US" sz="2400" kern="1200"/>
        </a:p>
      </dsp:txBody>
      <dsp:txXfrm>
        <a:off x="28979" y="1357485"/>
        <a:ext cx="10496616" cy="535670"/>
      </dsp:txXfrm>
    </dsp:sp>
    <dsp:sp modelId="{21C57F32-8F07-44EB-9910-0104B4E06B39}">
      <dsp:nvSpPr>
        <dsp:cNvPr id="0" name=""/>
        <dsp:cNvSpPr/>
      </dsp:nvSpPr>
      <dsp:spPr>
        <a:xfrm>
          <a:off x="0" y="1991255"/>
          <a:ext cx="10554574" cy="5936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/>
            <a:t>Early adopters</a:t>
          </a:r>
          <a:r>
            <a:rPr lang="en-GB" sz="2400" kern="1200"/>
            <a:t>: </a:t>
          </a:r>
          <a:r>
            <a:rPr lang="ro-RO" sz="2400" kern="1200"/>
            <a:t>Universități, spitale</a:t>
          </a:r>
          <a:r>
            <a:rPr lang="en-GB" sz="2400" kern="1200"/>
            <a:t> cu lips</a:t>
          </a:r>
          <a:r>
            <a:rPr lang="ro-RO" sz="2400" kern="1200"/>
            <a:t>ă severă de personal</a:t>
          </a:r>
          <a:endParaRPr lang="en-US" sz="2400" kern="1200"/>
        </a:p>
      </dsp:txBody>
      <dsp:txXfrm>
        <a:off x="28979" y="2020234"/>
        <a:ext cx="10496616" cy="535670"/>
      </dsp:txXfrm>
    </dsp:sp>
    <dsp:sp modelId="{34417466-BCAB-4496-8A2B-ACB0C657F230}">
      <dsp:nvSpPr>
        <dsp:cNvPr id="0" name=""/>
        <dsp:cNvSpPr/>
      </dsp:nvSpPr>
      <dsp:spPr>
        <a:xfrm>
          <a:off x="0" y="2654003"/>
          <a:ext cx="10554574" cy="5936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/>
            <a:t>Căi spre piață</a:t>
          </a:r>
          <a:r>
            <a:rPr lang="en-GB" sz="2400" kern="1200"/>
            <a:t>:</a:t>
          </a:r>
          <a:endParaRPr lang="en-US" sz="2400" kern="1200"/>
        </a:p>
      </dsp:txBody>
      <dsp:txXfrm>
        <a:off x="28979" y="2682982"/>
        <a:ext cx="10496616" cy="535670"/>
      </dsp:txXfrm>
    </dsp:sp>
    <dsp:sp modelId="{6EE0A1FA-8171-4E8A-8C75-380174998FCB}">
      <dsp:nvSpPr>
        <dsp:cNvPr id="0" name=""/>
        <dsp:cNvSpPr/>
      </dsp:nvSpPr>
      <dsp:spPr>
        <a:xfrm>
          <a:off x="0" y="3247632"/>
          <a:ext cx="10554574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510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/>
            <a:t>Producători de echipamente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1900" kern="1200"/>
            <a:t>Proiecte</a:t>
          </a:r>
          <a:r>
            <a:rPr lang="en-GB" sz="1900" kern="1200"/>
            <a:t> </a:t>
          </a:r>
          <a:r>
            <a:rPr lang="ro-RO" sz="1900" kern="1200"/>
            <a:t>guvernamentale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/>
            <a:t>Marketing Direct</a:t>
          </a:r>
          <a:endParaRPr lang="en-US" sz="1900" kern="1200"/>
        </a:p>
      </dsp:txBody>
      <dsp:txXfrm>
        <a:off x="0" y="3247632"/>
        <a:ext cx="10554574" cy="993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9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86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032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711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636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660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13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59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52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907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8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5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133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73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CE3015A-9F59-44C9-8BE5-2C958FE4D14B}" type="datetimeFigureOut">
              <a:rPr lang="en-GB" smtClean="0"/>
              <a:t>18/01/2024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E501FBCD-938D-4E5D-BEBB-D4F70DCB0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48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B9D93730-8C7D-423D-9137-597B5FA65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2B82547-2424-4E7A-A98B-75206EE73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5109BC2F-9616-4D7D-9E98-57898009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08AC1-58BE-7864-A467-363D482FE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754" y="1687286"/>
            <a:ext cx="3269463" cy="39780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/>
              <a:t>ER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075A2-7A3A-B9E0-8EDF-E1CBCF3CF968}"/>
              </a:ext>
            </a:extLst>
          </p:cNvPr>
          <p:cNvSpPr>
            <a:spLocks/>
          </p:cNvSpPr>
          <p:nvPr/>
        </p:nvSpPr>
        <p:spPr>
          <a:xfrm>
            <a:off x="6777920" y="1232182"/>
            <a:ext cx="2783632" cy="1028680"/>
          </a:xfrm>
          <a:prstGeom prst="rect">
            <a:avLst/>
          </a:prstGeom>
        </p:spPr>
        <p:txBody>
          <a:bodyPr/>
          <a:lstStyle/>
          <a:p>
            <a:pPr algn="ctr" defTabSz="246888">
              <a:spcAft>
                <a:spcPts val="600"/>
              </a:spcAft>
            </a:pPr>
            <a:r>
              <a:rPr lang="en-GB" sz="4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Echipa</a:t>
            </a:r>
            <a:r>
              <a:rPr lang="en-GB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</a:t>
            </a:r>
            <a:endParaRPr lang="en-GB" sz="8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42627-4301-3E53-9D90-4951CC633C45}"/>
              </a:ext>
            </a:extLst>
          </p:cNvPr>
          <p:cNvSpPr txBox="1"/>
          <p:nvPr/>
        </p:nvSpPr>
        <p:spPr>
          <a:xfrm>
            <a:off x="8505242" y="4090298"/>
            <a:ext cx="299269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Alex Reitler </a:t>
            </a:r>
            <a:endParaRPr lang="ro-RO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Business Lead</a:t>
            </a:r>
            <a:endParaRPr lang="en-GB" sz="5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1EACD-4E39-3F00-4A82-696D2D39A6BA}"/>
              </a:ext>
            </a:extLst>
          </p:cNvPr>
          <p:cNvSpPr txBox="1"/>
          <p:nvPr/>
        </p:nvSpPr>
        <p:spPr>
          <a:xfrm>
            <a:off x="5278759" y="3013501"/>
            <a:ext cx="220190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Maria </a:t>
            </a: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Cîrnu </a:t>
            </a:r>
          </a:p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UI</a:t>
            </a: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Designer</a:t>
            </a:r>
            <a:endParaRPr lang="en-GB" sz="5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5083D9-8C0D-3610-5601-B21D2120E112}"/>
              </a:ext>
            </a:extLst>
          </p:cNvPr>
          <p:cNvSpPr txBox="1"/>
          <p:nvPr/>
        </p:nvSpPr>
        <p:spPr>
          <a:xfrm>
            <a:off x="8511941" y="2949630"/>
            <a:ext cx="32794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6888">
              <a:spcAft>
                <a:spcPts val="600"/>
              </a:spcAft>
            </a:pP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Mih</a:t>
            </a: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lescu </a:t>
            </a: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Valentina </a:t>
            </a:r>
          </a:p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Project Manager</a:t>
            </a:r>
            <a:endParaRPr lang="en-GB" sz="5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04D44-CF26-A608-7BF6-F23E94EFAC43}"/>
              </a:ext>
            </a:extLst>
          </p:cNvPr>
          <p:cNvSpPr txBox="1"/>
          <p:nvPr/>
        </p:nvSpPr>
        <p:spPr>
          <a:xfrm>
            <a:off x="5273756" y="4120623"/>
            <a:ext cx="32794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ă</a:t>
            </a:r>
            <a:r>
              <a:rPr lang="en-GB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zvan</a:t>
            </a:r>
            <a:r>
              <a:rPr lang="en-GB" sz="2400" dirty="0"/>
              <a:t> </a:t>
            </a:r>
            <a:r>
              <a:rPr lang="en-GB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Moga</a:t>
            </a: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ro-RO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246888">
              <a:spcAft>
                <a:spcPts val="600"/>
              </a:spcAft>
            </a:pP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AI Specialist</a:t>
            </a:r>
            <a:endParaRPr lang="en-GB" sz="5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5C6C58-F582-699D-6B54-17095CAE9B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17" t="2954" r="8026" b="3233"/>
          <a:stretch/>
        </p:blipFill>
        <p:spPr>
          <a:xfrm>
            <a:off x="954836" y="3742186"/>
            <a:ext cx="2418186" cy="2407407"/>
          </a:xfrm>
          <a:prstGeom prst="ellipse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D93B80-A337-8A2B-C8F0-93AFDC1717DF}"/>
              </a:ext>
            </a:extLst>
          </p:cNvPr>
          <p:cNvSpPr txBox="1"/>
          <p:nvPr/>
        </p:nvSpPr>
        <p:spPr>
          <a:xfrm>
            <a:off x="6774770" y="5545557"/>
            <a:ext cx="327946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6888">
              <a:spcAft>
                <a:spcPts val="600"/>
              </a:spcAft>
            </a:pPr>
            <a:r>
              <a:rPr lang="ro-RO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 owner</a:t>
            </a:r>
            <a:r>
              <a:rPr lang="en-GB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defTabSz="246888">
              <a:spcAft>
                <a:spcPts val="600"/>
              </a:spcAft>
            </a:pPr>
            <a:r>
              <a:rPr lang="en-GB" sz="2400" dirty="0" err="1"/>
              <a:t>Dr.</a:t>
            </a:r>
            <a:r>
              <a:rPr lang="en-GB" sz="2400" dirty="0"/>
              <a:t> Cristina Petri</a:t>
            </a:r>
            <a:r>
              <a:rPr lang="ro-RO" sz="2400" dirty="0"/>
              <a:t>șor</a:t>
            </a:r>
            <a:endParaRPr lang="ro-RO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939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26AAA-499A-7944-7F13-3649A17A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Oportunit</a:t>
            </a:r>
            <a:r>
              <a:rPr lang="ro-RO" dirty="0"/>
              <a:t>ăți de piață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3B9C-FACB-EA6A-284E-108C40608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5947848" cy="3636511"/>
          </a:xfrm>
        </p:spPr>
        <p:txBody>
          <a:bodyPr/>
          <a:lstStyle/>
          <a:p>
            <a:r>
              <a:rPr lang="ro-RO" dirty="0"/>
              <a:t>Deficiență în sistemul medical de 8.000 de medici și 20.000 asistenți</a:t>
            </a:r>
          </a:p>
          <a:p>
            <a:r>
              <a:rPr lang="ro-RO" dirty="0"/>
              <a:t>Din 55.000 de medici din România, 30.000 (54%) sun</a:t>
            </a:r>
            <a:r>
              <a:rPr lang="en-GB" dirty="0"/>
              <a:t>t</a:t>
            </a:r>
            <a:r>
              <a:rPr lang="ro-RO" dirty="0"/>
              <a:t> concentrați în 6 județe cu centre universitare, lăsând 35 de județe sâ împartă 25.000 de medici. 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76E8DA9-6432-8715-96C4-760C34101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8990928"/>
              </p:ext>
            </p:extLst>
          </p:nvPr>
        </p:nvGraphicFramePr>
        <p:xfrm>
          <a:off x="7106194" y="2140239"/>
          <a:ext cx="5085806" cy="4164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551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E9DE-01F8-21B5-78E1-C427672C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ro-RO" dirty="0"/>
              <a:t>Nevoile adresate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87C8A3-271E-5416-F12F-05A7F8B25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520449"/>
              </p:ext>
            </p:extLst>
          </p:nvPr>
        </p:nvGraphicFramePr>
        <p:xfrm>
          <a:off x="819150" y="2548647"/>
          <a:ext cx="10553700" cy="3310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296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22B77-FA16-4D4E-BAA6-811C61DB3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A6EF34F-3BAD-4CD8-B05E-03BA773A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050631" y="1050634"/>
            <a:ext cx="6857997" cy="4756735"/>
          </a:xfrm>
          <a:custGeom>
            <a:avLst/>
            <a:gdLst>
              <a:gd name="connsiteX0" fmla="*/ 6857997 w 6857997"/>
              <a:gd name="connsiteY0" fmla="*/ 0 h 4756735"/>
              <a:gd name="connsiteX1" fmla="*/ 6857997 w 6857997"/>
              <a:gd name="connsiteY1" fmla="*/ 4458285 h 4756735"/>
              <a:gd name="connsiteX2" fmla="*/ 4861980 w 6857997"/>
              <a:gd name="connsiteY2" fmla="*/ 4458285 h 4756735"/>
              <a:gd name="connsiteX3" fmla="*/ 4480980 w 6857997"/>
              <a:gd name="connsiteY3" fmla="*/ 4744036 h 4756735"/>
              <a:gd name="connsiteX4" fmla="*/ 4472514 w 6857997"/>
              <a:gd name="connsiteY4" fmla="*/ 4747210 h 4756735"/>
              <a:gd name="connsiteX5" fmla="*/ 4459814 w 6857997"/>
              <a:gd name="connsiteY5" fmla="*/ 4751973 h 4756735"/>
              <a:gd name="connsiteX6" fmla="*/ 4447114 w 6857997"/>
              <a:gd name="connsiteY6" fmla="*/ 4756735 h 4756735"/>
              <a:gd name="connsiteX7" fmla="*/ 4436530 w 6857997"/>
              <a:gd name="connsiteY7" fmla="*/ 4756735 h 4756735"/>
              <a:gd name="connsiteX8" fmla="*/ 4423830 w 6857997"/>
              <a:gd name="connsiteY8" fmla="*/ 4756735 h 4756735"/>
              <a:gd name="connsiteX9" fmla="*/ 4413247 w 6857997"/>
              <a:gd name="connsiteY9" fmla="*/ 4751973 h 4756735"/>
              <a:gd name="connsiteX10" fmla="*/ 4400547 w 6857997"/>
              <a:gd name="connsiteY10" fmla="*/ 4747210 h 4756735"/>
              <a:gd name="connsiteX11" fmla="*/ 4392080 w 6857997"/>
              <a:gd name="connsiteY11" fmla="*/ 4744036 h 4756735"/>
              <a:gd name="connsiteX12" fmla="*/ 4011080 w 6857997"/>
              <a:gd name="connsiteY12" fmla="*/ 4458285 h 4756735"/>
              <a:gd name="connsiteX13" fmla="*/ 0 w 6857997"/>
              <a:gd name="connsiteY13" fmla="*/ 4458285 h 4756735"/>
              <a:gd name="connsiteX14" fmla="*/ 1 w 6857997"/>
              <a:gd name="connsiteY14" fmla="*/ 0 h 475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57997" h="4756735">
                <a:moveTo>
                  <a:pt x="6857997" y="0"/>
                </a:moveTo>
                <a:lnTo>
                  <a:pt x="6857997" y="4458285"/>
                </a:lnTo>
                <a:lnTo>
                  <a:pt x="4861980" y="4458285"/>
                </a:lnTo>
                <a:lnTo>
                  <a:pt x="4480980" y="4744036"/>
                </a:lnTo>
                <a:lnTo>
                  <a:pt x="4472514" y="4747210"/>
                </a:lnTo>
                <a:lnTo>
                  <a:pt x="4459814" y="4751973"/>
                </a:lnTo>
                <a:lnTo>
                  <a:pt x="4447114" y="4756735"/>
                </a:lnTo>
                <a:lnTo>
                  <a:pt x="4436530" y="4756735"/>
                </a:lnTo>
                <a:lnTo>
                  <a:pt x="4423830" y="4756735"/>
                </a:lnTo>
                <a:lnTo>
                  <a:pt x="4413247" y="4751973"/>
                </a:lnTo>
                <a:lnTo>
                  <a:pt x="4400547" y="4747210"/>
                </a:lnTo>
                <a:lnTo>
                  <a:pt x="4392080" y="4744036"/>
                </a:lnTo>
                <a:lnTo>
                  <a:pt x="4011080" y="4458285"/>
                </a:lnTo>
                <a:lnTo>
                  <a:pt x="0" y="445828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3481D-6C98-7AC6-48B8-8F6A0659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54" y="1918252"/>
            <a:ext cx="3365439" cy="3997635"/>
          </a:xfrm>
        </p:spPr>
        <p:txBody>
          <a:bodyPr anchor="t">
            <a:normAutofit/>
          </a:bodyPr>
          <a:lstStyle/>
          <a:p>
            <a:r>
              <a:rPr lang="ro-RO" sz="4400"/>
              <a:t>Valoarea propusă</a:t>
            </a:r>
            <a:endParaRPr lang="en-GB" sz="4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C4596C-F7B4-27CB-E9FD-3A868D212C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44996"/>
              </p:ext>
            </p:extLst>
          </p:nvPr>
        </p:nvGraphicFramePr>
        <p:xfrm>
          <a:off x="5556250" y="1262063"/>
          <a:ext cx="5816600" cy="4327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580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B82547-2424-4E7A-A98B-75206EE73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5109BC2F-9616-4D7D-9E98-57898009A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0FEB7-62E6-8949-8F6C-0BF6CD49D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54" y="1687286"/>
            <a:ext cx="3269463" cy="3978017"/>
          </a:xfrm>
        </p:spPr>
        <p:txBody>
          <a:bodyPr anchor="t">
            <a:normAutofit/>
          </a:bodyPr>
          <a:lstStyle/>
          <a:p>
            <a:r>
              <a:rPr lang="ro-RO" sz="4400"/>
              <a:t>Profilul de client</a:t>
            </a:r>
            <a:endParaRPr lang="en-GB" sz="44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A34CF82-AB97-64A1-537A-21F04FBC3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4534916"/>
              </p:ext>
            </p:extLst>
          </p:nvPr>
        </p:nvGraphicFramePr>
        <p:xfrm>
          <a:off x="5508820" y="965200"/>
          <a:ext cx="5728344" cy="4902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64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59E1-A5A1-18B6-F13C-8EF2784E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Modelul de business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7C5C3-89D9-78B8-D3E9-1030515017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18712" y="2222287"/>
          <a:ext cx="10554574" cy="4317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872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6">
            <a:extLst>
              <a:ext uri="{FF2B5EF4-FFF2-40B4-BE49-F238E27FC236}">
                <a16:creationId xmlns:a16="http://schemas.microsoft.com/office/drawing/2014/main" id="{11114F18-D12D-43C6-895F-5BA92C290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Rounded Rectangle 16">
            <a:extLst>
              <a:ext uri="{FF2B5EF4-FFF2-40B4-BE49-F238E27FC236}">
                <a16:creationId xmlns:a16="http://schemas.microsoft.com/office/drawing/2014/main" id="{1A855EDB-A907-49FB-A497-CE3FDE83F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505" y="643464"/>
            <a:ext cx="9349216" cy="3599352"/>
          </a:xfrm>
          <a:prstGeom prst="roundRect">
            <a:avLst>
              <a:gd name="adj" fmla="val 4219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447CC5-A931-4BBA-85AA-BB5CB5FDF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3F4532E5-BD00-48F6-86A8-56F403CE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6E93F2B7-3B84-4618-82BF-295B4D575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F4DBF4A8-7A64-44AA-8A69-D291276FF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CC92FD-C718-16BE-4549-DF416498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817533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Capabilitate model AI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EC0D21-B4A9-E4A8-978D-C9A0920EE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1" y="5594110"/>
            <a:ext cx="10572000" cy="4349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 err="1"/>
              <a:t>Acuratețe</a:t>
            </a:r>
            <a:r>
              <a:rPr lang="ro-RO" dirty="0"/>
              <a:t>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detectarea</a:t>
            </a:r>
            <a:r>
              <a:rPr lang="en-US" dirty="0"/>
              <a:t> </a:t>
            </a:r>
            <a:r>
              <a:rPr lang="en-US" dirty="0" err="1"/>
              <a:t>semnelor</a:t>
            </a:r>
            <a:r>
              <a:rPr lang="en-US" dirty="0"/>
              <a:t> </a:t>
            </a:r>
            <a:r>
              <a:rPr lang="en-US" dirty="0" err="1"/>
              <a:t>pneumotoraxului</a:t>
            </a:r>
            <a:r>
              <a:rPr lang="en-US" dirty="0"/>
              <a:t> </a:t>
            </a:r>
            <a:r>
              <a:rPr lang="ro-RO" dirty="0"/>
              <a:t>este </a:t>
            </a:r>
            <a:r>
              <a:rPr lang="en-US" dirty="0"/>
              <a:t>de </a:t>
            </a:r>
            <a:r>
              <a:rPr lang="en-US" dirty="0" err="1"/>
              <a:t>peste</a:t>
            </a:r>
            <a:r>
              <a:rPr lang="en-US" dirty="0"/>
              <a:t> 90%</a:t>
            </a:r>
          </a:p>
        </p:txBody>
      </p:sp>
      <p:pic>
        <p:nvPicPr>
          <p:cNvPr id="15" name="Picture 14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977133C8-8C90-78CB-B21D-5CB20582B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173" y="895961"/>
            <a:ext cx="3670808" cy="3092656"/>
          </a:xfrm>
          <a:prstGeom prst="rect">
            <a:avLst/>
          </a:prstGeom>
        </p:spPr>
      </p:pic>
      <p:pic>
        <p:nvPicPr>
          <p:cNvPr id="13" name="Picture 12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3F8169B3-86FD-46B0-8BD3-5FBB3FD66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874" y="897385"/>
            <a:ext cx="3670808" cy="309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5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31B16F-584B-71D4-7853-BBB3B2C28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ro-RO" sz="3200">
                <a:solidFill>
                  <a:schemeClr val="tx1"/>
                </a:solidFill>
              </a:rPr>
              <a:t>Componente originale</a:t>
            </a:r>
            <a:endParaRPr lang="en-GB" sz="320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0D94C-A6E1-C80B-2C4F-8B722F1F3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ro-RO" sz="2000" dirty="0"/>
              <a:t>Integrarea AI la analiza afecțiunilor medicale în situații de urgență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46535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2107A-2A82-5068-6052-A6AF933C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ro-RO" dirty="0"/>
              <a:t>Aplicația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C2F8-AFAE-A254-4996-621EB13B0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8068" y="978993"/>
            <a:ext cx="5365218" cy="4900014"/>
          </a:xfrm>
          <a:effectLst/>
        </p:spPr>
        <p:txBody>
          <a:bodyPr>
            <a:normAutofit/>
          </a:bodyPr>
          <a:lstStyle/>
          <a:p>
            <a:r>
              <a:rPr lang="ro-RO" sz="2000" dirty="0"/>
              <a:t>ERAssistant</a:t>
            </a:r>
            <a:r>
              <a:rPr lang="en-GB" sz="2000" dirty="0"/>
              <a:t>: Desktop app </a:t>
            </a:r>
            <a:r>
              <a:rPr lang="ro-RO" sz="2000" dirty="0"/>
              <a:t>creat</a:t>
            </a:r>
            <a:r>
              <a:rPr lang="en-GB" sz="2000" dirty="0"/>
              <a:t> </a:t>
            </a:r>
            <a:r>
              <a:rPr lang="ro-RO" sz="2000" dirty="0"/>
              <a:t>în Flutter integrat cu modul de I</a:t>
            </a:r>
            <a:r>
              <a:rPr lang="en-GB" sz="2000" dirty="0" err="1"/>
              <a:t>nteligen</a:t>
            </a:r>
            <a:r>
              <a:rPr lang="ro-RO" sz="2000" dirty="0"/>
              <a:t>ță Artificială</a:t>
            </a:r>
            <a:endParaRPr lang="en-GB" sz="2000" dirty="0"/>
          </a:p>
          <a:p>
            <a:pPr marL="0" indent="0">
              <a:buNone/>
            </a:pPr>
            <a:endParaRPr lang="ro-RO" sz="2000" dirty="0"/>
          </a:p>
          <a:p>
            <a:r>
              <a:rPr lang="ro-RO" sz="2000" dirty="0"/>
              <a:t>ERAssistant Learning Module</a:t>
            </a:r>
            <a:r>
              <a:rPr lang="en-GB" sz="2000" dirty="0"/>
              <a:t>: </a:t>
            </a:r>
            <a:r>
              <a:rPr lang="ro-RO" sz="2000" dirty="0"/>
              <a:t>Mobile/Desktop app creat în Flutter</a:t>
            </a:r>
          </a:p>
          <a:p>
            <a:pPr marL="0" indent="0">
              <a:buNone/>
            </a:pPr>
            <a:endParaRPr lang="ro-RO" sz="2000" dirty="0"/>
          </a:p>
          <a:p>
            <a:r>
              <a:rPr lang="ro-RO" sz="2000" dirty="0"/>
              <a:t>Am create componenta frontend în Flutter</a:t>
            </a:r>
            <a:r>
              <a:rPr lang="en-GB" sz="2000" dirty="0"/>
              <a:t> pent</a:t>
            </a:r>
            <a:r>
              <a:rPr lang="ro-RO" sz="2000" dirty="0"/>
              <a:t>ru adaptabilitatea foarte ușoară la diferite plarforme.</a:t>
            </a:r>
          </a:p>
        </p:txBody>
      </p:sp>
    </p:spTree>
    <p:extLst>
      <p:ext uri="{BB962C8B-B14F-4D97-AF65-F5344CB8AC3E}">
        <p14:creationId xmlns:p14="http://schemas.microsoft.com/office/powerpoint/2010/main" val="15096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sk with stethoscope and computer keyboard">
            <a:extLst>
              <a:ext uri="{FF2B5EF4-FFF2-40B4-BE49-F238E27FC236}">
                <a16:creationId xmlns:a16="http://schemas.microsoft.com/office/drawing/2014/main" id="{DE04BAED-52FE-344A-CD51-73A3F497E3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0682" r="-2" b="-2"/>
          <a:stretch/>
        </p:blipFill>
        <p:spPr>
          <a:xfrm>
            <a:off x="6108700" y="-1"/>
            <a:ext cx="6094450" cy="6858001"/>
          </a:xfrm>
          <a:prstGeom prst="rect">
            <a:avLst/>
          </a:prstGeom>
        </p:spPr>
      </p:pic>
      <p:sp>
        <p:nvSpPr>
          <p:cNvPr id="9" name="Freeform 16">
            <a:extLst>
              <a:ext uri="{FF2B5EF4-FFF2-40B4-BE49-F238E27FC236}">
                <a16:creationId xmlns:a16="http://schemas.microsoft.com/office/drawing/2014/main" id="{3994EE40-F54F-48E5-826B-B45158209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6485467" cy="6858000"/>
          </a:xfrm>
          <a:custGeom>
            <a:avLst/>
            <a:gdLst>
              <a:gd name="connsiteX0" fmla="*/ 0 w 6485467"/>
              <a:gd name="connsiteY0" fmla="*/ 0 h 6858000"/>
              <a:gd name="connsiteX1" fmla="*/ 6485467 w 6485467"/>
              <a:gd name="connsiteY1" fmla="*/ 0 h 6858000"/>
              <a:gd name="connsiteX2" fmla="*/ 6485467 w 6485467"/>
              <a:gd name="connsiteY2" fmla="*/ 1900238 h 6858000"/>
              <a:gd name="connsiteX3" fmla="*/ 6115051 w 6485467"/>
              <a:gd name="connsiteY3" fmla="*/ 2178050 h 6858000"/>
              <a:gd name="connsiteX4" fmla="*/ 6110817 w 6485467"/>
              <a:gd name="connsiteY4" fmla="*/ 2184400 h 6858000"/>
              <a:gd name="connsiteX5" fmla="*/ 6104467 w 6485467"/>
              <a:gd name="connsiteY5" fmla="*/ 2193925 h 6858000"/>
              <a:gd name="connsiteX6" fmla="*/ 6098117 w 6485467"/>
              <a:gd name="connsiteY6" fmla="*/ 2201863 h 6858000"/>
              <a:gd name="connsiteX7" fmla="*/ 6098117 w 6485467"/>
              <a:gd name="connsiteY7" fmla="*/ 2211388 h 6858000"/>
              <a:gd name="connsiteX8" fmla="*/ 6098117 w 6485467"/>
              <a:gd name="connsiteY8" fmla="*/ 2220913 h 6858000"/>
              <a:gd name="connsiteX9" fmla="*/ 6104467 w 6485467"/>
              <a:gd name="connsiteY9" fmla="*/ 2228850 h 6858000"/>
              <a:gd name="connsiteX10" fmla="*/ 6110817 w 6485467"/>
              <a:gd name="connsiteY10" fmla="*/ 2238375 h 6858000"/>
              <a:gd name="connsiteX11" fmla="*/ 6115051 w 6485467"/>
              <a:gd name="connsiteY11" fmla="*/ 2244725 h 6858000"/>
              <a:gd name="connsiteX12" fmla="*/ 6485467 w 6485467"/>
              <a:gd name="connsiteY12" fmla="*/ 2522538 h 6858000"/>
              <a:gd name="connsiteX13" fmla="*/ 6485467 w 6485467"/>
              <a:gd name="connsiteY13" fmla="*/ 6858000 h 6858000"/>
              <a:gd name="connsiteX14" fmla="*/ 0 w 6485467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85467" h="6858000">
                <a:moveTo>
                  <a:pt x="0" y="0"/>
                </a:moveTo>
                <a:lnTo>
                  <a:pt x="6485467" y="0"/>
                </a:lnTo>
                <a:lnTo>
                  <a:pt x="6485467" y="1900238"/>
                </a:lnTo>
                <a:lnTo>
                  <a:pt x="6115051" y="2178050"/>
                </a:lnTo>
                <a:lnTo>
                  <a:pt x="6110817" y="2184400"/>
                </a:lnTo>
                <a:lnTo>
                  <a:pt x="6104467" y="2193925"/>
                </a:lnTo>
                <a:lnTo>
                  <a:pt x="6098117" y="2201863"/>
                </a:lnTo>
                <a:lnTo>
                  <a:pt x="6098117" y="2211388"/>
                </a:lnTo>
                <a:lnTo>
                  <a:pt x="6098117" y="2220913"/>
                </a:lnTo>
                <a:lnTo>
                  <a:pt x="6104467" y="2228850"/>
                </a:lnTo>
                <a:lnTo>
                  <a:pt x="6110817" y="2238375"/>
                </a:lnTo>
                <a:lnTo>
                  <a:pt x="6115051" y="2244725"/>
                </a:lnTo>
                <a:lnTo>
                  <a:pt x="6485467" y="2522538"/>
                </a:lnTo>
                <a:lnTo>
                  <a:pt x="64854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0E673-D047-77B6-66B6-2DC3B377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5070100" cy="1559412"/>
          </a:xfrm>
        </p:spPr>
        <p:txBody>
          <a:bodyPr>
            <a:normAutofit/>
          </a:bodyPr>
          <a:lstStyle/>
          <a:p>
            <a:r>
              <a:rPr lang="ro-RO" dirty="0"/>
              <a:t>Inovarea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BA27-1DA8-D40E-C3A6-2DE061527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413000"/>
            <a:ext cx="5055923" cy="3632200"/>
          </a:xfrm>
        </p:spPr>
        <p:txBody>
          <a:bodyPr>
            <a:normAutofit/>
          </a:bodyPr>
          <a:lstStyle/>
          <a:p>
            <a:r>
              <a:rPr lang="ro-RO" dirty="0"/>
              <a:t>Model inovativ de inteligență artificială pentru Computer Vision folosind arhitectură de ultimă generație și antrenat riguros pe un set de date vast</a:t>
            </a:r>
          </a:p>
          <a:p>
            <a:r>
              <a:rPr lang="ro-RO" dirty="0"/>
              <a:t>UI clar și ușor de folosit în situații de stres ridicat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991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1F8184F-F0DA-4A46-A2C7-D640262F99C4}"/>
</file>

<file path=customXml/itemProps2.xml><?xml version="1.0" encoding="utf-8"?>
<ds:datastoreItem xmlns:ds="http://schemas.openxmlformats.org/officeDocument/2006/customXml" ds:itemID="{07EE6331-4653-41A8-99A6-6871DC9ACA5F}"/>
</file>

<file path=customXml/itemProps3.xml><?xml version="1.0" encoding="utf-8"?>
<ds:datastoreItem xmlns:ds="http://schemas.openxmlformats.org/officeDocument/2006/customXml" ds:itemID="{C98FCFF8-AAAC-4D52-A837-A65EDC0B5C9C}"/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404</TotalTime>
  <Words>339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2</vt:lpstr>
      <vt:lpstr>Quotable</vt:lpstr>
      <vt:lpstr>ER ASSISTANT</vt:lpstr>
      <vt:lpstr>Oportunități de piață</vt:lpstr>
      <vt:lpstr>Nevoile adresate</vt:lpstr>
      <vt:lpstr>Valoarea propusă</vt:lpstr>
      <vt:lpstr>Profilul de client</vt:lpstr>
      <vt:lpstr>Modelul de business</vt:lpstr>
      <vt:lpstr>Capabilitate model AI</vt:lpstr>
      <vt:lpstr>Componente originale</vt:lpstr>
      <vt:lpstr>Aplicația </vt:lpstr>
      <vt:lpstr>Inovarea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ASSISTANT</dc:title>
  <dc:creator>ALEX REITLER</dc:creator>
  <cp:lastModifiedBy>ALEX REITLER</cp:lastModifiedBy>
  <cp:revision>6</cp:revision>
  <dcterms:created xsi:type="dcterms:W3CDTF">2024-01-13T15:05:51Z</dcterms:created>
  <dcterms:modified xsi:type="dcterms:W3CDTF">2024-01-18T18:57:45Z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</Properties>
</file>